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69" d="100"/>
          <a:sy n="69" d="100"/>
        </p:scale>
        <p:origin x="211" y="53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1307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6383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4377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241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7645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760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739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465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69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705A4D-B910-45B5-F951-31EFF2D771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0357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2771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9550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863EEB-96C2-A860-C176-E7784C6B3578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8459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857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6163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E37CE3-9E64-316C-5C1C-00182FCA0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0068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9730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718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85AE5B-E3D3-E70F-E8AE-856870D657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078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1248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1785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8C400A-53C4-D00B-518D-2A8DB415FA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0154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33616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74225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7CC2C1-31A1-7D03-360B-CAB66A59C4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283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38651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344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33FF43-E7A3-A034-6708-D3A4C9576D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4542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8173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054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8BC578-0563-E00A-59C8-AA7C7110EF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585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30799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76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D10162-515A-612F-AA7E-A81C266F1E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356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792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4156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355C0F-7509-B4C6-B067-24D3452829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4414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1376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2288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676B25-E32C-0A50-0BD9-9D0C54D5E1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900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52940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998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DFEA80-ACD4-0422-6961-2A7BC77B76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Rubrik och innehål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69430" name="Platshållare för sidfot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793478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286660" y="848459"/>
            <a:ext cx="8694913" cy="54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 lang="sv-SE"/>
              <a:t>Klicka här för att ändra mall för rubrikformat</a:t>
            </a:r>
            <a:endParaRPr/>
          </a:p>
        </p:txBody>
      </p:sp>
      <p:sp>
        <p:nvSpPr>
          <p:cNvPr id="1619494276" name="Platshållare för text 2"/>
          <p:cNvSpPr>
            <a:spLocks noGrp="1"/>
          </p:cNvSpPr>
          <p:nvPr>
            <p:ph idx="1"/>
          </p:nvPr>
        </p:nvSpPr>
        <p:spPr bwMode="auto">
          <a:xfrm>
            <a:off x="286660" y="1483112"/>
            <a:ext cx="8694913" cy="3179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>
              <a:defRPr/>
            </a:pPr>
            <a:r>
              <a:rPr lang="sv-SE"/>
              <a:t>Klicka här för att ändra format på bakgrundstexten</a:t>
            </a:r>
            <a:endParaRPr/>
          </a:p>
          <a:p>
            <a:pPr lvl="1">
              <a:defRPr/>
            </a:pPr>
            <a:r>
              <a:rPr lang="sv-SE"/>
              <a:t>Nivå två</a:t>
            </a:r>
            <a:endParaRPr/>
          </a:p>
          <a:p>
            <a:pPr lvl="2">
              <a:defRPr/>
            </a:pPr>
            <a:r>
              <a:rPr lang="sv-SE"/>
              <a:t>Nivå tre</a:t>
            </a:r>
            <a:endParaRPr/>
          </a:p>
          <a:p>
            <a:pPr lvl="3">
              <a:defRPr/>
            </a:pPr>
            <a:r>
              <a:rPr lang="sv-SE"/>
              <a:t>Nivå fyra</a:t>
            </a:r>
            <a:endParaRPr/>
          </a:p>
          <a:p>
            <a:pPr lvl="4">
              <a:defRPr/>
            </a:pPr>
            <a:r>
              <a:rPr lang="sv-SE"/>
              <a:t>Nivå fem</a:t>
            </a:r>
            <a:endParaRPr/>
          </a:p>
        </p:txBody>
      </p:sp>
      <p:sp>
        <p:nvSpPr>
          <p:cNvPr id="270803340" name="Platshållare för bildnummer 3"/>
          <p:cNvSpPr>
            <a:spLocks noGrp="1"/>
          </p:cNvSpPr>
          <p:nvPr>
            <p:ph type="sldNum" sz="quarter" idx="12"/>
          </p:nvPr>
        </p:nvSpPr>
        <p:spPr bwMode="auto">
          <a:xfrm>
            <a:off x="6150142" y="4767261"/>
            <a:ext cx="2831432" cy="274637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C53FA84E-D7EA-43A2-AD8F-825F36F0800C}" type="slidenum">
              <a:rPr/>
              <a:t>‹#›</a:t>
            </a:fld>
            <a:endParaRPr/>
          </a:p>
        </p:txBody>
      </p:sp>
    </p:spTree>
  </p:cSld>
  <p:clrMapOvr>
    <a:masterClrMapping/>
  </p:clrMapOvr>
  <p:hf dt="0" ftr="0" hdr="0" sldNum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Endast rubri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097268" name="Platshållare för sidfot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19484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286660" y="848459"/>
            <a:ext cx="8694913" cy="54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 lang="sv-SE"/>
              <a:t>Klicka här för att ändra mall för rubrikformat</a:t>
            </a:r>
            <a:endParaRPr/>
          </a:p>
        </p:txBody>
      </p:sp>
      <p:sp>
        <p:nvSpPr>
          <p:cNvPr id="1531346896" name="Platshållare för bildnummer 3"/>
          <p:cNvSpPr>
            <a:spLocks noGrp="1"/>
          </p:cNvSpPr>
          <p:nvPr>
            <p:ph type="sldNum" sz="quarter" idx="12"/>
          </p:nvPr>
        </p:nvSpPr>
        <p:spPr bwMode="auto">
          <a:xfrm>
            <a:off x="6150142" y="4767261"/>
            <a:ext cx="2831432" cy="274637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C53FA84E-D7EA-43A2-AD8F-825F36F0800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vå dela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793135" name="Platshållare för innehåll 2"/>
          <p:cNvSpPr>
            <a:spLocks noGrp="1"/>
          </p:cNvSpPr>
          <p:nvPr>
            <p:ph sz="half" idx="1"/>
          </p:nvPr>
        </p:nvSpPr>
        <p:spPr bwMode="auto">
          <a:xfrm>
            <a:off x="286660" y="1524447"/>
            <a:ext cx="4285339" cy="310787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>
              <a:defRPr/>
            </a:pPr>
            <a:r>
              <a:rPr lang="sv-SE"/>
              <a:t>Klicka här för att ändra format på bakgrundstexten</a:t>
            </a:r>
            <a:endParaRPr/>
          </a:p>
          <a:p>
            <a:pPr lvl="1">
              <a:defRPr/>
            </a:pPr>
            <a:r>
              <a:rPr lang="sv-SE"/>
              <a:t>Nivå två</a:t>
            </a:r>
            <a:endParaRPr/>
          </a:p>
          <a:p>
            <a:pPr lvl="2">
              <a:defRPr/>
            </a:pPr>
            <a:r>
              <a:rPr lang="sv-SE"/>
              <a:t>Nivå tre</a:t>
            </a:r>
            <a:endParaRPr/>
          </a:p>
          <a:p>
            <a:pPr lvl="3">
              <a:defRPr/>
            </a:pPr>
            <a:r>
              <a:rPr lang="sv-SE"/>
              <a:t>Nivå fyra</a:t>
            </a:r>
            <a:endParaRPr/>
          </a:p>
          <a:p>
            <a:pPr lvl="4">
              <a:defRPr/>
            </a:pPr>
            <a:r>
              <a:rPr lang="sv-SE"/>
              <a:t>Nivå fem</a:t>
            </a:r>
            <a:endParaRPr/>
          </a:p>
        </p:txBody>
      </p:sp>
      <p:sp>
        <p:nvSpPr>
          <p:cNvPr id="441697799" name="Platshållare för innehåll 3"/>
          <p:cNvSpPr>
            <a:spLocks noGrp="1"/>
          </p:cNvSpPr>
          <p:nvPr>
            <p:ph sz="half" idx="2"/>
          </p:nvPr>
        </p:nvSpPr>
        <p:spPr bwMode="auto">
          <a:xfrm>
            <a:off x="4648199" y="1524448"/>
            <a:ext cx="4333373" cy="310787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>
              <a:defRPr/>
            </a:pPr>
            <a:r>
              <a:rPr lang="sv-SE"/>
              <a:t>Klicka här för att ändra format på bakgrundstexten</a:t>
            </a:r>
            <a:endParaRPr/>
          </a:p>
          <a:p>
            <a:pPr lvl="1">
              <a:defRPr/>
            </a:pPr>
            <a:r>
              <a:rPr lang="sv-SE"/>
              <a:t>Nivå två</a:t>
            </a:r>
            <a:endParaRPr/>
          </a:p>
          <a:p>
            <a:pPr lvl="2">
              <a:defRPr/>
            </a:pPr>
            <a:r>
              <a:rPr lang="sv-SE"/>
              <a:t>Nivå tre</a:t>
            </a:r>
            <a:endParaRPr/>
          </a:p>
          <a:p>
            <a:pPr lvl="3">
              <a:defRPr/>
            </a:pPr>
            <a:r>
              <a:rPr lang="sv-SE"/>
              <a:t>Nivå fyra</a:t>
            </a:r>
            <a:endParaRPr/>
          </a:p>
          <a:p>
            <a:pPr lvl="4">
              <a:defRPr/>
            </a:pPr>
            <a:r>
              <a:rPr lang="sv-SE"/>
              <a:t>Nivå fem</a:t>
            </a:r>
            <a:endParaRPr/>
          </a:p>
        </p:txBody>
      </p:sp>
      <p:sp>
        <p:nvSpPr>
          <p:cNvPr id="168756722" name="Platshållare för sidfot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753900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286660" y="848459"/>
            <a:ext cx="8694913" cy="54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 lang="sv-SE"/>
              <a:t>Klicka här för att ändra mall för rubrikformat</a:t>
            </a:r>
            <a:endParaRPr/>
          </a:p>
        </p:txBody>
      </p:sp>
      <p:sp>
        <p:nvSpPr>
          <p:cNvPr id="1651672006" name="Platshållare för bildnummer 3"/>
          <p:cNvSpPr>
            <a:spLocks noGrp="1"/>
          </p:cNvSpPr>
          <p:nvPr>
            <p:ph type="sldNum" sz="quarter" idx="12"/>
          </p:nvPr>
        </p:nvSpPr>
        <p:spPr bwMode="auto">
          <a:xfrm>
            <a:off x="6150142" y="4767261"/>
            <a:ext cx="2831432" cy="274637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C53FA84E-D7EA-43A2-AD8F-825F36F0800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Rubrik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773529" name="Platshållare för sidfot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314420" name="Platshållare för bildnummer 3"/>
          <p:cNvSpPr>
            <a:spLocks noGrp="1"/>
          </p:cNvSpPr>
          <p:nvPr>
            <p:ph type="sldNum" sz="quarter" idx="12"/>
          </p:nvPr>
        </p:nvSpPr>
        <p:spPr bwMode="auto">
          <a:xfrm>
            <a:off x="6150142" y="4767261"/>
            <a:ext cx="2831432" cy="274637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C53FA84E-D7EA-43A2-AD8F-825F36F0800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306082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286660" y="848459"/>
            <a:ext cx="8694913" cy="54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 lang="sv-SE"/>
              <a:t>Klicka här för att ändra mall för rubrikformat</a:t>
            </a:r>
            <a:endParaRPr/>
          </a:p>
        </p:txBody>
      </p:sp>
      <p:sp>
        <p:nvSpPr>
          <p:cNvPr id="1723251351" name="Platshållare för sidfot 4"/>
          <p:cNvSpPr>
            <a:spLocks noGrp="1"/>
          </p:cNvSpPr>
          <p:nvPr>
            <p:ph type="ftr" sz="quarter" idx="3"/>
          </p:nvPr>
        </p:nvSpPr>
        <p:spPr bwMode="auto">
          <a:xfrm>
            <a:off x="2981553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defRPr/>
            </a:pPr>
            <a:endParaRPr sz="900"/>
          </a:p>
        </p:txBody>
      </p:sp>
      <p:pic>
        <p:nvPicPr>
          <p:cNvPr id="1645229528" name="Image 0" descr="fraunhofer.png"/>
          <p:cNvPicPr>
            <a:picLocks noChangeAspect="1"/>
          </p:cNvPicPr>
          <p:nvPr userDrawn="1"/>
        </p:nvPicPr>
        <p:blipFill rotWithShape="1">
          <a:blip r:embed="rId7"/>
          <a:stretch/>
        </p:blipFill>
        <p:spPr bwMode="auto">
          <a:xfrm>
            <a:off x="679788" y="237744"/>
            <a:ext cx="1475065" cy="420624"/>
          </a:xfrm>
          <a:prstGeom prst="rect">
            <a:avLst/>
          </a:prstGeom>
        </p:spPr>
      </p:pic>
      <p:pic>
        <p:nvPicPr>
          <p:cNvPr id="1901011333" name="Image 1" descr="chalmers.png"/>
          <p:cNvPicPr>
            <a:picLocks noChangeAspect="1"/>
          </p:cNvPicPr>
          <p:nvPr userDrawn="1"/>
        </p:nvPicPr>
        <p:blipFill rotWithShape="1">
          <a:blip r:embed="rId8"/>
          <a:stretch/>
        </p:blipFill>
        <p:spPr bwMode="auto">
          <a:xfrm>
            <a:off x="2843479" y="237744"/>
            <a:ext cx="1353922" cy="420624"/>
          </a:xfrm>
          <a:prstGeom prst="rect">
            <a:avLst/>
          </a:prstGeom>
        </p:spPr>
      </p:pic>
      <p:pic>
        <p:nvPicPr>
          <p:cNvPr id="64946181" name="Image 2" descr="goteborg.png"/>
          <p:cNvPicPr>
            <a:picLocks noChangeAspect="1"/>
          </p:cNvPicPr>
          <p:nvPr userDrawn="1"/>
        </p:nvPicPr>
        <p:blipFill rotWithShape="1">
          <a:blip r:embed="rId9"/>
          <a:stretch/>
        </p:blipFill>
        <p:spPr bwMode="auto">
          <a:xfrm>
            <a:off x="4881282" y="195682"/>
            <a:ext cx="1484555" cy="504749"/>
          </a:xfrm>
          <a:prstGeom prst="rect">
            <a:avLst/>
          </a:prstGeom>
        </p:spPr>
      </p:pic>
      <p:pic>
        <p:nvPicPr>
          <p:cNvPr id="201265604" name="Image 3" descr="napoli.png"/>
          <p:cNvPicPr>
            <a:picLocks noChangeAspect="1"/>
          </p:cNvPicPr>
          <p:nvPr userDrawn="1"/>
        </p:nvPicPr>
        <p:blipFill rotWithShape="1">
          <a:blip r:embed="rId10"/>
          <a:stretch/>
        </p:blipFill>
        <p:spPr bwMode="auto">
          <a:xfrm>
            <a:off x="7077887" y="237744"/>
            <a:ext cx="1297585" cy="420624"/>
          </a:xfrm>
          <a:prstGeom prst="rect">
            <a:avLst/>
          </a:prstGeom>
        </p:spPr>
      </p:pic>
      <p:sp>
        <p:nvSpPr>
          <p:cNvPr id="1608064933" name="Text 2"/>
          <p:cNvSpPr/>
          <p:nvPr userDrawn="1"/>
        </p:nvSpPr>
        <p:spPr bwMode="auto">
          <a:xfrm>
            <a:off x="365760" y="4736592"/>
            <a:ext cx="205740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FSE 2026  ·  Montréal  ·  5–9 July 2026</a:t>
            </a:r>
            <a:endParaRPr lang="en-US" sz="900"/>
          </a:p>
        </p:txBody>
      </p:sp>
      <p:sp>
        <p:nvSpPr>
          <p:cNvPr id="381869477" name="Platshållare för bildnummer 3"/>
          <p:cNvSpPr>
            <a:spLocks noGrp="1"/>
          </p:cNvSpPr>
          <p:nvPr>
            <p:ph type="sldNum" sz="quarter" idx="4"/>
          </p:nvPr>
        </p:nvSpPr>
        <p:spPr bwMode="auto">
          <a:xfrm>
            <a:off x="6150142" y="4767261"/>
            <a:ext cx="2831432" cy="274637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C53FA84E-D7EA-43A2-AD8F-825F36F0800C}" type="slidenum">
              <a:rPr/>
              <a:t>‹#›</a:t>
            </a:fld>
            <a:endParaRPr sz="9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1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2600" b="1">
          <a:solidFill>
            <a:srgbClr val="1E3A5F"/>
          </a:solidFill>
          <a:latin typeface="Cambria"/>
          <a:ea typeface="Cambri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000">
          <a:solidFill>
            <a:schemeClr val="tx1"/>
          </a:solidFill>
          <a:latin typeface="Calibri"/>
          <a:ea typeface="Calibri"/>
          <a:cs typeface="Calibri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agitty.net/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://dx.doi.org/10.1093/ije/dyw341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agitty.net/mDymjnHV9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agitty.net/mPxsokVRw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agitty.net/mvzunz7xx" TargetMode="Externa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agitty.net/m7RVrEEnA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agitty.net/mFcJtc32s" TargetMode="Externa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9754319" name="Image 0" descr="fraunhofer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9788" y="237744"/>
            <a:ext cx="1475065" cy="420624"/>
          </a:xfrm>
          <a:prstGeom prst="rect">
            <a:avLst/>
          </a:prstGeom>
        </p:spPr>
      </p:pic>
      <p:pic>
        <p:nvPicPr>
          <p:cNvPr id="2136099289" name="Image 1" descr="chalmer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43479" y="237744"/>
            <a:ext cx="1353922" cy="420624"/>
          </a:xfrm>
          <a:prstGeom prst="rect">
            <a:avLst/>
          </a:prstGeom>
        </p:spPr>
      </p:pic>
      <p:pic>
        <p:nvPicPr>
          <p:cNvPr id="966437376" name="Image 2" descr="goteborg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81282" y="195682"/>
            <a:ext cx="1484555" cy="504749"/>
          </a:xfrm>
          <a:prstGeom prst="rect">
            <a:avLst/>
          </a:prstGeom>
        </p:spPr>
      </p:pic>
      <p:pic>
        <p:nvPicPr>
          <p:cNvPr id="1244485042" name="Image 3" descr="napoli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077887" y="237744"/>
            <a:ext cx="1297585" cy="420624"/>
          </a:xfrm>
          <a:prstGeom prst="rect">
            <a:avLst/>
          </a:prstGeom>
        </p:spPr>
      </p:pic>
      <p:sp>
        <p:nvSpPr>
          <p:cNvPr id="1860589177" name="Text 0"/>
          <p:cNvSpPr/>
          <p:nvPr/>
        </p:nvSpPr>
        <p:spPr bwMode="auto">
          <a:xfrm>
            <a:off x="914400" y="16916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  <a:defRPr/>
            </a:pPr>
            <a:r>
              <a:rPr lang="en-US" sz="32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Introduction to Causal Inference for Software Engineering</a:t>
            </a:r>
            <a:endParaRPr lang="en-US" sz="3200"/>
          </a:p>
        </p:txBody>
      </p:sp>
      <p:sp>
        <p:nvSpPr>
          <p:cNvPr id="1365875976" name="Text 1"/>
          <p:cNvSpPr/>
          <p:nvPr/>
        </p:nvSpPr>
        <p:spPr bwMode="auto">
          <a:xfrm>
            <a:off x="91440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i="1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A 90-minute hands-on tutorial</a:t>
            </a:r>
            <a:endParaRPr lang="en-US" sz="1500"/>
          </a:p>
        </p:txBody>
      </p:sp>
      <p:sp>
        <p:nvSpPr>
          <p:cNvPr id="1522462077" name="Text 2"/>
          <p:cNvSpPr/>
          <p:nvPr/>
        </p:nvSpPr>
        <p:spPr bwMode="auto"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Julien Siebert  ·  Julian Frattini  ·  Hans-Martin Heyn  ·  Roberto Pietrantuono</a:t>
            </a:r>
            <a:endParaRPr lang="en-US" sz="1200"/>
          </a:p>
        </p:txBody>
      </p:sp>
      <p:sp>
        <p:nvSpPr>
          <p:cNvPr id="296343933" name="Text 4"/>
          <p:cNvSpPr/>
          <p:nvPr/>
        </p:nvSpPr>
        <p:spPr bwMode="auto">
          <a:xfrm>
            <a:off x="32004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3448450" name="Image 0" descr="fraunhofer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9788" y="237744"/>
            <a:ext cx="1475065" cy="420624"/>
          </a:xfrm>
          <a:prstGeom prst="rect">
            <a:avLst/>
          </a:prstGeom>
        </p:spPr>
      </p:pic>
      <p:pic>
        <p:nvPicPr>
          <p:cNvPr id="1417120830" name="Image 1" descr="chalmer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43479" y="237744"/>
            <a:ext cx="1353922" cy="420624"/>
          </a:xfrm>
          <a:prstGeom prst="rect">
            <a:avLst/>
          </a:prstGeom>
        </p:spPr>
      </p:pic>
      <p:pic>
        <p:nvPicPr>
          <p:cNvPr id="287801816" name="Image 2" descr="goteborg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81282" y="195682"/>
            <a:ext cx="1484555" cy="504749"/>
          </a:xfrm>
          <a:prstGeom prst="rect">
            <a:avLst/>
          </a:prstGeom>
        </p:spPr>
      </p:pic>
      <p:pic>
        <p:nvPicPr>
          <p:cNvPr id="572756246" name="Image 3" descr="napoli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077887" y="237744"/>
            <a:ext cx="1297585" cy="420624"/>
          </a:xfrm>
          <a:prstGeom prst="rect">
            <a:avLst/>
          </a:prstGeom>
        </p:spPr>
      </p:pic>
      <p:sp>
        <p:nvSpPr>
          <p:cNvPr id="991228406" name="Text 0"/>
          <p:cNvSpPr/>
          <p:nvPr/>
        </p:nvSpPr>
        <p:spPr bwMode="auto">
          <a:xfrm>
            <a:off x="91440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spc="2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Section number</a:t>
            </a:r>
            <a:endParaRPr lang="en-US" sz="1400"/>
          </a:p>
        </p:txBody>
      </p:sp>
      <p:sp>
        <p:nvSpPr>
          <p:cNvPr id="358063485" name="Text 1"/>
          <p:cNvSpPr/>
          <p:nvPr/>
        </p:nvSpPr>
        <p:spPr bwMode="auto">
          <a:xfrm>
            <a:off x="91440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sv-SE" sz="34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Exercises: Identification, adjustment sets and conditional independence</a:t>
            </a:r>
            <a:endParaRPr lang="en-US" sz="3400"/>
          </a:p>
        </p:txBody>
      </p:sp>
      <p:sp>
        <p:nvSpPr>
          <p:cNvPr id="371130700" name="Text 3"/>
          <p:cNvSpPr/>
          <p:nvPr/>
        </p:nvSpPr>
        <p:spPr bwMode="auto">
          <a:xfrm>
            <a:off x="32004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sv-SE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Exercises</a:t>
            </a:r>
            <a:endParaRPr lang="en-US" sz="900"/>
          </a:p>
        </p:txBody>
      </p:sp>
      <p:sp>
        <p:nvSpPr>
          <p:cNvPr id="225486382" name="Platshållare för bildnummer 3"/>
          <p:cNvSpPr txBox="1"/>
          <p:nvPr/>
        </p:nvSpPr>
        <p:spPr bwMode="auto">
          <a:xfrm>
            <a:off x="6150142" y="4767261"/>
            <a:ext cx="2831432" cy="274637"/>
          </a:xfrm>
          <a:prstGeom prst="rect">
            <a:avLst/>
          </a:prstGeom>
        </p:spPr>
        <p:txBody>
          <a:bodyPr/>
          <a:lstStyle>
            <a:lvl1pPr marL="0" algn="l" defTabSz="914400" rtl="0">
              <a:defRPr sz="1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C53FA84E-D7EA-43A2-AD8F-825F36F0800C}" type="slidenum">
              <a:rPr sz="900">
                <a:solidFill>
                  <a:srgbClr val="1E3A5F"/>
                </a:solidFill>
              </a:rPr>
              <a:t>2</a:t>
            </a:fld>
            <a:endParaRPr sz="900">
              <a:solidFill>
                <a:srgbClr val="1E3A5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206964" name="Platshållare för sidfot 1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sv-SE"/>
              <a:t>Exercises in DAGitty</a:t>
            </a:r>
            <a:endParaRPr/>
          </a:p>
        </p:txBody>
      </p:sp>
      <p:sp>
        <p:nvSpPr>
          <p:cNvPr id="1654706981" name="Rubrik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v-SE"/>
              <a:t>A guides tour through DAGitty</a:t>
            </a:r>
            <a:endParaRPr/>
          </a:p>
        </p:txBody>
      </p:sp>
      <p:sp>
        <p:nvSpPr>
          <p:cNvPr id="787248135" name="Platshållare för innehåll 5"/>
          <p:cNvSpPr>
            <a:spLocks noGrp="1"/>
          </p:cNvSpPr>
          <p:nvPr>
            <p:ph idx="1"/>
          </p:nvPr>
        </p:nvSpPr>
        <p:spPr bwMode="auto">
          <a:xfrm flipH="0" flipV="0">
            <a:off x="286659" y="1483111"/>
            <a:ext cx="4754384" cy="2785052"/>
          </a:xfrm>
        </p:spPr>
        <p:txBody>
          <a:bodyPr/>
          <a:lstStyle/>
          <a:p>
            <a:pPr>
              <a:defRPr/>
            </a:pP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Access it here: </a:t>
            </a:r>
            <a:r>
              <a:rPr lang="en-US" sz="20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3" tooltip=""/>
              </a:rPr>
              <a:t>https://dagitty.net/</a:t>
            </a:r>
            <a:endParaRPr lang="en-US" sz="20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DAGitty is a browser-based tool to create and analyse DAGs</a:t>
            </a:r>
            <a:endParaRPr lang="sv-SE" sz="20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It helps causal inference by automatically identifiying necessary adjustment sets. </a:t>
            </a:r>
            <a:endParaRPr lang="sv-SE" sz="20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Based on the graphical causal model, it provides </a:t>
            </a:r>
            <a:r>
              <a:rPr lang="sv-SE" sz="2000" b="1" i="1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conditional ndependence criteria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that can be used to test models. </a:t>
            </a:r>
            <a:endParaRPr b="0" i="0"/>
          </a:p>
        </p:txBody>
      </p:sp>
      <p:sp>
        <p:nvSpPr>
          <p:cNvPr id="455851015" name="Platshållare för bildnumm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algn="r">
              <a:defRPr/>
            </a:pPr>
            <a:fld id="{C53FA84E-D7EA-43A2-AD8F-825F36F0800C}" type="slidenum">
              <a:rPr/>
              <a:t>3</a:t>
            </a:fld>
            <a:endParaRPr/>
          </a:p>
        </p:txBody>
      </p:sp>
      <p:pic>
        <p:nvPicPr>
          <p:cNvPr id="60145577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672000" y="1671750"/>
            <a:ext cx="1800000" cy="1800000"/>
          </a:xfrm>
          <a:prstGeom prst="rect">
            <a:avLst/>
          </a:prstGeom>
        </p:spPr>
      </p:pic>
      <p:pic>
        <p:nvPicPr>
          <p:cNvPr id="34080607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207601" y="998001"/>
            <a:ext cx="3773971" cy="3436863"/>
          </a:xfrm>
          <a:prstGeom prst="rect">
            <a:avLst/>
          </a:prstGeom>
        </p:spPr>
      </p:pic>
      <p:sp>
        <p:nvSpPr>
          <p:cNvPr id="1096992140" name=""/>
          <p:cNvSpPr txBox="1"/>
          <p:nvPr/>
        </p:nvSpPr>
        <p:spPr bwMode="auto">
          <a:xfrm rot="0" flipH="0" flipV="0">
            <a:off x="520133" y="4523062"/>
            <a:ext cx="837064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Textor</a:t>
            </a:r>
            <a:r>
              <a:rPr lang="sv-SE"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et al., </a:t>
            </a:r>
            <a:r>
              <a:rPr sz="10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6" tooltip=""/>
              </a:rPr>
              <a:t>Robust causal inference using directed acyclic graphs: the R package 'dagitty'.</a:t>
            </a:r>
            <a:r>
              <a:rPr lang="sv-SE" sz="10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International Journal of Epidemiology</a:t>
            </a:r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45(6):1887-1894, 2016.</a:t>
            </a:r>
            <a:endParaRPr sz="1000" b="0"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9328057" name="Image 0" descr="fraunhofer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9788" y="237744"/>
            <a:ext cx="1475063" cy="420624"/>
          </a:xfrm>
          <a:prstGeom prst="rect">
            <a:avLst/>
          </a:prstGeom>
        </p:spPr>
      </p:pic>
      <p:pic>
        <p:nvPicPr>
          <p:cNvPr id="1495363002" name="Image 1" descr="chalmer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43478" y="237744"/>
            <a:ext cx="1353921" cy="420624"/>
          </a:xfrm>
          <a:prstGeom prst="rect">
            <a:avLst/>
          </a:prstGeom>
        </p:spPr>
      </p:pic>
      <p:pic>
        <p:nvPicPr>
          <p:cNvPr id="1548861328" name="Image 2" descr="goteborg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81281" y="195681"/>
            <a:ext cx="1484554" cy="504748"/>
          </a:xfrm>
          <a:prstGeom prst="rect">
            <a:avLst/>
          </a:prstGeom>
        </p:spPr>
      </p:pic>
      <p:pic>
        <p:nvPicPr>
          <p:cNvPr id="1903239283" name="Image 3" descr="napoli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077886" y="237744"/>
            <a:ext cx="1297584" cy="420624"/>
          </a:xfrm>
          <a:prstGeom prst="rect">
            <a:avLst/>
          </a:prstGeom>
        </p:spPr>
      </p:pic>
      <p:sp>
        <p:nvSpPr>
          <p:cNvPr id="1315270508" name="Text 1"/>
          <p:cNvSpPr/>
          <p:nvPr/>
        </p:nvSpPr>
        <p:spPr bwMode="auto">
          <a:xfrm>
            <a:off x="91440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sv-SE" sz="34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Live Demo</a:t>
            </a:r>
            <a:endParaRPr lang="en-US" sz="3400"/>
          </a:p>
        </p:txBody>
      </p:sp>
      <p:sp>
        <p:nvSpPr>
          <p:cNvPr id="1441003166" name="Text 3"/>
          <p:cNvSpPr/>
          <p:nvPr/>
        </p:nvSpPr>
        <p:spPr bwMode="auto">
          <a:xfrm>
            <a:off x="32004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sv-SE" sz="900" b="0" i="0" u="none" strike="noStrike" cap="none" spc="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Exercises in DAGitty</a:t>
            </a:r>
            <a:endParaRPr lang="en-US" sz="900"/>
          </a:p>
        </p:txBody>
      </p:sp>
      <p:sp>
        <p:nvSpPr>
          <p:cNvPr id="1928094139" name="Platshållare för bildnummer 3"/>
          <p:cNvSpPr txBox="1"/>
          <p:nvPr/>
        </p:nvSpPr>
        <p:spPr bwMode="auto">
          <a:xfrm>
            <a:off x="6150141" y="4767260"/>
            <a:ext cx="2831431" cy="274636"/>
          </a:xfrm>
          <a:prstGeom prst="rect">
            <a:avLst/>
          </a:prstGeom>
        </p:spPr>
        <p:txBody>
          <a:bodyPr/>
          <a:lstStyle>
            <a:lvl1pPr marL="0" algn="l" defTabSz="914400" rtl="0">
              <a:defRPr sz="1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80E80F5-4B4C-C1B1-2989-8AC2FA8ECB26}" type="slidenum">
              <a:rPr sz="900">
                <a:solidFill>
                  <a:srgbClr val="1E3A5F"/>
                </a:solidFill>
              </a:rPr>
              <a:t>2</a:t>
            </a:fld>
            <a:endParaRPr sz="900">
              <a:solidFill>
                <a:srgbClr val="1E3A5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631683" name="Platshållare för sidfot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0" indent="0" algn="ctr">
              <a:buNone/>
              <a:defRPr/>
            </a:pPr>
            <a:r>
              <a:rPr lang="sv-SE" sz="900" b="0" i="0" u="none" strike="noStrike" cap="none" spc="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Exercises in DAGitty</a:t>
            </a:r>
            <a:endParaRPr sz="900"/>
          </a:p>
        </p:txBody>
      </p:sp>
      <p:sp>
        <p:nvSpPr>
          <p:cNvPr id="1637651171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286659" y="848458"/>
            <a:ext cx="8694912" cy="541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/>
              <a:t>Problem 1</a:t>
            </a:r>
            <a:endParaRPr/>
          </a:p>
        </p:txBody>
      </p:sp>
      <p:sp>
        <p:nvSpPr>
          <p:cNvPr id="1159135136" name="Platshållare för text 2"/>
          <p:cNvSpPr>
            <a:spLocks noGrp="1"/>
          </p:cNvSpPr>
          <p:nvPr>
            <p:ph idx="1"/>
          </p:nvPr>
        </p:nvSpPr>
        <p:spPr bwMode="auto">
          <a:xfrm flipH="0" flipV="0">
            <a:off x="286659" y="1483111"/>
            <a:ext cx="8694912" cy="87012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Determine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sv-S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adjustment</a:t>
            </a:r>
            <a:r>
              <a:rPr lang="sv-S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set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variables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to block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any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backdoor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causal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path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for the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estimation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direct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effect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 on b. </a:t>
            </a:r>
            <a:endParaRPr/>
          </a:p>
        </p:txBody>
      </p:sp>
      <p:sp>
        <p:nvSpPr>
          <p:cNvPr id="2093629834" name="Platshållare för bildnummer 3"/>
          <p:cNvSpPr>
            <a:spLocks noGrp="1"/>
          </p:cNvSpPr>
          <p:nvPr>
            <p:ph type="sldNum" sz="quarter" idx="12"/>
          </p:nvPr>
        </p:nvSpPr>
        <p:spPr bwMode="auto">
          <a:xfrm>
            <a:off x="6150141" y="4767260"/>
            <a:ext cx="2831431" cy="27463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71C88E06-76CA-742B-A2EE-FA92E6D95B27}" type="slidenum">
              <a:rPr/>
              <a:t>3</a:t>
            </a:fld>
            <a:endParaRPr/>
          </a:p>
        </p:txBody>
      </p:sp>
      <p:cxnSp>
        <p:nvCxnSpPr>
          <p:cNvPr id="499105939" name="Straight Arrow Connector 5"/>
          <p:cNvCxnSpPr/>
          <p:nvPr/>
        </p:nvCxnSpPr>
        <p:spPr bwMode="auto">
          <a:xfrm>
            <a:off x="1483029" y="4034610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55994452" name="Oval 6"/>
          <p:cNvSpPr/>
          <p:nvPr/>
        </p:nvSpPr>
        <p:spPr bwMode="auto">
          <a:xfrm>
            <a:off x="943029" y="3764610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a</a:t>
            </a:r>
            <a:endParaRPr/>
          </a:p>
        </p:txBody>
      </p:sp>
      <p:sp>
        <p:nvSpPr>
          <p:cNvPr id="1519894345" name="Oval 7"/>
          <p:cNvSpPr/>
          <p:nvPr/>
        </p:nvSpPr>
        <p:spPr bwMode="auto">
          <a:xfrm>
            <a:off x="3434409" y="3764610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b</a:t>
            </a:r>
            <a:endParaRPr/>
          </a:p>
        </p:txBody>
      </p:sp>
      <p:sp>
        <p:nvSpPr>
          <p:cNvPr id="1763566835" name="Oval 8"/>
          <p:cNvSpPr/>
          <p:nvPr/>
        </p:nvSpPr>
        <p:spPr bwMode="auto">
          <a:xfrm>
            <a:off x="944323" y="2467759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c</a:t>
            </a:r>
            <a:endParaRPr/>
          </a:p>
        </p:txBody>
      </p:sp>
      <p:sp>
        <p:nvSpPr>
          <p:cNvPr id="1632289605" name="Oval 9"/>
          <p:cNvSpPr/>
          <p:nvPr/>
        </p:nvSpPr>
        <p:spPr bwMode="auto">
          <a:xfrm>
            <a:off x="2188719" y="2463195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d</a:t>
            </a:r>
            <a:endParaRPr/>
          </a:p>
        </p:txBody>
      </p:sp>
      <p:cxnSp>
        <p:nvCxnSpPr>
          <p:cNvPr id="1743067940" name="Straight Arrow Connector 10"/>
          <p:cNvCxnSpPr/>
          <p:nvPr/>
        </p:nvCxnSpPr>
        <p:spPr bwMode="auto">
          <a:xfrm flipV="1">
            <a:off x="1484323" y="2733195"/>
            <a:ext cx="704395" cy="4564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2166953" name="Straight Arrow Connector 11"/>
          <p:cNvCxnSpPr/>
          <p:nvPr/>
        </p:nvCxnSpPr>
        <p:spPr bwMode="auto">
          <a:xfrm>
            <a:off x="2649638" y="2924114"/>
            <a:ext cx="863851" cy="91957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4949581" name="Straight Arrow Connector 12"/>
          <p:cNvCxnSpPr/>
          <p:nvPr/>
        </p:nvCxnSpPr>
        <p:spPr bwMode="auto">
          <a:xfrm flipH="1">
            <a:off x="1213029" y="3007759"/>
            <a:ext cx="1293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392637" name="Platshållare för sidfot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0" indent="0" algn="ctr">
              <a:buNone/>
              <a:defRPr/>
            </a:pPr>
            <a:r>
              <a:rPr lang="sv-SE" sz="900" b="0" i="0" u="none" strike="noStrike" cap="none" spc="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Exercises in DAGitty</a:t>
            </a:r>
            <a:endParaRPr sz="900"/>
          </a:p>
        </p:txBody>
      </p:sp>
      <p:sp>
        <p:nvSpPr>
          <p:cNvPr id="1813222983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286659" y="848458"/>
            <a:ext cx="8694912" cy="541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/>
              <a:t>Problem 1 Solution</a:t>
            </a:r>
            <a:r>
              <a:rPr lang="sv-SE"/>
              <a:t> </a:t>
            </a:r>
            <a:r>
              <a:rPr lang="sv-SE" sz="2600" b="1" i="0" u="sng" strike="noStrike" cap="none" spc="0">
                <a:solidFill>
                  <a:srgbClr val="1E3A5F"/>
                </a:solidFill>
                <a:latin typeface="Cambria"/>
                <a:ea typeface="Cambria"/>
                <a:cs typeface="Cambria"/>
                <a:hlinkClick r:id="rId3" tooltip=""/>
              </a:rPr>
              <a:t>https://dagitty.net/mDymjnHV9</a:t>
            </a:r>
            <a:r>
              <a:rPr lang="sv-SE"/>
              <a:t> </a:t>
            </a:r>
            <a:endParaRPr/>
          </a:p>
        </p:txBody>
      </p:sp>
      <p:sp>
        <p:nvSpPr>
          <p:cNvPr id="308298175" name="Platshållare för text 2"/>
          <p:cNvSpPr>
            <a:spLocks noGrp="1"/>
          </p:cNvSpPr>
          <p:nvPr>
            <p:ph idx="1"/>
          </p:nvPr>
        </p:nvSpPr>
        <p:spPr bwMode="auto">
          <a:xfrm flipH="0" flipV="0">
            <a:off x="286659" y="1483111"/>
            <a:ext cx="8694912" cy="87012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Determine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sv-S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adjustment</a:t>
            </a:r>
            <a:r>
              <a:rPr lang="sv-S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set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variables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to block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any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backdoor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causal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path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for the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estimation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direct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effect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 on b. </a:t>
            </a:r>
            <a:endParaRPr/>
          </a:p>
        </p:txBody>
      </p:sp>
      <p:sp>
        <p:nvSpPr>
          <p:cNvPr id="1816181011" name="Platshållare för bildnummer 3"/>
          <p:cNvSpPr>
            <a:spLocks noGrp="1"/>
          </p:cNvSpPr>
          <p:nvPr>
            <p:ph type="sldNum" sz="quarter" idx="12"/>
          </p:nvPr>
        </p:nvSpPr>
        <p:spPr bwMode="auto">
          <a:xfrm>
            <a:off x="6150141" y="4767260"/>
            <a:ext cx="2831431" cy="27463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7DEDCF68-3C7F-729B-ED91-8AEAC426BB1A}" type="slidenum">
              <a:rPr/>
              <a:t>5</a:t>
            </a:fld>
            <a:endParaRPr/>
          </a:p>
        </p:txBody>
      </p:sp>
      <p:sp>
        <p:nvSpPr>
          <p:cNvPr id="1908340211" name="TextBox 22"/>
          <p:cNvSpPr txBox="1"/>
          <p:nvPr/>
        </p:nvSpPr>
        <p:spPr bwMode="auto">
          <a:xfrm>
            <a:off x="1028012" y="4247146"/>
            <a:ext cx="2816945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Aptos"/>
              </a:rPr>
              <a:t>Adjustment set = {d}</a:t>
            </a:r>
            <a:endParaRPr/>
          </a:p>
        </p:txBody>
      </p:sp>
      <p:sp>
        <p:nvSpPr>
          <p:cNvPr id="65990130" name="TextBox 32"/>
          <p:cNvSpPr txBox="1"/>
          <p:nvPr/>
        </p:nvSpPr>
        <p:spPr bwMode="auto">
          <a:xfrm>
            <a:off x="5582660" y="4268763"/>
            <a:ext cx="2806082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Aptos"/>
              </a:rPr>
              <a:t>Adjustment set = {c}</a:t>
            </a:r>
            <a:endParaRPr/>
          </a:p>
        </p:txBody>
      </p:sp>
      <p:cxnSp>
        <p:nvCxnSpPr>
          <p:cNvPr id="1849221532" name="Straight Arrow Connector 33"/>
          <p:cNvCxnSpPr/>
          <p:nvPr/>
        </p:nvCxnSpPr>
        <p:spPr bwMode="auto">
          <a:xfrm>
            <a:off x="1483029" y="4034610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3771662" name="Oval 34"/>
          <p:cNvSpPr/>
          <p:nvPr/>
        </p:nvSpPr>
        <p:spPr bwMode="auto">
          <a:xfrm>
            <a:off x="943029" y="3764610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a</a:t>
            </a:r>
            <a:endParaRPr/>
          </a:p>
        </p:txBody>
      </p:sp>
      <p:sp>
        <p:nvSpPr>
          <p:cNvPr id="1385883699" name="Oval 35"/>
          <p:cNvSpPr/>
          <p:nvPr/>
        </p:nvSpPr>
        <p:spPr bwMode="auto">
          <a:xfrm>
            <a:off x="3434409" y="3764610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b</a:t>
            </a:r>
            <a:endParaRPr/>
          </a:p>
        </p:txBody>
      </p:sp>
      <p:sp>
        <p:nvSpPr>
          <p:cNvPr id="1644398187" name="Oval 36"/>
          <p:cNvSpPr/>
          <p:nvPr/>
        </p:nvSpPr>
        <p:spPr bwMode="auto">
          <a:xfrm>
            <a:off x="944323" y="2467759"/>
            <a:ext cx="540000" cy="540000"/>
          </a:xfrm>
          <a:prstGeom prst="ellipse">
            <a:avLst/>
          </a:prstGeom>
          <a:solidFill>
            <a:srgbClr val="CD9B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c</a:t>
            </a:r>
            <a:endParaRPr/>
          </a:p>
        </p:txBody>
      </p:sp>
      <p:sp>
        <p:nvSpPr>
          <p:cNvPr id="1969092061" name="Oval 37"/>
          <p:cNvSpPr/>
          <p:nvPr/>
        </p:nvSpPr>
        <p:spPr bwMode="auto">
          <a:xfrm>
            <a:off x="2188719" y="2463195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d</a:t>
            </a:r>
            <a:endParaRPr/>
          </a:p>
        </p:txBody>
      </p:sp>
      <p:cxnSp>
        <p:nvCxnSpPr>
          <p:cNvPr id="1248751492" name="Straight Arrow Connector 38"/>
          <p:cNvCxnSpPr/>
          <p:nvPr/>
        </p:nvCxnSpPr>
        <p:spPr bwMode="auto">
          <a:xfrm flipV="1">
            <a:off x="1484323" y="2733195"/>
            <a:ext cx="704395" cy="4564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1723956" name="Straight Arrow Connector 39"/>
          <p:cNvCxnSpPr/>
          <p:nvPr/>
        </p:nvCxnSpPr>
        <p:spPr bwMode="auto">
          <a:xfrm>
            <a:off x="2649638" y="2924114"/>
            <a:ext cx="863851" cy="91957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8255916" name="Straight Arrow Connector 40"/>
          <p:cNvCxnSpPr/>
          <p:nvPr/>
        </p:nvCxnSpPr>
        <p:spPr bwMode="auto">
          <a:xfrm flipH="1">
            <a:off x="1213029" y="3007759"/>
            <a:ext cx="1293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8173277" name="Straight Arrow Connector 41"/>
          <p:cNvCxnSpPr/>
          <p:nvPr/>
        </p:nvCxnSpPr>
        <p:spPr bwMode="auto">
          <a:xfrm>
            <a:off x="5930083" y="4010225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9372487" name="Oval 42"/>
          <p:cNvSpPr/>
          <p:nvPr/>
        </p:nvSpPr>
        <p:spPr bwMode="auto">
          <a:xfrm>
            <a:off x="5390083" y="3740225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a</a:t>
            </a:r>
            <a:endParaRPr/>
          </a:p>
        </p:txBody>
      </p:sp>
      <p:sp>
        <p:nvSpPr>
          <p:cNvPr id="1309043874" name="Oval 43"/>
          <p:cNvSpPr/>
          <p:nvPr/>
        </p:nvSpPr>
        <p:spPr bwMode="auto">
          <a:xfrm>
            <a:off x="7881462" y="3740225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b</a:t>
            </a:r>
            <a:endParaRPr/>
          </a:p>
        </p:txBody>
      </p:sp>
      <p:sp>
        <p:nvSpPr>
          <p:cNvPr id="2056935790" name="Oval 44"/>
          <p:cNvSpPr/>
          <p:nvPr/>
        </p:nvSpPr>
        <p:spPr bwMode="auto">
          <a:xfrm>
            <a:off x="5391378" y="2443375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c</a:t>
            </a:r>
            <a:endParaRPr/>
          </a:p>
        </p:txBody>
      </p:sp>
      <p:sp>
        <p:nvSpPr>
          <p:cNvPr id="64500826" name="Oval 45"/>
          <p:cNvSpPr/>
          <p:nvPr/>
        </p:nvSpPr>
        <p:spPr bwMode="auto">
          <a:xfrm>
            <a:off x="6635773" y="2438811"/>
            <a:ext cx="540000" cy="540000"/>
          </a:xfrm>
          <a:prstGeom prst="ellipse">
            <a:avLst/>
          </a:prstGeom>
          <a:solidFill>
            <a:srgbClr val="CD9B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d</a:t>
            </a:r>
            <a:endParaRPr/>
          </a:p>
        </p:txBody>
      </p:sp>
      <p:cxnSp>
        <p:nvCxnSpPr>
          <p:cNvPr id="16363737" name="Straight Arrow Connector 46"/>
          <p:cNvCxnSpPr/>
          <p:nvPr/>
        </p:nvCxnSpPr>
        <p:spPr bwMode="auto">
          <a:xfrm flipV="1">
            <a:off x="5931378" y="2708811"/>
            <a:ext cx="704395" cy="4564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726924" name="Straight Arrow Connector 47"/>
          <p:cNvCxnSpPr/>
          <p:nvPr/>
        </p:nvCxnSpPr>
        <p:spPr bwMode="auto">
          <a:xfrm>
            <a:off x="7096692" y="2899729"/>
            <a:ext cx="863851" cy="91957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4496350" name="Straight Arrow Connector 48"/>
          <p:cNvCxnSpPr/>
          <p:nvPr/>
        </p:nvCxnSpPr>
        <p:spPr bwMode="auto">
          <a:xfrm flipH="1">
            <a:off x="5660083" y="2983375"/>
            <a:ext cx="1293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370184" name="Platshållare för sidfot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0" indent="0" algn="ctr">
              <a:buNone/>
              <a:defRPr/>
            </a:pPr>
            <a:r>
              <a:rPr lang="sv-SE" sz="900" b="0" i="0" u="none" strike="noStrike" cap="none" spc="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Exercises in DAGitty</a:t>
            </a:r>
            <a:endParaRPr sz="900"/>
          </a:p>
        </p:txBody>
      </p:sp>
      <p:sp>
        <p:nvSpPr>
          <p:cNvPr id="1127399045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286659" y="848458"/>
            <a:ext cx="8694912" cy="541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/>
              <a:t>Problem 2</a:t>
            </a:r>
            <a:endParaRPr/>
          </a:p>
        </p:txBody>
      </p:sp>
      <p:sp>
        <p:nvSpPr>
          <p:cNvPr id="517327776" name="Platshållare för text 2"/>
          <p:cNvSpPr>
            <a:spLocks noGrp="1"/>
          </p:cNvSpPr>
          <p:nvPr>
            <p:ph idx="1"/>
          </p:nvPr>
        </p:nvSpPr>
        <p:spPr bwMode="auto">
          <a:xfrm flipH="0" flipV="0">
            <a:off x="286659" y="1483111"/>
            <a:ext cx="8694912" cy="87012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Determine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sv-S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adjustment</a:t>
            </a:r>
            <a:r>
              <a:rPr lang="sv-S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set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variables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to block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any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backdoor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causal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path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for the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estimation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direct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effect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 on b. </a:t>
            </a:r>
            <a:endParaRPr/>
          </a:p>
        </p:txBody>
      </p:sp>
      <p:sp>
        <p:nvSpPr>
          <p:cNvPr id="1191156081" name="Platshållare för bildnummer 3"/>
          <p:cNvSpPr>
            <a:spLocks noGrp="1"/>
          </p:cNvSpPr>
          <p:nvPr>
            <p:ph type="sldNum" sz="quarter" idx="12"/>
          </p:nvPr>
        </p:nvSpPr>
        <p:spPr bwMode="auto">
          <a:xfrm>
            <a:off x="6150141" y="4767260"/>
            <a:ext cx="2831431" cy="27463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21C16347-283B-DA1F-2162-728FA055E7E2}" type="slidenum">
              <a:rPr/>
              <a:t>5</a:t>
            </a:fld>
            <a:endParaRPr/>
          </a:p>
        </p:txBody>
      </p:sp>
      <p:cxnSp>
        <p:nvCxnSpPr>
          <p:cNvPr id="1718225107" name="Straight Arrow Connector 23"/>
          <p:cNvCxnSpPr/>
          <p:nvPr/>
        </p:nvCxnSpPr>
        <p:spPr bwMode="auto">
          <a:xfrm>
            <a:off x="1346961" y="3944095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5875631" name="Oval 24"/>
          <p:cNvSpPr/>
          <p:nvPr/>
        </p:nvSpPr>
        <p:spPr bwMode="auto">
          <a:xfrm>
            <a:off x="806962" y="3674095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a</a:t>
            </a:r>
            <a:endParaRPr/>
          </a:p>
        </p:txBody>
      </p:sp>
      <p:sp>
        <p:nvSpPr>
          <p:cNvPr id="1877165122" name="Oval 25"/>
          <p:cNvSpPr/>
          <p:nvPr/>
        </p:nvSpPr>
        <p:spPr bwMode="auto">
          <a:xfrm>
            <a:off x="3298342" y="3674095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b</a:t>
            </a:r>
            <a:endParaRPr/>
          </a:p>
        </p:txBody>
      </p:sp>
      <p:sp>
        <p:nvSpPr>
          <p:cNvPr id="344917646" name="Oval 26"/>
          <p:cNvSpPr/>
          <p:nvPr/>
        </p:nvSpPr>
        <p:spPr bwMode="auto">
          <a:xfrm>
            <a:off x="808256" y="2377244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c</a:t>
            </a:r>
            <a:endParaRPr/>
          </a:p>
        </p:txBody>
      </p:sp>
      <p:sp>
        <p:nvSpPr>
          <p:cNvPr id="1188657565" name="Oval 27"/>
          <p:cNvSpPr/>
          <p:nvPr/>
        </p:nvSpPr>
        <p:spPr bwMode="auto">
          <a:xfrm>
            <a:off x="2052652" y="279403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d</a:t>
            </a:r>
            <a:endParaRPr/>
          </a:p>
        </p:txBody>
      </p:sp>
      <p:cxnSp>
        <p:nvCxnSpPr>
          <p:cNvPr id="1100143255" name="Straight Arrow Connector 28"/>
          <p:cNvCxnSpPr/>
          <p:nvPr/>
        </p:nvCxnSpPr>
        <p:spPr bwMode="auto">
          <a:xfrm>
            <a:off x="1348256" y="2647244"/>
            <a:ext cx="704395" cy="4167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4454372" name="Straight Arrow Connector 29"/>
          <p:cNvCxnSpPr/>
          <p:nvPr/>
        </p:nvCxnSpPr>
        <p:spPr bwMode="auto">
          <a:xfrm flipH="1">
            <a:off x="1076962" y="2917244"/>
            <a:ext cx="1293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397819" name="Oval 30"/>
          <p:cNvSpPr/>
          <p:nvPr/>
        </p:nvSpPr>
        <p:spPr bwMode="auto">
          <a:xfrm>
            <a:off x="3298342" y="2377244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e</a:t>
            </a:r>
            <a:endParaRPr/>
          </a:p>
        </p:txBody>
      </p:sp>
      <p:cxnSp>
        <p:nvCxnSpPr>
          <p:cNvPr id="2000943532" name="Straight Arrow Connector 31"/>
          <p:cNvCxnSpPr/>
          <p:nvPr/>
        </p:nvCxnSpPr>
        <p:spPr bwMode="auto">
          <a:xfrm flipH="1">
            <a:off x="2592652" y="2647244"/>
            <a:ext cx="705690" cy="4167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318413" name="Straight Arrow Connector 32"/>
          <p:cNvCxnSpPr/>
          <p:nvPr/>
        </p:nvCxnSpPr>
        <p:spPr bwMode="auto">
          <a:xfrm>
            <a:off x="3568342" y="2917244"/>
            <a:ext cx="0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179949" name="Platshållare för sidfot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0" indent="0" algn="ctr">
              <a:buNone/>
              <a:defRPr/>
            </a:pPr>
            <a:r>
              <a:rPr lang="sv-SE" sz="900" b="0" i="0" u="none" strike="noStrike" cap="none" spc="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Exercises in DAGitty</a:t>
            </a:r>
            <a:endParaRPr sz="900"/>
          </a:p>
        </p:txBody>
      </p:sp>
      <p:sp>
        <p:nvSpPr>
          <p:cNvPr id="1758553292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286659" y="848458"/>
            <a:ext cx="8694912" cy="541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/>
              <a:t>Problem 2 Solution </a:t>
            </a:r>
            <a:r>
              <a:rPr lang="sv-SE" sz="2600" b="1" i="0" u="sng" strike="noStrike" cap="none" spc="0">
                <a:solidFill>
                  <a:srgbClr val="1E3A5F"/>
                </a:solidFill>
                <a:latin typeface="Cambria"/>
                <a:ea typeface="Cambria"/>
                <a:cs typeface="Cambria"/>
                <a:hlinkClick r:id="rId3" tooltip=""/>
              </a:rPr>
              <a:t>https://dagitty.net/mPxsokVRw</a:t>
            </a:r>
            <a:r>
              <a:rPr lang="sv-SE"/>
              <a:t> </a:t>
            </a:r>
            <a:endParaRPr/>
          </a:p>
        </p:txBody>
      </p:sp>
      <p:sp>
        <p:nvSpPr>
          <p:cNvPr id="1414224248" name="Platshållare för text 2"/>
          <p:cNvSpPr>
            <a:spLocks noGrp="1"/>
          </p:cNvSpPr>
          <p:nvPr>
            <p:ph idx="1"/>
          </p:nvPr>
        </p:nvSpPr>
        <p:spPr bwMode="auto">
          <a:xfrm flipH="0" flipV="0">
            <a:off x="286659" y="1483111"/>
            <a:ext cx="8694912" cy="87012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Determine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sv-S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adjustment</a:t>
            </a:r>
            <a:r>
              <a:rPr lang="sv-S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set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variables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to block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any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backdoor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causal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path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for the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estimation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direct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effect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 on b. </a:t>
            </a:r>
            <a:endParaRPr/>
          </a:p>
        </p:txBody>
      </p:sp>
      <p:sp>
        <p:nvSpPr>
          <p:cNvPr id="971245703" name="Platshållare för bildnummer 3"/>
          <p:cNvSpPr>
            <a:spLocks noGrp="1"/>
          </p:cNvSpPr>
          <p:nvPr>
            <p:ph type="sldNum" sz="quarter" idx="12"/>
          </p:nvPr>
        </p:nvSpPr>
        <p:spPr bwMode="auto">
          <a:xfrm>
            <a:off x="6150141" y="4767260"/>
            <a:ext cx="2831431" cy="27463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7E343CD7-821E-46D9-A241-433E6CBD8BC0}" type="slidenum">
              <a:rPr/>
              <a:t>7</a:t>
            </a:fld>
            <a:endParaRPr/>
          </a:p>
        </p:txBody>
      </p:sp>
      <p:cxnSp>
        <p:nvCxnSpPr>
          <p:cNvPr id="1701556827" name="Straight Arrow Connector 23"/>
          <p:cNvCxnSpPr/>
          <p:nvPr/>
        </p:nvCxnSpPr>
        <p:spPr bwMode="auto">
          <a:xfrm>
            <a:off x="1346961" y="3944095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5603157" name="Oval 24"/>
          <p:cNvSpPr/>
          <p:nvPr/>
        </p:nvSpPr>
        <p:spPr bwMode="auto">
          <a:xfrm>
            <a:off x="806962" y="3674095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a</a:t>
            </a:r>
            <a:endParaRPr/>
          </a:p>
        </p:txBody>
      </p:sp>
      <p:sp>
        <p:nvSpPr>
          <p:cNvPr id="1585909277" name="Oval 25"/>
          <p:cNvSpPr/>
          <p:nvPr/>
        </p:nvSpPr>
        <p:spPr bwMode="auto">
          <a:xfrm>
            <a:off x="3298342" y="3674095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b</a:t>
            </a:r>
            <a:endParaRPr/>
          </a:p>
        </p:txBody>
      </p:sp>
      <p:sp>
        <p:nvSpPr>
          <p:cNvPr id="1801220538" name="Oval 26"/>
          <p:cNvSpPr/>
          <p:nvPr/>
        </p:nvSpPr>
        <p:spPr bwMode="auto">
          <a:xfrm>
            <a:off x="808256" y="2377244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c</a:t>
            </a:r>
            <a:endParaRPr/>
          </a:p>
        </p:txBody>
      </p:sp>
      <p:sp>
        <p:nvSpPr>
          <p:cNvPr id="506594874" name="Oval 27"/>
          <p:cNvSpPr/>
          <p:nvPr/>
        </p:nvSpPr>
        <p:spPr bwMode="auto">
          <a:xfrm>
            <a:off x="2052652" y="2794037"/>
            <a:ext cx="540000" cy="540000"/>
          </a:xfrm>
          <a:prstGeom prst="ellipse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d</a:t>
            </a:r>
            <a:endParaRPr/>
          </a:p>
        </p:txBody>
      </p:sp>
      <p:cxnSp>
        <p:nvCxnSpPr>
          <p:cNvPr id="778190002" name="Straight Arrow Connector 28"/>
          <p:cNvCxnSpPr/>
          <p:nvPr/>
        </p:nvCxnSpPr>
        <p:spPr bwMode="auto">
          <a:xfrm>
            <a:off x="1348256" y="2647244"/>
            <a:ext cx="704395" cy="4167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4408858" name="Straight Arrow Connector 29"/>
          <p:cNvCxnSpPr/>
          <p:nvPr/>
        </p:nvCxnSpPr>
        <p:spPr bwMode="auto">
          <a:xfrm flipH="1">
            <a:off x="1076962" y="2917244"/>
            <a:ext cx="1293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3745316" name="Oval 30"/>
          <p:cNvSpPr/>
          <p:nvPr/>
        </p:nvSpPr>
        <p:spPr bwMode="auto">
          <a:xfrm>
            <a:off x="3298342" y="2377244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e</a:t>
            </a:r>
            <a:endParaRPr/>
          </a:p>
        </p:txBody>
      </p:sp>
      <p:cxnSp>
        <p:nvCxnSpPr>
          <p:cNvPr id="774227567" name="Straight Arrow Connector 31"/>
          <p:cNvCxnSpPr/>
          <p:nvPr/>
        </p:nvCxnSpPr>
        <p:spPr bwMode="auto">
          <a:xfrm flipH="1">
            <a:off x="2592652" y="2647244"/>
            <a:ext cx="705690" cy="4167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1884863" name="Straight Arrow Connector 32"/>
          <p:cNvCxnSpPr/>
          <p:nvPr/>
        </p:nvCxnSpPr>
        <p:spPr bwMode="auto">
          <a:xfrm>
            <a:off x="3568342" y="2917244"/>
            <a:ext cx="0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4412844" name="TextBox 7"/>
          <p:cNvSpPr txBox="1"/>
          <p:nvPr/>
        </p:nvSpPr>
        <p:spPr bwMode="auto">
          <a:xfrm>
            <a:off x="1028012" y="4247146"/>
            <a:ext cx="2646092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Aptos"/>
              </a:rPr>
              <a:t>Adjustment set = {}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865694" name="Platshållare för sidfot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0" indent="0" algn="ctr">
              <a:buNone/>
              <a:defRPr/>
            </a:pPr>
            <a:r>
              <a:rPr lang="sv-SE" sz="900" b="0" i="0" u="none" strike="noStrike" cap="none" spc="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Exercises in DAGitty</a:t>
            </a:r>
            <a:endParaRPr sz="900"/>
          </a:p>
        </p:txBody>
      </p:sp>
      <p:sp>
        <p:nvSpPr>
          <p:cNvPr id="2028496587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286659" y="848458"/>
            <a:ext cx="8694912" cy="541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/>
              <a:t>Problem 3</a:t>
            </a:r>
            <a:endParaRPr/>
          </a:p>
        </p:txBody>
      </p:sp>
      <p:sp>
        <p:nvSpPr>
          <p:cNvPr id="933008474" name="Platshållare för text 2"/>
          <p:cNvSpPr>
            <a:spLocks noGrp="1"/>
          </p:cNvSpPr>
          <p:nvPr>
            <p:ph idx="1"/>
          </p:nvPr>
        </p:nvSpPr>
        <p:spPr bwMode="auto">
          <a:xfrm flipH="0" flipV="0">
            <a:off x="286659" y="1483111"/>
            <a:ext cx="8694912" cy="87012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Determine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sv-S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adjustment</a:t>
            </a:r>
            <a:r>
              <a:rPr lang="sv-S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set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variables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to block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any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backdoor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causal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path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for the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estimation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direct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effect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 on b. </a:t>
            </a:r>
            <a:endParaRPr/>
          </a:p>
        </p:txBody>
      </p:sp>
      <p:sp>
        <p:nvSpPr>
          <p:cNvPr id="27010109" name="Platshållare för bildnummer 3"/>
          <p:cNvSpPr>
            <a:spLocks noGrp="1"/>
          </p:cNvSpPr>
          <p:nvPr>
            <p:ph type="sldNum" sz="quarter" idx="12"/>
          </p:nvPr>
        </p:nvSpPr>
        <p:spPr bwMode="auto">
          <a:xfrm>
            <a:off x="6150141" y="4767260"/>
            <a:ext cx="2831431" cy="27463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A2296F31-7B59-B091-8E69-29E2E0585500}" type="slidenum">
              <a:rPr/>
              <a:t>7</a:t>
            </a:fld>
            <a:endParaRPr/>
          </a:p>
        </p:txBody>
      </p:sp>
      <p:cxnSp>
        <p:nvCxnSpPr>
          <p:cNvPr id="1683936549" name="Straight Arrow Connector 23"/>
          <p:cNvCxnSpPr/>
          <p:nvPr/>
        </p:nvCxnSpPr>
        <p:spPr bwMode="auto">
          <a:xfrm>
            <a:off x="1346961" y="3944095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72498004" name="Oval 24"/>
          <p:cNvSpPr/>
          <p:nvPr/>
        </p:nvSpPr>
        <p:spPr bwMode="auto">
          <a:xfrm>
            <a:off x="806962" y="3674095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a</a:t>
            </a:r>
            <a:endParaRPr/>
          </a:p>
        </p:txBody>
      </p:sp>
      <p:sp>
        <p:nvSpPr>
          <p:cNvPr id="2016993054" name="Oval 25"/>
          <p:cNvSpPr/>
          <p:nvPr/>
        </p:nvSpPr>
        <p:spPr bwMode="auto">
          <a:xfrm>
            <a:off x="3298342" y="3674095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b</a:t>
            </a:r>
            <a:endParaRPr/>
          </a:p>
        </p:txBody>
      </p:sp>
      <p:sp>
        <p:nvSpPr>
          <p:cNvPr id="1071553491" name="Oval 26"/>
          <p:cNvSpPr/>
          <p:nvPr/>
        </p:nvSpPr>
        <p:spPr bwMode="auto">
          <a:xfrm>
            <a:off x="808256" y="2377244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c</a:t>
            </a:r>
            <a:endParaRPr/>
          </a:p>
        </p:txBody>
      </p:sp>
      <p:sp>
        <p:nvSpPr>
          <p:cNvPr id="619148515" name="Oval 27"/>
          <p:cNvSpPr/>
          <p:nvPr/>
        </p:nvSpPr>
        <p:spPr bwMode="auto">
          <a:xfrm>
            <a:off x="2052652" y="279403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d</a:t>
            </a:r>
            <a:endParaRPr/>
          </a:p>
        </p:txBody>
      </p:sp>
      <p:cxnSp>
        <p:nvCxnSpPr>
          <p:cNvPr id="470383293" name="Straight Arrow Connector 28"/>
          <p:cNvCxnSpPr/>
          <p:nvPr/>
        </p:nvCxnSpPr>
        <p:spPr bwMode="auto">
          <a:xfrm>
            <a:off x="1348256" y="2647244"/>
            <a:ext cx="704395" cy="4167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8945633" name="Straight Arrow Connector 29"/>
          <p:cNvCxnSpPr/>
          <p:nvPr/>
        </p:nvCxnSpPr>
        <p:spPr bwMode="auto">
          <a:xfrm flipH="1">
            <a:off x="1076962" y="2917244"/>
            <a:ext cx="1293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2432189" name="Oval 30"/>
          <p:cNvSpPr/>
          <p:nvPr/>
        </p:nvSpPr>
        <p:spPr bwMode="auto">
          <a:xfrm>
            <a:off x="3298342" y="2377244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e</a:t>
            </a:r>
            <a:endParaRPr/>
          </a:p>
        </p:txBody>
      </p:sp>
      <p:cxnSp>
        <p:nvCxnSpPr>
          <p:cNvPr id="853514573" name="Straight Arrow Connector 31"/>
          <p:cNvCxnSpPr/>
          <p:nvPr/>
        </p:nvCxnSpPr>
        <p:spPr bwMode="auto">
          <a:xfrm flipH="1">
            <a:off x="2592652" y="2647244"/>
            <a:ext cx="705690" cy="4167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084010" name="Straight Arrow Connector 32"/>
          <p:cNvCxnSpPr/>
          <p:nvPr/>
        </p:nvCxnSpPr>
        <p:spPr bwMode="auto">
          <a:xfrm>
            <a:off x="3568342" y="2917244"/>
            <a:ext cx="0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8217776" name="Straight Arrow Connector 5"/>
          <p:cNvCxnSpPr/>
          <p:nvPr/>
        </p:nvCxnSpPr>
        <p:spPr bwMode="auto">
          <a:xfrm flipH="1">
            <a:off x="1267881" y="3243127"/>
            <a:ext cx="836924" cy="51004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790654" name="Platshållare för sidfot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0" indent="0" algn="ctr">
              <a:buNone/>
              <a:defRPr/>
            </a:pPr>
            <a:r>
              <a:rPr lang="sv-SE" sz="900" b="0" i="0" u="none" strike="noStrike" cap="none" spc="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Exercises in DAGitty</a:t>
            </a:r>
            <a:endParaRPr sz="900"/>
          </a:p>
        </p:txBody>
      </p:sp>
      <p:sp>
        <p:nvSpPr>
          <p:cNvPr id="858547581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286659" y="848458"/>
            <a:ext cx="8694912" cy="541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/>
              <a:t>Problem 3</a:t>
            </a:r>
            <a:r>
              <a:rPr lang="sv-SE"/>
              <a:t> Solution </a:t>
            </a:r>
            <a:r>
              <a:rPr lang="sv-SE" sz="2600" b="1" i="0" u="sng" strike="noStrike" cap="none" spc="0">
                <a:solidFill>
                  <a:srgbClr val="1E3A5F"/>
                </a:solidFill>
                <a:latin typeface="Cambria"/>
                <a:ea typeface="Cambria"/>
                <a:cs typeface="Cambria"/>
                <a:hlinkClick r:id="rId3" tooltip=""/>
              </a:rPr>
              <a:t>https://dagitty.net/mvzunz7xx</a:t>
            </a:r>
            <a:r>
              <a:rPr lang="sv-SE"/>
              <a:t> </a:t>
            </a:r>
            <a:endParaRPr/>
          </a:p>
        </p:txBody>
      </p:sp>
      <p:sp>
        <p:nvSpPr>
          <p:cNvPr id="714240727" name="Platshållare för text 2"/>
          <p:cNvSpPr>
            <a:spLocks noGrp="1"/>
          </p:cNvSpPr>
          <p:nvPr>
            <p:ph idx="1"/>
          </p:nvPr>
        </p:nvSpPr>
        <p:spPr bwMode="auto">
          <a:xfrm flipH="0" flipV="0">
            <a:off x="286659" y="1483111"/>
            <a:ext cx="8694912" cy="87012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Determine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sv-S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adjustment</a:t>
            </a:r>
            <a:r>
              <a:rPr lang="sv-S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set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variables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to block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any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backdoor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causal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path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for the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estimation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direct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effect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 on b. </a:t>
            </a:r>
            <a:endParaRPr/>
          </a:p>
        </p:txBody>
      </p:sp>
      <p:sp>
        <p:nvSpPr>
          <p:cNvPr id="157243745" name="Platshållare för bildnummer 3"/>
          <p:cNvSpPr>
            <a:spLocks noGrp="1"/>
          </p:cNvSpPr>
          <p:nvPr>
            <p:ph type="sldNum" sz="quarter" idx="12"/>
          </p:nvPr>
        </p:nvSpPr>
        <p:spPr bwMode="auto">
          <a:xfrm>
            <a:off x="6150141" y="4767260"/>
            <a:ext cx="2831431" cy="27463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B0002A38-7406-0D5A-B5EE-0990FA880F04}" type="slidenum">
              <a:rPr/>
              <a:t>9</a:t>
            </a:fld>
            <a:endParaRPr/>
          </a:p>
        </p:txBody>
      </p:sp>
      <p:cxnSp>
        <p:nvCxnSpPr>
          <p:cNvPr id="1086301229" name="Straight Arrow Connector 23"/>
          <p:cNvCxnSpPr/>
          <p:nvPr/>
        </p:nvCxnSpPr>
        <p:spPr bwMode="auto">
          <a:xfrm>
            <a:off x="1346961" y="3944095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3163193" name="Oval 24"/>
          <p:cNvSpPr/>
          <p:nvPr/>
        </p:nvSpPr>
        <p:spPr bwMode="auto">
          <a:xfrm>
            <a:off x="806962" y="3674095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a</a:t>
            </a:r>
            <a:endParaRPr/>
          </a:p>
        </p:txBody>
      </p:sp>
      <p:sp>
        <p:nvSpPr>
          <p:cNvPr id="1569066137" name="Oval 25"/>
          <p:cNvSpPr/>
          <p:nvPr/>
        </p:nvSpPr>
        <p:spPr bwMode="auto">
          <a:xfrm>
            <a:off x="3298342" y="3674095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b</a:t>
            </a:r>
            <a:endParaRPr/>
          </a:p>
        </p:txBody>
      </p:sp>
      <p:sp>
        <p:nvSpPr>
          <p:cNvPr id="163148354" name="Oval 26"/>
          <p:cNvSpPr/>
          <p:nvPr/>
        </p:nvSpPr>
        <p:spPr bwMode="auto">
          <a:xfrm>
            <a:off x="808256" y="2377244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c</a:t>
            </a:r>
            <a:endParaRPr/>
          </a:p>
        </p:txBody>
      </p:sp>
      <p:sp>
        <p:nvSpPr>
          <p:cNvPr id="510138998" name="Oval 27"/>
          <p:cNvSpPr/>
          <p:nvPr/>
        </p:nvSpPr>
        <p:spPr bwMode="auto">
          <a:xfrm>
            <a:off x="2052652" y="279403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d</a:t>
            </a:r>
            <a:endParaRPr/>
          </a:p>
        </p:txBody>
      </p:sp>
      <p:cxnSp>
        <p:nvCxnSpPr>
          <p:cNvPr id="1675507399" name="Straight Arrow Connector 28"/>
          <p:cNvCxnSpPr/>
          <p:nvPr/>
        </p:nvCxnSpPr>
        <p:spPr bwMode="auto">
          <a:xfrm>
            <a:off x="1348256" y="2647244"/>
            <a:ext cx="704395" cy="4167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0809427" name="Straight Arrow Connector 29"/>
          <p:cNvCxnSpPr/>
          <p:nvPr/>
        </p:nvCxnSpPr>
        <p:spPr bwMode="auto">
          <a:xfrm flipH="1">
            <a:off x="1076962" y="2917244"/>
            <a:ext cx="1293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00327486" name="Oval 30"/>
          <p:cNvSpPr/>
          <p:nvPr/>
        </p:nvSpPr>
        <p:spPr bwMode="auto">
          <a:xfrm>
            <a:off x="3298342" y="2377244"/>
            <a:ext cx="540000" cy="540000"/>
          </a:xfrm>
          <a:prstGeom prst="ellipse">
            <a:avLst/>
          </a:prstGeom>
          <a:solidFill>
            <a:srgbClr val="CD9B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e</a:t>
            </a:r>
            <a:endParaRPr/>
          </a:p>
        </p:txBody>
      </p:sp>
      <p:cxnSp>
        <p:nvCxnSpPr>
          <p:cNvPr id="110907124" name="Straight Arrow Connector 31"/>
          <p:cNvCxnSpPr/>
          <p:nvPr/>
        </p:nvCxnSpPr>
        <p:spPr bwMode="auto">
          <a:xfrm flipH="1">
            <a:off x="2592652" y="2647244"/>
            <a:ext cx="705690" cy="4167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568419" name="Straight Arrow Connector 32"/>
          <p:cNvCxnSpPr/>
          <p:nvPr/>
        </p:nvCxnSpPr>
        <p:spPr bwMode="auto">
          <a:xfrm>
            <a:off x="3568342" y="2917244"/>
            <a:ext cx="0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0834717" name="Straight Arrow Connector 5"/>
          <p:cNvCxnSpPr/>
          <p:nvPr/>
        </p:nvCxnSpPr>
        <p:spPr bwMode="auto">
          <a:xfrm flipH="1">
            <a:off x="1267881" y="3243127"/>
            <a:ext cx="836924" cy="51004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5999176" name="TextBox 19"/>
          <p:cNvSpPr txBox="1"/>
          <p:nvPr/>
        </p:nvSpPr>
        <p:spPr bwMode="auto">
          <a:xfrm>
            <a:off x="1028012" y="4247146"/>
            <a:ext cx="2806678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Aptos"/>
              </a:rPr>
              <a:t>Adjustment set = {e}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177657" name="Platshållare för sidfot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0" indent="0" algn="ctr">
              <a:buNone/>
              <a:defRPr/>
            </a:pPr>
            <a:r>
              <a:rPr lang="sv-SE" sz="900" b="0" i="0" u="none" strike="noStrike" cap="none" spc="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Exercises in DAGitty</a:t>
            </a:r>
            <a:endParaRPr sz="900"/>
          </a:p>
        </p:txBody>
      </p:sp>
      <p:sp>
        <p:nvSpPr>
          <p:cNvPr id="1088185214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286659" y="848458"/>
            <a:ext cx="8694912" cy="541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/>
              <a:t>Problem 3 more interesting</a:t>
            </a:r>
            <a:endParaRPr/>
          </a:p>
        </p:txBody>
      </p:sp>
      <p:sp>
        <p:nvSpPr>
          <p:cNvPr id="851927232" name="Platshållare för text 2"/>
          <p:cNvSpPr>
            <a:spLocks noGrp="1"/>
          </p:cNvSpPr>
          <p:nvPr>
            <p:ph idx="1"/>
          </p:nvPr>
        </p:nvSpPr>
        <p:spPr bwMode="auto">
          <a:xfrm flipH="0" flipV="0">
            <a:off x="286659" y="1483111"/>
            <a:ext cx="8694912" cy="87012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Determine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sv-S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adjustment</a:t>
            </a:r>
            <a:r>
              <a:rPr lang="sv-S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set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variables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to block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any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backdoor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causal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path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for the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estimation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direct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effect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 on b. </a:t>
            </a:r>
            <a:endParaRPr/>
          </a:p>
        </p:txBody>
      </p:sp>
      <p:sp>
        <p:nvSpPr>
          <p:cNvPr id="1052036817" name="Platshållare för bildnummer 3"/>
          <p:cNvSpPr>
            <a:spLocks noGrp="1"/>
          </p:cNvSpPr>
          <p:nvPr>
            <p:ph type="sldNum" sz="quarter" idx="12"/>
          </p:nvPr>
        </p:nvSpPr>
        <p:spPr bwMode="auto">
          <a:xfrm>
            <a:off x="6150141" y="4767260"/>
            <a:ext cx="2831431" cy="27463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AAE7DCD4-41FD-64E1-7FCD-4B0D623081BE}" type="slidenum">
              <a:rPr/>
              <a:t>10</a:t>
            </a:fld>
            <a:endParaRPr/>
          </a:p>
        </p:txBody>
      </p:sp>
      <p:cxnSp>
        <p:nvCxnSpPr>
          <p:cNvPr id="463548364" name="Straight Arrow Connector 23"/>
          <p:cNvCxnSpPr/>
          <p:nvPr/>
        </p:nvCxnSpPr>
        <p:spPr bwMode="auto">
          <a:xfrm>
            <a:off x="1346961" y="3944095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03211148" name="Oval 24"/>
          <p:cNvSpPr/>
          <p:nvPr/>
        </p:nvSpPr>
        <p:spPr bwMode="auto">
          <a:xfrm>
            <a:off x="806962" y="3674095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a</a:t>
            </a:r>
            <a:endParaRPr/>
          </a:p>
        </p:txBody>
      </p:sp>
      <p:sp>
        <p:nvSpPr>
          <p:cNvPr id="1318718439" name="Oval 25"/>
          <p:cNvSpPr/>
          <p:nvPr/>
        </p:nvSpPr>
        <p:spPr bwMode="auto">
          <a:xfrm>
            <a:off x="3298342" y="3674095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b</a:t>
            </a:r>
            <a:endParaRPr/>
          </a:p>
        </p:txBody>
      </p:sp>
      <p:sp>
        <p:nvSpPr>
          <p:cNvPr id="1394519737" name="Oval 26"/>
          <p:cNvSpPr/>
          <p:nvPr/>
        </p:nvSpPr>
        <p:spPr bwMode="auto">
          <a:xfrm>
            <a:off x="808256" y="2377244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c</a:t>
            </a:r>
            <a:endParaRPr/>
          </a:p>
        </p:txBody>
      </p:sp>
      <p:sp>
        <p:nvSpPr>
          <p:cNvPr id="934543143" name="Oval 27"/>
          <p:cNvSpPr/>
          <p:nvPr/>
        </p:nvSpPr>
        <p:spPr bwMode="auto">
          <a:xfrm>
            <a:off x="2052652" y="279403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d</a:t>
            </a:r>
            <a:endParaRPr/>
          </a:p>
        </p:txBody>
      </p:sp>
      <p:cxnSp>
        <p:nvCxnSpPr>
          <p:cNvPr id="2010873057" name="Straight Arrow Connector 28"/>
          <p:cNvCxnSpPr/>
          <p:nvPr/>
        </p:nvCxnSpPr>
        <p:spPr bwMode="auto">
          <a:xfrm>
            <a:off x="1348256" y="2647244"/>
            <a:ext cx="704395" cy="4167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4960693" name="Straight Arrow Connector 29"/>
          <p:cNvCxnSpPr/>
          <p:nvPr/>
        </p:nvCxnSpPr>
        <p:spPr bwMode="auto">
          <a:xfrm flipH="1">
            <a:off x="1076962" y="2917244"/>
            <a:ext cx="1293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7949896" name="Oval 30"/>
          <p:cNvSpPr/>
          <p:nvPr/>
        </p:nvSpPr>
        <p:spPr bwMode="auto">
          <a:xfrm>
            <a:off x="3298342" y="2377244"/>
            <a:ext cx="540000" cy="540000"/>
          </a:xfrm>
          <a:prstGeom prst="ellipse">
            <a:avLst/>
          </a:prstGeom>
          <a:solidFill>
            <a:srgbClr val="CD9B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e</a:t>
            </a:r>
            <a:endParaRPr/>
          </a:p>
        </p:txBody>
      </p:sp>
      <p:cxnSp>
        <p:nvCxnSpPr>
          <p:cNvPr id="211838295" name="Straight Arrow Connector 31"/>
          <p:cNvCxnSpPr/>
          <p:nvPr/>
        </p:nvCxnSpPr>
        <p:spPr bwMode="auto">
          <a:xfrm flipH="1">
            <a:off x="2592652" y="2647244"/>
            <a:ext cx="705690" cy="4167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1115258" name="Straight Arrow Connector 32"/>
          <p:cNvCxnSpPr/>
          <p:nvPr/>
        </p:nvCxnSpPr>
        <p:spPr bwMode="auto">
          <a:xfrm>
            <a:off x="3568342" y="2917244"/>
            <a:ext cx="0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6157763" name="Straight Arrow Connector 5"/>
          <p:cNvCxnSpPr/>
          <p:nvPr/>
        </p:nvCxnSpPr>
        <p:spPr bwMode="auto">
          <a:xfrm flipH="1">
            <a:off x="1267881" y="3243127"/>
            <a:ext cx="836924" cy="51004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9509433" name="TextBox 19"/>
          <p:cNvSpPr txBox="1"/>
          <p:nvPr/>
        </p:nvSpPr>
        <p:spPr bwMode="auto">
          <a:xfrm>
            <a:off x="1028012" y="4247146"/>
            <a:ext cx="2806677" cy="4575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Aptos"/>
              </a:rPr>
              <a:t>Adjustment set = {e}</a:t>
            </a:r>
            <a:endParaRPr/>
          </a:p>
        </p:txBody>
      </p:sp>
      <p:cxnSp>
        <p:nvCxnSpPr>
          <p:cNvPr id="50957702" name="Straight Arrow Connector 6"/>
          <p:cNvCxnSpPr/>
          <p:nvPr/>
        </p:nvCxnSpPr>
        <p:spPr bwMode="auto">
          <a:xfrm>
            <a:off x="5571877" y="3944095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3744701" name="Oval 7"/>
          <p:cNvSpPr/>
          <p:nvPr/>
        </p:nvSpPr>
        <p:spPr bwMode="auto">
          <a:xfrm>
            <a:off x="5031877" y="3674095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a</a:t>
            </a:r>
            <a:endParaRPr/>
          </a:p>
        </p:txBody>
      </p:sp>
      <p:sp>
        <p:nvSpPr>
          <p:cNvPr id="1068024803" name="Oval 8"/>
          <p:cNvSpPr/>
          <p:nvPr/>
        </p:nvSpPr>
        <p:spPr bwMode="auto">
          <a:xfrm>
            <a:off x="7523257" y="3674095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b</a:t>
            </a:r>
            <a:endParaRPr/>
          </a:p>
        </p:txBody>
      </p:sp>
      <p:sp>
        <p:nvSpPr>
          <p:cNvPr id="1520777883" name="Oval 9"/>
          <p:cNvSpPr/>
          <p:nvPr/>
        </p:nvSpPr>
        <p:spPr bwMode="auto">
          <a:xfrm>
            <a:off x="5033171" y="2377244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c</a:t>
            </a:r>
            <a:endParaRPr/>
          </a:p>
        </p:txBody>
      </p:sp>
      <p:sp>
        <p:nvSpPr>
          <p:cNvPr id="198957838" name="Oval 10"/>
          <p:cNvSpPr/>
          <p:nvPr/>
        </p:nvSpPr>
        <p:spPr bwMode="auto">
          <a:xfrm>
            <a:off x="6277567" y="279403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d</a:t>
            </a:r>
            <a:endParaRPr/>
          </a:p>
        </p:txBody>
      </p:sp>
      <p:cxnSp>
        <p:nvCxnSpPr>
          <p:cNvPr id="990943160" name="Straight Arrow Connector 11"/>
          <p:cNvCxnSpPr/>
          <p:nvPr/>
        </p:nvCxnSpPr>
        <p:spPr bwMode="auto">
          <a:xfrm>
            <a:off x="5573171" y="2647244"/>
            <a:ext cx="704395" cy="4167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2518279" name="Straight Arrow Connector 12"/>
          <p:cNvCxnSpPr/>
          <p:nvPr/>
        </p:nvCxnSpPr>
        <p:spPr bwMode="auto">
          <a:xfrm flipH="1">
            <a:off x="5301877" y="2917244"/>
            <a:ext cx="1293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3621681" name="Oval 13"/>
          <p:cNvSpPr/>
          <p:nvPr/>
        </p:nvSpPr>
        <p:spPr bwMode="auto">
          <a:xfrm>
            <a:off x="7523257" y="2377244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e</a:t>
            </a:r>
            <a:endParaRPr/>
          </a:p>
        </p:txBody>
      </p:sp>
      <p:cxnSp>
        <p:nvCxnSpPr>
          <p:cNvPr id="2005942263" name="Straight Arrow Connector 14"/>
          <p:cNvCxnSpPr/>
          <p:nvPr/>
        </p:nvCxnSpPr>
        <p:spPr bwMode="auto">
          <a:xfrm flipH="1">
            <a:off x="6817567" y="2647244"/>
            <a:ext cx="705690" cy="4167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3691470" name="Straight Arrow Connector 15"/>
          <p:cNvCxnSpPr/>
          <p:nvPr/>
        </p:nvCxnSpPr>
        <p:spPr bwMode="auto">
          <a:xfrm>
            <a:off x="7793257" y="2917244"/>
            <a:ext cx="0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3726205" name="Straight Arrow Connector 16"/>
          <p:cNvCxnSpPr/>
          <p:nvPr/>
        </p:nvCxnSpPr>
        <p:spPr bwMode="auto">
          <a:xfrm flipH="1">
            <a:off x="5492796" y="3243127"/>
            <a:ext cx="836924" cy="51004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625033" name="Platshållare för sidfot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0" indent="0" algn="ctr">
              <a:buNone/>
              <a:defRPr/>
            </a:pPr>
            <a:r>
              <a:rPr lang="sv-SE" sz="900" b="0" i="0" u="none" strike="noStrike" cap="none" spc="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Exercises in DAGitty</a:t>
            </a:r>
            <a:endParaRPr sz="900"/>
          </a:p>
        </p:txBody>
      </p:sp>
      <p:sp>
        <p:nvSpPr>
          <p:cNvPr id="420479082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286659" y="848458"/>
            <a:ext cx="8694912" cy="541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/>
              <a:t>Problem 3 Solution </a:t>
            </a:r>
            <a:r>
              <a:rPr lang="sv-SE" sz="2600" b="1" i="0" u="sng" strike="noStrike" cap="none" spc="0">
                <a:solidFill>
                  <a:srgbClr val="1E3A5F"/>
                </a:solidFill>
                <a:latin typeface="Cambria"/>
                <a:ea typeface="Cambria"/>
                <a:cs typeface="Cambria"/>
                <a:hlinkClick r:id="rId3" tooltip=""/>
              </a:rPr>
              <a:t>https://dagitty.net/m7RVrEEnA</a:t>
            </a:r>
            <a:r>
              <a:rPr lang="sv-SE" sz="2600" b="1" i="0" u="none" strike="noStrike" cap="none" spc="0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 </a:t>
            </a:r>
            <a:endParaRPr/>
          </a:p>
        </p:txBody>
      </p:sp>
      <p:sp>
        <p:nvSpPr>
          <p:cNvPr id="523040252" name="Platshållare för text 2"/>
          <p:cNvSpPr>
            <a:spLocks noGrp="1"/>
          </p:cNvSpPr>
          <p:nvPr>
            <p:ph idx="1"/>
          </p:nvPr>
        </p:nvSpPr>
        <p:spPr bwMode="auto">
          <a:xfrm flipH="0" flipV="0">
            <a:off x="286659" y="1483111"/>
            <a:ext cx="8694912" cy="87012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Determine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sv-S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adjustment</a:t>
            </a:r>
            <a:r>
              <a:rPr lang="sv-S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set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variables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to block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any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backdoor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causal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path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for the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estimation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direct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effect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sv-SE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 on b. </a:t>
            </a:r>
            <a:endParaRPr/>
          </a:p>
        </p:txBody>
      </p:sp>
      <p:sp>
        <p:nvSpPr>
          <p:cNvPr id="2090631796" name="Platshållare för bildnummer 3"/>
          <p:cNvSpPr>
            <a:spLocks noGrp="1"/>
          </p:cNvSpPr>
          <p:nvPr>
            <p:ph type="sldNum" sz="quarter" idx="12"/>
          </p:nvPr>
        </p:nvSpPr>
        <p:spPr bwMode="auto">
          <a:xfrm>
            <a:off x="6150141" y="4767260"/>
            <a:ext cx="2831431" cy="27463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0A4CC008-5569-B323-1A54-0FDCEFFE7B0F}" type="slidenum">
              <a:rPr/>
              <a:t>11</a:t>
            </a:fld>
            <a:endParaRPr/>
          </a:p>
        </p:txBody>
      </p:sp>
      <p:cxnSp>
        <p:nvCxnSpPr>
          <p:cNvPr id="2014008895" name="Straight Arrow Connector 23"/>
          <p:cNvCxnSpPr/>
          <p:nvPr/>
        </p:nvCxnSpPr>
        <p:spPr bwMode="auto">
          <a:xfrm>
            <a:off x="1346961" y="3944095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4150578" name="Oval 24"/>
          <p:cNvSpPr/>
          <p:nvPr/>
        </p:nvSpPr>
        <p:spPr bwMode="auto">
          <a:xfrm>
            <a:off x="806962" y="3674095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a</a:t>
            </a:r>
            <a:endParaRPr/>
          </a:p>
        </p:txBody>
      </p:sp>
      <p:sp>
        <p:nvSpPr>
          <p:cNvPr id="458099939" name="Oval 25"/>
          <p:cNvSpPr/>
          <p:nvPr/>
        </p:nvSpPr>
        <p:spPr bwMode="auto">
          <a:xfrm>
            <a:off x="3298342" y="3674095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b</a:t>
            </a:r>
            <a:endParaRPr/>
          </a:p>
        </p:txBody>
      </p:sp>
      <p:sp>
        <p:nvSpPr>
          <p:cNvPr id="939199560" name="Oval 26"/>
          <p:cNvSpPr/>
          <p:nvPr/>
        </p:nvSpPr>
        <p:spPr bwMode="auto">
          <a:xfrm>
            <a:off x="808256" y="2377244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c</a:t>
            </a:r>
            <a:endParaRPr/>
          </a:p>
        </p:txBody>
      </p:sp>
      <p:sp>
        <p:nvSpPr>
          <p:cNvPr id="1599407051" name="Oval 27"/>
          <p:cNvSpPr/>
          <p:nvPr/>
        </p:nvSpPr>
        <p:spPr bwMode="auto">
          <a:xfrm>
            <a:off x="2052652" y="279403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d</a:t>
            </a:r>
            <a:endParaRPr/>
          </a:p>
        </p:txBody>
      </p:sp>
      <p:cxnSp>
        <p:nvCxnSpPr>
          <p:cNvPr id="373962974" name="Straight Arrow Connector 28"/>
          <p:cNvCxnSpPr/>
          <p:nvPr/>
        </p:nvCxnSpPr>
        <p:spPr bwMode="auto">
          <a:xfrm>
            <a:off x="1348256" y="2647244"/>
            <a:ext cx="704395" cy="4167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5301895" name="Straight Arrow Connector 29"/>
          <p:cNvCxnSpPr/>
          <p:nvPr/>
        </p:nvCxnSpPr>
        <p:spPr bwMode="auto">
          <a:xfrm flipH="1">
            <a:off x="1076962" y="2917244"/>
            <a:ext cx="1293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1113125" name="Oval 30"/>
          <p:cNvSpPr/>
          <p:nvPr/>
        </p:nvSpPr>
        <p:spPr bwMode="auto">
          <a:xfrm>
            <a:off x="3298342" y="2377244"/>
            <a:ext cx="540000" cy="540000"/>
          </a:xfrm>
          <a:prstGeom prst="ellipse">
            <a:avLst/>
          </a:prstGeom>
          <a:solidFill>
            <a:srgbClr val="CD9B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e</a:t>
            </a:r>
            <a:endParaRPr/>
          </a:p>
        </p:txBody>
      </p:sp>
      <p:cxnSp>
        <p:nvCxnSpPr>
          <p:cNvPr id="776317078" name="Straight Arrow Connector 31"/>
          <p:cNvCxnSpPr/>
          <p:nvPr/>
        </p:nvCxnSpPr>
        <p:spPr bwMode="auto">
          <a:xfrm flipH="1">
            <a:off x="2592652" y="2647244"/>
            <a:ext cx="705690" cy="4167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5777991" name="Straight Arrow Connector 32"/>
          <p:cNvCxnSpPr/>
          <p:nvPr/>
        </p:nvCxnSpPr>
        <p:spPr bwMode="auto">
          <a:xfrm>
            <a:off x="3568342" y="2917244"/>
            <a:ext cx="0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0791878" name="Straight Arrow Connector 5"/>
          <p:cNvCxnSpPr/>
          <p:nvPr/>
        </p:nvCxnSpPr>
        <p:spPr bwMode="auto">
          <a:xfrm flipH="1">
            <a:off x="1267881" y="3243127"/>
            <a:ext cx="836924" cy="51004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1321280" name="TextBox 19"/>
          <p:cNvSpPr txBox="1"/>
          <p:nvPr/>
        </p:nvSpPr>
        <p:spPr bwMode="auto">
          <a:xfrm>
            <a:off x="1028012" y="4247146"/>
            <a:ext cx="2806677" cy="4575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Aptos"/>
              </a:rPr>
              <a:t>Adjustment set = {e}</a:t>
            </a:r>
            <a:endParaRPr/>
          </a:p>
        </p:txBody>
      </p:sp>
      <p:cxnSp>
        <p:nvCxnSpPr>
          <p:cNvPr id="827562990" name="Straight Arrow Connector 6"/>
          <p:cNvCxnSpPr/>
          <p:nvPr/>
        </p:nvCxnSpPr>
        <p:spPr bwMode="auto">
          <a:xfrm>
            <a:off x="5571877" y="3944095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6146169" name="Oval 7"/>
          <p:cNvSpPr/>
          <p:nvPr/>
        </p:nvSpPr>
        <p:spPr bwMode="auto">
          <a:xfrm>
            <a:off x="5031877" y="3674095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a</a:t>
            </a:r>
            <a:endParaRPr/>
          </a:p>
        </p:txBody>
      </p:sp>
      <p:sp>
        <p:nvSpPr>
          <p:cNvPr id="102923537" name="Oval 8"/>
          <p:cNvSpPr/>
          <p:nvPr/>
        </p:nvSpPr>
        <p:spPr bwMode="auto">
          <a:xfrm>
            <a:off x="7523257" y="3674095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b</a:t>
            </a:r>
            <a:endParaRPr/>
          </a:p>
        </p:txBody>
      </p:sp>
      <p:sp>
        <p:nvSpPr>
          <p:cNvPr id="2105875470" name="Oval 9"/>
          <p:cNvSpPr/>
          <p:nvPr/>
        </p:nvSpPr>
        <p:spPr bwMode="auto">
          <a:xfrm>
            <a:off x="5033171" y="2377244"/>
            <a:ext cx="540000" cy="540000"/>
          </a:xfrm>
          <a:prstGeom prst="ellipse">
            <a:avLst/>
          </a:prstGeom>
          <a:solidFill>
            <a:srgbClr val="CD9B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c</a:t>
            </a:r>
            <a:endParaRPr/>
          </a:p>
        </p:txBody>
      </p:sp>
      <p:sp>
        <p:nvSpPr>
          <p:cNvPr id="825795095" name="Oval 10"/>
          <p:cNvSpPr/>
          <p:nvPr/>
        </p:nvSpPr>
        <p:spPr bwMode="auto">
          <a:xfrm>
            <a:off x="6277567" y="2794037"/>
            <a:ext cx="540000" cy="540000"/>
          </a:xfrm>
          <a:prstGeom prst="ellipse">
            <a:avLst/>
          </a:prstGeom>
          <a:pattFill prst="wdUpDiag">
            <a:fgClr>
              <a:srgbClr val="FFC000"/>
            </a:fgClr>
            <a:bgClr>
              <a:srgbClr val="CD9BFF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d</a:t>
            </a:r>
            <a:endParaRPr/>
          </a:p>
        </p:txBody>
      </p:sp>
      <p:cxnSp>
        <p:nvCxnSpPr>
          <p:cNvPr id="1652255158" name="Straight Arrow Connector 11"/>
          <p:cNvCxnSpPr/>
          <p:nvPr/>
        </p:nvCxnSpPr>
        <p:spPr bwMode="auto">
          <a:xfrm>
            <a:off x="5573171" y="2647244"/>
            <a:ext cx="704395" cy="4167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7990100" name="Straight Arrow Connector 12"/>
          <p:cNvCxnSpPr/>
          <p:nvPr/>
        </p:nvCxnSpPr>
        <p:spPr bwMode="auto">
          <a:xfrm flipH="1">
            <a:off x="5301877" y="2917244"/>
            <a:ext cx="1293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03131678" name="Oval 13"/>
          <p:cNvSpPr/>
          <p:nvPr/>
        </p:nvSpPr>
        <p:spPr bwMode="auto">
          <a:xfrm>
            <a:off x="7523257" y="2377244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</a:rPr>
              <a:t>e</a:t>
            </a:r>
            <a:endParaRPr/>
          </a:p>
        </p:txBody>
      </p:sp>
      <p:cxnSp>
        <p:nvCxnSpPr>
          <p:cNvPr id="2141879695" name="Straight Arrow Connector 14"/>
          <p:cNvCxnSpPr/>
          <p:nvPr/>
        </p:nvCxnSpPr>
        <p:spPr bwMode="auto">
          <a:xfrm flipH="1">
            <a:off x="6817567" y="2647244"/>
            <a:ext cx="705690" cy="4167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527550" name="Straight Arrow Connector 15"/>
          <p:cNvCxnSpPr/>
          <p:nvPr/>
        </p:nvCxnSpPr>
        <p:spPr bwMode="auto">
          <a:xfrm>
            <a:off x="7793257" y="2917244"/>
            <a:ext cx="0" cy="7568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8015413" name="Straight Arrow Connector 16"/>
          <p:cNvCxnSpPr/>
          <p:nvPr/>
        </p:nvCxnSpPr>
        <p:spPr bwMode="auto">
          <a:xfrm flipH="1">
            <a:off x="5492796" y="3243127"/>
            <a:ext cx="836924" cy="51004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9382948" name="TextBox 20"/>
          <p:cNvSpPr txBox="1"/>
          <p:nvPr/>
        </p:nvSpPr>
        <p:spPr bwMode="auto">
          <a:xfrm>
            <a:off x="5188533" y="4248193"/>
            <a:ext cx="3063996" cy="4575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Aptos"/>
              </a:rPr>
              <a:t>Adjustment set = {</a:t>
            </a:r>
            <a:r>
              <a:rPr lang="en-US" sz="2400">
                <a:latin typeface="Aptos"/>
              </a:rPr>
              <a:t>c,d</a:t>
            </a:r>
            <a:r>
              <a:rPr lang="en-US" sz="2400">
                <a:latin typeface="Aptos"/>
              </a:rPr>
              <a:t>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479550" name="Platshållare för sidfot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0" indent="0" algn="ctr">
              <a:buNone/>
              <a:defRPr/>
            </a:pPr>
            <a:r>
              <a:rPr lang="sv-SE" sz="900" b="0" i="0" u="none" strike="noStrike" cap="none" spc="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Exercises in DAGitty</a:t>
            </a:r>
            <a:endParaRPr sz="900"/>
          </a:p>
        </p:txBody>
      </p:sp>
      <p:sp>
        <p:nvSpPr>
          <p:cNvPr id="263680681" name="Platshållare för rubrik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/>
              <a:t>Problem 4: Does an automated testing framework (X) reduce post-relase defects (Y)?</a:t>
            </a:r>
            <a:endParaRPr/>
          </a:p>
        </p:txBody>
      </p:sp>
      <p:sp>
        <p:nvSpPr>
          <p:cNvPr id="467180336" name="Platshållare för bildnummer 3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88F84B8B-4B57-C2C6-581C-14C3434FEC72}" type="slidenum">
              <a:rPr/>
              <a:t>11</a:t>
            </a:fld>
            <a:endParaRPr/>
          </a:p>
        </p:txBody>
      </p:sp>
      <p:sp>
        <p:nvSpPr>
          <p:cNvPr id="2136399869" name="Platshållare för text 2"/>
          <p:cNvSpPr>
            <a:spLocks noGrp="1"/>
          </p:cNvSpPr>
          <p:nvPr/>
        </p:nvSpPr>
        <p:spPr bwMode="auto">
          <a:xfrm flipH="0" flipV="0">
            <a:off x="286659" y="1483110"/>
            <a:ext cx="8694913" cy="3284149"/>
          </a:xfrm>
          <a:prstGeom prst="rect">
            <a:avLst/>
          </a:prstGeom>
        </p:spPr>
        <p:txBody>
          <a:bodyPr/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sv-SE" sz="20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81022075" name=""/>
          <p:cNvSpPr txBox="1"/>
          <p:nvPr/>
        </p:nvSpPr>
        <p:spPr bwMode="auto">
          <a:xfrm rot="0" flipH="0" flipV="0">
            <a:off x="326347" y="1493316"/>
            <a:ext cx="4688495" cy="3292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sv-SE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 software quality team sutdies the effect of the  introduction of an automated testing framework on post-relase defects of a large system.  They know:</a:t>
            </a:r>
            <a:endParaRPr lang="sv-SE" sz="16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>
              <a:defRPr/>
            </a:pPr>
            <a:endParaRPr lang="sv-SE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61850" indent="-261850" algn="l">
              <a:buFont typeface="Arial"/>
              <a:buAutoNum type="arabicPeriod"/>
              <a:defRPr/>
            </a:pPr>
            <a:r>
              <a:rPr lang="sv-SE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Experienced developers are more likely to adopt the framework and to write less defect-prone code. </a:t>
            </a:r>
            <a:endParaRPr lang="sv-SE" sz="16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61850" indent="-261850" algn="l">
              <a:buFont typeface="Arial"/>
              <a:buAutoNum type="arabicPeriod"/>
              <a:defRPr/>
            </a:pPr>
            <a:r>
              <a:rPr lang="sv-SE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The framework lowers defects directly, and also by raising test coverage. </a:t>
            </a:r>
            <a:endParaRPr lang="sv-SE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61850" indent="-261850" algn="l">
              <a:buFont typeface="Arial"/>
              <a:buAutoNum type="arabicPeriod"/>
              <a:defRPr/>
            </a:pPr>
            <a:r>
              <a:rPr lang="sv-SE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More complex modules tend to have more post-release defects. </a:t>
            </a:r>
            <a:endParaRPr lang="sv-SE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61850" indent="-261850" algn="l">
              <a:buFont typeface="Arial"/>
              <a:buAutoNum type="arabicPeriod"/>
              <a:defRPr/>
            </a:pPr>
            <a:r>
              <a:rPr lang="sv-SE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Both the framework and module complexity raise the number of issues logged. </a:t>
            </a:r>
            <a:endParaRPr lang="sv-SE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4959472" name="Content Placeholder 3"/>
          <p:cNvSpPr txBox="1"/>
          <p:nvPr/>
        </p:nvSpPr>
        <p:spPr bwMode="auto">
          <a:xfrm flipH="0" flipV="0">
            <a:off x="5231624" y="1174749"/>
            <a:ext cx="3759799" cy="3729831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  <p:txBody>
          <a:bodyPr/>
          <a:lstStyle>
            <a:lvl1pPr marL="0" indent="0" algn="l" defTabSz="914400" rtl="0">
              <a:lnSpc>
                <a:spcPct val="90000"/>
              </a:lnSpc>
              <a:spcBef>
                <a:spcPts val="999"/>
              </a:spcBef>
              <a:buFont typeface="Wingdings"/>
              <a:buNone/>
              <a:defRPr sz="2000">
                <a:solidFill>
                  <a:schemeClr val="tx1"/>
                </a:solidFill>
                <a:latin typeface="Aptos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Wingdings"/>
              <a:buChar char="§"/>
              <a:defRPr sz="1800">
                <a:solidFill>
                  <a:schemeClr val="tx1"/>
                </a:solidFill>
                <a:latin typeface="Aptos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Wingdings"/>
              <a:buChar char="§"/>
              <a:defRPr sz="1400">
                <a:solidFill>
                  <a:schemeClr val="tx1"/>
                </a:solidFill>
                <a:latin typeface="Aptos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Wingdings"/>
              <a:buChar char="§"/>
              <a:defRPr sz="1200">
                <a:solidFill>
                  <a:schemeClr val="tx1"/>
                </a:solidFill>
                <a:latin typeface="Aptos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Wingdings"/>
              <a:buChar char="§"/>
              <a:defRPr sz="1100">
                <a:solidFill>
                  <a:schemeClr val="tx1"/>
                </a:solidFill>
                <a:latin typeface="Aptos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Wingdings"/>
              <a:buChar char="§"/>
              <a:defRPr sz="800">
                <a:solidFill>
                  <a:schemeClr val="tx1"/>
                </a:solidFill>
                <a:latin typeface="Aptos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Draw a DAG including the variables: nitrogen deposition, species richness, altitude, soil moisture, grazing pressure.</a:t>
            </a:r>
            <a:endParaRPr/>
          </a:p>
          <a:p>
            <a:pPr>
              <a:defRPr/>
            </a:pPr>
            <a:r>
              <a:rPr lang="en-US" sz="1800"/>
              <a:t>Identify</a:t>
            </a:r>
            <a:r>
              <a:rPr lang="sv-SE" sz="1800"/>
              <a:t>: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sv-SE" sz="1800"/>
              <a:t>Which</a:t>
            </a:r>
            <a:r>
              <a:rPr lang="sv-SE" sz="1800"/>
              <a:t> </a:t>
            </a:r>
            <a:r>
              <a:rPr lang="sv-SE" sz="1800"/>
              <a:t>variables</a:t>
            </a:r>
            <a:r>
              <a:rPr lang="sv-SE" sz="1800"/>
              <a:t> </a:t>
            </a:r>
            <a:r>
              <a:rPr lang="sv-SE" sz="1800"/>
              <a:t>are</a:t>
            </a:r>
            <a:r>
              <a:rPr lang="sv-SE" sz="1800"/>
              <a:t> </a:t>
            </a:r>
            <a:r>
              <a:rPr lang="sv-SE" sz="1800"/>
              <a:t>confounders</a:t>
            </a:r>
            <a:r>
              <a:rPr lang="sv-SE" sz="1800"/>
              <a:t>;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sv-SE" sz="1800"/>
              <a:t>Which</a:t>
            </a:r>
            <a:r>
              <a:rPr lang="sv-SE" sz="1800"/>
              <a:t> </a:t>
            </a:r>
            <a:r>
              <a:rPr lang="sv-SE" sz="1800"/>
              <a:t>are</a:t>
            </a:r>
            <a:r>
              <a:rPr lang="sv-SE" sz="1800"/>
              <a:t> </a:t>
            </a:r>
            <a:r>
              <a:rPr lang="sv-SE" sz="1800"/>
              <a:t>mediators</a:t>
            </a:r>
            <a:r>
              <a:rPr lang="sv-SE" sz="1800"/>
              <a:t>;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sv-SE" sz="1800"/>
              <a:t>What</a:t>
            </a:r>
            <a:r>
              <a:rPr lang="sv-SE" sz="1800"/>
              <a:t> is the minimal </a:t>
            </a:r>
            <a:r>
              <a:rPr lang="sv-SE" sz="1800"/>
              <a:t>adjustment</a:t>
            </a:r>
            <a:r>
              <a:rPr lang="sv-SE" sz="1800"/>
              <a:t> set to </a:t>
            </a:r>
            <a:r>
              <a:rPr lang="sv-SE" sz="1800"/>
              <a:t>estimate</a:t>
            </a:r>
            <a:r>
              <a:rPr lang="sv-SE" sz="1800"/>
              <a:t> </a:t>
            </a:r>
            <a:r>
              <a:rPr lang="sv-SE" sz="1800" b="1"/>
              <a:t>the total </a:t>
            </a:r>
            <a:r>
              <a:rPr lang="sv-SE" sz="1800" b="1"/>
              <a:t>effect</a:t>
            </a:r>
            <a:r>
              <a:rPr lang="sv-SE" sz="1800" b="1"/>
              <a:t> </a:t>
            </a:r>
            <a:r>
              <a:rPr lang="sv-SE" sz="1800"/>
              <a:t>of</a:t>
            </a:r>
            <a:r>
              <a:rPr lang="sv-SE" sz="1800"/>
              <a:t> nitrogen deposition on species </a:t>
            </a:r>
            <a:r>
              <a:rPr lang="sv-SE" sz="1800"/>
              <a:t>richness</a:t>
            </a:r>
            <a:r>
              <a:rPr lang="sv-SE" sz="1800"/>
              <a:t>.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076624" name="Platshållare för sidfot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0" indent="0" algn="ctr">
              <a:buNone/>
              <a:defRPr/>
            </a:pPr>
            <a:r>
              <a:rPr lang="sv-SE" sz="900" b="0" i="0" u="none" strike="noStrike" cap="none" spc="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Exercises in DAGitty</a:t>
            </a:r>
            <a:endParaRPr sz="900"/>
          </a:p>
        </p:txBody>
      </p:sp>
      <p:sp>
        <p:nvSpPr>
          <p:cNvPr id="577177367" name="Platshållare för rubrik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v-SE"/>
              <a:t>Problem 4: Solution </a:t>
            </a:r>
            <a:r>
              <a:rPr lang="sv-SE" sz="2600" b="1" i="0" u="sng" strike="noStrike" cap="none" spc="0">
                <a:solidFill>
                  <a:srgbClr val="1E3A5F"/>
                </a:solidFill>
                <a:latin typeface="Cambria"/>
                <a:ea typeface="Cambria"/>
                <a:cs typeface="Cambria"/>
                <a:hlinkClick r:id="rId3" tooltip=""/>
              </a:rPr>
              <a:t>https://dagitty.net/mFcJtc32s</a:t>
            </a:r>
            <a:r>
              <a:rPr lang="sv-SE"/>
              <a:t> </a:t>
            </a:r>
            <a:endParaRPr/>
          </a:p>
        </p:txBody>
      </p:sp>
      <p:sp>
        <p:nvSpPr>
          <p:cNvPr id="2060595865" name="Platshållare för bildnummer 3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0FC45E75-EF9F-1444-EB0B-A2A5129572EC}" type="slidenum">
              <a:rPr/>
              <a:t>13</a:t>
            </a:fld>
            <a:endParaRPr/>
          </a:p>
        </p:txBody>
      </p:sp>
      <p:sp>
        <p:nvSpPr>
          <p:cNvPr id="1429713750" name="Platshållare för text 2"/>
          <p:cNvSpPr>
            <a:spLocks noGrp="1"/>
          </p:cNvSpPr>
          <p:nvPr/>
        </p:nvSpPr>
        <p:spPr bwMode="auto">
          <a:xfrm flipH="0" flipV="0">
            <a:off x="286659" y="1483110"/>
            <a:ext cx="8694913" cy="3284149"/>
          </a:xfrm>
          <a:prstGeom prst="rect">
            <a:avLst/>
          </a:prstGeom>
        </p:spPr>
        <p:txBody>
          <a:bodyPr/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sv-SE" sz="20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857955" name=""/>
          <p:cNvSpPr txBox="1"/>
          <p:nvPr/>
        </p:nvSpPr>
        <p:spPr bwMode="auto">
          <a:xfrm rot="0" flipH="0" flipV="0">
            <a:off x="326347" y="1493316"/>
            <a:ext cx="4688495" cy="3292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sv-SE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 software quality team sutdies the effect of the  introduction of an automated testing framework on post-relase defects of a large system.  They know:</a:t>
            </a:r>
            <a:endParaRPr lang="sv-SE" sz="16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>
              <a:defRPr/>
            </a:pPr>
            <a:endParaRPr lang="sv-SE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61850" indent="-261850" algn="l">
              <a:buFont typeface="Arial"/>
              <a:buAutoNum type="arabicPeriod"/>
              <a:defRPr/>
            </a:pPr>
            <a:r>
              <a:rPr lang="sv-SE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Experienced developers are more likely to adopt the framework and to write less defect-prone code. </a:t>
            </a:r>
            <a:endParaRPr lang="sv-SE" sz="16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61850" indent="-261850" algn="l">
              <a:buFont typeface="Arial"/>
              <a:buAutoNum type="arabicPeriod"/>
              <a:defRPr/>
            </a:pPr>
            <a:r>
              <a:rPr lang="sv-SE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The framework lowers defects directly, and also by raising test coverage. </a:t>
            </a:r>
            <a:endParaRPr lang="sv-SE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61850" indent="-261850" algn="l">
              <a:buFont typeface="Arial"/>
              <a:buAutoNum type="arabicPeriod"/>
              <a:defRPr/>
            </a:pPr>
            <a:r>
              <a:rPr lang="sv-SE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More complex modules tend to have more post-release defects. </a:t>
            </a:r>
            <a:endParaRPr lang="sv-SE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61850" indent="-261850" algn="l">
              <a:buFont typeface="Arial"/>
              <a:buAutoNum type="arabicPeriod"/>
              <a:defRPr/>
            </a:pPr>
            <a:r>
              <a:rPr lang="sv-SE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Both the framework and module complexity raise the number of issues logged. </a:t>
            </a:r>
            <a:endParaRPr lang="sv-SE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46425592" name=""/>
          <p:cNvPicPr>
            <a:picLocks noChangeAspect="1"/>
          </p:cNvPicPr>
          <p:nvPr/>
        </p:nvPicPr>
        <p:blipFill rotWithShape="1">
          <a:blip r:embed="rId4"/>
          <a:srcRect l="4792" t="21755" r="0" b="13271"/>
          <a:stretch/>
        </p:blipFill>
        <p:spPr bwMode="auto">
          <a:xfrm flipH="0" flipV="0">
            <a:off x="4953812" y="1389507"/>
            <a:ext cx="3647791" cy="3377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Anpassad formgivning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Causal Inference for Software Engineering</dc:title>
  <dc:subject>PptxGenJS Presentation</dc:subject>
  <dc:creator>Tutorial authors</dc:creator>
  <cp:lastModifiedBy/>
  <cp:revision>29</cp:revision>
  <dcterms:created xsi:type="dcterms:W3CDTF">2026-06-18T12:50:28Z</dcterms:created>
  <dcterms:modified xsi:type="dcterms:W3CDTF">2026-06-23T12:21:26Z</dcterms:modified>
</cp:coreProperties>
</file>