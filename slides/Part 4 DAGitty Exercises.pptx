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6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rPr>
              <a:t>Click to move the slide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1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1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5F3D301-6F12-4B14-A666-01FE1EAD88D3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971C885-807B-4375-B494-73985A1CDAF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428FC9D-50AA-492D-A8D2-B341F97BB2D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AC57CFC-3DE3-433B-A8FC-C42792373C8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Rubrik och innehål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ftr" idx="1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286560" y="1483200"/>
            <a:ext cx="8694720" cy="317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A4F3F2-A9B4-4A13-B7FB-F2C478E26730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12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dast rubri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ftr" idx="3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4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62B2DA-FFC9-4377-A03C-81B1B3C10779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12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vå dela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1"/>
          <p:cNvSpPr>
            <a:spLocks noGrp="1"/>
          </p:cNvSpPr>
          <p:nvPr>
            <p:ph type="body"/>
          </p:nvPr>
        </p:nvSpPr>
        <p:spPr>
          <a:xfrm>
            <a:off x="286560" y="1524600"/>
            <a:ext cx="4285080" cy="3107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648320" y="1524600"/>
            <a:ext cx="4332960" cy="3107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ftr" idx="5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l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i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a 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h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ä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 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f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ö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 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a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t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t 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ä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d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a 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m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a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l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l 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f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ö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 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u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b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i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f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o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m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a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6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357EFA-772E-4CFA-8595-185FA123DABA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Rubrik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ftr" idx="7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8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AB5DB3-F8E6-459E-AA6F-734D08DDA566}" type="slidenum">
              <a:rPr lang="en-GB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rPr>
              <a:t>Click to edit the title text 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https://dagitty.net/" TargetMode="External"/><Relationship Id="rId2" Type="http://schemas.openxmlformats.org/officeDocument/2006/relationships/image" Target="../media/image5.png"/><Relationship Id="rId3" Type="http://schemas.openxmlformats.org/officeDocument/2006/relationships/hyperlink" Target="http://dx.doi.org/10.1093/ije/dyw341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dagitty.net/mDymjnHV9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dagitty.net/mPxsokVRw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dagitty.net/mvzunz7xx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dagitty.net/m7RVrEEnA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https://dagitty.net/mFcJtc32s" TargetMode="External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age 0" descr="fraunhofer.png"/>
          <p:cNvPicPr/>
          <p:nvPr/>
        </p:nvPicPr>
        <p:blipFill>
          <a:blip r:embed="rId1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" name="Image 1" descr="chalmers.png"/>
          <p:cNvPicPr/>
          <p:nvPr/>
        </p:nvPicPr>
        <p:blipFill>
          <a:blip r:embed="rId2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" name="Image 2" descr="goteborg.png"/>
          <p:cNvPicPr/>
          <p:nvPr/>
        </p:nvPicPr>
        <p:blipFill>
          <a:blip r:embed="rId3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" name="Image 3" descr="napoli.png"/>
          <p:cNvPicPr/>
          <p:nvPr/>
        </p:nvPicPr>
        <p:blipFill>
          <a:blip r:embed="rId4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Text 0"/>
          <p:cNvSpPr/>
          <p:nvPr/>
        </p:nvSpPr>
        <p:spPr>
          <a:xfrm>
            <a:off x="914400" y="1691640"/>
            <a:ext cx="73148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Introduction to Causal Inference for Software Engineering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914400" y="306324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A 90-minute hands-on tutorial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48640" y="36118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Juli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en 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Sie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be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rt  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·  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Juli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an 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Fra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tti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ni  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·  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Ha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ns-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art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in 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He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yn  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·  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Ro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be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rto 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Pie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tra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nt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uo</a:t>
            </a: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no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4"/>
          <p:cNvSpPr/>
          <p:nvPr/>
        </p:nvSpPr>
        <p:spPr>
          <a:xfrm>
            <a:off x="3200400" y="47365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9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Image 0" descr="fraunhofer.png"/>
          <p:cNvPicPr/>
          <p:nvPr/>
        </p:nvPicPr>
        <p:blipFill>
          <a:blip r:embed="rId1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" name="Image 1" descr="chalmers.png"/>
          <p:cNvPicPr/>
          <p:nvPr/>
        </p:nvPicPr>
        <p:blipFill>
          <a:blip r:embed="rId2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" name="Image 2" descr="goteborg.png"/>
          <p:cNvPicPr/>
          <p:nvPr/>
        </p:nvPicPr>
        <p:blipFill>
          <a:blip r:embed="rId3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" name="Image 3" descr="napoli.png"/>
          <p:cNvPicPr/>
          <p:nvPr/>
        </p:nvPicPr>
        <p:blipFill>
          <a:blip r:embed="rId4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Text 0"/>
          <p:cNvSpPr/>
          <p:nvPr/>
        </p:nvSpPr>
        <p:spPr>
          <a:xfrm>
            <a:off x="914400" y="18745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pc="201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Section number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914400" y="2240280"/>
            <a:ext cx="73148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sv-SE" sz="34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Exercises: Identification, adjustment sets and conditional independence</a:t>
            </a:r>
            <a:endParaRPr lang="en-GB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3200400" y="47365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</a:t>
            </a: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cise</a:t>
            </a: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tshållare för bildnummer 3"/>
          <p:cNvSpPr/>
          <p:nvPr/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 defTabSz="914400">
              <a:lnSpc>
                <a:spcPct val="100000"/>
              </a:lnSpc>
            </a:pPr>
            <a:fld id="{1B305834-788F-40BE-97C4-1EB055B84EA0}" type="slidenum">
              <a:rPr lang="en-GB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ftr" idx="12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sv-SE" sz="9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sv-SE" sz="9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A guides tour through DAGitty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4754160" cy="278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Access it here: </a:t>
            </a:r>
            <a:r>
              <a:rPr lang="en-US" sz="2000" b="0" u="sng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  <a:hlinkClick r:id="rId1"/>
              </a:rPr>
              <a:t>https://dagitty.net/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DAGitty is a browser-based tool to create and analyse DAGs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It helps causal inference by automatically identifiying necessary adjustment 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sets.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Based on the graphical causal model, it provides </a:t>
            </a:r>
            <a:r>
              <a:rPr lang="sv-SE" sz="2000" b="1" i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conditional independence </a:t>
            </a:r>
            <a:r>
              <a:rPr lang="sv-SE" sz="2000" b="1" i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criteria 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that can be used to test models.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sldNum" idx="13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571A005-55B9-47F6-9A92-DC2E82FB1EB5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0" name=""/>
          <p:cNvPicPr/>
          <p:nvPr/>
        </p:nvPicPr>
        <p:blipFill>
          <a:blip r:embed="rId2"/>
          <a:stretch/>
        </p:blipFill>
        <p:spPr>
          <a:xfrm>
            <a:off x="5207760" y="997920"/>
            <a:ext cx="3773520" cy="343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"/>
          <p:cNvSpPr/>
          <p:nvPr/>
        </p:nvSpPr>
        <p:spPr>
          <a:xfrm>
            <a:off x="520200" y="4523040"/>
            <a:ext cx="8370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en-GB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Textor</a:t>
            </a:r>
            <a:r>
              <a:rPr lang="sv-SE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et al., </a:t>
            </a:r>
            <a:r>
              <a:rPr lang="sv-SE" sz="1000" b="0" u="sng" strike="noStrike">
                <a:solidFill>
                  <a:srgbClr val="467886"/>
                </a:solidFill>
                <a:effectLst/>
                <a:uFillTx/>
                <a:latin typeface="Times New Roman"/>
                <a:ea typeface="Times New Roman"/>
                <a:hlinkClick r:id="rId3"/>
              </a:rPr>
              <a:t>Robust causal inference using directed acyclic graphs: the R package 'dagitty'.</a:t>
            </a:r>
            <a:r>
              <a:rPr lang="sv-SE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International Journal of Epidemiology</a:t>
            </a:r>
            <a:r>
              <a:rPr lang="sv-SE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45(6):1887-1894, 2016.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Image 0" descr="fraunhofer.png"/>
          <p:cNvPicPr/>
          <p:nvPr/>
        </p:nvPicPr>
        <p:blipFill>
          <a:blip r:embed="rId1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Image 1" descr="chalmers.png"/>
          <p:cNvPicPr/>
          <p:nvPr/>
        </p:nvPicPr>
        <p:blipFill>
          <a:blip r:embed="rId2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Image 2" descr="goteborg.png"/>
          <p:cNvPicPr/>
          <p:nvPr/>
        </p:nvPicPr>
        <p:blipFill>
          <a:blip r:embed="rId3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" name="Image 3" descr="napoli.png"/>
          <p:cNvPicPr/>
          <p:nvPr/>
        </p:nvPicPr>
        <p:blipFill>
          <a:blip r:embed="rId4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 1"/>
          <p:cNvSpPr/>
          <p:nvPr/>
        </p:nvSpPr>
        <p:spPr>
          <a:xfrm>
            <a:off x="914400" y="2240280"/>
            <a:ext cx="73148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sv-SE" sz="34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Live Demo</a:t>
            </a:r>
            <a:endParaRPr lang="en-GB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3200400" y="47365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tshållare för bildnummer 3"/>
          <p:cNvSpPr/>
          <p:nvPr/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 defTabSz="914400">
              <a:lnSpc>
                <a:spcPct val="100000"/>
              </a:lnSpc>
            </a:pPr>
            <a:fld id="{E3013668-459C-4473-9F48-6E32798C95C7}" type="slidenum">
              <a:rPr lang="en-GB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ftr" idx="14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1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variables to block any backdoor causal path for the estimation of the direct 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sldNum" idx="15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A3A97C-21E5-411A-AF76-38093C01D258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83" name="Straight Arrow Connector 5"/>
          <p:cNvCxnSpPr/>
          <p:nvPr/>
        </p:nvCxnSpPr>
        <p:spPr>
          <a:xfrm>
            <a:off x="1482840" y="403452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84" name="Oval 6"/>
          <p:cNvSpPr/>
          <p:nvPr/>
        </p:nvSpPr>
        <p:spPr>
          <a:xfrm>
            <a:off x="943200" y="376452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Oval 7"/>
          <p:cNvSpPr/>
          <p:nvPr/>
        </p:nvSpPr>
        <p:spPr>
          <a:xfrm>
            <a:off x="3434400" y="376452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Oval 8"/>
          <p:cNvSpPr/>
          <p:nvPr/>
        </p:nvSpPr>
        <p:spPr>
          <a:xfrm>
            <a:off x="944280" y="246780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Oval 9"/>
          <p:cNvSpPr/>
          <p:nvPr/>
        </p:nvSpPr>
        <p:spPr>
          <a:xfrm>
            <a:off x="2188800" y="246312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8" name="Straight Arrow Connector 10"/>
          <p:cNvCxnSpPr/>
          <p:nvPr/>
        </p:nvCxnSpPr>
        <p:spPr>
          <a:xfrm flipV="1">
            <a:off x="1484280" y="2733120"/>
            <a:ext cx="704520" cy="46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89" name="Straight Arrow Connector 11"/>
          <p:cNvCxnSpPr/>
          <p:nvPr/>
        </p:nvCxnSpPr>
        <p:spPr>
          <a:xfrm>
            <a:off x="2649600" y="2923920"/>
            <a:ext cx="864000" cy="91980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90" name="Straight Arrow Connector 12"/>
          <p:cNvCxnSpPr/>
          <p:nvPr/>
        </p:nvCxnSpPr>
        <p:spPr>
          <a:xfrm flipH="1">
            <a:off x="1212840" y="3007440"/>
            <a:ext cx="1800" cy="7574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ftr" idx="16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1 Solution </a:t>
            </a:r>
            <a:r>
              <a:rPr lang="sv-SE" sz="2600" b="1" u="sng" strike="noStrike">
                <a:solidFill>
                  <a:srgbClr val="467886"/>
                </a:solidFill>
                <a:effectLst/>
                <a:uFillTx/>
                <a:latin typeface="Cambria"/>
                <a:ea typeface="Cambria"/>
                <a:hlinkClick r:id="rId1"/>
              </a:rPr>
              <a:t>https://dagitty.net/mDymjnHV9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 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variables to block any backdoor causal path for the estimation of the direct 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sldNum" idx="17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992107-52C2-4786-BE15-04C26AEA2253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TextBox 22"/>
          <p:cNvSpPr/>
          <p:nvPr/>
        </p:nvSpPr>
        <p:spPr>
          <a:xfrm>
            <a:off x="1028160" y="4247280"/>
            <a:ext cx="27990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Adjustment set = {c}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32"/>
          <p:cNvSpPr/>
          <p:nvPr/>
        </p:nvSpPr>
        <p:spPr>
          <a:xfrm>
            <a:off x="5582520" y="4268880"/>
            <a:ext cx="2809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Adjustment set = {d}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7" name="Straight Arrow Connector 33"/>
          <p:cNvCxnSpPr/>
          <p:nvPr/>
        </p:nvCxnSpPr>
        <p:spPr>
          <a:xfrm>
            <a:off x="1482840" y="403452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98" name="Oval 34"/>
          <p:cNvSpPr/>
          <p:nvPr/>
        </p:nvSpPr>
        <p:spPr>
          <a:xfrm>
            <a:off x="943200" y="376452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Oval 35"/>
          <p:cNvSpPr/>
          <p:nvPr/>
        </p:nvSpPr>
        <p:spPr>
          <a:xfrm>
            <a:off x="3434400" y="376452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Oval 36"/>
          <p:cNvSpPr/>
          <p:nvPr/>
        </p:nvSpPr>
        <p:spPr>
          <a:xfrm>
            <a:off x="944280" y="2467800"/>
            <a:ext cx="539640" cy="539640"/>
          </a:xfrm>
          <a:prstGeom prst="ellipse">
            <a:avLst/>
          </a:prstGeom>
          <a:solidFill>
            <a:srgbClr val="CD9BFF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Oval 37"/>
          <p:cNvSpPr/>
          <p:nvPr/>
        </p:nvSpPr>
        <p:spPr>
          <a:xfrm>
            <a:off x="2188800" y="246312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2" name="Straight Arrow Connector 38"/>
          <p:cNvCxnSpPr/>
          <p:nvPr/>
        </p:nvCxnSpPr>
        <p:spPr>
          <a:xfrm flipV="1">
            <a:off x="1484280" y="2733120"/>
            <a:ext cx="704520" cy="46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03" name="Straight Arrow Connector 39"/>
          <p:cNvCxnSpPr/>
          <p:nvPr/>
        </p:nvCxnSpPr>
        <p:spPr>
          <a:xfrm>
            <a:off x="2649600" y="2923920"/>
            <a:ext cx="864000" cy="91980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04" name="Straight Arrow Connector 40"/>
          <p:cNvCxnSpPr/>
          <p:nvPr/>
        </p:nvCxnSpPr>
        <p:spPr>
          <a:xfrm flipH="1">
            <a:off x="1212840" y="3007440"/>
            <a:ext cx="1800" cy="7574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05" name="Straight Arrow Connector 41"/>
          <p:cNvCxnSpPr/>
          <p:nvPr/>
        </p:nvCxnSpPr>
        <p:spPr>
          <a:xfrm>
            <a:off x="5929920" y="4010040"/>
            <a:ext cx="1951560" cy="3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06" name="Oval 42"/>
          <p:cNvSpPr/>
          <p:nvPr/>
        </p:nvSpPr>
        <p:spPr>
          <a:xfrm>
            <a:off x="5389920" y="374040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Oval 43"/>
          <p:cNvSpPr/>
          <p:nvPr/>
        </p:nvSpPr>
        <p:spPr>
          <a:xfrm>
            <a:off x="7881480" y="374040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Oval 44"/>
          <p:cNvSpPr/>
          <p:nvPr/>
        </p:nvSpPr>
        <p:spPr>
          <a:xfrm>
            <a:off x="5391360" y="244332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Oval 45"/>
          <p:cNvSpPr/>
          <p:nvPr/>
        </p:nvSpPr>
        <p:spPr>
          <a:xfrm>
            <a:off x="6635880" y="2438640"/>
            <a:ext cx="539640" cy="539640"/>
          </a:xfrm>
          <a:prstGeom prst="ellipse">
            <a:avLst/>
          </a:prstGeom>
          <a:solidFill>
            <a:srgbClr val="CD9BFF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0" name="Straight Arrow Connector 46"/>
          <p:cNvCxnSpPr/>
          <p:nvPr/>
        </p:nvCxnSpPr>
        <p:spPr>
          <a:xfrm flipV="1">
            <a:off x="5931360" y="2708640"/>
            <a:ext cx="704520" cy="50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11" name="Straight Arrow Connector 47"/>
          <p:cNvCxnSpPr/>
          <p:nvPr/>
        </p:nvCxnSpPr>
        <p:spPr>
          <a:xfrm>
            <a:off x="7096680" y="2899440"/>
            <a:ext cx="864000" cy="9201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12" name="Straight Arrow Connector 48"/>
          <p:cNvCxnSpPr/>
          <p:nvPr/>
        </p:nvCxnSpPr>
        <p:spPr>
          <a:xfrm flipH="1">
            <a:off x="5659920" y="298332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ftr" idx="18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2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variables to block any backdoor causal path for the estimation of the direct 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 type="sldNum" idx="19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2F50B8-A55A-4191-81A1-0446FCB32B4E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17" name="Straight Arrow Connector 23"/>
          <p:cNvCxnSpPr/>
          <p:nvPr/>
        </p:nvCxnSpPr>
        <p:spPr>
          <a:xfrm>
            <a:off x="1346760" y="394380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18" name="Oval 24"/>
          <p:cNvSpPr/>
          <p:nvPr/>
        </p:nvSpPr>
        <p:spPr>
          <a:xfrm>
            <a:off x="8071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Oval 25"/>
          <p:cNvSpPr/>
          <p:nvPr/>
        </p:nvSpPr>
        <p:spPr>
          <a:xfrm>
            <a:off x="329832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Oval 26"/>
          <p:cNvSpPr/>
          <p:nvPr/>
        </p:nvSpPr>
        <p:spPr>
          <a:xfrm>
            <a:off x="80820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Oval 27"/>
          <p:cNvSpPr/>
          <p:nvPr/>
        </p:nvSpPr>
        <p:spPr>
          <a:xfrm>
            <a:off x="2052720" y="279396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2" name="Straight Arrow Connector 28"/>
          <p:cNvCxnSpPr/>
          <p:nvPr/>
        </p:nvCxnSpPr>
        <p:spPr>
          <a:xfrm>
            <a:off x="134820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23" name="Straight Arrow Connector 29"/>
          <p:cNvCxnSpPr/>
          <p:nvPr/>
        </p:nvCxnSpPr>
        <p:spPr>
          <a:xfrm flipH="1">
            <a:off x="107676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24" name="Oval 30"/>
          <p:cNvSpPr/>
          <p:nvPr/>
        </p:nvSpPr>
        <p:spPr>
          <a:xfrm>
            <a:off x="329832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" name="Straight Arrow Connector 31"/>
          <p:cNvCxnSpPr/>
          <p:nvPr/>
        </p:nvCxnSpPr>
        <p:spPr>
          <a:xfrm flipH="1">
            <a:off x="2592360" y="2647080"/>
            <a:ext cx="70632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26" name="Straight Arrow Connector 32"/>
          <p:cNvCxnSpPr/>
          <p:nvPr/>
        </p:nvCxnSpPr>
        <p:spPr>
          <a:xfrm>
            <a:off x="35683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ftr" idx="20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2 Solution </a:t>
            </a:r>
            <a:r>
              <a:rPr lang="sv-SE" sz="2600" b="1" u="sng" strike="noStrike">
                <a:solidFill>
                  <a:srgbClr val="467886"/>
                </a:solidFill>
                <a:effectLst/>
                <a:uFillTx/>
                <a:latin typeface="Cambria"/>
                <a:ea typeface="Cambria"/>
                <a:hlinkClick r:id="rId1"/>
              </a:rPr>
              <a:t>https://dagitty.net/mPxsokVRw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 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variables to block any backdoor causal path for the estimation of the direct 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sldNum" idx="21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AF8E36-0B06-431B-B00C-B3D547D7CEBD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31" name="Straight Arrow Connector 23"/>
          <p:cNvCxnSpPr/>
          <p:nvPr/>
        </p:nvCxnSpPr>
        <p:spPr>
          <a:xfrm>
            <a:off x="1346760" y="394380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32" name="Oval 24"/>
          <p:cNvSpPr/>
          <p:nvPr/>
        </p:nvSpPr>
        <p:spPr>
          <a:xfrm>
            <a:off x="8071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Oval 25"/>
          <p:cNvSpPr/>
          <p:nvPr/>
        </p:nvSpPr>
        <p:spPr>
          <a:xfrm>
            <a:off x="329832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Oval 26"/>
          <p:cNvSpPr/>
          <p:nvPr/>
        </p:nvSpPr>
        <p:spPr>
          <a:xfrm>
            <a:off x="80820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Oval 27"/>
          <p:cNvSpPr/>
          <p:nvPr/>
        </p:nvSpPr>
        <p:spPr>
          <a:xfrm>
            <a:off x="2052720" y="2793960"/>
            <a:ext cx="539640" cy="539640"/>
          </a:xfrm>
          <a:prstGeom prst="ellipse">
            <a:avLst/>
          </a:prstGeom>
          <a:solidFill>
            <a:srgbClr val="FFC000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" name="Straight Arrow Connector 28"/>
          <p:cNvCxnSpPr/>
          <p:nvPr/>
        </p:nvCxnSpPr>
        <p:spPr>
          <a:xfrm>
            <a:off x="134820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37" name="Straight Arrow Connector 29"/>
          <p:cNvCxnSpPr/>
          <p:nvPr/>
        </p:nvCxnSpPr>
        <p:spPr>
          <a:xfrm flipH="1">
            <a:off x="107676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38" name="Oval 30"/>
          <p:cNvSpPr/>
          <p:nvPr/>
        </p:nvSpPr>
        <p:spPr>
          <a:xfrm>
            <a:off x="329832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9" name="Straight Arrow Connector 31"/>
          <p:cNvCxnSpPr/>
          <p:nvPr/>
        </p:nvCxnSpPr>
        <p:spPr>
          <a:xfrm flipH="1">
            <a:off x="2592360" y="2647080"/>
            <a:ext cx="70632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40" name="Straight Arrow Connector 32"/>
          <p:cNvCxnSpPr/>
          <p:nvPr/>
        </p:nvCxnSpPr>
        <p:spPr>
          <a:xfrm>
            <a:off x="35683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41" name="TextBox 7"/>
          <p:cNvSpPr/>
          <p:nvPr/>
        </p:nvSpPr>
        <p:spPr>
          <a:xfrm>
            <a:off x="1028160" y="4247280"/>
            <a:ext cx="264564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Adjustment set = {}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ftr" idx="22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3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variables to block any backdoor causal path for the estimation of the direct 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sldNum" idx="23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BBE90C-0F2C-4F57-A569-87E27ABF4AB3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46" name="Straight Arrow Connector 23"/>
          <p:cNvCxnSpPr/>
          <p:nvPr/>
        </p:nvCxnSpPr>
        <p:spPr>
          <a:xfrm>
            <a:off x="1346760" y="394380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47" name="Oval 24"/>
          <p:cNvSpPr/>
          <p:nvPr/>
        </p:nvSpPr>
        <p:spPr>
          <a:xfrm>
            <a:off x="8071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Oval 25"/>
          <p:cNvSpPr/>
          <p:nvPr/>
        </p:nvSpPr>
        <p:spPr>
          <a:xfrm>
            <a:off x="329832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Oval 26"/>
          <p:cNvSpPr/>
          <p:nvPr/>
        </p:nvSpPr>
        <p:spPr>
          <a:xfrm>
            <a:off x="80820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Oval 27"/>
          <p:cNvSpPr/>
          <p:nvPr/>
        </p:nvSpPr>
        <p:spPr>
          <a:xfrm>
            <a:off x="2052720" y="279396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1" name="Straight Arrow Connector 28"/>
          <p:cNvCxnSpPr/>
          <p:nvPr/>
        </p:nvCxnSpPr>
        <p:spPr>
          <a:xfrm>
            <a:off x="134820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52" name="Straight Arrow Connector 29"/>
          <p:cNvCxnSpPr/>
          <p:nvPr/>
        </p:nvCxnSpPr>
        <p:spPr>
          <a:xfrm flipH="1">
            <a:off x="107676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53" name="Oval 30"/>
          <p:cNvSpPr/>
          <p:nvPr/>
        </p:nvSpPr>
        <p:spPr>
          <a:xfrm>
            <a:off x="329832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4" name="Straight Arrow Connector 31"/>
          <p:cNvCxnSpPr/>
          <p:nvPr/>
        </p:nvCxnSpPr>
        <p:spPr>
          <a:xfrm flipH="1">
            <a:off x="2592360" y="2647080"/>
            <a:ext cx="70632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55" name="Straight Arrow Connector 32"/>
          <p:cNvCxnSpPr/>
          <p:nvPr/>
        </p:nvCxnSpPr>
        <p:spPr>
          <a:xfrm>
            <a:off x="35683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56" name="Straight Arrow Connector 5"/>
          <p:cNvCxnSpPr/>
          <p:nvPr/>
        </p:nvCxnSpPr>
        <p:spPr>
          <a:xfrm flipH="1">
            <a:off x="1267560" y="3242880"/>
            <a:ext cx="837360" cy="5104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ftr" idx="24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3 Solution </a:t>
            </a:r>
            <a:r>
              <a:rPr lang="sv-SE" sz="2600" b="1" u="sng" strike="noStrike">
                <a:solidFill>
                  <a:srgbClr val="467886"/>
                </a:solidFill>
                <a:effectLst/>
                <a:uFillTx/>
                <a:latin typeface="Cambria"/>
                <a:ea typeface="Cambria"/>
                <a:hlinkClick r:id="rId1"/>
              </a:rPr>
              <a:t>https://dagitty.net/mvzunz7xx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 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variables to block any backdoor causal path for the estimation of the direct 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sldNum" idx="25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AEDD40-18FB-4AB8-B200-4114FCDBF135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61" name="Straight Arrow Connector 23"/>
          <p:cNvCxnSpPr/>
          <p:nvPr/>
        </p:nvCxnSpPr>
        <p:spPr>
          <a:xfrm>
            <a:off x="1346760" y="394380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62" name="Oval 24"/>
          <p:cNvSpPr/>
          <p:nvPr/>
        </p:nvSpPr>
        <p:spPr>
          <a:xfrm>
            <a:off x="8071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Oval 25"/>
          <p:cNvSpPr/>
          <p:nvPr/>
        </p:nvSpPr>
        <p:spPr>
          <a:xfrm>
            <a:off x="329832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Oval 26"/>
          <p:cNvSpPr/>
          <p:nvPr/>
        </p:nvSpPr>
        <p:spPr>
          <a:xfrm>
            <a:off x="80820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Oval 27"/>
          <p:cNvSpPr/>
          <p:nvPr/>
        </p:nvSpPr>
        <p:spPr>
          <a:xfrm>
            <a:off x="2052720" y="279396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6" name="Straight Arrow Connector 28"/>
          <p:cNvCxnSpPr/>
          <p:nvPr/>
        </p:nvCxnSpPr>
        <p:spPr>
          <a:xfrm>
            <a:off x="134820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67" name="Straight Arrow Connector 29"/>
          <p:cNvCxnSpPr/>
          <p:nvPr/>
        </p:nvCxnSpPr>
        <p:spPr>
          <a:xfrm flipH="1">
            <a:off x="107676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68" name="Oval 30"/>
          <p:cNvSpPr/>
          <p:nvPr/>
        </p:nvSpPr>
        <p:spPr>
          <a:xfrm>
            <a:off x="3298320" y="2377080"/>
            <a:ext cx="539640" cy="539640"/>
          </a:xfrm>
          <a:prstGeom prst="ellipse">
            <a:avLst/>
          </a:prstGeom>
          <a:solidFill>
            <a:srgbClr val="CD9BFF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9" name="Straight Arrow Connector 31"/>
          <p:cNvCxnSpPr/>
          <p:nvPr/>
        </p:nvCxnSpPr>
        <p:spPr>
          <a:xfrm flipH="1">
            <a:off x="2592360" y="2647080"/>
            <a:ext cx="70632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70" name="Straight Arrow Connector 32"/>
          <p:cNvCxnSpPr/>
          <p:nvPr/>
        </p:nvCxnSpPr>
        <p:spPr>
          <a:xfrm>
            <a:off x="35683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71" name="Straight Arrow Connector 5"/>
          <p:cNvCxnSpPr/>
          <p:nvPr/>
        </p:nvCxnSpPr>
        <p:spPr>
          <a:xfrm flipH="1">
            <a:off x="1267560" y="3242880"/>
            <a:ext cx="837360" cy="5104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72" name="TextBox 19"/>
          <p:cNvSpPr/>
          <p:nvPr/>
        </p:nvSpPr>
        <p:spPr>
          <a:xfrm>
            <a:off x="1028160" y="4247280"/>
            <a:ext cx="280620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Adjustment set = {e}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ftr" idx="26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3 more interesting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variables to block any backdoor causal path 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for the estimation of the direct 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 type="sldNum" idx="27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3E29AF-62A5-42AF-9CBD-677709FC4331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77" name="Straight Arrow Connector 23"/>
          <p:cNvCxnSpPr/>
          <p:nvPr/>
        </p:nvCxnSpPr>
        <p:spPr>
          <a:xfrm>
            <a:off x="1346760" y="394380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78" name="Oval 24"/>
          <p:cNvSpPr/>
          <p:nvPr/>
        </p:nvSpPr>
        <p:spPr>
          <a:xfrm>
            <a:off x="8071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Oval 25"/>
          <p:cNvSpPr/>
          <p:nvPr/>
        </p:nvSpPr>
        <p:spPr>
          <a:xfrm>
            <a:off x="329832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Oval 26"/>
          <p:cNvSpPr/>
          <p:nvPr/>
        </p:nvSpPr>
        <p:spPr>
          <a:xfrm>
            <a:off x="80820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Oval 27"/>
          <p:cNvSpPr/>
          <p:nvPr/>
        </p:nvSpPr>
        <p:spPr>
          <a:xfrm>
            <a:off x="2052720" y="279396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2" name="Straight Arrow Connector 28"/>
          <p:cNvCxnSpPr/>
          <p:nvPr/>
        </p:nvCxnSpPr>
        <p:spPr>
          <a:xfrm>
            <a:off x="134820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83" name="Straight Arrow Connector 29"/>
          <p:cNvCxnSpPr/>
          <p:nvPr/>
        </p:nvCxnSpPr>
        <p:spPr>
          <a:xfrm flipH="1">
            <a:off x="107676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84" name="Oval 30"/>
          <p:cNvSpPr/>
          <p:nvPr/>
        </p:nvSpPr>
        <p:spPr>
          <a:xfrm>
            <a:off x="3298320" y="2377080"/>
            <a:ext cx="539640" cy="539640"/>
          </a:xfrm>
          <a:prstGeom prst="ellipse">
            <a:avLst/>
          </a:prstGeom>
          <a:solidFill>
            <a:srgbClr val="CD9BFF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5" name="Straight Arrow Connector 31"/>
          <p:cNvCxnSpPr/>
          <p:nvPr/>
        </p:nvCxnSpPr>
        <p:spPr>
          <a:xfrm flipH="1">
            <a:off x="2592360" y="2647080"/>
            <a:ext cx="70632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86" name="Straight Arrow Connector 32"/>
          <p:cNvCxnSpPr/>
          <p:nvPr/>
        </p:nvCxnSpPr>
        <p:spPr>
          <a:xfrm>
            <a:off x="35683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87" name="Straight Arrow Connector 5"/>
          <p:cNvCxnSpPr/>
          <p:nvPr/>
        </p:nvCxnSpPr>
        <p:spPr>
          <a:xfrm flipH="1">
            <a:off x="1267560" y="3242880"/>
            <a:ext cx="837360" cy="5104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88" name="TextBox 19"/>
          <p:cNvSpPr/>
          <p:nvPr/>
        </p:nvSpPr>
        <p:spPr>
          <a:xfrm>
            <a:off x="1028160" y="4247280"/>
            <a:ext cx="280620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Adjustment set = {e}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9" name="Straight Arrow Connector 6"/>
          <p:cNvCxnSpPr/>
          <p:nvPr/>
        </p:nvCxnSpPr>
        <p:spPr>
          <a:xfrm>
            <a:off x="5571720" y="3943800"/>
            <a:ext cx="1951560" cy="3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90" name="Oval 7"/>
          <p:cNvSpPr/>
          <p:nvPr/>
        </p:nvSpPr>
        <p:spPr>
          <a:xfrm>
            <a:off x="50317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Oval 8"/>
          <p:cNvSpPr/>
          <p:nvPr/>
        </p:nvSpPr>
        <p:spPr>
          <a:xfrm>
            <a:off x="752328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Oval 9"/>
          <p:cNvSpPr/>
          <p:nvPr/>
        </p:nvSpPr>
        <p:spPr>
          <a:xfrm>
            <a:off x="503316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Oval 10"/>
          <p:cNvSpPr/>
          <p:nvPr/>
        </p:nvSpPr>
        <p:spPr>
          <a:xfrm>
            <a:off x="6277680" y="279396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4" name="Straight Arrow Connector 11"/>
          <p:cNvCxnSpPr/>
          <p:nvPr/>
        </p:nvCxnSpPr>
        <p:spPr>
          <a:xfrm>
            <a:off x="557316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95" name="Straight Arrow Connector 12"/>
          <p:cNvCxnSpPr/>
          <p:nvPr/>
        </p:nvCxnSpPr>
        <p:spPr>
          <a:xfrm flipH="1">
            <a:off x="530172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96" name="Oval 13"/>
          <p:cNvSpPr/>
          <p:nvPr/>
        </p:nvSpPr>
        <p:spPr>
          <a:xfrm>
            <a:off x="7523280" y="2377080"/>
            <a:ext cx="539640" cy="539640"/>
          </a:xfrm>
          <a:prstGeom prst="ellipse">
            <a:avLst/>
          </a:prstGeom>
          <a:solidFill>
            <a:schemeClr val="bg1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7" name="Straight Arrow Connector 14"/>
          <p:cNvCxnSpPr/>
          <p:nvPr/>
        </p:nvCxnSpPr>
        <p:spPr>
          <a:xfrm flipH="1">
            <a:off x="6817320" y="2647080"/>
            <a:ext cx="70596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98" name="Straight Arrow Connector 15"/>
          <p:cNvCxnSpPr/>
          <p:nvPr/>
        </p:nvCxnSpPr>
        <p:spPr>
          <a:xfrm>
            <a:off x="77929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99" name="Straight Arrow Connector 16"/>
          <p:cNvCxnSpPr/>
          <p:nvPr/>
        </p:nvCxnSpPr>
        <p:spPr>
          <a:xfrm flipH="1">
            <a:off x="5492520" y="3242880"/>
            <a:ext cx="837360" cy="5104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ftr" idx="28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3 Solution </a:t>
            </a:r>
            <a:r>
              <a:rPr lang="sv-SE" sz="2600" b="1" u="sng" strike="noStrike">
                <a:solidFill>
                  <a:srgbClr val="467886"/>
                </a:solidFill>
                <a:effectLst/>
                <a:uFillTx/>
                <a:latin typeface="Cambria"/>
                <a:ea typeface="Cambria"/>
                <a:hlinkClick r:id="rId1"/>
              </a:rPr>
              <a:t>https://dagitty.net/m7RVrEEnA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 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variables to block any backdoor causal 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path for the estimation of the direct 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sldNum" idx="29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1C38BD-6923-4E81-BE4A-442219612EB0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204" name="Straight Arrow Connector 23"/>
          <p:cNvCxnSpPr/>
          <p:nvPr/>
        </p:nvCxnSpPr>
        <p:spPr>
          <a:xfrm>
            <a:off x="1346760" y="394380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205" name="Oval 24"/>
          <p:cNvSpPr/>
          <p:nvPr/>
        </p:nvSpPr>
        <p:spPr>
          <a:xfrm>
            <a:off x="8071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Oval 25"/>
          <p:cNvSpPr/>
          <p:nvPr/>
        </p:nvSpPr>
        <p:spPr>
          <a:xfrm>
            <a:off x="329832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Oval 26"/>
          <p:cNvSpPr/>
          <p:nvPr/>
        </p:nvSpPr>
        <p:spPr>
          <a:xfrm>
            <a:off x="80820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Oval 27"/>
          <p:cNvSpPr/>
          <p:nvPr/>
        </p:nvSpPr>
        <p:spPr>
          <a:xfrm>
            <a:off x="2052720" y="279396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9" name="Straight Arrow Connector 28"/>
          <p:cNvCxnSpPr/>
          <p:nvPr/>
        </p:nvCxnSpPr>
        <p:spPr>
          <a:xfrm>
            <a:off x="134820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210" name="Straight Arrow Connector 29"/>
          <p:cNvCxnSpPr/>
          <p:nvPr/>
        </p:nvCxnSpPr>
        <p:spPr>
          <a:xfrm flipH="1">
            <a:off x="107676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211" name="Oval 30"/>
          <p:cNvSpPr/>
          <p:nvPr/>
        </p:nvSpPr>
        <p:spPr>
          <a:xfrm>
            <a:off x="3298320" y="2377080"/>
            <a:ext cx="539640" cy="539640"/>
          </a:xfrm>
          <a:prstGeom prst="ellipse">
            <a:avLst/>
          </a:prstGeom>
          <a:solidFill>
            <a:srgbClr val="CD9BFF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2" name="Straight Arrow Connector 31"/>
          <p:cNvCxnSpPr/>
          <p:nvPr/>
        </p:nvCxnSpPr>
        <p:spPr>
          <a:xfrm flipH="1">
            <a:off x="2592360" y="2647080"/>
            <a:ext cx="70632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213" name="Straight Arrow Connector 32"/>
          <p:cNvCxnSpPr/>
          <p:nvPr/>
        </p:nvCxnSpPr>
        <p:spPr>
          <a:xfrm>
            <a:off x="35683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214" name="Straight Arrow Connector 5"/>
          <p:cNvCxnSpPr/>
          <p:nvPr/>
        </p:nvCxnSpPr>
        <p:spPr>
          <a:xfrm flipH="1">
            <a:off x="1267560" y="3242880"/>
            <a:ext cx="837360" cy="5104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215" name="TextBox 19"/>
          <p:cNvSpPr/>
          <p:nvPr/>
        </p:nvSpPr>
        <p:spPr>
          <a:xfrm>
            <a:off x="1028160" y="4247280"/>
            <a:ext cx="280620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Adjustment set = {e}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6" name="Straight Arrow Connector 6"/>
          <p:cNvCxnSpPr/>
          <p:nvPr/>
        </p:nvCxnSpPr>
        <p:spPr>
          <a:xfrm>
            <a:off x="5571720" y="3943800"/>
            <a:ext cx="1951560" cy="3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217" name="Oval 7"/>
          <p:cNvSpPr/>
          <p:nvPr/>
        </p:nvSpPr>
        <p:spPr>
          <a:xfrm>
            <a:off x="50317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Oval 8"/>
          <p:cNvSpPr/>
          <p:nvPr/>
        </p:nvSpPr>
        <p:spPr>
          <a:xfrm>
            <a:off x="752328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Oval 9"/>
          <p:cNvSpPr/>
          <p:nvPr/>
        </p:nvSpPr>
        <p:spPr>
          <a:xfrm>
            <a:off x="5033160" y="2377080"/>
            <a:ext cx="539640" cy="539640"/>
          </a:xfrm>
          <a:prstGeom prst="ellipse">
            <a:avLst/>
          </a:prstGeom>
          <a:solidFill>
            <a:srgbClr val="CD9BFF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Oval 10"/>
          <p:cNvSpPr/>
          <p:nvPr/>
        </p:nvSpPr>
        <p:spPr>
          <a:xfrm>
            <a:off x="6277680" y="2793960"/>
            <a:ext cx="539640" cy="539640"/>
          </a:xfrm>
          <a:prstGeom prst="ellipse">
            <a:avLst/>
          </a:prstGeom>
          <a:pattFill prst="wdUpDiag">
            <a:fgClr>
              <a:srgbClr val="FFC000"/>
            </a:fgClr>
            <a:bgClr>
              <a:srgbClr val="CD9BFF"/>
            </a:bgClr>
          </a:patt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1" name="Straight Arrow Connector 11"/>
          <p:cNvCxnSpPr/>
          <p:nvPr/>
        </p:nvCxnSpPr>
        <p:spPr>
          <a:xfrm>
            <a:off x="557316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222" name="Straight Arrow Connector 12"/>
          <p:cNvCxnSpPr/>
          <p:nvPr/>
        </p:nvCxnSpPr>
        <p:spPr>
          <a:xfrm flipH="1">
            <a:off x="530172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223" name="Oval 13"/>
          <p:cNvSpPr/>
          <p:nvPr/>
        </p:nvSpPr>
        <p:spPr>
          <a:xfrm>
            <a:off x="7523280" y="2377080"/>
            <a:ext cx="539640" cy="539640"/>
          </a:xfrm>
          <a:prstGeom prst="ellipse">
            <a:avLst/>
          </a:prstGeom>
          <a:solidFill>
            <a:schemeClr val="bg1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4" name="Straight Arrow Connector 14"/>
          <p:cNvCxnSpPr/>
          <p:nvPr/>
        </p:nvCxnSpPr>
        <p:spPr>
          <a:xfrm flipH="1">
            <a:off x="6817320" y="2647080"/>
            <a:ext cx="705960" cy="4172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225" name="Straight Arrow Connector 15"/>
          <p:cNvCxnSpPr/>
          <p:nvPr/>
        </p:nvCxnSpPr>
        <p:spPr>
          <a:xfrm>
            <a:off x="77929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226" name="Straight Arrow Connector 16"/>
          <p:cNvCxnSpPr/>
          <p:nvPr/>
        </p:nvCxnSpPr>
        <p:spPr>
          <a:xfrm flipH="1">
            <a:off x="5492520" y="3242880"/>
            <a:ext cx="837360" cy="5104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227" name="TextBox 20"/>
          <p:cNvSpPr/>
          <p:nvPr/>
        </p:nvSpPr>
        <p:spPr>
          <a:xfrm>
            <a:off x="5188680" y="4248360"/>
            <a:ext cx="306360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Adjustment set = {c,d}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ftr" idx="30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4: Does an automated testing framework (X) reduce post-relase defects (Y)?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31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D2565C-FFAF-4364-BE04-796229AAE81A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Platshållare för text 2"/>
          <p:cNvSpPr/>
          <p:nvPr/>
        </p:nvSpPr>
        <p:spPr>
          <a:xfrm>
            <a:off x="286560" y="1483200"/>
            <a:ext cx="8694720" cy="32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sv-S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" name=""/>
          <p:cNvSpPr/>
          <p:nvPr/>
        </p:nvSpPr>
        <p:spPr>
          <a:xfrm>
            <a:off x="326520" y="1493280"/>
            <a:ext cx="4688280" cy="30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software quality team studies the effect of the  introduction of an automated testing framework on post-relase defects of a large system.  They know: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Experienced developers are more likely to adopt the framework and to write less defect-prone code. 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The framework lowers defects directly, and also by raising test coverage. 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More complex modules tend to have more post-release defects. 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Both the framework and module complexity raise the number of issues logged. 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Content Placeholder 3"/>
          <p:cNvSpPr/>
          <p:nvPr/>
        </p:nvSpPr>
        <p:spPr>
          <a:xfrm>
            <a:off x="5231520" y="1174680"/>
            <a:ext cx="3759480" cy="3729600"/>
          </a:xfrm>
          <a:prstGeom prst="rect">
            <a:avLst/>
          </a:prstGeom>
          <a:noFill/>
          <a:ln w="0">
            <a:solidFill>
              <a:srgbClr val="000000">
                <a:lumMod val="5000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90000"/>
              </a:lnSpc>
              <a:spcBef>
                <a:spcPts val="998"/>
              </a:spcBef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Draw a DAG including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the variables: 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998"/>
              </a:spcBef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Identify</a:t>
            </a: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998"/>
              </a:spcBef>
              <a:buClr>
                <a:srgbClr val="000000"/>
              </a:buClr>
              <a:buFont typeface="Aptos Display"/>
              <a:buAutoNum type="arabicPeriod"/>
              <a:tabLst>
                <a:tab pos="0" algn="l"/>
              </a:tabLst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Which variables are </a:t>
            </a: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confounders;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998"/>
              </a:spcBef>
              <a:buClr>
                <a:srgbClr val="000000"/>
              </a:buClr>
              <a:buFont typeface="Aptos Display"/>
              <a:buAutoNum type="arabicPeriod"/>
              <a:tabLst>
                <a:tab pos="0" algn="l"/>
              </a:tabLst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Which are mediators;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998"/>
              </a:spcBef>
              <a:buClr>
                <a:srgbClr val="000000"/>
              </a:buClr>
              <a:buFont typeface="Aptos Display"/>
              <a:buAutoNum type="arabicPeriod"/>
              <a:tabLst>
                <a:tab pos="0" algn="l"/>
              </a:tabLst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What is the minimal </a:t>
            </a: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adjustment set to </a:t>
            </a: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estimate </a:t>
            </a:r>
            <a:r>
              <a:rPr lang="sv-SE" sz="1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the total </a:t>
            </a:r>
            <a:r>
              <a:rPr lang="sv-SE" sz="1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effect </a:t>
            </a: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of nitrogen </a:t>
            </a: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deposition on species </a:t>
            </a: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richness.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ftr" idx="32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4: Solution </a:t>
            </a:r>
            <a:r>
              <a:rPr lang="sv-SE" sz="2600" b="1" u="sng" strike="noStrike">
                <a:solidFill>
                  <a:srgbClr val="467886"/>
                </a:solidFill>
                <a:effectLst/>
                <a:uFillTx/>
                <a:latin typeface="Cambria"/>
                <a:ea typeface="Cambria"/>
                <a:hlinkClick r:id="rId1"/>
              </a:rPr>
              <a:t>https://dagitty.net/mFcJtc32s</a:t>
            </a: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 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33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95F1E82-18E4-4343-BDDA-19A09B0FBE34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Platshållare för text 2"/>
          <p:cNvSpPr/>
          <p:nvPr/>
        </p:nvSpPr>
        <p:spPr>
          <a:xfrm>
            <a:off x="286560" y="1483200"/>
            <a:ext cx="8694720" cy="32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sv-S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"/>
          <p:cNvSpPr/>
          <p:nvPr/>
        </p:nvSpPr>
        <p:spPr>
          <a:xfrm>
            <a:off x="326520" y="1493280"/>
            <a:ext cx="4688280" cy="30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software quality team studies the effect of the  introduction of an automated testing framework on post-relase defects of a large system.  They know: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Experienced developers are more likely to adopt the framework and to write less defect-prone code. 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The framework lowers defects directly, and also by raising test coverage. 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More complex modules tend to have more post-release defects. 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Both the framework and module complexity raise the number of issues logged. 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9" name=""/>
          <p:cNvPicPr/>
          <p:nvPr/>
        </p:nvPicPr>
        <p:blipFill>
          <a:blip r:embed="rId2"/>
          <a:srcRect l="4793" t="21753" r="0" b="13270"/>
          <a:stretch/>
        </p:blipFill>
        <p:spPr>
          <a:xfrm>
            <a:off x="4953960" y="1389600"/>
            <a:ext cx="3647520" cy="3377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Anpassad formgivning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itchFamily="0" charset="1"/>
        <a:ea typeface="Arial" pitchFamily="0" charset="1"/>
        <a:cs typeface="Arial" pitchFamily="0" charset="1"/>
      </a:majorFont>
      <a:minorFont>
        <a:latin typeface="Aptos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LibreOffice/26.2.4.2$Linux_X86_64 LibreOffice_project/0229ac93fcf0d7cbc6376066c6f35021cef002dc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2026-06-18T12:50:28Z</dcterms:created>
  <dc:creator>Tutorial authors</dc:creator>
  <dc:description/>
  <dc:language>en-GB</dc:language>
  <cp:lastModifiedBy/>
  <dcterms:modified xsi:type="dcterms:W3CDTF">2026-06-26T09:23:45Z</dcterms:modified>
  <cp:revision>34</cp:revision>
  <dc:subject>PptxGenJS Presentation</dc:subject>
  <dc:title>Introduction to Causal Inference for Software Engineering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14</vt:i4>
  </property>
  <property fmtid="{D5CDD505-2E9C-101B-9397-08002B2CF9AE}" pid="4" name="PresentationFormat">
    <vt:lpwstr>On-screen Show (4:3)</vt:lpwstr>
  </property>
  <property fmtid="{D5CDD505-2E9C-101B-9397-08002B2CF9AE}" pid="5" name="Slides">
    <vt:i4>14</vt:i4>
  </property>
</Properties>
</file>