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77669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5851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6206101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6614630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2116307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111426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855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2912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103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29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749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1274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63AD7A-708F-E56F-68C5-4B5DBB3F31DE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581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0053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66666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2478C7-2457-B530-B94E-2CFB28EDCFA9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220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6922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90851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70DADA-98B9-B074-69B7-E97EF3ABF05B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388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9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6845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801B5C-5137-276B-A0BA-653EFE28C048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7820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7675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5525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A147AC-48C7-C181-FFCB-C2F5CFADA34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0716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5571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5623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F77E32-C00D-F1B6-6754-FDC5A79CD405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264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7746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03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70B1E4-021D-3376-2116-4C58EA335DFD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6671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4348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7927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30A032-290B-22E8-05FA-D47E5A042F43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media1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7834072" name="Image 0" descr="fraunhof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9788" y="237744"/>
            <a:ext cx="1475065" cy="420624"/>
          </a:xfrm>
          <a:prstGeom prst="rect">
            <a:avLst/>
          </a:prstGeom>
        </p:spPr>
      </p:pic>
      <p:pic>
        <p:nvPicPr>
          <p:cNvPr id="522083139" name="Image 1" descr="chalmer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3479" y="237744"/>
            <a:ext cx="1353922" cy="420624"/>
          </a:xfrm>
          <a:prstGeom prst="rect">
            <a:avLst/>
          </a:prstGeom>
        </p:spPr>
      </p:pic>
      <p:pic>
        <p:nvPicPr>
          <p:cNvPr id="2104159949" name="Image 2" descr="gotebor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1282" y="195682"/>
            <a:ext cx="1484555" cy="504749"/>
          </a:xfrm>
          <a:prstGeom prst="rect">
            <a:avLst/>
          </a:prstGeom>
        </p:spPr>
      </p:pic>
      <p:pic>
        <p:nvPicPr>
          <p:cNvPr id="1870683454" name="Image 3" descr="napoli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77887" y="237744"/>
            <a:ext cx="1297585" cy="420624"/>
          </a:xfrm>
          <a:prstGeom prst="rect">
            <a:avLst/>
          </a:prstGeom>
        </p:spPr>
      </p:pic>
      <p:sp>
        <p:nvSpPr>
          <p:cNvPr id="1557474787" name="Text 0"/>
          <p:cNvSpPr/>
          <p:nvPr/>
        </p:nvSpPr>
        <p:spPr bwMode="auto">
          <a:xfrm>
            <a:off x="914400" y="1691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32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Introduction to Causal Inference for Software Engineering</a:t>
            </a:r>
            <a:endParaRPr lang="en-US" sz="3200"/>
          </a:p>
        </p:txBody>
      </p:sp>
      <p:sp>
        <p:nvSpPr>
          <p:cNvPr id="2029826820" name="Text 1"/>
          <p:cNvSpPr/>
          <p:nvPr/>
        </p:nvSpPr>
        <p:spPr bwMode="auto"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i="1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A 90-minute hands-on tutorial</a:t>
            </a:r>
            <a:endParaRPr lang="en-US" sz="1500"/>
          </a:p>
        </p:txBody>
      </p:sp>
      <p:sp>
        <p:nvSpPr>
          <p:cNvPr id="2042828486" name="Text 2"/>
          <p:cNvSpPr/>
          <p:nvPr/>
        </p:nvSpPr>
        <p:spPr bwMode="auto"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Julien Siebert  ·  Julian Frattini  ·  Hans-Martin Heyn  ·  Roberto Pietrantuono</a:t>
            </a:r>
            <a:endParaRPr lang="en-US" sz="1200"/>
          </a:p>
        </p:txBody>
      </p:sp>
      <p:sp>
        <p:nvSpPr>
          <p:cNvPr id="1773239229" name="Text 3"/>
          <p:cNvSpPr/>
          <p:nvPr/>
        </p:nvSpPr>
        <p:spPr bwMode="auto">
          <a:xfrm>
            <a:off x="36576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FSE 2026  ·  Montréal  ·  5–9 July 2026</a:t>
            </a:r>
            <a:endParaRPr lang="en-US" sz="900"/>
          </a:p>
        </p:txBody>
      </p:sp>
      <p:sp>
        <p:nvSpPr>
          <p:cNvPr id="178113631" name="Text 4"/>
          <p:cNvSpPr/>
          <p:nvPr/>
        </p:nvSpPr>
        <p:spPr bwMode="auto"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900"/>
          </a:p>
        </p:txBody>
      </p:sp>
      <p:sp>
        <p:nvSpPr>
          <p:cNvPr id="1401902040" name="Text 5"/>
          <p:cNvSpPr/>
          <p:nvPr/>
        </p:nvSpPr>
        <p:spPr bwMode="auto">
          <a:xfrm>
            <a:off x="78638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1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5414238" name="Image 0" descr="fraunhof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9788" y="237744"/>
            <a:ext cx="1475063" cy="420624"/>
          </a:xfrm>
          <a:prstGeom prst="rect">
            <a:avLst/>
          </a:prstGeom>
        </p:spPr>
      </p:pic>
      <p:pic>
        <p:nvPicPr>
          <p:cNvPr id="758762888" name="Image 1" descr="chalmer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3478" y="237744"/>
            <a:ext cx="1353921" cy="420624"/>
          </a:xfrm>
          <a:prstGeom prst="rect">
            <a:avLst/>
          </a:prstGeom>
        </p:spPr>
      </p:pic>
      <p:pic>
        <p:nvPicPr>
          <p:cNvPr id="707121520" name="Image 2" descr="gotebor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1281" y="195681"/>
            <a:ext cx="1484554" cy="504748"/>
          </a:xfrm>
          <a:prstGeom prst="rect">
            <a:avLst/>
          </a:prstGeom>
        </p:spPr>
      </p:pic>
      <p:pic>
        <p:nvPicPr>
          <p:cNvPr id="404898785" name="Image 3" descr="napoli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77886" y="237744"/>
            <a:ext cx="1297584" cy="420624"/>
          </a:xfrm>
          <a:prstGeom prst="rect">
            <a:avLst/>
          </a:prstGeom>
        </p:spPr>
      </p:pic>
      <p:sp>
        <p:nvSpPr>
          <p:cNvPr id="274859770" name="Text 0"/>
          <p:cNvSpPr/>
          <p:nvPr/>
        </p:nvSpPr>
        <p:spPr bwMode="auto">
          <a:xfrm>
            <a:off x="91440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spc="199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Section 4</a:t>
            </a:r>
            <a:endParaRPr lang="en-US" sz="1400"/>
          </a:p>
        </p:txBody>
      </p:sp>
      <p:sp>
        <p:nvSpPr>
          <p:cNvPr id="2079399382" name="Text 1"/>
          <p:cNvSpPr/>
          <p:nvPr/>
        </p:nvSpPr>
        <p:spPr bwMode="auto">
          <a:xfrm>
            <a:off x="91440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3400" b="1">
                <a:solidFill>
                  <a:srgbClr val="1E3A5F"/>
                </a:solidFill>
                <a:latin typeface="Cambria"/>
                <a:ea typeface="Cambria"/>
              </a:rPr>
              <a:t>Causal Models as </a:t>
            </a:r>
            <a:br>
              <a:rPr lang="en-US" sz="3400" b="1">
                <a:solidFill>
                  <a:srgbClr val="1E3A5F"/>
                </a:solidFill>
                <a:latin typeface="Cambria"/>
                <a:ea typeface="Cambria"/>
              </a:rPr>
            </a:br>
            <a:r>
              <a:rPr lang="en-US" sz="3400" b="1">
                <a:solidFill>
                  <a:srgbClr val="1E3A5F"/>
                </a:solidFill>
                <a:latin typeface="Cambria"/>
                <a:ea typeface="Cambria"/>
              </a:rPr>
              <a:t>Requirements Engineering Activity</a:t>
            </a:r>
            <a:endParaRPr lang="en-US"/>
          </a:p>
        </p:txBody>
      </p:sp>
      <p:sp>
        <p:nvSpPr>
          <p:cNvPr id="1138808453" name="Text 2"/>
          <p:cNvSpPr/>
          <p:nvPr/>
        </p:nvSpPr>
        <p:spPr bwMode="auto">
          <a:xfrm>
            <a:off x="36576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FSE 2026  ·  Montréal  ·  5–9 July 2026</a:t>
            </a:r>
            <a:endParaRPr lang="en-US" sz="900"/>
          </a:p>
        </p:txBody>
      </p:sp>
      <p:sp>
        <p:nvSpPr>
          <p:cNvPr id="1652928688" name="Text 3"/>
          <p:cNvSpPr/>
          <p:nvPr/>
        </p:nvSpPr>
        <p:spPr bwMode="auto"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Causal Models as RE activity</a:t>
            </a:r>
            <a:endParaRPr lang="en-US"/>
          </a:p>
        </p:txBody>
      </p:sp>
      <p:sp>
        <p:nvSpPr>
          <p:cNvPr id="740190034" name="Text 4"/>
          <p:cNvSpPr/>
          <p:nvPr/>
        </p:nvSpPr>
        <p:spPr bwMode="auto">
          <a:xfrm>
            <a:off x="78638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7413751" name="Image 0" descr="fraunhof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9788" y="237744"/>
            <a:ext cx="1475063" cy="420624"/>
          </a:xfrm>
          <a:prstGeom prst="rect">
            <a:avLst/>
          </a:prstGeom>
        </p:spPr>
      </p:pic>
      <p:pic>
        <p:nvPicPr>
          <p:cNvPr id="1990910033" name="Image 1" descr="chalmer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3478" y="237744"/>
            <a:ext cx="1353921" cy="420624"/>
          </a:xfrm>
          <a:prstGeom prst="rect">
            <a:avLst/>
          </a:prstGeom>
        </p:spPr>
      </p:pic>
      <p:pic>
        <p:nvPicPr>
          <p:cNvPr id="1599385804" name="Image 2" descr="gotebor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1281" y="195681"/>
            <a:ext cx="1484554" cy="504748"/>
          </a:xfrm>
          <a:prstGeom prst="rect">
            <a:avLst/>
          </a:prstGeom>
        </p:spPr>
      </p:pic>
      <p:pic>
        <p:nvPicPr>
          <p:cNvPr id="787763890" name="Image 3" descr="napoli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77886" y="237744"/>
            <a:ext cx="1297584" cy="420624"/>
          </a:xfrm>
          <a:prstGeom prst="rect">
            <a:avLst/>
          </a:prstGeom>
        </p:spPr>
      </p:pic>
      <p:sp>
        <p:nvSpPr>
          <p:cNvPr id="21077471" name="Text 0"/>
          <p:cNvSpPr/>
          <p:nvPr/>
        </p:nvSpPr>
        <p:spPr bwMode="auto">
          <a:xfrm>
            <a:off x="365760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2600" b="1" i="0" u="none" strike="noStrike" cap="none" spc="0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What is the problem? </a:t>
            </a:r>
            <a:endParaRPr lang="en-US"/>
          </a:p>
        </p:txBody>
      </p:sp>
      <p:sp>
        <p:nvSpPr>
          <p:cNvPr id="2028910092" name="Text 1"/>
          <p:cNvSpPr/>
          <p:nvPr/>
        </p:nvSpPr>
        <p:spPr bwMode="auto">
          <a:xfrm flipH="0" flipV="0">
            <a:off x="365759" y="1691640"/>
            <a:ext cx="8178497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4999"/>
              </a:lnSpc>
              <a:buFont typeface="Arial"/>
              <a:buChar char="•"/>
              <a:defRPr/>
            </a:pPr>
            <a:r>
              <a:rPr lang="en-NZ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 struggles to translate high-level requirements into data needs </a:t>
            </a:r>
            <a:r>
              <a:rPr lang="en-NZ" sz="20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(Ahmad et al., 2023; Alves et al., 2023; Pei et al., 2022).</a:t>
            </a:r>
            <a:endParaRPr sz="2000"/>
          </a:p>
          <a:p>
            <a:pPr marL="342900" indent="-342900">
              <a:lnSpc>
                <a:spcPct val="114999"/>
              </a:lnSpc>
              <a:buFont typeface="Arial"/>
              <a:buChar char="•"/>
              <a:defRPr/>
            </a:pPr>
            <a:r>
              <a:rPr lang="en-NZ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reason for this under specification is that operational context is often implicitly assumed in the data collection </a:t>
            </a:r>
            <a:r>
              <a:rPr lang="en-NZ" sz="20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(Mitchell et al., 2021)</a:t>
            </a:r>
            <a:r>
              <a:rPr lang="en-NZ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sz="2000"/>
          </a:p>
          <a:p>
            <a:pPr marL="342900" indent="-342900">
              <a:lnSpc>
                <a:spcPct val="114999"/>
              </a:lnSpc>
              <a:buFont typeface="Arial"/>
              <a:buChar char="•"/>
              <a:defRPr/>
            </a:pPr>
            <a:r>
              <a:rPr lang="en-NZ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leads to brittle models that lack robustness </a:t>
            </a:r>
            <a:r>
              <a:rPr lang="en-NZ" sz="20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NZ" sz="20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D'Amour</a:t>
            </a:r>
            <a:r>
              <a:rPr lang="en-NZ" sz="20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et al., 2022)</a:t>
            </a:r>
            <a:r>
              <a:rPr lang="en-NZ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sz="2000"/>
          </a:p>
          <a:p>
            <a:pPr marL="342900" indent="-342900">
              <a:lnSpc>
                <a:spcPct val="114999"/>
              </a:lnSpc>
              <a:spcAft>
                <a:spcPts val="799"/>
              </a:spcAft>
              <a:buSzPct val="100000"/>
              <a:buChar char="•"/>
              <a:defRPr/>
            </a:pPr>
            <a:r>
              <a:rPr lang="en-NZ" sz="20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Assumptions affecting the data selection should be made explicit and testable!</a:t>
            </a:r>
            <a:endParaRPr sz="2000"/>
          </a:p>
          <a:p>
            <a:pPr marL="342900" indent="-342900" algn="l">
              <a:spcAft>
                <a:spcPts val="799"/>
              </a:spcAft>
              <a:buSzPct val="100000"/>
              <a:buChar char="•"/>
              <a:defRPr/>
            </a:pPr>
            <a:endParaRPr lang="en-US" sz="2000">
              <a:solidFill>
                <a:srgbClr val="2B2B2B"/>
              </a:solidFill>
              <a:ea typeface="Calibri"/>
              <a:cs typeface="Calibri"/>
            </a:endParaRPr>
          </a:p>
        </p:txBody>
      </p:sp>
      <p:sp>
        <p:nvSpPr>
          <p:cNvPr id="1567888640" name="Text 2"/>
          <p:cNvSpPr/>
          <p:nvPr/>
        </p:nvSpPr>
        <p:spPr bwMode="auto">
          <a:xfrm>
            <a:off x="36576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FSE 2026  ·  Montréal  ·  5–9 July 2026</a:t>
            </a:r>
            <a:endParaRPr lang="en-US" sz="900"/>
          </a:p>
        </p:txBody>
      </p:sp>
      <p:sp>
        <p:nvSpPr>
          <p:cNvPr id="667702518" name="Text 3"/>
          <p:cNvSpPr/>
          <p:nvPr/>
        </p:nvSpPr>
        <p:spPr bwMode="auto"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Causal Models as RE activity</a:t>
            </a:r>
            <a:endParaRPr lang="en-US" sz="9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417322" name="Text 4"/>
          <p:cNvSpPr/>
          <p:nvPr/>
        </p:nvSpPr>
        <p:spPr bwMode="auto">
          <a:xfrm>
            <a:off x="78638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5177378" name="Image 0" descr="fraunhof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9788" y="237744"/>
            <a:ext cx="1475062" cy="420624"/>
          </a:xfrm>
          <a:prstGeom prst="rect">
            <a:avLst/>
          </a:prstGeom>
        </p:spPr>
      </p:pic>
      <p:pic>
        <p:nvPicPr>
          <p:cNvPr id="11421659" name="Image 1" descr="chalmer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3478" y="237744"/>
            <a:ext cx="1353920" cy="420624"/>
          </a:xfrm>
          <a:prstGeom prst="rect">
            <a:avLst/>
          </a:prstGeom>
        </p:spPr>
      </p:pic>
      <p:pic>
        <p:nvPicPr>
          <p:cNvPr id="30272063" name="Image 2" descr="gotebor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1280" y="195680"/>
            <a:ext cx="1484553" cy="504747"/>
          </a:xfrm>
          <a:prstGeom prst="rect">
            <a:avLst/>
          </a:prstGeom>
        </p:spPr>
      </p:pic>
      <p:pic>
        <p:nvPicPr>
          <p:cNvPr id="888750533" name="Image 3" descr="napoli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77885" y="237744"/>
            <a:ext cx="1297583" cy="420624"/>
          </a:xfrm>
          <a:prstGeom prst="rect">
            <a:avLst/>
          </a:prstGeom>
        </p:spPr>
      </p:pic>
      <p:sp>
        <p:nvSpPr>
          <p:cNvPr id="992922097" name="Text 0"/>
          <p:cNvSpPr/>
          <p:nvPr/>
        </p:nvSpPr>
        <p:spPr bwMode="auto">
          <a:xfrm>
            <a:off x="365760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2600" b="1" i="0" u="none" strike="noStrike" cap="none" spc="0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The vision of including prior knowledge about causality</a:t>
            </a:r>
            <a:endParaRPr lang="en-US"/>
          </a:p>
        </p:txBody>
      </p:sp>
      <p:sp>
        <p:nvSpPr>
          <p:cNvPr id="2006194969" name="Text 1"/>
          <p:cNvSpPr/>
          <p:nvPr/>
        </p:nvSpPr>
        <p:spPr bwMode="auto">
          <a:xfrm flipH="0" flipV="0">
            <a:off x="365759" y="1691640"/>
            <a:ext cx="8178497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4999"/>
              </a:lnSpc>
              <a:buFont typeface="Arial"/>
              <a:buChar char="•"/>
              <a:defRPr/>
            </a:pPr>
            <a:r>
              <a:rPr lang="en-NZ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Derive data and model requirements from prior knowledge about the operational context. </a:t>
            </a:r>
            <a:endParaRPr sz="2000"/>
          </a:p>
          <a:p>
            <a:pPr marL="342900" indent="-342900">
              <a:lnSpc>
                <a:spcPct val="114999"/>
              </a:lnSpc>
              <a:buFont typeface="Arial"/>
              <a:buChar char="•"/>
              <a:defRPr/>
            </a:pPr>
            <a:r>
              <a:rPr lang="en-NZ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Enable documentation of these prior assumptions.</a:t>
            </a:r>
            <a:endParaRPr sz="2000"/>
          </a:p>
          <a:p>
            <a:pPr marL="342900" indent="-342900">
              <a:lnSpc>
                <a:spcPct val="114999"/>
              </a:lnSpc>
              <a:buFont typeface="Arial"/>
              <a:buChar char="•"/>
              <a:defRPr/>
            </a:pPr>
            <a:r>
              <a:rPr lang="en-NZ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Allow for a systematic determination of testable conditions.</a:t>
            </a:r>
            <a:endParaRPr sz="2000"/>
          </a:p>
          <a:p>
            <a:pPr marL="342900" indent="-342900">
              <a:lnSpc>
                <a:spcPct val="114999"/>
              </a:lnSpc>
              <a:spcAft>
                <a:spcPts val="798"/>
              </a:spcAft>
              <a:buSzPct val="100000"/>
              <a:buChar char="•"/>
              <a:defRPr/>
            </a:pPr>
            <a:r>
              <a:rPr lang="en-NZ" sz="20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of causal modelling as a Requirement Engineering activity.</a:t>
            </a:r>
            <a:endParaRPr sz="2000"/>
          </a:p>
          <a:p>
            <a:pPr marL="342900" indent="-342900" algn="l">
              <a:spcAft>
                <a:spcPts val="798"/>
              </a:spcAft>
              <a:buSzPct val="100000"/>
              <a:buChar char="•"/>
              <a:defRPr/>
            </a:pPr>
            <a:endParaRPr lang="en-US" sz="2000">
              <a:solidFill>
                <a:srgbClr val="2B2B2B"/>
              </a:solidFill>
              <a:ea typeface="Calibri"/>
              <a:cs typeface="Calibri"/>
            </a:endParaRPr>
          </a:p>
        </p:txBody>
      </p:sp>
      <p:sp>
        <p:nvSpPr>
          <p:cNvPr id="639541012" name="Text 2"/>
          <p:cNvSpPr/>
          <p:nvPr/>
        </p:nvSpPr>
        <p:spPr bwMode="auto">
          <a:xfrm>
            <a:off x="36576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FSE 2026  ·  Montréal  ·  5–9 July 2026</a:t>
            </a:r>
            <a:endParaRPr lang="en-US" sz="900"/>
          </a:p>
        </p:txBody>
      </p:sp>
      <p:sp>
        <p:nvSpPr>
          <p:cNvPr id="1813245284" name="Text 3"/>
          <p:cNvSpPr/>
          <p:nvPr/>
        </p:nvSpPr>
        <p:spPr bwMode="auto"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Causal Models as RE activity</a:t>
            </a:r>
            <a:endParaRPr lang="en-US" sz="9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331644" name="Text 4"/>
          <p:cNvSpPr/>
          <p:nvPr/>
        </p:nvSpPr>
        <p:spPr bwMode="auto">
          <a:xfrm>
            <a:off x="78638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3180717" name="Image 0" descr="fraunhof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9788" y="237744"/>
            <a:ext cx="1475062" cy="420624"/>
          </a:xfrm>
          <a:prstGeom prst="rect">
            <a:avLst/>
          </a:prstGeom>
        </p:spPr>
      </p:pic>
      <p:pic>
        <p:nvPicPr>
          <p:cNvPr id="240582648" name="Image 1" descr="chalmer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3478" y="237744"/>
            <a:ext cx="1353920" cy="420624"/>
          </a:xfrm>
          <a:prstGeom prst="rect">
            <a:avLst/>
          </a:prstGeom>
        </p:spPr>
      </p:pic>
      <p:pic>
        <p:nvPicPr>
          <p:cNvPr id="480930384" name="Image 2" descr="gotebor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1280" y="195680"/>
            <a:ext cx="1484553" cy="504747"/>
          </a:xfrm>
          <a:prstGeom prst="rect">
            <a:avLst/>
          </a:prstGeom>
        </p:spPr>
      </p:pic>
      <p:pic>
        <p:nvPicPr>
          <p:cNvPr id="19599331" name="Image 3" descr="napoli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77885" y="237744"/>
            <a:ext cx="1297583" cy="420624"/>
          </a:xfrm>
          <a:prstGeom prst="rect">
            <a:avLst/>
          </a:prstGeom>
        </p:spPr>
      </p:pic>
      <p:sp>
        <p:nvSpPr>
          <p:cNvPr id="984387756" name="Text 0"/>
          <p:cNvSpPr/>
          <p:nvPr/>
        </p:nvSpPr>
        <p:spPr bwMode="auto">
          <a:xfrm>
            <a:off x="365760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2600" b="1">
                <a:solidFill>
                  <a:srgbClr val="1E3A5F"/>
                </a:solidFill>
                <a:latin typeface="Cambria"/>
                <a:ea typeface="Cambria"/>
                <a:cs typeface="Calibri"/>
              </a:rPr>
              <a:t>Causal models are a formal representation of prior knowledge</a:t>
            </a:r>
            <a:endParaRPr lang="en-US"/>
          </a:p>
        </p:txBody>
      </p:sp>
      <p:sp>
        <p:nvSpPr>
          <p:cNvPr id="2113075413" name="Text 1"/>
          <p:cNvSpPr/>
          <p:nvPr/>
        </p:nvSpPr>
        <p:spPr bwMode="auto">
          <a:xfrm>
            <a:off x="365760" y="1691640"/>
            <a:ext cx="575839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98"/>
              </a:spcAft>
              <a:buSzPct val="100000"/>
              <a:defRPr/>
            </a:pP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Graphical causal models are </a:t>
            </a: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directed acyclic</a:t>
            </a: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 graphs (DAGs) that represent </a:t>
            </a: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causal relationships</a:t>
            </a: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 between variables.</a:t>
            </a:r>
            <a:endParaRPr lang="en-US">
              <a:ea typeface="Calibri"/>
              <a:cs typeface="Calibri"/>
            </a:endParaRPr>
          </a:p>
          <a:p>
            <a:pPr marL="342900" indent="-342900">
              <a:spcAft>
                <a:spcPts val="798"/>
              </a:spcAft>
              <a:buSzPct val="100000"/>
              <a:buChar char="•"/>
              <a:defRPr/>
            </a:pP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They </a:t>
            </a: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visualise</a:t>
            </a: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 and reason systematically about causal structures of a given problem in each environment. </a:t>
            </a:r>
            <a:endParaRPr/>
          </a:p>
          <a:p>
            <a:pPr marL="800100" lvl="1" indent="-342900">
              <a:spcAft>
                <a:spcPts val="798"/>
              </a:spcAft>
              <a:buSzPct val="100000"/>
              <a:buChar char="•"/>
              <a:defRPr/>
            </a:pP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Nodes represent variables.</a:t>
            </a:r>
            <a:endParaRPr lang="en-US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spcAft>
                <a:spcPts val="798"/>
              </a:spcAft>
              <a:buSzPct val="100000"/>
              <a:buChar char="•"/>
              <a:defRPr/>
            </a:pP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Directed edges represent </a:t>
            </a: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causal influence</a:t>
            </a: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  <a:p>
            <a:pPr marL="342900" indent="-342900">
              <a:spcAft>
                <a:spcPts val="798"/>
              </a:spcAft>
              <a:buSzPct val="100000"/>
              <a:buChar char="•"/>
              <a:defRPr/>
            </a:pP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Competing causes are easily </a:t>
            </a: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visualisable</a:t>
            </a:r>
            <a:r>
              <a:rPr lang="en-US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  <a:p>
            <a:pPr marL="342900" indent="-342900" algn="l">
              <a:spcAft>
                <a:spcPts val="798"/>
              </a:spcAft>
              <a:buSzPct val="100000"/>
              <a:buChar char="•"/>
              <a:defRPr/>
            </a:pPr>
            <a:endParaRPr lang="en-US">
              <a:solidFill>
                <a:srgbClr val="2B2B2B"/>
              </a:solidFill>
              <a:ea typeface="Calibri"/>
              <a:cs typeface="Calibri"/>
            </a:endParaRPr>
          </a:p>
        </p:txBody>
      </p:sp>
      <p:sp>
        <p:nvSpPr>
          <p:cNvPr id="565622924" name="Text 2"/>
          <p:cNvSpPr/>
          <p:nvPr/>
        </p:nvSpPr>
        <p:spPr bwMode="auto">
          <a:xfrm>
            <a:off x="36576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FSE 2026  ·  Montréal  ·  5–9 July 2026</a:t>
            </a:r>
            <a:endParaRPr lang="en-US" sz="900"/>
          </a:p>
        </p:txBody>
      </p:sp>
      <p:sp>
        <p:nvSpPr>
          <p:cNvPr id="901672179" name="Text 3"/>
          <p:cNvSpPr/>
          <p:nvPr/>
        </p:nvSpPr>
        <p:spPr bwMode="auto"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Causal Models as RE activity</a:t>
            </a:r>
            <a:endParaRPr lang="en-US" sz="9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4087975" name="Text 4"/>
          <p:cNvSpPr/>
          <p:nvPr/>
        </p:nvSpPr>
        <p:spPr bwMode="auto">
          <a:xfrm>
            <a:off x="78638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3</a:t>
            </a:r>
            <a:endParaRPr lang="en-US" sz="900"/>
          </a:p>
        </p:txBody>
      </p:sp>
      <p:grpSp>
        <p:nvGrpSpPr>
          <p:cNvPr id="2045469967" name="Group 10"/>
          <p:cNvGrpSpPr>
            <a:grpSpLocks noChangeAspect="1"/>
          </p:cNvGrpSpPr>
          <p:nvPr/>
        </p:nvGrpSpPr>
        <p:grpSpPr bwMode="auto">
          <a:xfrm>
            <a:off x="5650026" y="2125782"/>
            <a:ext cx="3390899" cy="1173160"/>
            <a:chOff x="4781549" y="2506660"/>
            <a:chExt cx="2134" cy="738"/>
          </a:xfrm>
        </p:grpSpPr>
        <p:sp>
          <p:nvSpPr>
            <p:cNvPr id="1788661796" name="AutoShape 3"/>
            <p:cNvSpPr>
              <a:spLocks noChangeArrowheads="1" noChangeAspect="1" noTextEdit="1"/>
            </p:cNvSpPr>
            <p:nvPr/>
          </p:nvSpPr>
          <p:spPr bwMode="auto">
            <a:xfrm>
              <a:off x="4781549" y="2506660"/>
              <a:ext cx="2133" cy="73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29230866" name="Line 5"/>
            <p:cNvSpPr>
              <a:spLocks noChangeShapeType="1"/>
            </p:cNvSpPr>
            <p:nvPr/>
          </p:nvSpPr>
          <p:spPr bwMode="auto">
            <a:xfrm>
              <a:off x="4781799" y="2507305"/>
              <a:ext cx="1055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442857652" name="Freeform 6"/>
            <p:cNvSpPr/>
            <p:nvPr/>
          </p:nvSpPr>
          <p:spPr bwMode="auto">
            <a:xfrm>
              <a:off x="4782810" y="2507280"/>
              <a:ext cx="72" cy="48"/>
            </a:xfrm>
            <a:custGeom>
              <a:avLst/>
              <a:gdLst>
                <a:gd name="T0" fmla="*/ 389 w 389"/>
                <a:gd name="T1" fmla="*/ 129 h 259"/>
                <a:gd name="T2" fmla="*/ 0 w 389"/>
                <a:gd name="T3" fmla="*/ 259 h 259"/>
                <a:gd name="T4" fmla="*/ 78 w 389"/>
                <a:gd name="T5" fmla="*/ 129 h 259"/>
                <a:gd name="T6" fmla="*/ 0 w 389"/>
                <a:gd name="T7" fmla="*/ 0 h 259"/>
                <a:gd name="T8" fmla="*/ 389 w 389"/>
                <a:gd name="T9" fmla="*/ 12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9" h="259" fill="norm" stroke="1" extrusionOk="0">
                  <a:moveTo>
                    <a:pt x="389" y="129"/>
                  </a:moveTo>
                  <a:lnTo>
                    <a:pt x="0" y="259"/>
                  </a:lnTo>
                  <a:lnTo>
                    <a:pt x="78" y="129"/>
                  </a:lnTo>
                  <a:lnTo>
                    <a:pt x="0" y="0"/>
                  </a:lnTo>
                  <a:lnTo>
                    <a:pt x="389" y="1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273963229" name="Line 7"/>
            <p:cNvSpPr>
              <a:spLocks noChangeShapeType="1"/>
            </p:cNvSpPr>
            <p:nvPr/>
          </p:nvSpPr>
          <p:spPr bwMode="auto">
            <a:xfrm flipV="1">
              <a:off x="4781799" y="2506851"/>
              <a:ext cx="606" cy="45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201382861" name="Freeform 8"/>
            <p:cNvSpPr/>
            <p:nvPr/>
          </p:nvSpPr>
          <p:spPr bwMode="auto">
            <a:xfrm>
              <a:off x="4782354" y="2506831"/>
              <a:ext cx="73" cy="63"/>
            </a:xfrm>
            <a:custGeom>
              <a:avLst/>
              <a:gdLst>
                <a:gd name="T0" fmla="*/ 389 w 389"/>
                <a:gd name="T1" fmla="*/ 0 h 337"/>
                <a:gd name="T2" fmla="*/ 155 w 389"/>
                <a:gd name="T3" fmla="*/ 337 h 337"/>
                <a:gd name="T4" fmla="*/ 140 w 389"/>
                <a:gd name="T5" fmla="*/ 187 h 337"/>
                <a:gd name="T6" fmla="*/ 0 w 389"/>
                <a:gd name="T7" fmla="*/ 130 h 337"/>
                <a:gd name="T8" fmla="*/ 389 w 389"/>
                <a:gd name="T9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9" h="337" fill="norm" stroke="1" extrusionOk="0">
                  <a:moveTo>
                    <a:pt x="389" y="0"/>
                  </a:moveTo>
                  <a:lnTo>
                    <a:pt x="155" y="337"/>
                  </a:lnTo>
                  <a:lnTo>
                    <a:pt x="140" y="187"/>
                  </a:lnTo>
                  <a:lnTo>
                    <a:pt x="0" y="130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592893034" name="Line 9"/>
            <p:cNvSpPr>
              <a:spLocks noChangeShapeType="1"/>
            </p:cNvSpPr>
            <p:nvPr/>
          </p:nvSpPr>
          <p:spPr bwMode="auto">
            <a:xfrm>
              <a:off x="4782538" y="2506749"/>
              <a:ext cx="605" cy="45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767592273" name="Freeform 10"/>
            <p:cNvSpPr/>
            <p:nvPr/>
          </p:nvSpPr>
          <p:spPr bwMode="auto">
            <a:xfrm>
              <a:off x="4783095" y="2507157"/>
              <a:ext cx="72" cy="63"/>
            </a:xfrm>
            <a:custGeom>
              <a:avLst/>
              <a:gdLst>
                <a:gd name="T0" fmla="*/ 389 w 389"/>
                <a:gd name="T1" fmla="*/ 337 h 337"/>
                <a:gd name="T2" fmla="*/ 0 w 389"/>
                <a:gd name="T3" fmla="*/ 208 h 337"/>
                <a:gd name="T4" fmla="*/ 140 w 389"/>
                <a:gd name="T5" fmla="*/ 151 h 337"/>
                <a:gd name="T6" fmla="*/ 156 w 389"/>
                <a:gd name="T7" fmla="*/ 0 h 337"/>
                <a:gd name="T8" fmla="*/ 389 w 389"/>
                <a:gd name="T9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9" h="337" fill="norm" stroke="1" extrusionOk="0">
                  <a:moveTo>
                    <a:pt x="389" y="337"/>
                  </a:moveTo>
                  <a:lnTo>
                    <a:pt x="0" y="208"/>
                  </a:lnTo>
                  <a:lnTo>
                    <a:pt x="140" y="151"/>
                  </a:lnTo>
                  <a:lnTo>
                    <a:pt x="156" y="0"/>
                  </a:lnTo>
                  <a:lnTo>
                    <a:pt x="389" y="3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283305768" name="Oval 18"/>
            <p:cNvSpPr>
              <a:spLocks noChangeArrowheads="1"/>
            </p:cNvSpPr>
            <p:nvPr/>
          </p:nvSpPr>
          <p:spPr bwMode="auto">
            <a:xfrm>
              <a:off x="4781550" y="2507220"/>
              <a:ext cx="492" cy="17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963119419" name="Oval 19"/>
            <p:cNvSpPr>
              <a:spLocks noChangeArrowheads="1"/>
            </p:cNvSpPr>
            <p:nvPr/>
          </p:nvSpPr>
          <p:spPr bwMode="auto">
            <a:xfrm>
              <a:off x="4782180" y="2506662"/>
              <a:ext cx="714" cy="17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2004956499" name="Oval 20"/>
            <p:cNvSpPr>
              <a:spLocks noChangeArrowheads="1"/>
            </p:cNvSpPr>
            <p:nvPr/>
          </p:nvSpPr>
          <p:spPr bwMode="auto">
            <a:xfrm>
              <a:off x="4782894" y="2507220"/>
              <a:ext cx="789" cy="17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213879248" name="Freeform 14"/>
            <p:cNvSpPr/>
            <p:nvPr/>
          </p:nvSpPr>
          <p:spPr bwMode="auto">
            <a:xfrm>
              <a:off x="4781668" y="2507269"/>
              <a:ext cx="45" cy="58"/>
            </a:xfrm>
            <a:custGeom>
              <a:avLst/>
              <a:gdLst>
                <a:gd name="T0" fmla="*/ 0 w 243"/>
                <a:gd name="T1" fmla="*/ 313 h 313"/>
                <a:gd name="T2" fmla="*/ 25 w 243"/>
                <a:gd name="T3" fmla="*/ 202 h 313"/>
                <a:gd name="T4" fmla="*/ 32 w 243"/>
                <a:gd name="T5" fmla="*/ 202 h 313"/>
                <a:gd name="T6" fmla="*/ 31 w 243"/>
                <a:gd name="T7" fmla="*/ 229 h 313"/>
                <a:gd name="T8" fmla="*/ 50 w 243"/>
                <a:gd name="T9" fmla="*/ 278 h 313"/>
                <a:gd name="T10" fmla="*/ 101 w 243"/>
                <a:gd name="T11" fmla="*/ 297 h 313"/>
                <a:gd name="T12" fmla="*/ 145 w 243"/>
                <a:gd name="T13" fmla="*/ 280 h 313"/>
                <a:gd name="T14" fmla="*/ 160 w 243"/>
                <a:gd name="T15" fmla="*/ 238 h 313"/>
                <a:gd name="T16" fmla="*/ 153 w 243"/>
                <a:gd name="T17" fmla="*/ 211 h 313"/>
                <a:gd name="T18" fmla="*/ 97 w 243"/>
                <a:gd name="T19" fmla="*/ 146 h 313"/>
                <a:gd name="T20" fmla="*/ 69 w 243"/>
                <a:gd name="T21" fmla="*/ 113 h 313"/>
                <a:gd name="T22" fmla="*/ 59 w 243"/>
                <a:gd name="T23" fmla="*/ 76 h 313"/>
                <a:gd name="T24" fmla="*/ 82 w 243"/>
                <a:gd name="T25" fmla="*/ 22 h 313"/>
                <a:gd name="T26" fmla="*/ 143 w 243"/>
                <a:gd name="T27" fmla="*/ 0 h 313"/>
                <a:gd name="T28" fmla="*/ 166 w 243"/>
                <a:gd name="T29" fmla="*/ 2 h 313"/>
                <a:gd name="T30" fmla="*/ 191 w 243"/>
                <a:gd name="T31" fmla="*/ 11 h 313"/>
                <a:gd name="T32" fmla="*/ 205 w 243"/>
                <a:gd name="T33" fmla="*/ 16 h 313"/>
                <a:gd name="T34" fmla="*/ 212 w 243"/>
                <a:gd name="T35" fmla="*/ 17 h 313"/>
                <a:gd name="T36" fmla="*/ 223 w 243"/>
                <a:gd name="T37" fmla="*/ 14 h 313"/>
                <a:gd name="T38" fmla="*/ 234 w 243"/>
                <a:gd name="T39" fmla="*/ 0 h 313"/>
                <a:gd name="T40" fmla="*/ 243 w 243"/>
                <a:gd name="T41" fmla="*/ 0 h 313"/>
                <a:gd name="T42" fmla="*/ 219 w 243"/>
                <a:gd name="T43" fmla="*/ 99 h 313"/>
                <a:gd name="T44" fmla="*/ 212 w 243"/>
                <a:gd name="T45" fmla="*/ 99 h 313"/>
                <a:gd name="T46" fmla="*/ 213 w 243"/>
                <a:gd name="T47" fmla="*/ 78 h 313"/>
                <a:gd name="T48" fmla="*/ 195 w 243"/>
                <a:gd name="T49" fmla="*/ 34 h 313"/>
                <a:gd name="T50" fmla="*/ 148 w 243"/>
                <a:gd name="T51" fmla="*/ 17 h 313"/>
                <a:gd name="T52" fmla="*/ 111 w 243"/>
                <a:gd name="T53" fmla="*/ 30 h 313"/>
                <a:gd name="T54" fmla="*/ 97 w 243"/>
                <a:gd name="T55" fmla="*/ 62 h 313"/>
                <a:gd name="T56" fmla="*/ 106 w 243"/>
                <a:gd name="T57" fmla="*/ 91 h 313"/>
                <a:gd name="T58" fmla="*/ 148 w 243"/>
                <a:gd name="T59" fmla="*/ 137 h 313"/>
                <a:gd name="T60" fmla="*/ 191 w 243"/>
                <a:gd name="T61" fmla="*/ 187 h 313"/>
                <a:gd name="T62" fmla="*/ 201 w 243"/>
                <a:gd name="T63" fmla="*/ 224 h 313"/>
                <a:gd name="T64" fmla="*/ 188 w 243"/>
                <a:gd name="T65" fmla="*/ 269 h 313"/>
                <a:gd name="T66" fmla="*/ 154 w 243"/>
                <a:gd name="T67" fmla="*/ 302 h 313"/>
                <a:gd name="T68" fmla="*/ 105 w 243"/>
                <a:gd name="T69" fmla="*/ 313 h 313"/>
                <a:gd name="T70" fmla="*/ 80 w 243"/>
                <a:gd name="T71" fmla="*/ 311 h 313"/>
                <a:gd name="T72" fmla="*/ 43 w 243"/>
                <a:gd name="T73" fmla="*/ 299 h 313"/>
                <a:gd name="T74" fmla="*/ 29 w 243"/>
                <a:gd name="T75" fmla="*/ 296 h 313"/>
                <a:gd name="T76" fmla="*/ 8 w 243"/>
                <a:gd name="T77" fmla="*/ 313 h 313"/>
                <a:gd name="T78" fmla="*/ 0 w 243"/>
                <a:gd name="T79" fmla="*/ 313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43" h="313" fill="norm" stroke="1" extrusionOk="0">
                  <a:moveTo>
                    <a:pt x="0" y="313"/>
                  </a:moveTo>
                  <a:lnTo>
                    <a:pt x="25" y="202"/>
                  </a:lnTo>
                  <a:lnTo>
                    <a:pt x="32" y="202"/>
                  </a:lnTo>
                  <a:cubicBezTo>
                    <a:pt x="31" y="213"/>
                    <a:pt x="31" y="222"/>
                    <a:pt x="31" y="229"/>
                  </a:cubicBezTo>
                  <a:cubicBezTo>
                    <a:pt x="31" y="249"/>
                    <a:pt x="37" y="266"/>
                    <a:pt x="50" y="278"/>
                  </a:cubicBezTo>
                  <a:cubicBezTo>
                    <a:pt x="63" y="291"/>
                    <a:pt x="80" y="297"/>
                    <a:pt x="101" y="297"/>
                  </a:cubicBezTo>
                  <a:cubicBezTo>
                    <a:pt x="120" y="297"/>
                    <a:pt x="135" y="291"/>
                    <a:pt x="145" y="280"/>
                  </a:cubicBezTo>
                  <a:cubicBezTo>
                    <a:pt x="155" y="268"/>
                    <a:pt x="160" y="254"/>
                    <a:pt x="160" y="238"/>
                  </a:cubicBezTo>
                  <a:cubicBezTo>
                    <a:pt x="160" y="228"/>
                    <a:pt x="157" y="219"/>
                    <a:pt x="153" y="211"/>
                  </a:cubicBezTo>
                  <a:cubicBezTo>
                    <a:pt x="146" y="199"/>
                    <a:pt x="127" y="177"/>
                    <a:pt x="97" y="146"/>
                  </a:cubicBezTo>
                  <a:cubicBezTo>
                    <a:pt x="83" y="132"/>
                    <a:pt x="73" y="121"/>
                    <a:pt x="69" y="113"/>
                  </a:cubicBezTo>
                  <a:cubicBezTo>
                    <a:pt x="62" y="101"/>
                    <a:pt x="59" y="89"/>
                    <a:pt x="59" y="76"/>
                  </a:cubicBezTo>
                  <a:cubicBezTo>
                    <a:pt x="59" y="55"/>
                    <a:pt x="67" y="37"/>
                    <a:pt x="82" y="22"/>
                  </a:cubicBezTo>
                  <a:cubicBezTo>
                    <a:pt x="98" y="7"/>
                    <a:pt x="118" y="0"/>
                    <a:pt x="143" y="0"/>
                  </a:cubicBezTo>
                  <a:cubicBezTo>
                    <a:pt x="151" y="0"/>
                    <a:pt x="159" y="0"/>
                    <a:pt x="166" y="2"/>
                  </a:cubicBezTo>
                  <a:cubicBezTo>
                    <a:pt x="171" y="3"/>
                    <a:pt x="179" y="6"/>
                    <a:pt x="191" y="11"/>
                  </a:cubicBezTo>
                  <a:cubicBezTo>
                    <a:pt x="200" y="14"/>
                    <a:pt x="204" y="16"/>
                    <a:pt x="205" y="16"/>
                  </a:cubicBezTo>
                  <a:cubicBezTo>
                    <a:pt x="207" y="17"/>
                    <a:pt x="210" y="17"/>
                    <a:pt x="212" y="17"/>
                  </a:cubicBezTo>
                  <a:cubicBezTo>
                    <a:pt x="216" y="17"/>
                    <a:pt x="220" y="16"/>
                    <a:pt x="223" y="14"/>
                  </a:cubicBezTo>
                  <a:cubicBezTo>
                    <a:pt x="226" y="12"/>
                    <a:pt x="230" y="7"/>
                    <a:pt x="234" y="0"/>
                  </a:cubicBezTo>
                  <a:lnTo>
                    <a:pt x="243" y="0"/>
                  </a:lnTo>
                  <a:lnTo>
                    <a:pt x="219" y="99"/>
                  </a:lnTo>
                  <a:lnTo>
                    <a:pt x="212" y="99"/>
                  </a:lnTo>
                  <a:cubicBezTo>
                    <a:pt x="213" y="90"/>
                    <a:pt x="213" y="83"/>
                    <a:pt x="213" y="78"/>
                  </a:cubicBezTo>
                  <a:cubicBezTo>
                    <a:pt x="213" y="60"/>
                    <a:pt x="207" y="45"/>
                    <a:pt x="195" y="34"/>
                  </a:cubicBezTo>
                  <a:cubicBezTo>
                    <a:pt x="183" y="23"/>
                    <a:pt x="168" y="17"/>
                    <a:pt x="148" y="17"/>
                  </a:cubicBezTo>
                  <a:cubicBezTo>
                    <a:pt x="133" y="17"/>
                    <a:pt x="121" y="21"/>
                    <a:pt x="111" y="30"/>
                  </a:cubicBezTo>
                  <a:cubicBezTo>
                    <a:pt x="101" y="39"/>
                    <a:pt x="97" y="50"/>
                    <a:pt x="97" y="62"/>
                  </a:cubicBezTo>
                  <a:cubicBezTo>
                    <a:pt x="97" y="72"/>
                    <a:pt x="100" y="82"/>
                    <a:pt x="106" y="91"/>
                  </a:cubicBezTo>
                  <a:cubicBezTo>
                    <a:pt x="112" y="101"/>
                    <a:pt x="126" y="116"/>
                    <a:pt x="148" y="137"/>
                  </a:cubicBezTo>
                  <a:cubicBezTo>
                    <a:pt x="170" y="158"/>
                    <a:pt x="184" y="175"/>
                    <a:pt x="191" y="187"/>
                  </a:cubicBezTo>
                  <a:cubicBezTo>
                    <a:pt x="197" y="198"/>
                    <a:pt x="201" y="211"/>
                    <a:pt x="201" y="224"/>
                  </a:cubicBezTo>
                  <a:cubicBezTo>
                    <a:pt x="201" y="240"/>
                    <a:pt x="197" y="254"/>
                    <a:pt x="188" y="269"/>
                  </a:cubicBezTo>
                  <a:cubicBezTo>
                    <a:pt x="181" y="283"/>
                    <a:pt x="169" y="294"/>
                    <a:pt x="154" y="302"/>
                  </a:cubicBezTo>
                  <a:cubicBezTo>
                    <a:pt x="139" y="310"/>
                    <a:pt x="122" y="313"/>
                    <a:pt x="105" y="313"/>
                  </a:cubicBezTo>
                  <a:cubicBezTo>
                    <a:pt x="96" y="313"/>
                    <a:pt x="87" y="313"/>
                    <a:pt x="80" y="311"/>
                  </a:cubicBezTo>
                  <a:cubicBezTo>
                    <a:pt x="72" y="309"/>
                    <a:pt x="60" y="305"/>
                    <a:pt x="43" y="299"/>
                  </a:cubicBezTo>
                  <a:cubicBezTo>
                    <a:pt x="37" y="297"/>
                    <a:pt x="32" y="296"/>
                    <a:pt x="29" y="296"/>
                  </a:cubicBezTo>
                  <a:cubicBezTo>
                    <a:pt x="20" y="296"/>
                    <a:pt x="13" y="302"/>
                    <a:pt x="8" y="313"/>
                  </a:cubicBezTo>
                  <a:lnTo>
                    <a:pt x="0" y="3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56996353" name="Freeform 15"/>
            <p:cNvSpPr/>
            <p:nvPr/>
          </p:nvSpPr>
          <p:spPr bwMode="auto">
            <a:xfrm>
              <a:off x="4781713" y="2507289"/>
              <a:ext cx="36" cy="38"/>
            </a:xfrm>
            <a:custGeom>
              <a:avLst/>
              <a:gdLst>
                <a:gd name="T0" fmla="*/ 200 w 200"/>
                <a:gd name="T1" fmla="*/ 6 h 206"/>
                <a:gd name="T2" fmla="*/ 161 w 200"/>
                <a:gd name="T3" fmla="*/ 138 h 206"/>
                <a:gd name="T4" fmla="*/ 153 w 200"/>
                <a:gd name="T5" fmla="*/ 175 h 206"/>
                <a:gd name="T6" fmla="*/ 154 w 200"/>
                <a:gd name="T7" fmla="*/ 181 h 206"/>
                <a:gd name="T8" fmla="*/ 158 w 200"/>
                <a:gd name="T9" fmla="*/ 182 h 206"/>
                <a:gd name="T10" fmla="*/ 166 w 200"/>
                <a:gd name="T11" fmla="*/ 179 h 206"/>
                <a:gd name="T12" fmla="*/ 189 w 200"/>
                <a:gd name="T13" fmla="*/ 152 h 206"/>
                <a:gd name="T14" fmla="*/ 196 w 200"/>
                <a:gd name="T15" fmla="*/ 157 h 206"/>
                <a:gd name="T16" fmla="*/ 160 w 200"/>
                <a:gd name="T17" fmla="*/ 198 h 206"/>
                <a:gd name="T18" fmla="*/ 137 w 200"/>
                <a:gd name="T19" fmla="*/ 206 h 206"/>
                <a:gd name="T20" fmla="*/ 123 w 200"/>
                <a:gd name="T21" fmla="*/ 201 h 206"/>
                <a:gd name="T22" fmla="*/ 118 w 200"/>
                <a:gd name="T23" fmla="*/ 188 h 206"/>
                <a:gd name="T24" fmla="*/ 121 w 200"/>
                <a:gd name="T25" fmla="*/ 169 h 206"/>
                <a:gd name="T26" fmla="*/ 141 w 200"/>
                <a:gd name="T27" fmla="*/ 97 h 206"/>
                <a:gd name="T28" fmla="*/ 78 w 200"/>
                <a:gd name="T29" fmla="*/ 182 h 206"/>
                <a:gd name="T30" fmla="*/ 31 w 200"/>
                <a:gd name="T31" fmla="*/ 206 h 206"/>
                <a:gd name="T32" fmla="*/ 14 w 200"/>
                <a:gd name="T33" fmla="*/ 199 h 206"/>
                <a:gd name="T34" fmla="*/ 7 w 200"/>
                <a:gd name="T35" fmla="*/ 181 h 206"/>
                <a:gd name="T36" fmla="*/ 17 w 200"/>
                <a:gd name="T37" fmla="*/ 130 h 206"/>
                <a:gd name="T38" fmla="*/ 36 w 200"/>
                <a:gd name="T39" fmla="*/ 62 h 206"/>
                <a:gd name="T40" fmla="*/ 43 w 200"/>
                <a:gd name="T41" fmla="*/ 31 h 206"/>
                <a:gd name="T42" fmla="*/ 41 w 200"/>
                <a:gd name="T43" fmla="*/ 27 h 206"/>
                <a:gd name="T44" fmla="*/ 37 w 200"/>
                <a:gd name="T45" fmla="*/ 25 h 206"/>
                <a:gd name="T46" fmla="*/ 28 w 200"/>
                <a:gd name="T47" fmla="*/ 28 h 206"/>
                <a:gd name="T48" fmla="*/ 7 w 200"/>
                <a:gd name="T49" fmla="*/ 53 h 206"/>
                <a:gd name="T50" fmla="*/ 0 w 200"/>
                <a:gd name="T51" fmla="*/ 48 h 206"/>
                <a:gd name="T52" fmla="*/ 35 w 200"/>
                <a:gd name="T53" fmla="*/ 10 h 206"/>
                <a:gd name="T54" fmla="*/ 61 w 200"/>
                <a:gd name="T55" fmla="*/ 0 h 206"/>
                <a:gd name="T56" fmla="*/ 74 w 200"/>
                <a:gd name="T57" fmla="*/ 6 h 206"/>
                <a:gd name="T58" fmla="*/ 80 w 200"/>
                <a:gd name="T59" fmla="*/ 19 h 206"/>
                <a:gd name="T60" fmla="*/ 71 w 200"/>
                <a:gd name="T61" fmla="*/ 62 h 206"/>
                <a:gd name="T62" fmla="*/ 50 w 200"/>
                <a:gd name="T63" fmla="*/ 133 h 206"/>
                <a:gd name="T64" fmla="*/ 41 w 200"/>
                <a:gd name="T65" fmla="*/ 170 h 206"/>
                <a:gd name="T66" fmla="*/ 44 w 200"/>
                <a:gd name="T67" fmla="*/ 177 h 206"/>
                <a:gd name="T68" fmla="*/ 52 w 200"/>
                <a:gd name="T69" fmla="*/ 179 h 206"/>
                <a:gd name="T70" fmla="*/ 71 w 200"/>
                <a:gd name="T71" fmla="*/ 172 h 206"/>
                <a:gd name="T72" fmla="*/ 102 w 200"/>
                <a:gd name="T73" fmla="*/ 140 h 206"/>
                <a:gd name="T74" fmla="*/ 134 w 200"/>
                <a:gd name="T75" fmla="*/ 93 h 206"/>
                <a:gd name="T76" fmla="*/ 161 w 200"/>
                <a:gd name="T77" fmla="*/ 22 h 206"/>
                <a:gd name="T78" fmla="*/ 166 w 200"/>
                <a:gd name="T79" fmla="*/ 6 h 206"/>
                <a:gd name="T80" fmla="*/ 200 w 200"/>
                <a:gd name="T81" fmla="*/ 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0" h="206" fill="norm" stroke="1" extrusionOk="0">
                  <a:moveTo>
                    <a:pt x="200" y="6"/>
                  </a:moveTo>
                  <a:lnTo>
                    <a:pt x="161" y="138"/>
                  </a:lnTo>
                  <a:cubicBezTo>
                    <a:pt x="156" y="157"/>
                    <a:pt x="153" y="170"/>
                    <a:pt x="153" y="175"/>
                  </a:cubicBezTo>
                  <a:cubicBezTo>
                    <a:pt x="153" y="177"/>
                    <a:pt x="153" y="179"/>
                    <a:pt x="154" y="181"/>
                  </a:cubicBezTo>
                  <a:cubicBezTo>
                    <a:pt x="155" y="182"/>
                    <a:pt x="156" y="182"/>
                    <a:pt x="158" y="182"/>
                  </a:cubicBezTo>
                  <a:cubicBezTo>
                    <a:pt x="161" y="182"/>
                    <a:pt x="163" y="181"/>
                    <a:pt x="166" y="179"/>
                  </a:cubicBezTo>
                  <a:cubicBezTo>
                    <a:pt x="169" y="177"/>
                    <a:pt x="177" y="168"/>
                    <a:pt x="189" y="152"/>
                  </a:cubicBezTo>
                  <a:lnTo>
                    <a:pt x="196" y="157"/>
                  </a:lnTo>
                  <a:cubicBezTo>
                    <a:pt x="184" y="175"/>
                    <a:pt x="172" y="189"/>
                    <a:pt x="160" y="198"/>
                  </a:cubicBezTo>
                  <a:cubicBezTo>
                    <a:pt x="152" y="203"/>
                    <a:pt x="144" y="206"/>
                    <a:pt x="137" y="206"/>
                  </a:cubicBezTo>
                  <a:cubicBezTo>
                    <a:pt x="131" y="206"/>
                    <a:pt x="126" y="204"/>
                    <a:pt x="123" y="201"/>
                  </a:cubicBezTo>
                  <a:cubicBezTo>
                    <a:pt x="120" y="198"/>
                    <a:pt x="118" y="194"/>
                    <a:pt x="118" y="188"/>
                  </a:cubicBezTo>
                  <a:cubicBezTo>
                    <a:pt x="118" y="183"/>
                    <a:pt x="119" y="177"/>
                    <a:pt x="121" y="169"/>
                  </a:cubicBezTo>
                  <a:cubicBezTo>
                    <a:pt x="123" y="158"/>
                    <a:pt x="130" y="134"/>
                    <a:pt x="141" y="97"/>
                  </a:cubicBezTo>
                  <a:cubicBezTo>
                    <a:pt x="116" y="138"/>
                    <a:pt x="95" y="167"/>
                    <a:pt x="78" y="182"/>
                  </a:cubicBezTo>
                  <a:cubicBezTo>
                    <a:pt x="61" y="198"/>
                    <a:pt x="46" y="206"/>
                    <a:pt x="31" y="206"/>
                  </a:cubicBezTo>
                  <a:cubicBezTo>
                    <a:pt x="24" y="206"/>
                    <a:pt x="19" y="204"/>
                    <a:pt x="14" y="199"/>
                  </a:cubicBezTo>
                  <a:cubicBezTo>
                    <a:pt x="9" y="194"/>
                    <a:pt x="7" y="188"/>
                    <a:pt x="7" y="181"/>
                  </a:cubicBezTo>
                  <a:cubicBezTo>
                    <a:pt x="7" y="170"/>
                    <a:pt x="10" y="153"/>
                    <a:pt x="17" y="130"/>
                  </a:cubicBezTo>
                  <a:lnTo>
                    <a:pt x="36" y="62"/>
                  </a:lnTo>
                  <a:cubicBezTo>
                    <a:pt x="41" y="45"/>
                    <a:pt x="43" y="35"/>
                    <a:pt x="43" y="31"/>
                  </a:cubicBezTo>
                  <a:cubicBezTo>
                    <a:pt x="43" y="29"/>
                    <a:pt x="42" y="28"/>
                    <a:pt x="41" y="27"/>
                  </a:cubicBezTo>
                  <a:cubicBezTo>
                    <a:pt x="40" y="25"/>
                    <a:pt x="38" y="25"/>
                    <a:pt x="37" y="25"/>
                  </a:cubicBezTo>
                  <a:cubicBezTo>
                    <a:pt x="34" y="25"/>
                    <a:pt x="31" y="26"/>
                    <a:pt x="28" y="28"/>
                  </a:cubicBezTo>
                  <a:cubicBezTo>
                    <a:pt x="25" y="30"/>
                    <a:pt x="18" y="38"/>
                    <a:pt x="7" y="53"/>
                  </a:cubicBezTo>
                  <a:lnTo>
                    <a:pt x="0" y="48"/>
                  </a:lnTo>
                  <a:cubicBezTo>
                    <a:pt x="11" y="31"/>
                    <a:pt x="23" y="18"/>
                    <a:pt x="35" y="10"/>
                  </a:cubicBezTo>
                  <a:cubicBezTo>
                    <a:pt x="44" y="3"/>
                    <a:pt x="53" y="0"/>
                    <a:pt x="61" y="0"/>
                  </a:cubicBezTo>
                  <a:cubicBezTo>
                    <a:pt x="67" y="0"/>
                    <a:pt x="71" y="2"/>
                    <a:pt x="74" y="6"/>
                  </a:cubicBezTo>
                  <a:cubicBezTo>
                    <a:pt x="78" y="9"/>
                    <a:pt x="80" y="13"/>
                    <a:pt x="80" y="19"/>
                  </a:cubicBezTo>
                  <a:cubicBezTo>
                    <a:pt x="80" y="27"/>
                    <a:pt x="77" y="41"/>
                    <a:pt x="71" y="62"/>
                  </a:cubicBezTo>
                  <a:lnTo>
                    <a:pt x="50" y="133"/>
                  </a:lnTo>
                  <a:cubicBezTo>
                    <a:pt x="44" y="153"/>
                    <a:pt x="41" y="165"/>
                    <a:pt x="41" y="170"/>
                  </a:cubicBezTo>
                  <a:cubicBezTo>
                    <a:pt x="41" y="173"/>
                    <a:pt x="42" y="175"/>
                    <a:pt x="44" y="177"/>
                  </a:cubicBezTo>
                  <a:cubicBezTo>
                    <a:pt x="46" y="179"/>
                    <a:pt x="48" y="179"/>
                    <a:pt x="52" y="179"/>
                  </a:cubicBezTo>
                  <a:cubicBezTo>
                    <a:pt x="56" y="179"/>
                    <a:pt x="63" y="177"/>
                    <a:pt x="71" y="172"/>
                  </a:cubicBezTo>
                  <a:cubicBezTo>
                    <a:pt x="78" y="167"/>
                    <a:pt x="89" y="156"/>
                    <a:pt x="102" y="140"/>
                  </a:cubicBezTo>
                  <a:cubicBezTo>
                    <a:pt x="115" y="123"/>
                    <a:pt x="126" y="107"/>
                    <a:pt x="134" y="93"/>
                  </a:cubicBezTo>
                  <a:cubicBezTo>
                    <a:pt x="143" y="78"/>
                    <a:pt x="152" y="54"/>
                    <a:pt x="161" y="22"/>
                  </a:cubicBezTo>
                  <a:lnTo>
                    <a:pt x="166" y="6"/>
                  </a:lnTo>
                  <a:lnTo>
                    <a:pt x="200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4203534" name="Freeform 16"/>
            <p:cNvSpPr/>
            <p:nvPr/>
          </p:nvSpPr>
          <p:spPr bwMode="auto">
            <a:xfrm>
              <a:off x="4781755" y="2507289"/>
              <a:ext cx="36" cy="38"/>
            </a:xfrm>
            <a:custGeom>
              <a:avLst/>
              <a:gdLst>
                <a:gd name="T0" fmla="*/ 91 w 199"/>
                <a:gd name="T1" fmla="*/ 0 h 206"/>
                <a:gd name="T2" fmla="*/ 62 w 199"/>
                <a:gd name="T3" fmla="*/ 101 h 206"/>
                <a:gd name="T4" fmla="*/ 125 w 199"/>
                <a:gd name="T5" fmla="*/ 20 h 206"/>
                <a:gd name="T6" fmla="*/ 168 w 199"/>
                <a:gd name="T7" fmla="*/ 0 h 206"/>
                <a:gd name="T8" fmla="*/ 186 w 199"/>
                <a:gd name="T9" fmla="*/ 8 h 206"/>
                <a:gd name="T10" fmla="*/ 193 w 199"/>
                <a:gd name="T11" fmla="*/ 27 h 206"/>
                <a:gd name="T12" fmla="*/ 187 w 199"/>
                <a:gd name="T13" fmla="*/ 62 h 206"/>
                <a:gd name="T14" fmla="*/ 160 w 199"/>
                <a:gd name="T15" fmla="*/ 155 h 206"/>
                <a:gd name="T16" fmla="*/ 155 w 199"/>
                <a:gd name="T17" fmla="*/ 175 h 206"/>
                <a:gd name="T18" fmla="*/ 157 w 199"/>
                <a:gd name="T19" fmla="*/ 180 h 206"/>
                <a:gd name="T20" fmla="*/ 161 w 199"/>
                <a:gd name="T21" fmla="*/ 182 h 206"/>
                <a:gd name="T22" fmla="*/ 167 w 199"/>
                <a:gd name="T23" fmla="*/ 179 h 206"/>
                <a:gd name="T24" fmla="*/ 193 w 199"/>
                <a:gd name="T25" fmla="*/ 151 h 206"/>
                <a:gd name="T26" fmla="*/ 199 w 199"/>
                <a:gd name="T27" fmla="*/ 155 h 206"/>
                <a:gd name="T28" fmla="*/ 161 w 199"/>
                <a:gd name="T29" fmla="*/ 197 h 206"/>
                <a:gd name="T30" fmla="*/ 138 w 199"/>
                <a:gd name="T31" fmla="*/ 206 h 206"/>
                <a:gd name="T32" fmla="*/ 124 w 199"/>
                <a:gd name="T33" fmla="*/ 201 h 206"/>
                <a:gd name="T34" fmla="*/ 120 w 199"/>
                <a:gd name="T35" fmla="*/ 188 h 206"/>
                <a:gd name="T36" fmla="*/ 127 w 199"/>
                <a:gd name="T37" fmla="*/ 151 h 206"/>
                <a:gd name="T38" fmla="*/ 153 w 199"/>
                <a:gd name="T39" fmla="*/ 62 h 206"/>
                <a:gd name="T40" fmla="*/ 158 w 199"/>
                <a:gd name="T41" fmla="*/ 36 h 206"/>
                <a:gd name="T42" fmla="*/ 155 w 199"/>
                <a:gd name="T43" fmla="*/ 29 h 206"/>
                <a:gd name="T44" fmla="*/ 148 w 199"/>
                <a:gd name="T45" fmla="*/ 26 h 206"/>
                <a:gd name="T46" fmla="*/ 133 w 199"/>
                <a:gd name="T47" fmla="*/ 31 h 206"/>
                <a:gd name="T48" fmla="*/ 99 w 199"/>
                <a:gd name="T49" fmla="*/ 64 h 206"/>
                <a:gd name="T50" fmla="*/ 61 w 199"/>
                <a:gd name="T51" fmla="*/ 123 h 206"/>
                <a:gd name="T52" fmla="*/ 44 w 199"/>
                <a:gd name="T53" fmla="*/ 164 h 206"/>
                <a:gd name="T54" fmla="*/ 33 w 199"/>
                <a:gd name="T55" fmla="*/ 201 h 206"/>
                <a:gd name="T56" fmla="*/ 0 w 199"/>
                <a:gd name="T57" fmla="*/ 201 h 206"/>
                <a:gd name="T58" fmla="*/ 40 w 199"/>
                <a:gd name="T59" fmla="*/ 62 h 206"/>
                <a:gd name="T60" fmla="*/ 47 w 199"/>
                <a:gd name="T61" fmla="*/ 32 h 206"/>
                <a:gd name="T62" fmla="*/ 43 w 199"/>
                <a:gd name="T63" fmla="*/ 24 h 206"/>
                <a:gd name="T64" fmla="*/ 34 w 199"/>
                <a:gd name="T65" fmla="*/ 20 h 206"/>
                <a:gd name="T66" fmla="*/ 24 w 199"/>
                <a:gd name="T67" fmla="*/ 21 h 206"/>
                <a:gd name="T68" fmla="*/ 16 w 199"/>
                <a:gd name="T69" fmla="*/ 22 h 206"/>
                <a:gd name="T70" fmla="*/ 15 w 199"/>
                <a:gd name="T71" fmla="*/ 14 h 206"/>
                <a:gd name="T72" fmla="*/ 91 w 199"/>
                <a:gd name="T7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99" h="206" fill="norm" stroke="1" extrusionOk="0">
                  <a:moveTo>
                    <a:pt x="91" y="0"/>
                  </a:moveTo>
                  <a:lnTo>
                    <a:pt x="62" y="101"/>
                  </a:lnTo>
                  <a:cubicBezTo>
                    <a:pt x="89" y="60"/>
                    <a:pt x="110" y="33"/>
                    <a:pt x="125" y="20"/>
                  </a:cubicBezTo>
                  <a:cubicBezTo>
                    <a:pt x="140" y="7"/>
                    <a:pt x="154" y="0"/>
                    <a:pt x="168" y="0"/>
                  </a:cubicBezTo>
                  <a:cubicBezTo>
                    <a:pt x="175" y="0"/>
                    <a:pt x="181" y="3"/>
                    <a:pt x="186" y="8"/>
                  </a:cubicBezTo>
                  <a:cubicBezTo>
                    <a:pt x="191" y="12"/>
                    <a:pt x="193" y="19"/>
                    <a:pt x="193" y="27"/>
                  </a:cubicBezTo>
                  <a:cubicBezTo>
                    <a:pt x="193" y="35"/>
                    <a:pt x="191" y="47"/>
                    <a:pt x="187" y="62"/>
                  </a:cubicBezTo>
                  <a:lnTo>
                    <a:pt x="160" y="155"/>
                  </a:lnTo>
                  <a:cubicBezTo>
                    <a:pt x="157" y="166"/>
                    <a:pt x="155" y="173"/>
                    <a:pt x="155" y="175"/>
                  </a:cubicBezTo>
                  <a:cubicBezTo>
                    <a:pt x="155" y="177"/>
                    <a:pt x="156" y="179"/>
                    <a:pt x="157" y="180"/>
                  </a:cubicBezTo>
                  <a:cubicBezTo>
                    <a:pt x="158" y="182"/>
                    <a:pt x="159" y="182"/>
                    <a:pt x="161" y="182"/>
                  </a:cubicBezTo>
                  <a:cubicBezTo>
                    <a:pt x="162" y="182"/>
                    <a:pt x="164" y="181"/>
                    <a:pt x="167" y="179"/>
                  </a:cubicBezTo>
                  <a:cubicBezTo>
                    <a:pt x="175" y="173"/>
                    <a:pt x="183" y="164"/>
                    <a:pt x="193" y="151"/>
                  </a:cubicBezTo>
                  <a:lnTo>
                    <a:pt x="199" y="155"/>
                  </a:lnTo>
                  <a:cubicBezTo>
                    <a:pt x="186" y="175"/>
                    <a:pt x="173" y="189"/>
                    <a:pt x="161" y="197"/>
                  </a:cubicBezTo>
                  <a:cubicBezTo>
                    <a:pt x="152" y="203"/>
                    <a:pt x="144" y="206"/>
                    <a:pt x="138" y="206"/>
                  </a:cubicBezTo>
                  <a:cubicBezTo>
                    <a:pt x="132" y="206"/>
                    <a:pt x="128" y="204"/>
                    <a:pt x="124" y="201"/>
                  </a:cubicBezTo>
                  <a:cubicBezTo>
                    <a:pt x="121" y="198"/>
                    <a:pt x="120" y="193"/>
                    <a:pt x="120" y="188"/>
                  </a:cubicBezTo>
                  <a:cubicBezTo>
                    <a:pt x="120" y="180"/>
                    <a:pt x="122" y="168"/>
                    <a:pt x="127" y="151"/>
                  </a:cubicBezTo>
                  <a:lnTo>
                    <a:pt x="153" y="62"/>
                  </a:lnTo>
                  <a:cubicBezTo>
                    <a:pt x="156" y="51"/>
                    <a:pt x="158" y="42"/>
                    <a:pt x="158" y="36"/>
                  </a:cubicBezTo>
                  <a:cubicBezTo>
                    <a:pt x="158" y="33"/>
                    <a:pt x="157" y="31"/>
                    <a:pt x="155" y="29"/>
                  </a:cubicBezTo>
                  <a:cubicBezTo>
                    <a:pt x="153" y="27"/>
                    <a:pt x="150" y="26"/>
                    <a:pt x="148" y="26"/>
                  </a:cubicBezTo>
                  <a:cubicBezTo>
                    <a:pt x="144" y="26"/>
                    <a:pt x="139" y="28"/>
                    <a:pt x="133" y="31"/>
                  </a:cubicBezTo>
                  <a:cubicBezTo>
                    <a:pt x="122" y="38"/>
                    <a:pt x="111" y="49"/>
                    <a:pt x="99" y="64"/>
                  </a:cubicBezTo>
                  <a:cubicBezTo>
                    <a:pt x="87" y="80"/>
                    <a:pt x="74" y="99"/>
                    <a:pt x="61" y="123"/>
                  </a:cubicBezTo>
                  <a:cubicBezTo>
                    <a:pt x="54" y="135"/>
                    <a:pt x="49" y="149"/>
                    <a:pt x="44" y="164"/>
                  </a:cubicBezTo>
                  <a:lnTo>
                    <a:pt x="33" y="201"/>
                  </a:lnTo>
                  <a:lnTo>
                    <a:pt x="0" y="201"/>
                  </a:lnTo>
                  <a:lnTo>
                    <a:pt x="40" y="62"/>
                  </a:lnTo>
                  <a:cubicBezTo>
                    <a:pt x="45" y="45"/>
                    <a:pt x="47" y="35"/>
                    <a:pt x="47" y="32"/>
                  </a:cubicBezTo>
                  <a:cubicBezTo>
                    <a:pt x="47" y="29"/>
                    <a:pt x="46" y="26"/>
                    <a:pt x="43" y="24"/>
                  </a:cubicBezTo>
                  <a:cubicBezTo>
                    <a:pt x="41" y="21"/>
                    <a:pt x="38" y="20"/>
                    <a:pt x="34" y="20"/>
                  </a:cubicBezTo>
                  <a:cubicBezTo>
                    <a:pt x="32" y="20"/>
                    <a:pt x="29" y="20"/>
                    <a:pt x="24" y="21"/>
                  </a:cubicBezTo>
                  <a:lnTo>
                    <a:pt x="16" y="22"/>
                  </a:lnTo>
                  <a:lnTo>
                    <a:pt x="15" y="14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56431932" name="Freeform 17"/>
            <p:cNvSpPr/>
            <p:nvPr/>
          </p:nvSpPr>
          <p:spPr bwMode="auto">
            <a:xfrm>
              <a:off x="4781799" y="2507289"/>
              <a:ext cx="32" cy="37"/>
            </a:xfrm>
            <a:custGeom>
              <a:avLst/>
              <a:gdLst>
                <a:gd name="T0" fmla="*/ 15 w 174"/>
                <a:gd name="T1" fmla="*/ 13 h 201"/>
                <a:gd name="T2" fmla="*/ 91 w 174"/>
                <a:gd name="T3" fmla="*/ 0 h 201"/>
                <a:gd name="T4" fmla="*/ 59 w 174"/>
                <a:gd name="T5" fmla="*/ 108 h 201"/>
                <a:gd name="T6" fmla="*/ 129 w 174"/>
                <a:gd name="T7" fmla="*/ 15 h 201"/>
                <a:gd name="T8" fmla="*/ 159 w 174"/>
                <a:gd name="T9" fmla="*/ 0 h 201"/>
                <a:gd name="T10" fmla="*/ 170 w 174"/>
                <a:gd name="T11" fmla="*/ 5 h 201"/>
                <a:gd name="T12" fmla="*/ 174 w 174"/>
                <a:gd name="T13" fmla="*/ 17 h 201"/>
                <a:gd name="T14" fmla="*/ 167 w 174"/>
                <a:gd name="T15" fmla="*/ 45 h 201"/>
                <a:gd name="T16" fmla="*/ 152 w 174"/>
                <a:gd name="T17" fmla="*/ 55 h 201"/>
                <a:gd name="T18" fmla="*/ 143 w 174"/>
                <a:gd name="T19" fmla="*/ 52 h 201"/>
                <a:gd name="T20" fmla="*/ 138 w 174"/>
                <a:gd name="T21" fmla="*/ 41 h 201"/>
                <a:gd name="T22" fmla="*/ 136 w 174"/>
                <a:gd name="T23" fmla="*/ 36 h 201"/>
                <a:gd name="T24" fmla="*/ 132 w 174"/>
                <a:gd name="T25" fmla="*/ 34 h 201"/>
                <a:gd name="T26" fmla="*/ 125 w 174"/>
                <a:gd name="T27" fmla="*/ 36 h 201"/>
                <a:gd name="T28" fmla="*/ 108 w 174"/>
                <a:gd name="T29" fmla="*/ 53 h 201"/>
                <a:gd name="T30" fmla="*/ 68 w 174"/>
                <a:gd name="T31" fmla="*/ 109 h 201"/>
                <a:gd name="T32" fmla="*/ 52 w 174"/>
                <a:gd name="T33" fmla="*/ 142 h 201"/>
                <a:gd name="T34" fmla="*/ 41 w 174"/>
                <a:gd name="T35" fmla="*/ 173 h 201"/>
                <a:gd name="T36" fmla="*/ 34 w 174"/>
                <a:gd name="T37" fmla="*/ 201 h 201"/>
                <a:gd name="T38" fmla="*/ 0 w 174"/>
                <a:gd name="T39" fmla="*/ 201 h 201"/>
                <a:gd name="T40" fmla="*/ 41 w 174"/>
                <a:gd name="T41" fmla="*/ 63 h 201"/>
                <a:gd name="T42" fmla="*/ 48 w 174"/>
                <a:gd name="T43" fmla="*/ 29 h 201"/>
                <a:gd name="T44" fmla="*/ 45 w 174"/>
                <a:gd name="T45" fmla="*/ 22 h 201"/>
                <a:gd name="T46" fmla="*/ 33 w 174"/>
                <a:gd name="T47" fmla="*/ 19 h 201"/>
                <a:gd name="T48" fmla="*/ 16 w 174"/>
                <a:gd name="T49" fmla="*/ 21 h 201"/>
                <a:gd name="T50" fmla="*/ 15 w 174"/>
                <a:gd name="T51" fmla="*/ 1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4" h="201" fill="norm" stroke="1" extrusionOk="0">
                  <a:moveTo>
                    <a:pt x="15" y="13"/>
                  </a:moveTo>
                  <a:lnTo>
                    <a:pt x="91" y="0"/>
                  </a:lnTo>
                  <a:lnTo>
                    <a:pt x="59" y="108"/>
                  </a:lnTo>
                  <a:cubicBezTo>
                    <a:pt x="85" y="64"/>
                    <a:pt x="108" y="33"/>
                    <a:pt x="129" y="15"/>
                  </a:cubicBezTo>
                  <a:cubicBezTo>
                    <a:pt x="141" y="5"/>
                    <a:pt x="151" y="0"/>
                    <a:pt x="159" y="0"/>
                  </a:cubicBezTo>
                  <a:cubicBezTo>
                    <a:pt x="164" y="0"/>
                    <a:pt x="167" y="2"/>
                    <a:pt x="170" y="5"/>
                  </a:cubicBezTo>
                  <a:cubicBezTo>
                    <a:pt x="173" y="7"/>
                    <a:pt x="174" y="12"/>
                    <a:pt x="174" y="17"/>
                  </a:cubicBezTo>
                  <a:cubicBezTo>
                    <a:pt x="174" y="27"/>
                    <a:pt x="172" y="36"/>
                    <a:pt x="167" y="45"/>
                  </a:cubicBezTo>
                  <a:cubicBezTo>
                    <a:pt x="163" y="52"/>
                    <a:pt x="158" y="55"/>
                    <a:pt x="152" y="55"/>
                  </a:cubicBezTo>
                  <a:cubicBezTo>
                    <a:pt x="148" y="55"/>
                    <a:pt x="145" y="54"/>
                    <a:pt x="143" y="52"/>
                  </a:cubicBezTo>
                  <a:cubicBezTo>
                    <a:pt x="140" y="49"/>
                    <a:pt x="139" y="46"/>
                    <a:pt x="138" y="41"/>
                  </a:cubicBezTo>
                  <a:cubicBezTo>
                    <a:pt x="138" y="39"/>
                    <a:pt x="137" y="37"/>
                    <a:pt x="136" y="36"/>
                  </a:cubicBezTo>
                  <a:cubicBezTo>
                    <a:pt x="135" y="35"/>
                    <a:pt x="134" y="34"/>
                    <a:pt x="132" y="34"/>
                  </a:cubicBezTo>
                  <a:cubicBezTo>
                    <a:pt x="130" y="34"/>
                    <a:pt x="127" y="35"/>
                    <a:pt x="125" y="36"/>
                  </a:cubicBezTo>
                  <a:cubicBezTo>
                    <a:pt x="121" y="38"/>
                    <a:pt x="115" y="44"/>
                    <a:pt x="108" y="53"/>
                  </a:cubicBezTo>
                  <a:cubicBezTo>
                    <a:pt x="95" y="68"/>
                    <a:pt x="82" y="86"/>
                    <a:pt x="68" y="109"/>
                  </a:cubicBezTo>
                  <a:cubicBezTo>
                    <a:pt x="61" y="119"/>
                    <a:pt x="56" y="130"/>
                    <a:pt x="52" y="142"/>
                  </a:cubicBezTo>
                  <a:cubicBezTo>
                    <a:pt x="46" y="159"/>
                    <a:pt x="42" y="169"/>
                    <a:pt x="41" y="173"/>
                  </a:cubicBezTo>
                  <a:lnTo>
                    <a:pt x="34" y="201"/>
                  </a:lnTo>
                  <a:lnTo>
                    <a:pt x="0" y="201"/>
                  </a:lnTo>
                  <a:lnTo>
                    <a:pt x="41" y="63"/>
                  </a:lnTo>
                  <a:cubicBezTo>
                    <a:pt x="46" y="47"/>
                    <a:pt x="48" y="36"/>
                    <a:pt x="48" y="29"/>
                  </a:cubicBezTo>
                  <a:cubicBezTo>
                    <a:pt x="48" y="26"/>
                    <a:pt x="47" y="24"/>
                    <a:pt x="45" y="22"/>
                  </a:cubicBezTo>
                  <a:cubicBezTo>
                    <a:pt x="42" y="20"/>
                    <a:pt x="38" y="19"/>
                    <a:pt x="33" y="19"/>
                  </a:cubicBezTo>
                  <a:cubicBezTo>
                    <a:pt x="30" y="19"/>
                    <a:pt x="24" y="20"/>
                    <a:pt x="16" y="21"/>
                  </a:cubicBezTo>
                  <a:lnTo>
                    <a:pt x="15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389264488" name="Freeform 18"/>
            <p:cNvSpPr>
              <a:spLocks noEditPoints="1"/>
            </p:cNvSpPr>
            <p:nvPr/>
          </p:nvSpPr>
          <p:spPr bwMode="auto">
            <a:xfrm>
              <a:off x="4781835" y="2507274"/>
              <a:ext cx="18" cy="55"/>
            </a:xfrm>
            <a:custGeom>
              <a:avLst/>
              <a:gdLst>
                <a:gd name="T0" fmla="*/ 82 w 104"/>
                <a:gd name="T1" fmla="*/ 0 h 294"/>
                <a:gd name="T2" fmla="*/ 97 w 104"/>
                <a:gd name="T3" fmla="*/ 7 h 294"/>
                <a:gd name="T4" fmla="*/ 104 w 104"/>
                <a:gd name="T5" fmla="*/ 23 h 294"/>
                <a:gd name="T6" fmla="*/ 97 w 104"/>
                <a:gd name="T7" fmla="*/ 38 h 294"/>
                <a:gd name="T8" fmla="*/ 82 w 104"/>
                <a:gd name="T9" fmla="*/ 45 h 294"/>
                <a:gd name="T10" fmla="*/ 66 w 104"/>
                <a:gd name="T11" fmla="*/ 38 h 294"/>
                <a:gd name="T12" fmla="*/ 60 w 104"/>
                <a:gd name="T13" fmla="*/ 23 h 294"/>
                <a:gd name="T14" fmla="*/ 66 w 104"/>
                <a:gd name="T15" fmla="*/ 7 h 294"/>
                <a:gd name="T16" fmla="*/ 82 w 104"/>
                <a:gd name="T17" fmla="*/ 0 h 294"/>
                <a:gd name="T18" fmla="*/ 85 w 104"/>
                <a:gd name="T19" fmla="*/ 88 h 294"/>
                <a:gd name="T20" fmla="*/ 41 w 104"/>
                <a:gd name="T21" fmla="*/ 243 h 294"/>
                <a:gd name="T22" fmla="*/ 36 w 104"/>
                <a:gd name="T23" fmla="*/ 262 h 294"/>
                <a:gd name="T24" fmla="*/ 38 w 104"/>
                <a:gd name="T25" fmla="*/ 268 h 294"/>
                <a:gd name="T26" fmla="*/ 43 w 104"/>
                <a:gd name="T27" fmla="*/ 270 h 294"/>
                <a:gd name="T28" fmla="*/ 51 w 104"/>
                <a:gd name="T29" fmla="*/ 267 h 294"/>
                <a:gd name="T30" fmla="*/ 77 w 104"/>
                <a:gd name="T31" fmla="*/ 238 h 294"/>
                <a:gd name="T32" fmla="*/ 85 w 104"/>
                <a:gd name="T33" fmla="*/ 243 h 294"/>
                <a:gd name="T34" fmla="*/ 49 w 104"/>
                <a:gd name="T35" fmla="*/ 282 h 294"/>
                <a:gd name="T36" fmla="*/ 20 w 104"/>
                <a:gd name="T37" fmla="*/ 294 h 294"/>
                <a:gd name="T38" fmla="*/ 6 w 104"/>
                <a:gd name="T39" fmla="*/ 289 h 294"/>
                <a:gd name="T40" fmla="*/ 0 w 104"/>
                <a:gd name="T41" fmla="*/ 275 h 294"/>
                <a:gd name="T42" fmla="*/ 5 w 104"/>
                <a:gd name="T43" fmla="*/ 248 h 294"/>
                <a:gd name="T44" fmla="*/ 34 w 104"/>
                <a:gd name="T45" fmla="*/ 148 h 294"/>
                <a:gd name="T46" fmla="*/ 41 w 104"/>
                <a:gd name="T47" fmla="*/ 118 h 294"/>
                <a:gd name="T48" fmla="*/ 38 w 104"/>
                <a:gd name="T49" fmla="*/ 110 h 294"/>
                <a:gd name="T50" fmla="*/ 28 w 104"/>
                <a:gd name="T51" fmla="*/ 107 h 294"/>
                <a:gd name="T52" fmla="*/ 8 w 104"/>
                <a:gd name="T53" fmla="*/ 109 h 294"/>
                <a:gd name="T54" fmla="*/ 8 w 104"/>
                <a:gd name="T55" fmla="*/ 101 h 294"/>
                <a:gd name="T56" fmla="*/ 85 w 104"/>
                <a:gd name="T57" fmla="*/ 88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4" h="294" fill="norm" stroke="1" extrusionOk="0">
                  <a:moveTo>
                    <a:pt x="82" y="0"/>
                  </a:moveTo>
                  <a:cubicBezTo>
                    <a:pt x="88" y="0"/>
                    <a:pt x="93" y="3"/>
                    <a:pt x="97" y="7"/>
                  </a:cubicBezTo>
                  <a:cubicBezTo>
                    <a:pt x="102" y="11"/>
                    <a:pt x="104" y="16"/>
                    <a:pt x="104" y="23"/>
                  </a:cubicBezTo>
                  <a:cubicBezTo>
                    <a:pt x="104" y="29"/>
                    <a:pt x="102" y="34"/>
                    <a:pt x="97" y="38"/>
                  </a:cubicBezTo>
                  <a:cubicBezTo>
                    <a:pt x="93" y="43"/>
                    <a:pt x="88" y="45"/>
                    <a:pt x="82" y="45"/>
                  </a:cubicBezTo>
                  <a:cubicBezTo>
                    <a:pt x="76" y="45"/>
                    <a:pt x="70" y="43"/>
                    <a:pt x="66" y="38"/>
                  </a:cubicBezTo>
                  <a:cubicBezTo>
                    <a:pt x="62" y="34"/>
                    <a:pt x="60" y="29"/>
                    <a:pt x="60" y="23"/>
                  </a:cubicBezTo>
                  <a:cubicBezTo>
                    <a:pt x="60" y="16"/>
                    <a:pt x="62" y="11"/>
                    <a:pt x="66" y="7"/>
                  </a:cubicBezTo>
                  <a:cubicBezTo>
                    <a:pt x="70" y="3"/>
                    <a:pt x="76" y="0"/>
                    <a:pt x="82" y="0"/>
                  </a:cubicBezTo>
                  <a:close/>
                  <a:moveTo>
                    <a:pt x="85" y="88"/>
                  </a:moveTo>
                  <a:lnTo>
                    <a:pt x="41" y="243"/>
                  </a:lnTo>
                  <a:cubicBezTo>
                    <a:pt x="38" y="254"/>
                    <a:pt x="36" y="260"/>
                    <a:pt x="36" y="262"/>
                  </a:cubicBezTo>
                  <a:cubicBezTo>
                    <a:pt x="36" y="265"/>
                    <a:pt x="37" y="267"/>
                    <a:pt x="38" y="268"/>
                  </a:cubicBezTo>
                  <a:cubicBezTo>
                    <a:pt x="40" y="270"/>
                    <a:pt x="41" y="270"/>
                    <a:pt x="43" y="270"/>
                  </a:cubicBezTo>
                  <a:cubicBezTo>
                    <a:pt x="46" y="270"/>
                    <a:pt x="48" y="269"/>
                    <a:pt x="51" y="267"/>
                  </a:cubicBezTo>
                  <a:cubicBezTo>
                    <a:pt x="60" y="260"/>
                    <a:pt x="68" y="251"/>
                    <a:pt x="77" y="238"/>
                  </a:cubicBezTo>
                  <a:lnTo>
                    <a:pt x="85" y="243"/>
                  </a:lnTo>
                  <a:cubicBezTo>
                    <a:pt x="75" y="259"/>
                    <a:pt x="63" y="272"/>
                    <a:pt x="49" y="282"/>
                  </a:cubicBezTo>
                  <a:cubicBezTo>
                    <a:pt x="39" y="290"/>
                    <a:pt x="30" y="294"/>
                    <a:pt x="20" y="294"/>
                  </a:cubicBezTo>
                  <a:cubicBezTo>
                    <a:pt x="14" y="294"/>
                    <a:pt x="9" y="292"/>
                    <a:pt x="6" y="289"/>
                  </a:cubicBezTo>
                  <a:cubicBezTo>
                    <a:pt x="2" y="285"/>
                    <a:pt x="0" y="280"/>
                    <a:pt x="0" y="275"/>
                  </a:cubicBezTo>
                  <a:cubicBezTo>
                    <a:pt x="0" y="269"/>
                    <a:pt x="2" y="260"/>
                    <a:pt x="5" y="248"/>
                  </a:cubicBezTo>
                  <a:lnTo>
                    <a:pt x="34" y="148"/>
                  </a:lnTo>
                  <a:cubicBezTo>
                    <a:pt x="39" y="132"/>
                    <a:pt x="41" y="122"/>
                    <a:pt x="41" y="118"/>
                  </a:cubicBezTo>
                  <a:cubicBezTo>
                    <a:pt x="41" y="115"/>
                    <a:pt x="40" y="112"/>
                    <a:pt x="38" y="110"/>
                  </a:cubicBezTo>
                  <a:cubicBezTo>
                    <a:pt x="35" y="108"/>
                    <a:pt x="32" y="107"/>
                    <a:pt x="28" y="107"/>
                  </a:cubicBezTo>
                  <a:cubicBezTo>
                    <a:pt x="25" y="107"/>
                    <a:pt x="18" y="108"/>
                    <a:pt x="8" y="109"/>
                  </a:cubicBezTo>
                  <a:lnTo>
                    <a:pt x="8" y="101"/>
                  </a:lnTo>
                  <a:lnTo>
                    <a:pt x="85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711745926" name="Freeform 19"/>
            <p:cNvSpPr/>
            <p:nvPr/>
          </p:nvSpPr>
          <p:spPr bwMode="auto">
            <a:xfrm>
              <a:off x="4781854" y="2507289"/>
              <a:ext cx="30" cy="38"/>
            </a:xfrm>
            <a:custGeom>
              <a:avLst/>
              <a:gdLst>
                <a:gd name="T0" fmla="*/ 169 w 169"/>
                <a:gd name="T1" fmla="*/ 0 h 206"/>
                <a:gd name="T2" fmla="*/ 155 w 169"/>
                <a:gd name="T3" fmla="*/ 68 h 206"/>
                <a:gd name="T4" fmla="*/ 147 w 169"/>
                <a:gd name="T5" fmla="*/ 68 h 206"/>
                <a:gd name="T6" fmla="*/ 134 w 169"/>
                <a:gd name="T7" fmla="*/ 25 h 206"/>
                <a:gd name="T8" fmla="*/ 106 w 169"/>
                <a:gd name="T9" fmla="*/ 12 h 206"/>
                <a:gd name="T10" fmla="*/ 84 w 169"/>
                <a:gd name="T11" fmla="*/ 19 h 206"/>
                <a:gd name="T12" fmla="*/ 76 w 169"/>
                <a:gd name="T13" fmla="*/ 37 h 206"/>
                <a:gd name="T14" fmla="*/ 79 w 169"/>
                <a:gd name="T15" fmla="*/ 51 h 206"/>
                <a:gd name="T16" fmla="*/ 93 w 169"/>
                <a:gd name="T17" fmla="*/ 70 h 206"/>
                <a:gd name="T18" fmla="*/ 130 w 169"/>
                <a:gd name="T19" fmla="*/ 117 h 206"/>
                <a:gd name="T20" fmla="*/ 139 w 169"/>
                <a:gd name="T21" fmla="*/ 147 h 206"/>
                <a:gd name="T22" fmla="*/ 120 w 169"/>
                <a:gd name="T23" fmla="*/ 188 h 206"/>
                <a:gd name="T24" fmla="*/ 71 w 169"/>
                <a:gd name="T25" fmla="*/ 206 h 206"/>
                <a:gd name="T26" fmla="*/ 35 w 169"/>
                <a:gd name="T27" fmla="*/ 198 h 206"/>
                <a:gd name="T28" fmla="*/ 23 w 169"/>
                <a:gd name="T29" fmla="*/ 196 h 206"/>
                <a:gd name="T30" fmla="*/ 8 w 169"/>
                <a:gd name="T31" fmla="*/ 206 h 206"/>
                <a:gd name="T32" fmla="*/ 0 w 169"/>
                <a:gd name="T33" fmla="*/ 206 h 206"/>
                <a:gd name="T34" fmla="*/ 14 w 169"/>
                <a:gd name="T35" fmla="*/ 134 h 206"/>
                <a:gd name="T36" fmla="*/ 22 w 169"/>
                <a:gd name="T37" fmla="*/ 134 h 206"/>
                <a:gd name="T38" fmla="*/ 36 w 169"/>
                <a:gd name="T39" fmla="*/ 182 h 206"/>
                <a:gd name="T40" fmla="*/ 70 w 169"/>
                <a:gd name="T41" fmla="*/ 196 h 206"/>
                <a:gd name="T42" fmla="*/ 97 w 169"/>
                <a:gd name="T43" fmla="*/ 186 h 206"/>
                <a:gd name="T44" fmla="*/ 107 w 169"/>
                <a:gd name="T45" fmla="*/ 163 h 206"/>
                <a:gd name="T46" fmla="*/ 103 w 169"/>
                <a:gd name="T47" fmla="*/ 147 h 206"/>
                <a:gd name="T48" fmla="*/ 77 w 169"/>
                <a:gd name="T49" fmla="*/ 110 h 206"/>
                <a:gd name="T50" fmla="*/ 52 w 169"/>
                <a:gd name="T51" fmla="*/ 75 h 206"/>
                <a:gd name="T52" fmla="*/ 46 w 169"/>
                <a:gd name="T53" fmla="*/ 51 h 206"/>
                <a:gd name="T54" fmla="*/ 62 w 169"/>
                <a:gd name="T55" fmla="*/ 15 h 206"/>
                <a:gd name="T56" fmla="*/ 102 w 169"/>
                <a:gd name="T57" fmla="*/ 0 h 206"/>
                <a:gd name="T58" fmla="*/ 115 w 169"/>
                <a:gd name="T59" fmla="*/ 1 h 206"/>
                <a:gd name="T60" fmla="*/ 129 w 169"/>
                <a:gd name="T61" fmla="*/ 6 h 206"/>
                <a:gd name="T62" fmla="*/ 144 w 169"/>
                <a:gd name="T63" fmla="*/ 11 h 206"/>
                <a:gd name="T64" fmla="*/ 160 w 169"/>
                <a:gd name="T65" fmla="*/ 0 h 206"/>
                <a:gd name="T66" fmla="*/ 169 w 169"/>
                <a:gd name="T67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206" fill="norm" stroke="1" extrusionOk="0">
                  <a:moveTo>
                    <a:pt x="169" y="0"/>
                  </a:moveTo>
                  <a:lnTo>
                    <a:pt x="155" y="68"/>
                  </a:lnTo>
                  <a:lnTo>
                    <a:pt x="147" y="68"/>
                  </a:lnTo>
                  <a:cubicBezTo>
                    <a:pt x="146" y="48"/>
                    <a:pt x="142" y="34"/>
                    <a:pt x="134" y="25"/>
                  </a:cubicBezTo>
                  <a:cubicBezTo>
                    <a:pt x="127" y="16"/>
                    <a:pt x="117" y="12"/>
                    <a:pt x="106" y="12"/>
                  </a:cubicBezTo>
                  <a:cubicBezTo>
                    <a:pt x="97" y="12"/>
                    <a:pt x="89" y="14"/>
                    <a:pt x="84" y="19"/>
                  </a:cubicBezTo>
                  <a:cubicBezTo>
                    <a:pt x="79" y="24"/>
                    <a:pt x="76" y="30"/>
                    <a:pt x="76" y="37"/>
                  </a:cubicBezTo>
                  <a:cubicBezTo>
                    <a:pt x="76" y="42"/>
                    <a:pt x="77" y="47"/>
                    <a:pt x="79" y="51"/>
                  </a:cubicBezTo>
                  <a:cubicBezTo>
                    <a:pt x="81" y="56"/>
                    <a:pt x="86" y="62"/>
                    <a:pt x="93" y="70"/>
                  </a:cubicBezTo>
                  <a:cubicBezTo>
                    <a:pt x="112" y="91"/>
                    <a:pt x="125" y="107"/>
                    <a:pt x="130" y="117"/>
                  </a:cubicBezTo>
                  <a:cubicBezTo>
                    <a:pt x="136" y="128"/>
                    <a:pt x="139" y="138"/>
                    <a:pt x="139" y="147"/>
                  </a:cubicBezTo>
                  <a:cubicBezTo>
                    <a:pt x="139" y="163"/>
                    <a:pt x="132" y="176"/>
                    <a:pt x="120" y="188"/>
                  </a:cubicBezTo>
                  <a:cubicBezTo>
                    <a:pt x="107" y="200"/>
                    <a:pt x="91" y="206"/>
                    <a:pt x="71" y="206"/>
                  </a:cubicBezTo>
                  <a:cubicBezTo>
                    <a:pt x="61" y="206"/>
                    <a:pt x="48" y="203"/>
                    <a:pt x="35" y="198"/>
                  </a:cubicBezTo>
                  <a:cubicBezTo>
                    <a:pt x="30" y="197"/>
                    <a:pt x="26" y="196"/>
                    <a:pt x="23" y="196"/>
                  </a:cubicBezTo>
                  <a:cubicBezTo>
                    <a:pt x="17" y="196"/>
                    <a:pt x="12" y="199"/>
                    <a:pt x="8" y="206"/>
                  </a:cubicBezTo>
                  <a:lnTo>
                    <a:pt x="0" y="206"/>
                  </a:lnTo>
                  <a:lnTo>
                    <a:pt x="14" y="134"/>
                  </a:lnTo>
                  <a:lnTo>
                    <a:pt x="22" y="134"/>
                  </a:lnTo>
                  <a:cubicBezTo>
                    <a:pt x="23" y="157"/>
                    <a:pt x="27" y="173"/>
                    <a:pt x="36" y="182"/>
                  </a:cubicBezTo>
                  <a:cubicBezTo>
                    <a:pt x="44" y="191"/>
                    <a:pt x="56" y="196"/>
                    <a:pt x="70" y="196"/>
                  </a:cubicBezTo>
                  <a:cubicBezTo>
                    <a:pt x="81" y="196"/>
                    <a:pt x="90" y="193"/>
                    <a:pt x="97" y="186"/>
                  </a:cubicBezTo>
                  <a:cubicBezTo>
                    <a:pt x="103" y="180"/>
                    <a:pt x="107" y="172"/>
                    <a:pt x="107" y="163"/>
                  </a:cubicBezTo>
                  <a:cubicBezTo>
                    <a:pt x="107" y="157"/>
                    <a:pt x="106" y="152"/>
                    <a:pt x="103" y="147"/>
                  </a:cubicBezTo>
                  <a:cubicBezTo>
                    <a:pt x="99" y="138"/>
                    <a:pt x="90" y="126"/>
                    <a:pt x="77" y="110"/>
                  </a:cubicBezTo>
                  <a:cubicBezTo>
                    <a:pt x="64" y="94"/>
                    <a:pt x="56" y="83"/>
                    <a:pt x="52" y="75"/>
                  </a:cubicBezTo>
                  <a:cubicBezTo>
                    <a:pt x="48" y="67"/>
                    <a:pt x="46" y="59"/>
                    <a:pt x="46" y="51"/>
                  </a:cubicBezTo>
                  <a:cubicBezTo>
                    <a:pt x="46" y="37"/>
                    <a:pt x="51" y="25"/>
                    <a:pt x="62" y="15"/>
                  </a:cubicBezTo>
                  <a:cubicBezTo>
                    <a:pt x="72" y="5"/>
                    <a:pt x="86" y="0"/>
                    <a:pt x="102" y="0"/>
                  </a:cubicBezTo>
                  <a:cubicBezTo>
                    <a:pt x="107" y="0"/>
                    <a:pt x="111" y="1"/>
                    <a:pt x="115" y="1"/>
                  </a:cubicBezTo>
                  <a:cubicBezTo>
                    <a:pt x="117" y="2"/>
                    <a:pt x="122" y="4"/>
                    <a:pt x="129" y="6"/>
                  </a:cubicBezTo>
                  <a:cubicBezTo>
                    <a:pt x="137" y="9"/>
                    <a:pt x="142" y="11"/>
                    <a:pt x="144" y="11"/>
                  </a:cubicBezTo>
                  <a:cubicBezTo>
                    <a:pt x="151" y="11"/>
                    <a:pt x="156" y="7"/>
                    <a:pt x="160" y="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794547257" name="Freeform 20"/>
            <p:cNvSpPr>
              <a:spLocks noEditPoints="1"/>
            </p:cNvSpPr>
            <p:nvPr/>
          </p:nvSpPr>
          <p:spPr bwMode="auto">
            <a:xfrm>
              <a:off x="4781891" y="2507289"/>
              <a:ext cx="32" cy="38"/>
            </a:xfrm>
            <a:custGeom>
              <a:avLst/>
              <a:gdLst>
                <a:gd name="T0" fmla="*/ 40 w 181"/>
                <a:gd name="T1" fmla="*/ 117 h 206"/>
                <a:gd name="T2" fmla="*/ 38 w 181"/>
                <a:gd name="T3" fmla="*/ 136 h 206"/>
                <a:gd name="T4" fmla="*/ 52 w 181"/>
                <a:gd name="T5" fmla="*/ 169 h 206"/>
                <a:gd name="T6" fmla="*/ 86 w 181"/>
                <a:gd name="T7" fmla="*/ 183 h 206"/>
                <a:gd name="T8" fmla="*/ 117 w 181"/>
                <a:gd name="T9" fmla="*/ 176 h 206"/>
                <a:gd name="T10" fmla="*/ 160 w 181"/>
                <a:gd name="T11" fmla="*/ 147 h 206"/>
                <a:gd name="T12" fmla="*/ 165 w 181"/>
                <a:gd name="T13" fmla="*/ 154 h 206"/>
                <a:gd name="T14" fmla="*/ 65 w 181"/>
                <a:gd name="T15" fmla="*/ 206 h 206"/>
                <a:gd name="T16" fmla="*/ 16 w 181"/>
                <a:gd name="T17" fmla="*/ 186 h 206"/>
                <a:gd name="T18" fmla="*/ 0 w 181"/>
                <a:gd name="T19" fmla="*/ 141 h 206"/>
                <a:gd name="T20" fmla="*/ 20 w 181"/>
                <a:gd name="T21" fmla="*/ 73 h 206"/>
                <a:gd name="T22" fmla="*/ 71 w 181"/>
                <a:gd name="T23" fmla="*/ 20 h 206"/>
                <a:gd name="T24" fmla="*/ 135 w 181"/>
                <a:gd name="T25" fmla="*/ 0 h 206"/>
                <a:gd name="T26" fmla="*/ 169 w 181"/>
                <a:gd name="T27" fmla="*/ 10 h 206"/>
                <a:gd name="T28" fmla="*/ 181 w 181"/>
                <a:gd name="T29" fmla="*/ 32 h 206"/>
                <a:gd name="T30" fmla="*/ 166 w 181"/>
                <a:gd name="T31" fmla="*/ 68 h 206"/>
                <a:gd name="T32" fmla="*/ 109 w 181"/>
                <a:gd name="T33" fmla="*/ 103 h 206"/>
                <a:gd name="T34" fmla="*/ 40 w 181"/>
                <a:gd name="T35" fmla="*/ 117 h 206"/>
                <a:gd name="T36" fmla="*/ 41 w 181"/>
                <a:gd name="T37" fmla="*/ 106 h 206"/>
                <a:gd name="T38" fmla="*/ 95 w 181"/>
                <a:gd name="T39" fmla="*/ 93 h 206"/>
                <a:gd name="T40" fmla="*/ 135 w 181"/>
                <a:gd name="T41" fmla="*/ 64 h 206"/>
                <a:gd name="T42" fmla="*/ 149 w 181"/>
                <a:gd name="T43" fmla="*/ 32 h 206"/>
                <a:gd name="T44" fmla="*/ 143 w 181"/>
                <a:gd name="T45" fmla="*/ 17 h 206"/>
                <a:gd name="T46" fmla="*/ 127 w 181"/>
                <a:gd name="T47" fmla="*/ 11 h 206"/>
                <a:gd name="T48" fmla="*/ 79 w 181"/>
                <a:gd name="T49" fmla="*/ 35 h 206"/>
                <a:gd name="T50" fmla="*/ 41 w 181"/>
                <a:gd name="T51" fmla="*/ 10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1" h="206" fill="norm" stroke="1" extrusionOk="0">
                  <a:moveTo>
                    <a:pt x="40" y="117"/>
                  </a:moveTo>
                  <a:cubicBezTo>
                    <a:pt x="39" y="125"/>
                    <a:pt x="38" y="131"/>
                    <a:pt x="38" y="136"/>
                  </a:cubicBezTo>
                  <a:cubicBezTo>
                    <a:pt x="38" y="149"/>
                    <a:pt x="43" y="160"/>
                    <a:pt x="52" y="169"/>
                  </a:cubicBezTo>
                  <a:cubicBezTo>
                    <a:pt x="61" y="178"/>
                    <a:pt x="73" y="183"/>
                    <a:pt x="86" y="183"/>
                  </a:cubicBezTo>
                  <a:cubicBezTo>
                    <a:pt x="97" y="183"/>
                    <a:pt x="107" y="181"/>
                    <a:pt x="117" y="176"/>
                  </a:cubicBezTo>
                  <a:cubicBezTo>
                    <a:pt x="126" y="172"/>
                    <a:pt x="141" y="162"/>
                    <a:pt x="160" y="147"/>
                  </a:cubicBezTo>
                  <a:lnTo>
                    <a:pt x="165" y="154"/>
                  </a:lnTo>
                  <a:cubicBezTo>
                    <a:pt x="130" y="189"/>
                    <a:pt x="97" y="206"/>
                    <a:pt x="65" y="206"/>
                  </a:cubicBezTo>
                  <a:cubicBezTo>
                    <a:pt x="43" y="206"/>
                    <a:pt x="27" y="199"/>
                    <a:pt x="16" y="186"/>
                  </a:cubicBezTo>
                  <a:cubicBezTo>
                    <a:pt x="5" y="172"/>
                    <a:pt x="0" y="157"/>
                    <a:pt x="0" y="141"/>
                  </a:cubicBezTo>
                  <a:cubicBezTo>
                    <a:pt x="0" y="119"/>
                    <a:pt x="7" y="96"/>
                    <a:pt x="20" y="73"/>
                  </a:cubicBezTo>
                  <a:cubicBezTo>
                    <a:pt x="34" y="50"/>
                    <a:pt x="51" y="32"/>
                    <a:pt x="71" y="20"/>
                  </a:cubicBezTo>
                  <a:cubicBezTo>
                    <a:pt x="92" y="7"/>
                    <a:pt x="113" y="0"/>
                    <a:pt x="135" y="0"/>
                  </a:cubicBezTo>
                  <a:cubicBezTo>
                    <a:pt x="150" y="0"/>
                    <a:pt x="162" y="3"/>
                    <a:pt x="169" y="10"/>
                  </a:cubicBezTo>
                  <a:cubicBezTo>
                    <a:pt x="177" y="16"/>
                    <a:pt x="181" y="24"/>
                    <a:pt x="181" y="32"/>
                  </a:cubicBezTo>
                  <a:cubicBezTo>
                    <a:pt x="181" y="45"/>
                    <a:pt x="176" y="56"/>
                    <a:pt x="166" y="68"/>
                  </a:cubicBezTo>
                  <a:cubicBezTo>
                    <a:pt x="153" y="82"/>
                    <a:pt x="134" y="94"/>
                    <a:pt x="109" y="103"/>
                  </a:cubicBezTo>
                  <a:cubicBezTo>
                    <a:pt x="93" y="109"/>
                    <a:pt x="70" y="114"/>
                    <a:pt x="40" y="117"/>
                  </a:cubicBezTo>
                  <a:close/>
                  <a:moveTo>
                    <a:pt x="41" y="106"/>
                  </a:moveTo>
                  <a:cubicBezTo>
                    <a:pt x="63" y="104"/>
                    <a:pt x="81" y="100"/>
                    <a:pt x="95" y="93"/>
                  </a:cubicBezTo>
                  <a:cubicBezTo>
                    <a:pt x="113" y="85"/>
                    <a:pt x="126" y="76"/>
                    <a:pt x="135" y="64"/>
                  </a:cubicBezTo>
                  <a:cubicBezTo>
                    <a:pt x="145" y="53"/>
                    <a:pt x="149" y="42"/>
                    <a:pt x="149" y="32"/>
                  </a:cubicBezTo>
                  <a:cubicBezTo>
                    <a:pt x="149" y="26"/>
                    <a:pt x="147" y="21"/>
                    <a:pt x="143" y="17"/>
                  </a:cubicBezTo>
                  <a:cubicBezTo>
                    <a:pt x="139" y="13"/>
                    <a:pt x="134" y="11"/>
                    <a:pt x="127" y="11"/>
                  </a:cubicBezTo>
                  <a:cubicBezTo>
                    <a:pt x="111" y="11"/>
                    <a:pt x="95" y="19"/>
                    <a:pt x="79" y="35"/>
                  </a:cubicBezTo>
                  <a:cubicBezTo>
                    <a:pt x="62" y="51"/>
                    <a:pt x="49" y="75"/>
                    <a:pt x="41" y="10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027450899" name="Freeform 21"/>
            <p:cNvSpPr/>
            <p:nvPr/>
          </p:nvSpPr>
          <p:spPr bwMode="auto">
            <a:xfrm>
              <a:off x="4782325" y="2506716"/>
              <a:ext cx="49" cy="55"/>
            </a:xfrm>
            <a:custGeom>
              <a:avLst/>
              <a:gdLst>
                <a:gd name="T0" fmla="*/ 35 w 263"/>
                <a:gd name="T1" fmla="*/ 0 h 300"/>
                <a:gd name="T2" fmla="*/ 263 w 263"/>
                <a:gd name="T3" fmla="*/ 0 h 300"/>
                <a:gd name="T4" fmla="*/ 239 w 263"/>
                <a:gd name="T5" fmla="*/ 79 h 300"/>
                <a:gd name="T6" fmla="*/ 230 w 263"/>
                <a:gd name="T7" fmla="*/ 79 h 300"/>
                <a:gd name="T8" fmla="*/ 234 w 263"/>
                <a:gd name="T9" fmla="*/ 48 h 300"/>
                <a:gd name="T10" fmla="*/ 224 w 263"/>
                <a:gd name="T11" fmla="*/ 24 h 300"/>
                <a:gd name="T12" fmla="*/ 186 w 263"/>
                <a:gd name="T13" fmla="*/ 18 h 300"/>
                <a:gd name="T14" fmla="*/ 162 w 263"/>
                <a:gd name="T15" fmla="*/ 18 h 300"/>
                <a:gd name="T16" fmla="*/ 103 w 263"/>
                <a:gd name="T17" fmla="*/ 224 h 300"/>
                <a:gd name="T18" fmla="*/ 91 w 263"/>
                <a:gd name="T19" fmla="*/ 272 h 300"/>
                <a:gd name="T20" fmla="*/ 99 w 263"/>
                <a:gd name="T21" fmla="*/ 286 h 300"/>
                <a:gd name="T22" fmla="*/ 124 w 263"/>
                <a:gd name="T23" fmla="*/ 292 h 300"/>
                <a:gd name="T24" fmla="*/ 134 w 263"/>
                <a:gd name="T25" fmla="*/ 292 h 300"/>
                <a:gd name="T26" fmla="*/ 131 w 263"/>
                <a:gd name="T27" fmla="*/ 300 h 300"/>
                <a:gd name="T28" fmla="*/ 0 w 263"/>
                <a:gd name="T29" fmla="*/ 300 h 300"/>
                <a:gd name="T30" fmla="*/ 3 w 263"/>
                <a:gd name="T31" fmla="*/ 292 h 300"/>
                <a:gd name="T32" fmla="*/ 9 w 263"/>
                <a:gd name="T33" fmla="*/ 292 h 300"/>
                <a:gd name="T34" fmla="*/ 35 w 263"/>
                <a:gd name="T35" fmla="*/ 286 h 300"/>
                <a:gd name="T36" fmla="*/ 47 w 263"/>
                <a:gd name="T37" fmla="*/ 273 h 300"/>
                <a:gd name="T38" fmla="*/ 61 w 263"/>
                <a:gd name="T39" fmla="*/ 231 h 300"/>
                <a:gd name="T40" fmla="*/ 124 w 263"/>
                <a:gd name="T41" fmla="*/ 18 h 300"/>
                <a:gd name="T42" fmla="*/ 106 w 263"/>
                <a:gd name="T43" fmla="*/ 18 h 300"/>
                <a:gd name="T44" fmla="*/ 64 w 263"/>
                <a:gd name="T45" fmla="*/ 24 h 300"/>
                <a:gd name="T46" fmla="*/ 38 w 263"/>
                <a:gd name="T47" fmla="*/ 43 h 300"/>
                <a:gd name="T48" fmla="*/ 22 w 263"/>
                <a:gd name="T49" fmla="*/ 79 h 300"/>
                <a:gd name="T50" fmla="*/ 14 w 263"/>
                <a:gd name="T51" fmla="*/ 79 h 300"/>
                <a:gd name="T52" fmla="*/ 35 w 263"/>
                <a:gd name="T5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3" h="300" fill="norm" stroke="1" extrusionOk="0">
                  <a:moveTo>
                    <a:pt x="35" y="0"/>
                  </a:moveTo>
                  <a:lnTo>
                    <a:pt x="263" y="0"/>
                  </a:lnTo>
                  <a:lnTo>
                    <a:pt x="239" y="79"/>
                  </a:lnTo>
                  <a:lnTo>
                    <a:pt x="230" y="79"/>
                  </a:lnTo>
                  <a:cubicBezTo>
                    <a:pt x="233" y="68"/>
                    <a:pt x="234" y="57"/>
                    <a:pt x="234" y="48"/>
                  </a:cubicBezTo>
                  <a:cubicBezTo>
                    <a:pt x="234" y="37"/>
                    <a:pt x="231" y="29"/>
                    <a:pt x="224" y="24"/>
                  </a:cubicBezTo>
                  <a:cubicBezTo>
                    <a:pt x="219" y="20"/>
                    <a:pt x="207" y="18"/>
                    <a:pt x="186" y="18"/>
                  </a:cubicBezTo>
                  <a:lnTo>
                    <a:pt x="162" y="18"/>
                  </a:lnTo>
                  <a:lnTo>
                    <a:pt x="103" y="224"/>
                  </a:lnTo>
                  <a:cubicBezTo>
                    <a:pt x="95" y="250"/>
                    <a:pt x="91" y="266"/>
                    <a:pt x="91" y="272"/>
                  </a:cubicBezTo>
                  <a:cubicBezTo>
                    <a:pt x="91" y="278"/>
                    <a:pt x="94" y="283"/>
                    <a:pt x="99" y="286"/>
                  </a:cubicBezTo>
                  <a:cubicBezTo>
                    <a:pt x="103" y="290"/>
                    <a:pt x="112" y="292"/>
                    <a:pt x="124" y="292"/>
                  </a:cubicBezTo>
                  <a:lnTo>
                    <a:pt x="134" y="292"/>
                  </a:lnTo>
                  <a:lnTo>
                    <a:pt x="131" y="300"/>
                  </a:lnTo>
                  <a:lnTo>
                    <a:pt x="0" y="300"/>
                  </a:lnTo>
                  <a:lnTo>
                    <a:pt x="3" y="292"/>
                  </a:lnTo>
                  <a:lnTo>
                    <a:pt x="9" y="292"/>
                  </a:lnTo>
                  <a:cubicBezTo>
                    <a:pt x="20" y="292"/>
                    <a:pt x="29" y="290"/>
                    <a:pt x="35" y="286"/>
                  </a:cubicBezTo>
                  <a:cubicBezTo>
                    <a:pt x="39" y="284"/>
                    <a:pt x="43" y="279"/>
                    <a:pt x="47" y="273"/>
                  </a:cubicBezTo>
                  <a:cubicBezTo>
                    <a:pt x="50" y="266"/>
                    <a:pt x="55" y="252"/>
                    <a:pt x="61" y="231"/>
                  </a:cubicBezTo>
                  <a:lnTo>
                    <a:pt x="124" y="18"/>
                  </a:lnTo>
                  <a:lnTo>
                    <a:pt x="106" y="18"/>
                  </a:lnTo>
                  <a:cubicBezTo>
                    <a:pt x="88" y="18"/>
                    <a:pt x="74" y="20"/>
                    <a:pt x="64" y="24"/>
                  </a:cubicBezTo>
                  <a:cubicBezTo>
                    <a:pt x="53" y="29"/>
                    <a:pt x="45" y="35"/>
                    <a:pt x="38" y="43"/>
                  </a:cubicBezTo>
                  <a:cubicBezTo>
                    <a:pt x="32" y="52"/>
                    <a:pt x="26" y="64"/>
                    <a:pt x="22" y="79"/>
                  </a:cubicBezTo>
                  <a:lnTo>
                    <a:pt x="14" y="79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029686902" name="Freeform 22"/>
            <p:cNvSpPr>
              <a:spLocks noEditPoints="1"/>
            </p:cNvSpPr>
            <p:nvPr/>
          </p:nvSpPr>
          <p:spPr bwMode="auto">
            <a:xfrm>
              <a:off x="4782362" y="2506734"/>
              <a:ext cx="33" cy="37"/>
            </a:xfrm>
            <a:custGeom>
              <a:avLst/>
              <a:gdLst>
                <a:gd name="T0" fmla="*/ 40 w 181"/>
                <a:gd name="T1" fmla="*/ 117 h 206"/>
                <a:gd name="T2" fmla="*/ 39 w 181"/>
                <a:gd name="T3" fmla="*/ 136 h 206"/>
                <a:gd name="T4" fmla="*/ 53 w 181"/>
                <a:gd name="T5" fmla="*/ 169 h 206"/>
                <a:gd name="T6" fmla="*/ 87 w 181"/>
                <a:gd name="T7" fmla="*/ 183 h 206"/>
                <a:gd name="T8" fmla="*/ 117 w 181"/>
                <a:gd name="T9" fmla="*/ 177 h 206"/>
                <a:gd name="T10" fmla="*/ 161 w 181"/>
                <a:gd name="T11" fmla="*/ 148 h 206"/>
                <a:gd name="T12" fmla="*/ 166 w 181"/>
                <a:gd name="T13" fmla="*/ 154 h 206"/>
                <a:gd name="T14" fmla="*/ 66 w 181"/>
                <a:gd name="T15" fmla="*/ 206 h 206"/>
                <a:gd name="T16" fmla="*/ 17 w 181"/>
                <a:gd name="T17" fmla="*/ 186 h 206"/>
                <a:gd name="T18" fmla="*/ 0 w 181"/>
                <a:gd name="T19" fmla="*/ 141 h 206"/>
                <a:gd name="T20" fmla="*/ 21 w 181"/>
                <a:gd name="T21" fmla="*/ 73 h 206"/>
                <a:gd name="T22" fmla="*/ 72 w 181"/>
                <a:gd name="T23" fmla="*/ 20 h 206"/>
                <a:gd name="T24" fmla="*/ 135 w 181"/>
                <a:gd name="T25" fmla="*/ 0 h 206"/>
                <a:gd name="T26" fmla="*/ 170 w 181"/>
                <a:gd name="T27" fmla="*/ 10 h 206"/>
                <a:gd name="T28" fmla="*/ 181 w 181"/>
                <a:gd name="T29" fmla="*/ 33 h 206"/>
                <a:gd name="T30" fmla="*/ 167 w 181"/>
                <a:gd name="T31" fmla="*/ 68 h 206"/>
                <a:gd name="T32" fmla="*/ 110 w 181"/>
                <a:gd name="T33" fmla="*/ 103 h 206"/>
                <a:gd name="T34" fmla="*/ 40 w 181"/>
                <a:gd name="T35" fmla="*/ 117 h 206"/>
                <a:gd name="T36" fmla="*/ 42 w 181"/>
                <a:gd name="T37" fmla="*/ 107 h 206"/>
                <a:gd name="T38" fmla="*/ 95 w 181"/>
                <a:gd name="T39" fmla="*/ 94 h 206"/>
                <a:gd name="T40" fmla="*/ 136 w 181"/>
                <a:gd name="T41" fmla="*/ 65 h 206"/>
                <a:gd name="T42" fmla="*/ 150 w 181"/>
                <a:gd name="T43" fmla="*/ 32 h 206"/>
                <a:gd name="T44" fmla="*/ 144 w 181"/>
                <a:gd name="T45" fmla="*/ 17 h 206"/>
                <a:gd name="T46" fmla="*/ 127 w 181"/>
                <a:gd name="T47" fmla="*/ 12 h 206"/>
                <a:gd name="T48" fmla="*/ 79 w 181"/>
                <a:gd name="T49" fmla="*/ 36 h 206"/>
                <a:gd name="T50" fmla="*/ 42 w 181"/>
                <a:gd name="T51" fmla="*/ 10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1" h="206" fill="norm" stroke="1" extrusionOk="0">
                  <a:moveTo>
                    <a:pt x="40" y="117"/>
                  </a:moveTo>
                  <a:cubicBezTo>
                    <a:pt x="39" y="125"/>
                    <a:pt x="39" y="131"/>
                    <a:pt x="39" y="136"/>
                  </a:cubicBezTo>
                  <a:cubicBezTo>
                    <a:pt x="39" y="149"/>
                    <a:pt x="43" y="160"/>
                    <a:pt x="53" y="169"/>
                  </a:cubicBezTo>
                  <a:cubicBezTo>
                    <a:pt x="62" y="179"/>
                    <a:pt x="73" y="183"/>
                    <a:pt x="87" y="183"/>
                  </a:cubicBezTo>
                  <a:cubicBezTo>
                    <a:pt x="97" y="183"/>
                    <a:pt x="107" y="181"/>
                    <a:pt x="117" y="177"/>
                  </a:cubicBezTo>
                  <a:cubicBezTo>
                    <a:pt x="127" y="172"/>
                    <a:pt x="142" y="163"/>
                    <a:pt x="161" y="148"/>
                  </a:cubicBezTo>
                  <a:lnTo>
                    <a:pt x="166" y="154"/>
                  </a:lnTo>
                  <a:cubicBezTo>
                    <a:pt x="131" y="189"/>
                    <a:pt x="97" y="206"/>
                    <a:pt x="66" y="206"/>
                  </a:cubicBezTo>
                  <a:cubicBezTo>
                    <a:pt x="44" y="206"/>
                    <a:pt x="28" y="199"/>
                    <a:pt x="17" y="186"/>
                  </a:cubicBezTo>
                  <a:cubicBezTo>
                    <a:pt x="6" y="172"/>
                    <a:pt x="0" y="157"/>
                    <a:pt x="0" y="141"/>
                  </a:cubicBezTo>
                  <a:cubicBezTo>
                    <a:pt x="0" y="119"/>
                    <a:pt x="7" y="96"/>
                    <a:pt x="21" y="73"/>
                  </a:cubicBezTo>
                  <a:cubicBezTo>
                    <a:pt x="34" y="50"/>
                    <a:pt x="51" y="32"/>
                    <a:pt x="72" y="20"/>
                  </a:cubicBezTo>
                  <a:cubicBezTo>
                    <a:pt x="93" y="7"/>
                    <a:pt x="114" y="0"/>
                    <a:pt x="135" y="0"/>
                  </a:cubicBezTo>
                  <a:cubicBezTo>
                    <a:pt x="151" y="0"/>
                    <a:pt x="163" y="4"/>
                    <a:pt x="170" y="10"/>
                  </a:cubicBezTo>
                  <a:cubicBezTo>
                    <a:pt x="178" y="16"/>
                    <a:pt x="181" y="24"/>
                    <a:pt x="181" y="33"/>
                  </a:cubicBezTo>
                  <a:cubicBezTo>
                    <a:pt x="181" y="45"/>
                    <a:pt x="176" y="57"/>
                    <a:pt x="167" y="68"/>
                  </a:cubicBezTo>
                  <a:cubicBezTo>
                    <a:pt x="154" y="82"/>
                    <a:pt x="135" y="94"/>
                    <a:pt x="110" y="103"/>
                  </a:cubicBezTo>
                  <a:cubicBezTo>
                    <a:pt x="94" y="109"/>
                    <a:pt x="70" y="114"/>
                    <a:pt x="40" y="117"/>
                  </a:cubicBezTo>
                  <a:close/>
                  <a:moveTo>
                    <a:pt x="42" y="107"/>
                  </a:moveTo>
                  <a:cubicBezTo>
                    <a:pt x="64" y="104"/>
                    <a:pt x="82" y="100"/>
                    <a:pt x="95" y="94"/>
                  </a:cubicBezTo>
                  <a:cubicBezTo>
                    <a:pt x="113" y="86"/>
                    <a:pt x="127" y="76"/>
                    <a:pt x="136" y="65"/>
                  </a:cubicBezTo>
                  <a:cubicBezTo>
                    <a:pt x="145" y="53"/>
                    <a:pt x="150" y="43"/>
                    <a:pt x="150" y="32"/>
                  </a:cubicBezTo>
                  <a:cubicBezTo>
                    <a:pt x="150" y="26"/>
                    <a:pt x="148" y="21"/>
                    <a:pt x="144" y="17"/>
                  </a:cubicBezTo>
                  <a:cubicBezTo>
                    <a:pt x="140" y="13"/>
                    <a:pt x="134" y="12"/>
                    <a:pt x="127" y="12"/>
                  </a:cubicBezTo>
                  <a:cubicBezTo>
                    <a:pt x="112" y="12"/>
                    <a:pt x="96" y="20"/>
                    <a:pt x="79" y="36"/>
                  </a:cubicBezTo>
                  <a:cubicBezTo>
                    <a:pt x="62" y="52"/>
                    <a:pt x="50" y="75"/>
                    <a:pt x="42" y="1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92532713" name="Freeform 23"/>
            <p:cNvSpPr/>
            <p:nvPr/>
          </p:nvSpPr>
          <p:spPr bwMode="auto">
            <a:xfrm>
              <a:off x="4782398" y="2506734"/>
              <a:ext cx="56" cy="37"/>
            </a:xfrm>
            <a:custGeom>
              <a:avLst/>
              <a:gdLst>
                <a:gd name="T0" fmla="*/ 91 w 300"/>
                <a:gd name="T1" fmla="*/ 0 h 206"/>
                <a:gd name="T2" fmla="*/ 62 w 300"/>
                <a:gd name="T3" fmla="*/ 100 h 206"/>
                <a:gd name="T4" fmla="*/ 95 w 300"/>
                <a:gd name="T5" fmla="*/ 47 h 206"/>
                <a:gd name="T6" fmla="*/ 136 w 300"/>
                <a:gd name="T7" fmla="*/ 8 h 206"/>
                <a:gd name="T8" fmla="*/ 160 w 300"/>
                <a:gd name="T9" fmla="*/ 0 h 206"/>
                <a:gd name="T10" fmla="*/ 179 w 300"/>
                <a:gd name="T11" fmla="*/ 8 h 206"/>
                <a:gd name="T12" fmla="*/ 186 w 300"/>
                <a:gd name="T13" fmla="*/ 26 h 206"/>
                <a:gd name="T14" fmla="*/ 181 w 300"/>
                <a:gd name="T15" fmla="*/ 54 h 206"/>
                <a:gd name="T16" fmla="*/ 165 w 300"/>
                <a:gd name="T17" fmla="*/ 110 h 206"/>
                <a:gd name="T18" fmla="*/ 234 w 300"/>
                <a:gd name="T19" fmla="*/ 16 h 206"/>
                <a:gd name="T20" fmla="*/ 269 w 300"/>
                <a:gd name="T21" fmla="*/ 0 h 206"/>
                <a:gd name="T22" fmla="*/ 286 w 300"/>
                <a:gd name="T23" fmla="*/ 8 h 206"/>
                <a:gd name="T24" fmla="*/ 292 w 300"/>
                <a:gd name="T25" fmla="*/ 29 h 206"/>
                <a:gd name="T26" fmla="*/ 288 w 300"/>
                <a:gd name="T27" fmla="*/ 56 h 206"/>
                <a:gd name="T28" fmla="*/ 264 w 300"/>
                <a:gd name="T29" fmla="*/ 142 h 206"/>
                <a:gd name="T30" fmla="*/ 256 w 300"/>
                <a:gd name="T31" fmla="*/ 174 h 206"/>
                <a:gd name="T32" fmla="*/ 258 w 300"/>
                <a:gd name="T33" fmla="*/ 179 h 206"/>
                <a:gd name="T34" fmla="*/ 262 w 300"/>
                <a:gd name="T35" fmla="*/ 180 h 206"/>
                <a:gd name="T36" fmla="*/ 269 w 300"/>
                <a:gd name="T37" fmla="*/ 176 h 206"/>
                <a:gd name="T38" fmla="*/ 293 w 300"/>
                <a:gd name="T39" fmla="*/ 151 h 206"/>
                <a:gd name="T40" fmla="*/ 300 w 300"/>
                <a:gd name="T41" fmla="*/ 155 h 206"/>
                <a:gd name="T42" fmla="*/ 281 w 300"/>
                <a:gd name="T43" fmla="*/ 180 h 206"/>
                <a:gd name="T44" fmla="*/ 257 w 300"/>
                <a:gd name="T45" fmla="*/ 201 h 206"/>
                <a:gd name="T46" fmla="*/ 238 w 300"/>
                <a:gd name="T47" fmla="*/ 206 h 206"/>
                <a:gd name="T48" fmla="*/ 225 w 300"/>
                <a:gd name="T49" fmla="*/ 201 h 206"/>
                <a:gd name="T50" fmla="*/ 220 w 300"/>
                <a:gd name="T51" fmla="*/ 188 h 206"/>
                <a:gd name="T52" fmla="*/ 229 w 300"/>
                <a:gd name="T53" fmla="*/ 145 h 206"/>
                <a:gd name="T54" fmla="*/ 249 w 300"/>
                <a:gd name="T55" fmla="*/ 74 h 206"/>
                <a:gd name="T56" fmla="*/ 257 w 300"/>
                <a:gd name="T57" fmla="*/ 47 h 206"/>
                <a:gd name="T58" fmla="*/ 257 w 300"/>
                <a:gd name="T59" fmla="*/ 39 h 206"/>
                <a:gd name="T60" fmla="*/ 255 w 300"/>
                <a:gd name="T61" fmla="*/ 30 h 206"/>
                <a:gd name="T62" fmla="*/ 249 w 300"/>
                <a:gd name="T63" fmla="*/ 27 h 206"/>
                <a:gd name="T64" fmla="*/ 229 w 300"/>
                <a:gd name="T65" fmla="*/ 36 h 206"/>
                <a:gd name="T66" fmla="*/ 172 w 300"/>
                <a:gd name="T67" fmla="*/ 115 h 206"/>
                <a:gd name="T68" fmla="*/ 139 w 300"/>
                <a:gd name="T69" fmla="*/ 201 h 206"/>
                <a:gd name="T70" fmla="*/ 106 w 300"/>
                <a:gd name="T71" fmla="*/ 201 h 206"/>
                <a:gd name="T72" fmla="*/ 144 w 300"/>
                <a:gd name="T73" fmla="*/ 67 h 206"/>
                <a:gd name="T74" fmla="*/ 150 w 300"/>
                <a:gd name="T75" fmla="*/ 38 h 206"/>
                <a:gd name="T76" fmla="*/ 148 w 300"/>
                <a:gd name="T77" fmla="*/ 29 h 206"/>
                <a:gd name="T78" fmla="*/ 142 w 300"/>
                <a:gd name="T79" fmla="*/ 26 h 206"/>
                <a:gd name="T80" fmla="*/ 126 w 300"/>
                <a:gd name="T81" fmla="*/ 31 h 206"/>
                <a:gd name="T82" fmla="*/ 92 w 300"/>
                <a:gd name="T83" fmla="*/ 68 h 206"/>
                <a:gd name="T84" fmla="*/ 59 w 300"/>
                <a:gd name="T85" fmla="*/ 123 h 206"/>
                <a:gd name="T86" fmla="*/ 33 w 300"/>
                <a:gd name="T87" fmla="*/ 201 h 206"/>
                <a:gd name="T88" fmla="*/ 0 w 300"/>
                <a:gd name="T89" fmla="*/ 201 h 206"/>
                <a:gd name="T90" fmla="*/ 41 w 300"/>
                <a:gd name="T91" fmla="*/ 57 h 206"/>
                <a:gd name="T92" fmla="*/ 47 w 300"/>
                <a:gd name="T93" fmla="*/ 39 h 206"/>
                <a:gd name="T94" fmla="*/ 48 w 300"/>
                <a:gd name="T95" fmla="*/ 33 h 206"/>
                <a:gd name="T96" fmla="*/ 44 w 300"/>
                <a:gd name="T97" fmla="*/ 24 h 206"/>
                <a:gd name="T98" fmla="*/ 32 w 300"/>
                <a:gd name="T99" fmla="*/ 20 h 206"/>
                <a:gd name="T100" fmla="*/ 16 w 300"/>
                <a:gd name="T101" fmla="*/ 23 h 206"/>
                <a:gd name="T102" fmla="*/ 14 w 300"/>
                <a:gd name="T103" fmla="*/ 14 h 206"/>
                <a:gd name="T104" fmla="*/ 91 w 300"/>
                <a:gd name="T105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0" h="206" fill="norm" stroke="1" extrusionOk="0">
                  <a:moveTo>
                    <a:pt x="91" y="0"/>
                  </a:moveTo>
                  <a:lnTo>
                    <a:pt x="62" y="100"/>
                  </a:lnTo>
                  <a:cubicBezTo>
                    <a:pt x="75" y="77"/>
                    <a:pt x="86" y="59"/>
                    <a:pt x="95" y="47"/>
                  </a:cubicBezTo>
                  <a:cubicBezTo>
                    <a:pt x="109" y="29"/>
                    <a:pt x="123" y="16"/>
                    <a:pt x="136" y="8"/>
                  </a:cubicBezTo>
                  <a:cubicBezTo>
                    <a:pt x="144" y="3"/>
                    <a:pt x="152" y="0"/>
                    <a:pt x="160" y="0"/>
                  </a:cubicBezTo>
                  <a:cubicBezTo>
                    <a:pt x="168" y="0"/>
                    <a:pt x="174" y="3"/>
                    <a:pt x="179" y="8"/>
                  </a:cubicBezTo>
                  <a:cubicBezTo>
                    <a:pt x="184" y="12"/>
                    <a:pt x="186" y="18"/>
                    <a:pt x="186" y="26"/>
                  </a:cubicBezTo>
                  <a:cubicBezTo>
                    <a:pt x="186" y="33"/>
                    <a:pt x="184" y="42"/>
                    <a:pt x="181" y="54"/>
                  </a:cubicBezTo>
                  <a:lnTo>
                    <a:pt x="165" y="110"/>
                  </a:lnTo>
                  <a:cubicBezTo>
                    <a:pt x="189" y="65"/>
                    <a:pt x="212" y="34"/>
                    <a:pt x="234" y="16"/>
                  </a:cubicBezTo>
                  <a:cubicBezTo>
                    <a:pt x="246" y="6"/>
                    <a:pt x="257" y="0"/>
                    <a:pt x="269" y="0"/>
                  </a:cubicBezTo>
                  <a:cubicBezTo>
                    <a:pt x="276" y="0"/>
                    <a:pt x="281" y="3"/>
                    <a:pt x="286" y="8"/>
                  </a:cubicBezTo>
                  <a:cubicBezTo>
                    <a:pt x="290" y="12"/>
                    <a:pt x="292" y="19"/>
                    <a:pt x="292" y="29"/>
                  </a:cubicBezTo>
                  <a:cubicBezTo>
                    <a:pt x="292" y="38"/>
                    <a:pt x="291" y="47"/>
                    <a:pt x="288" y="56"/>
                  </a:cubicBezTo>
                  <a:lnTo>
                    <a:pt x="264" y="142"/>
                  </a:lnTo>
                  <a:cubicBezTo>
                    <a:pt x="259" y="161"/>
                    <a:pt x="256" y="172"/>
                    <a:pt x="256" y="174"/>
                  </a:cubicBezTo>
                  <a:cubicBezTo>
                    <a:pt x="256" y="176"/>
                    <a:pt x="257" y="177"/>
                    <a:pt x="258" y="179"/>
                  </a:cubicBezTo>
                  <a:cubicBezTo>
                    <a:pt x="259" y="180"/>
                    <a:pt x="260" y="180"/>
                    <a:pt x="262" y="180"/>
                  </a:cubicBezTo>
                  <a:cubicBezTo>
                    <a:pt x="263" y="180"/>
                    <a:pt x="266" y="179"/>
                    <a:pt x="269" y="176"/>
                  </a:cubicBezTo>
                  <a:cubicBezTo>
                    <a:pt x="278" y="170"/>
                    <a:pt x="286" y="161"/>
                    <a:pt x="293" y="151"/>
                  </a:cubicBezTo>
                  <a:lnTo>
                    <a:pt x="300" y="155"/>
                  </a:lnTo>
                  <a:cubicBezTo>
                    <a:pt x="297" y="161"/>
                    <a:pt x="290" y="169"/>
                    <a:pt x="281" y="180"/>
                  </a:cubicBezTo>
                  <a:cubicBezTo>
                    <a:pt x="271" y="190"/>
                    <a:pt x="263" y="197"/>
                    <a:pt x="257" y="201"/>
                  </a:cubicBezTo>
                  <a:cubicBezTo>
                    <a:pt x="250" y="204"/>
                    <a:pt x="244" y="206"/>
                    <a:pt x="238" y="206"/>
                  </a:cubicBezTo>
                  <a:cubicBezTo>
                    <a:pt x="233" y="206"/>
                    <a:pt x="229" y="204"/>
                    <a:pt x="225" y="201"/>
                  </a:cubicBezTo>
                  <a:cubicBezTo>
                    <a:pt x="222" y="197"/>
                    <a:pt x="220" y="193"/>
                    <a:pt x="220" y="188"/>
                  </a:cubicBezTo>
                  <a:cubicBezTo>
                    <a:pt x="220" y="181"/>
                    <a:pt x="223" y="166"/>
                    <a:pt x="229" y="145"/>
                  </a:cubicBezTo>
                  <a:lnTo>
                    <a:pt x="249" y="74"/>
                  </a:lnTo>
                  <a:cubicBezTo>
                    <a:pt x="254" y="58"/>
                    <a:pt x="256" y="49"/>
                    <a:pt x="257" y="47"/>
                  </a:cubicBezTo>
                  <a:cubicBezTo>
                    <a:pt x="257" y="44"/>
                    <a:pt x="257" y="41"/>
                    <a:pt x="257" y="39"/>
                  </a:cubicBezTo>
                  <a:cubicBezTo>
                    <a:pt x="257" y="35"/>
                    <a:pt x="257" y="32"/>
                    <a:pt x="255" y="30"/>
                  </a:cubicBezTo>
                  <a:cubicBezTo>
                    <a:pt x="253" y="28"/>
                    <a:pt x="251" y="27"/>
                    <a:pt x="249" y="27"/>
                  </a:cubicBezTo>
                  <a:cubicBezTo>
                    <a:pt x="243" y="27"/>
                    <a:pt x="236" y="30"/>
                    <a:pt x="229" y="36"/>
                  </a:cubicBezTo>
                  <a:cubicBezTo>
                    <a:pt x="209" y="55"/>
                    <a:pt x="190" y="81"/>
                    <a:pt x="172" y="115"/>
                  </a:cubicBezTo>
                  <a:cubicBezTo>
                    <a:pt x="160" y="137"/>
                    <a:pt x="150" y="166"/>
                    <a:pt x="139" y="201"/>
                  </a:cubicBezTo>
                  <a:lnTo>
                    <a:pt x="106" y="201"/>
                  </a:lnTo>
                  <a:lnTo>
                    <a:pt x="144" y="67"/>
                  </a:lnTo>
                  <a:cubicBezTo>
                    <a:pt x="148" y="52"/>
                    <a:pt x="150" y="43"/>
                    <a:pt x="150" y="38"/>
                  </a:cubicBezTo>
                  <a:cubicBezTo>
                    <a:pt x="150" y="34"/>
                    <a:pt x="149" y="31"/>
                    <a:pt x="148" y="29"/>
                  </a:cubicBezTo>
                  <a:cubicBezTo>
                    <a:pt x="146" y="27"/>
                    <a:pt x="144" y="26"/>
                    <a:pt x="142" y="26"/>
                  </a:cubicBezTo>
                  <a:cubicBezTo>
                    <a:pt x="137" y="26"/>
                    <a:pt x="132" y="28"/>
                    <a:pt x="126" y="31"/>
                  </a:cubicBezTo>
                  <a:cubicBezTo>
                    <a:pt x="117" y="37"/>
                    <a:pt x="106" y="50"/>
                    <a:pt x="92" y="68"/>
                  </a:cubicBezTo>
                  <a:cubicBezTo>
                    <a:pt x="78" y="87"/>
                    <a:pt x="67" y="105"/>
                    <a:pt x="59" y="123"/>
                  </a:cubicBezTo>
                  <a:cubicBezTo>
                    <a:pt x="56" y="131"/>
                    <a:pt x="47" y="157"/>
                    <a:pt x="33" y="201"/>
                  </a:cubicBezTo>
                  <a:lnTo>
                    <a:pt x="0" y="201"/>
                  </a:lnTo>
                  <a:lnTo>
                    <a:pt x="41" y="57"/>
                  </a:lnTo>
                  <a:lnTo>
                    <a:pt x="47" y="39"/>
                  </a:lnTo>
                  <a:cubicBezTo>
                    <a:pt x="48" y="36"/>
                    <a:pt x="48" y="34"/>
                    <a:pt x="48" y="33"/>
                  </a:cubicBezTo>
                  <a:cubicBezTo>
                    <a:pt x="48" y="29"/>
                    <a:pt x="47" y="26"/>
                    <a:pt x="44" y="24"/>
                  </a:cubicBezTo>
                  <a:cubicBezTo>
                    <a:pt x="41" y="21"/>
                    <a:pt x="37" y="20"/>
                    <a:pt x="32" y="20"/>
                  </a:cubicBezTo>
                  <a:cubicBezTo>
                    <a:pt x="31" y="20"/>
                    <a:pt x="25" y="21"/>
                    <a:pt x="16" y="23"/>
                  </a:cubicBezTo>
                  <a:lnTo>
                    <a:pt x="14" y="14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582905693" name="Freeform 24"/>
            <p:cNvSpPr>
              <a:spLocks noEditPoints="1"/>
            </p:cNvSpPr>
            <p:nvPr/>
          </p:nvSpPr>
          <p:spPr bwMode="auto">
            <a:xfrm>
              <a:off x="4782450" y="2506734"/>
              <a:ext cx="48" cy="55"/>
            </a:xfrm>
            <a:custGeom>
              <a:avLst/>
              <a:gdLst>
                <a:gd name="T0" fmla="*/ 150 w 264"/>
                <a:gd name="T1" fmla="*/ 0 h 298"/>
                <a:gd name="T2" fmla="*/ 135 w 264"/>
                <a:gd name="T3" fmla="*/ 51 h 298"/>
                <a:gd name="T4" fmla="*/ 178 w 264"/>
                <a:gd name="T5" fmla="*/ 12 h 298"/>
                <a:gd name="T6" fmla="*/ 217 w 264"/>
                <a:gd name="T7" fmla="*/ 0 h 298"/>
                <a:gd name="T8" fmla="*/ 250 w 264"/>
                <a:gd name="T9" fmla="*/ 16 h 298"/>
                <a:gd name="T10" fmla="*/ 264 w 264"/>
                <a:gd name="T11" fmla="*/ 57 h 298"/>
                <a:gd name="T12" fmla="*/ 225 w 264"/>
                <a:gd name="T13" fmla="*/ 156 h 298"/>
                <a:gd name="T14" fmla="*/ 132 w 264"/>
                <a:gd name="T15" fmla="*/ 206 h 298"/>
                <a:gd name="T16" fmla="*/ 113 w 264"/>
                <a:gd name="T17" fmla="*/ 204 h 298"/>
                <a:gd name="T18" fmla="*/ 94 w 264"/>
                <a:gd name="T19" fmla="*/ 195 h 298"/>
                <a:gd name="T20" fmla="*/ 77 w 264"/>
                <a:gd name="T21" fmla="*/ 252 h 298"/>
                <a:gd name="T22" fmla="*/ 73 w 264"/>
                <a:gd name="T23" fmla="*/ 274 h 298"/>
                <a:gd name="T24" fmla="*/ 75 w 264"/>
                <a:gd name="T25" fmla="*/ 282 h 298"/>
                <a:gd name="T26" fmla="*/ 83 w 264"/>
                <a:gd name="T27" fmla="*/ 288 h 298"/>
                <a:gd name="T28" fmla="*/ 106 w 264"/>
                <a:gd name="T29" fmla="*/ 290 h 298"/>
                <a:gd name="T30" fmla="*/ 104 w 264"/>
                <a:gd name="T31" fmla="*/ 298 h 298"/>
                <a:gd name="T32" fmla="*/ 0 w 264"/>
                <a:gd name="T33" fmla="*/ 298 h 298"/>
                <a:gd name="T34" fmla="*/ 2 w 264"/>
                <a:gd name="T35" fmla="*/ 290 h 298"/>
                <a:gd name="T36" fmla="*/ 30 w 264"/>
                <a:gd name="T37" fmla="*/ 283 h 298"/>
                <a:gd name="T38" fmla="*/ 45 w 264"/>
                <a:gd name="T39" fmla="*/ 248 h 298"/>
                <a:gd name="T40" fmla="*/ 101 w 264"/>
                <a:gd name="T41" fmla="*/ 54 h 298"/>
                <a:gd name="T42" fmla="*/ 106 w 264"/>
                <a:gd name="T43" fmla="*/ 31 h 298"/>
                <a:gd name="T44" fmla="*/ 103 w 264"/>
                <a:gd name="T45" fmla="*/ 22 h 298"/>
                <a:gd name="T46" fmla="*/ 92 w 264"/>
                <a:gd name="T47" fmla="*/ 19 h 298"/>
                <a:gd name="T48" fmla="*/ 74 w 264"/>
                <a:gd name="T49" fmla="*/ 20 h 298"/>
                <a:gd name="T50" fmla="*/ 74 w 264"/>
                <a:gd name="T51" fmla="*/ 12 h 298"/>
                <a:gd name="T52" fmla="*/ 150 w 264"/>
                <a:gd name="T53" fmla="*/ 0 h 298"/>
                <a:gd name="T54" fmla="*/ 99 w 264"/>
                <a:gd name="T55" fmla="*/ 178 h 298"/>
                <a:gd name="T56" fmla="*/ 136 w 264"/>
                <a:gd name="T57" fmla="*/ 194 h 298"/>
                <a:gd name="T58" fmla="*/ 159 w 264"/>
                <a:gd name="T59" fmla="*/ 188 h 298"/>
                <a:gd name="T60" fmla="*/ 182 w 264"/>
                <a:gd name="T61" fmla="*/ 169 h 298"/>
                <a:gd name="T62" fmla="*/ 203 w 264"/>
                <a:gd name="T63" fmla="*/ 140 h 298"/>
                <a:gd name="T64" fmla="*/ 219 w 264"/>
                <a:gd name="T65" fmla="*/ 101 h 298"/>
                <a:gd name="T66" fmla="*/ 226 w 264"/>
                <a:gd name="T67" fmla="*/ 56 h 298"/>
                <a:gd name="T68" fmla="*/ 218 w 264"/>
                <a:gd name="T69" fmla="*/ 29 h 298"/>
                <a:gd name="T70" fmla="*/ 199 w 264"/>
                <a:gd name="T71" fmla="*/ 20 h 298"/>
                <a:gd name="T72" fmla="*/ 152 w 264"/>
                <a:gd name="T73" fmla="*/ 47 h 298"/>
                <a:gd name="T74" fmla="*/ 118 w 264"/>
                <a:gd name="T75" fmla="*/ 111 h 298"/>
                <a:gd name="T76" fmla="*/ 99 w 264"/>
                <a:gd name="T77" fmla="*/ 17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298" fill="norm" stroke="1" extrusionOk="0">
                  <a:moveTo>
                    <a:pt x="150" y="0"/>
                  </a:moveTo>
                  <a:lnTo>
                    <a:pt x="135" y="51"/>
                  </a:lnTo>
                  <a:cubicBezTo>
                    <a:pt x="151" y="33"/>
                    <a:pt x="165" y="19"/>
                    <a:pt x="178" y="12"/>
                  </a:cubicBezTo>
                  <a:cubicBezTo>
                    <a:pt x="191" y="4"/>
                    <a:pt x="204" y="0"/>
                    <a:pt x="217" y="0"/>
                  </a:cubicBezTo>
                  <a:cubicBezTo>
                    <a:pt x="230" y="0"/>
                    <a:pt x="241" y="6"/>
                    <a:pt x="250" y="16"/>
                  </a:cubicBezTo>
                  <a:cubicBezTo>
                    <a:pt x="260" y="27"/>
                    <a:pt x="264" y="40"/>
                    <a:pt x="264" y="57"/>
                  </a:cubicBezTo>
                  <a:cubicBezTo>
                    <a:pt x="264" y="89"/>
                    <a:pt x="251" y="122"/>
                    <a:pt x="225" y="156"/>
                  </a:cubicBezTo>
                  <a:cubicBezTo>
                    <a:pt x="198" y="189"/>
                    <a:pt x="167" y="206"/>
                    <a:pt x="132" y="206"/>
                  </a:cubicBezTo>
                  <a:cubicBezTo>
                    <a:pt x="125" y="206"/>
                    <a:pt x="118" y="205"/>
                    <a:pt x="113" y="204"/>
                  </a:cubicBezTo>
                  <a:cubicBezTo>
                    <a:pt x="107" y="202"/>
                    <a:pt x="101" y="199"/>
                    <a:pt x="94" y="195"/>
                  </a:cubicBezTo>
                  <a:lnTo>
                    <a:pt x="77" y="252"/>
                  </a:lnTo>
                  <a:cubicBezTo>
                    <a:pt x="74" y="263"/>
                    <a:pt x="73" y="271"/>
                    <a:pt x="73" y="274"/>
                  </a:cubicBezTo>
                  <a:cubicBezTo>
                    <a:pt x="73" y="277"/>
                    <a:pt x="73" y="280"/>
                    <a:pt x="75" y="282"/>
                  </a:cubicBezTo>
                  <a:cubicBezTo>
                    <a:pt x="77" y="285"/>
                    <a:pt x="80" y="286"/>
                    <a:pt x="83" y="288"/>
                  </a:cubicBezTo>
                  <a:cubicBezTo>
                    <a:pt x="87" y="289"/>
                    <a:pt x="95" y="290"/>
                    <a:pt x="106" y="290"/>
                  </a:cubicBezTo>
                  <a:lnTo>
                    <a:pt x="104" y="298"/>
                  </a:lnTo>
                  <a:lnTo>
                    <a:pt x="0" y="298"/>
                  </a:lnTo>
                  <a:lnTo>
                    <a:pt x="2" y="290"/>
                  </a:lnTo>
                  <a:cubicBezTo>
                    <a:pt x="16" y="289"/>
                    <a:pt x="25" y="287"/>
                    <a:pt x="30" y="283"/>
                  </a:cubicBezTo>
                  <a:cubicBezTo>
                    <a:pt x="35" y="278"/>
                    <a:pt x="40" y="267"/>
                    <a:pt x="45" y="248"/>
                  </a:cubicBezTo>
                  <a:lnTo>
                    <a:pt x="101" y="54"/>
                  </a:lnTo>
                  <a:cubicBezTo>
                    <a:pt x="105" y="42"/>
                    <a:pt x="106" y="34"/>
                    <a:pt x="106" y="31"/>
                  </a:cubicBezTo>
                  <a:cubicBezTo>
                    <a:pt x="106" y="28"/>
                    <a:pt x="105" y="24"/>
                    <a:pt x="103" y="22"/>
                  </a:cubicBezTo>
                  <a:cubicBezTo>
                    <a:pt x="100" y="20"/>
                    <a:pt x="97" y="19"/>
                    <a:pt x="92" y="19"/>
                  </a:cubicBezTo>
                  <a:cubicBezTo>
                    <a:pt x="88" y="19"/>
                    <a:pt x="82" y="19"/>
                    <a:pt x="74" y="20"/>
                  </a:cubicBezTo>
                  <a:lnTo>
                    <a:pt x="74" y="12"/>
                  </a:lnTo>
                  <a:lnTo>
                    <a:pt x="150" y="0"/>
                  </a:lnTo>
                  <a:close/>
                  <a:moveTo>
                    <a:pt x="99" y="178"/>
                  </a:moveTo>
                  <a:cubicBezTo>
                    <a:pt x="108" y="189"/>
                    <a:pt x="120" y="194"/>
                    <a:pt x="136" y="194"/>
                  </a:cubicBezTo>
                  <a:cubicBezTo>
                    <a:pt x="143" y="194"/>
                    <a:pt x="151" y="192"/>
                    <a:pt x="159" y="188"/>
                  </a:cubicBezTo>
                  <a:cubicBezTo>
                    <a:pt x="167" y="183"/>
                    <a:pt x="175" y="177"/>
                    <a:pt x="182" y="169"/>
                  </a:cubicBezTo>
                  <a:cubicBezTo>
                    <a:pt x="190" y="160"/>
                    <a:pt x="197" y="150"/>
                    <a:pt x="203" y="140"/>
                  </a:cubicBezTo>
                  <a:cubicBezTo>
                    <a:pt x="209" y="128"/>
                    <a:pt x="214" y="115"/>
                    <a:pt x="219" y="101"/>
                  </a:cubicBezTo>
                  <a:cubicBezTo>
                    <a:pt x="224" y="86"/>
                    <a:pt x="226" y="71"/>
                    <a:pt x="226" y="56"/>
                  </a:cubicBezTo>
                  <a:cubicBezTo>
                    <a:pt x="226" y="44"/>
                    <a:pt x="224" y="35"/>
                    <a:pt x="218" y="29"/>
                  </a:cubicBezTo>
                  <a:cubicBezTo>
                    <a:pt x="213" y="23"/>
                    <a:pt x="207" y="20"/>
                    <a:pt x="199" y="20"/>
                  </a:cubicBezTo>
                  <a:cubicBezTo>
                    <a:pt x="184" y="20"/>
                    <a:pt x="168" y="29"/>
                    <a:pt x="152" y="47"/>
                  </a:cubicBezTo>
                  <a:cubicBezTo>
                    <a:pt x="137" y="66"/>
                    <a:pt x="125" y="87"/>
                    <a:pt x="118" y="111"/>
                  </a:cubicBezTo>
                  <a:lnTo>
                    <a:pt x="99" y="1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6008261" name="Freeform 25"/>
            <p:cNvSpPr>
              <a:spLocks noEditPoints="1"/>
            </p:cNvSpPr>
            <p:nvPr/>
          </p:nvSpPr>
          <p:spPr bwMode="auto">
            <a:xfrm>
              <a:off x="4782506" y="2506734"/>
              <a:ext cx="33" cy="37"/>
            </a:xfrm>
            <a:custGeom>
              <a:avLst/>
              <a:gdLst>
                <a:gd name="T0" fmla="*/ 40 w 181"/>
                <a:gd name="T1" fmla="*/ 117 h 206"/>
                <a:gd name="T2" fmla="*/ 38 w 181"/>
                <a:gd name="T3" fmla="*/ 136 h 206"/>
                <a:gd name="T4" fmla="*/ 52 w 181"/>
                <a:gd name="T5" fmla="*/ 169 h 206"/>
                <a:gd name="T6" fmla="*/ 86 w 181"/>
                <a:gd name="T7" fmla="*/ 183 h 206"/>
                <a:gd name="T8" fmla="*/ 117 w 181"/>
                <a:gd name="T9" fmla="*/ 177 h 206"/>
                <a:gd name="T10" fmla="*/ 160 w 181"/>
                <a:gd name="T11" fmla="*/ 148 h 206"/>
                <a:gd name="T12" fmla="*/ 165 w 181"/>
                <a:gd name="T13" fmla="*/ 154 h 206"/>
                <a:gd name="T14" fmla="*/ 65 w 181"/>
                <a:gd name="T15" fmla="*/ 206 h 206"/>
                <a:gd name="T16" fmla="*/ 16 w 181"/>
                <a:gd name="T17" fmla="*/ 186 h 206"/>
                <a:gd name="T18" fmla="*/ 0 w 181"/>
                <a:gd name="T19" fmla="*/ 141 h 206"/>
                <a:gd name="T20" fmla="*/ 20 w 181"/>
                <a:gd name="T21" fmla="*/ 73 h 206"/>
                <a:gd name="T22" fmla="*/ 71 w 181"/>
                <a:gd name="T23" fmla="*/ 20 h 206"/>
                <a:gd name="T24" fmla="*/ 135 w 181"/>
                <a:gd name="T25" fmla="*/ 0 h 206"/>
                <a:gd name="T26" fmla="*/ 169 w 181"/>
                <a:gd name="T27" fmla="*/ 10 h 206"/>
                <a:gd name="T28" fmla="*/ 181 w 181"/>
                <a:gd name="T29" fmla="*/ 33 h 206"/>
                <a:gd name="T30" fmla="*/ 166 w 181"/>
                <a:gd name="T31" fmla="*/ 68 h 206"/>
                <a:gd name="T32" fmla="*/ 109 w 181"/>
                <a:gd name="T33" fmla="*/ 103 h 206"/>
                <a:gd name="T34" fmla="*/ 40 w 181"/>
                <a:gd name="T35" fmla="*/ 117 h 206"/>
                <a:gd name="T36" fmla="*/ 41 w 181"/>
                <a:gd name="T37" fmla="*/ 107 h 206"/>
                <a:gd name="T38" fmla="*/ 95 w 181"/>
                <a:gd name="T39" fmla="*/ 94 h 206"/>
                <a:gd name="T40" fmla="*/ 135 w 181"/>
                <a:gd name="T41" fmla="*/ 65 h 206"/>
                <a:gd name="T42" fmla="*/ 149 w 181"/>
                <a:gd name="T43" fmla="*/ 32 h 206"/>
                <a:gd name="T44" fmla="*/ 143 w 181"/>
                <a:gd name="T45" fmla="*/ 17 h 206"/>
                <a:gd name="T46" fmla="*/ 127 w 181"/>
                <a:gd name="T47" fmla="*/ 12 h 206"/>
                <a:gd name="T48" fmla="*/ 78 w 181"/>
                <a:gd name="T49" fmla="*/ 36 h 206"/>
                <a:gd name="T50" fmla="*/ 41 w 181"/>
                <a:gd name="T51" fmla="*/ 10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1" h="206" fill="norm" stroke="1" extrusionOk="0">
                  <a:moveTo>
                    <a:pt x="40" y="117"/>
                  </a:moveTo>
                  <a:cubicBezTo>
                    <a:pt x="39" y="125"/>
                    <a:pt x="38" y="131"/>
                    <a:pt x="38" y="136"/>
                  </a:cubicBezTo>
                  <a:cubicBezTo>
                    <a:pt x="38" y="149"/>
                    <a:pt x="43" y="160"/>
                    <a:pt x="52" y="169"/>
                  </a:cubicBezTo>
                  <a:cubicBezTo>
                    <a:pt x="61" y="179"/>
                    <a:pt x="73" y="183"/>
                    <a:pt x="86" y="183"/>
                  </a:cubicBezTo>
                  <a:cubicBezTo>
                    <a:pt x="97" y="183"/>
                    <a:pt x="107" y="181"/>
                    <a:pt x="117" y="177"/>
                  </a:cubicBezTo>
                  <a:cubicBezTo>
                    <a:pt x="126" y="172"/>
                    <a:pt x="141" y="163"/>
                    <a:pt x="160" y="148"/>
                  </a:cubicBezTo>
                  <a:lnTo>
                    <a:pt x="165" y="154"/>
                  </a:lnTo>
                  <a:cubicBezTo>
                    <a:pt x="130" y="189"/>
                    <a:pt x="97" y="206"/>
                    <a:pt x="65" y="206"/>
                  </a:cubicBezTo>
                  <a:cubicBezTo>
                    <a:pt x="43" y="206"/>
                    <a:pt x="27" y="199"/>
                    <a:pt x="16" y="186"/>
                  </a:cubicBezTo>
                  <a:cubicBezTo>
                    <a:pt x="5" y="172"/>
                    <a:pt x="0" y="157"/>
                    <a:pt x="0" y="141"/>
                  </a:cubicBezTo>
                  <a:cubicBezTo>
                    <a:pt x="0" y="119"/>
                    <a:pt x="7" y="96"/>
                    <a:pt x="20" y="73"/>
                  </a:cubicBezTo>
                  <a:cubicBezTo>
                    <a:pt x="34" y="50"/>
                    <a:pt x="51" y="32"/>
                    <a:pt x="71" y="20"/>
                  </a:cubicBezTo>
                  <a:cubicBezTo>
                    <a:pt x="92" y="7"/>
                    <a:pt x="113" y="0"/>
                    <a:pt x="135" y="0"/>
                  </a:cubicBezTo>
                  <a:cubicBezTo>
                    <a:pt x="150" y="0"/>
                    <a:pt x="162" y="4"/>
                    <a:pt x="169" y="10"/>
                  </a:cubicBezTo>
                  <a:cubicBezTo>
                    <a:pt x="177" y="16"/>
                    <a:pt x="181" y="24"/>
                    <a:pt x="181" y="33"/>
                  </a:cubicBezTo>
                  <a:cubicBezTo>
                    <a:pt x="181" y="45"/>
                    <a:pt x="176" y="57"/>
                    <a:pt x="166" y="68"/>
                  </a:cubicBezTo>
                  <a:cubicBezTo>
                    <a:pt x="153" y="82"/>
                    <a:pt x="134" y="94"/>
                    <a:pt x="109" y="103"/>
                  </a:cubicBezTo>
                  <a:cubicBezTo>
                    <a:pt x="93" y="109"/>
                    <a:pt x="70" y="114"/>
                    <a:pt x="40" y="117"/>
                  </a:cubicBezTo>
                  <a:close/>
                  <a:moveTo>
                    <a:pt x="41" y="107"/>
                  </a:moveTo>
                  <a:cubicBezTo>
                    <a:pt x="63" y="104"/>
                    <a:pt x="81" y="100"/>
                    <a:pt x="95" y="94"/>
                  </a:cubicBezTo>
                  <a:cubicBezTo>
                    <a:pt x="113" y="86"/>
                    <a:pt x="126" y="76"/>
                    <a:pt x="135" y="65"/>
                  </a:cubicBezTo>
                  <a:cubicBezTo>
                    <a:pt x="145" y="53"/>
                    <a:pt x="149" y="43"/>
                    <a:pt x="149" y="32"/>
                  </a:cubicBezTo>
                  <a:cubicBezTo>
                    <a:pt x="149" y="26"/>
                    <a:pt x="147" y="21"/>
                    <a:pt x="143" y="17"/>
                  </a:cubicBezTo>
                  <a:cubicBezTo>
                    <a:pt x="139" y="13"/>
                    <a:pt x="134" y="12"/>
                    <a:pt x="127" y="12"/>
                  </a:cubicBezTo>
                  <a:cubicBezTo>
                    <a:pt x="111" y="12"/>
                    <a:pt x="95" y="20"/>
                    <a:pt x="78" y="36"/>
                  </a:cubicBezTo>
                  <a:cubicBezTo>
                    <a:pt x="62" y="52"/>
                    <a:pt x="49" y="75"/>
                    <a:pt x="41" y="1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810112200" name="Freeform 26"/>
            <p:cNvSpPr/>
            <p:nvPr/>
          </p:nvSpPr>
          <p:spPr bwMode="auto">
            <a:xfrm>
              <a:off x="4782546" y="2506734"/>
              <a:ext cx="31" cy="36"/>
            </a:xfrm>
            <a:custGeom>
              <a:avLst/>
              <a:gdLst>
                <a:gd name="T0" fmla="*/ 15 w 174"/>
                <a:gd name="T1" fmla="*/ 13 h 201"/>
                <a:gd name="T2" fmla="*/ 91 w 174"/>
                <a:gd name="T3" fmla="*/ 0 h 201"/>
                <a:gd name="T4" fmla="*/ 59 w 174"/>
                <a:gd name="T5" fmla="*/ 108 h 201"/>
                <a:gd name="T6" fmla="*/ 130 w 174"/>
                <a:gd name="T7" fmla="*/ 16 h 201"/>
                <a:gd name="T8" fmla="*/ 159 w 174"/>
                <a:gd name="T9" fmla="*/ 0 h 201"/>
                <a:gd name="T10" fmla="*/ 170 w 174"/>
                <a:gd name="T11" fmla="*/ 5 h 201"/>
                <a:gd name="T12" fmla="*/ 174 w 174"/>
                <a:gd name="T13" fmla="*/ 17 h 201"/>
                <a:gd name="T14" fmla="*/ 167 w 174"/>
                <a:gd name="T15" fmla="*/ 45 h 201"/>
                <a:gd name="T16" fmla="*/ 152 w 174"/>
                <a:gd name="T17" fmla="*/ 55 h 201"/>
                <a:gd name="T18" fmla="*/ 143 w 174"/>
                <a:gd name="T19" fmla="*/ 52 h 201"/>
                <a:gd name="T20" fmla="*/ 138 w 174"/>
                <a:gd name="T21" fmla="*/ 42 h 201"/>
                <a:gd name="T22" fmla="*/ 136 w 174"/>
                <a:gd name="T23" fmla="*/ 36 h 201"/>
                <a:gd name="T24" fmla="*/ 132 w 174"/>
                <a:gd name="T25" fmla="*/ 34 h 201"/>
                <a:gd name="T26" fmla="*/ 125 w 174"/>
                <a:gd name="T27" fmla="*/ 36 h 201"/>
                <a:gd name="T28" fmla="*/ 108 w 174"/>
                <a:gd name="T29" fmla="*/ 53 h 201"/>
                <a:gd name="T30" fmla="*/ 68 w 174"/>
                <a:gd name="T31" fmla="*/ 110 h 201"/>
                <a:gd name="T32" fmla="*/ 52 w 174"/>
                <a:gd name="T33" fmla="*/ 143 h 201"/>
                <a:gd name="T34" fmla="*/ 41 w 174"/>
                <a:gd name="T35" fmla="*/ 173 h 201"/>
                <a:gd name="T36" fmla="*/ 34 w 174"/>
                <a:gd name="T37" fmla="*/ 201 h 201"/>
                <a:gd name="T38" fmla="*/ 0 w 174"/>
                <a:gd name="T39" fmla="*/ 201 h 201"/>
                <a:gd name="T40" fmla="*/ 41 w 174"/>
                <a:gd name="T41" fmla="*/ 63 h 201"/>
                <a:gd name="T42" fmla="*/ 48 w 174"/>
                <a:gd name="T43" fmla="*/ 29 h 201"/>
                <a:gd name="T44" fmla="*/ 45 w 174"/>
                <a:gd name="T45" fmla="*/ 23 h 201"/>
                <a:gd name="T46" fmla="*/ 33 w 174"/>
                <a:gd name="T47" fmla="*/ 19 h 201"/>
                <a:gd name="T48" fmla="*/ 16 w 174"/>
                <a:gd name="T49" fmla="*/ 21 h 201"/>
                <a:gd name="T50" fmla="*/ 15 w 174"/>
                <a:gd name="T51" fmla="*/ 1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4" h="201" fill="norm" stroke="1" extrusionOk="0">
                  <a:moveTo>
                    <a:pt x="15" y="13"/>
                  </a:moveTo>
                  <a:lnTo>
                    <a:pt x="91" y="0"/>
                  </a:lnTo>
                  <a:lnTo>
                    <a:pt x="59" y="108"/>
                  </a:lnTo>
                  <a:cubicBezTo>
                    <a:pt x="85" y="64"/>
                    <a:pt x="108" y="33"/>
                    <a:pt x="130" y="16"/>
                  </a:cubicBezTo>
                  <a:cubicBezTo>
                    <a:pt x="142" y="6"/>
                    <a:pt x="151" y="0"/>
                    <a:pt x="159" y="0"/>
                  </a:cubicBezTo>
                  <a:cubicBezTo>
                    <a:pt x="164" y="0"/>
                    <a:pt x="167" y="2"/>
                    <a:pt x="170" y="5"/>
                  </a:cubicBezTo>
                  <a:cubicBezTo>
                    <a:pt x="173" y="8"/>
                    <a:pt x="174" y="12"/>
                    <a:pt x="174" y="17"/>
                  </a:cubicBezTo>
                  <a:cubicBezTo>
                    <a:pt x="174" y="27"/>
                    <a:pt x="172" y="36"/>
                    <a:pt x="167" y="45"/>
                  </a:cubicBezTo>
                  <a:cubicBezTo>
                    <a:pt x="163" y="52"/>
                    <a:pt x="158" y="55"/>
                    <a:pt x="152" y="55"/>
                  </a:cubicBezTo>
                  <a:cubicBezTo>
                    <a:pt x="148" y="55"/>
                    <a:pt x="145" y="54"/>
                    <a:pt x="143" y="52"/>
                  </a:cubicBezTo>
                  <a:cubicBezTo>
                    <a:pt x="140" y="50"/>
                    <a:pt x="139" y="46"/>
                    <a:pt x="138" y="42"/>
                  </a:cubicBezTo>
                  <a:cubicBezTo>
                    <a:pt x="138" y="39"/>
                    <a:pt x="137" y="37"/>
                    <a:pt x="136" y="36"/>
                  </a:cubicBezTo>
                  <a:cubicBezTo>
                    <a:pt x="135" y="35"/>
                    <a:pt x="134" y="34"/>
                    <a:pt x="132" y="34"/>
                  </a:cubicBezTo>
                  <a:cubicBezTo>
                    <a:pt x="130" y="34"/>
                    <a:pt x="127" y="35"/>
                    <a:pt x="125" y="36"/>
                  </a:cubicBezTo>
                  <a:cubicBezTo>
                    <a:pt x="121" y="38"/>
                    <a:pt x="115" y="44"/>
                    <a:pt x="108" y="53"/>
                  </a:cubicBezTo>
                  <a:cubicBezTo>
                    <a:pt x="95" y="68"/>
                    <a:pt x="82" y="87"/>
                    <a:pt x="68" y="110"/>
                  </a:cubicBezTo>
                  <a:cubicBezTo>
                    <a:pt x="62" y="119"/>
                    <a:pt x="56" y="130"/>
                    <a:pt x="52" y="143"/>
                  </a:cubicBezTo>
                  <a:cubicBezTo>
                    <a:pt x="46" y="159"/>
                    <a:pt x="42" y="170"/>
                    <a:pt x="41" y="173"/>
                  </a:cubicBezTo>
                  <a:lnTo>
                    <a:pt x="34" y="201"/>
                  </a:lnTo>
                  <a:lnTo>
                    <a:pt x="0" y="201"/>
                  </a:lnTo>
                  <a:lnTo>
                    <a:pt x="41" y="63"/>
                  </a:lnTo>
                  <a:cubicBezTo>
                    <a:pt x="46" y="47"/>
                    <a:pt x="48" y="36"/>
                    <a:pt x="48" y="29"/>
                  </a:cubicBezTo>
                  <a:cubicBezTo>
                    <a:pt x="48" y="27"/>
                    <a:pt x="47" y="24"/>
                    <a:pt x="45" y="23"/>
                  </a:cubicBezTo>
                  <a:cubicBezTo>
                    <a:pt x="42" y="20"/>
                    <a:pt x="38" y="19"/>
                    <a:pt x="33" y="19"/>
                  </a:cubicBezTo>
                  <a:cubicBezTo>
                    <a:pt x="30" y="19"/>
                    <a:pt x="24" y="20"/>
                    <a:pt x="16" y="21"/>
                  </a:cubicBezTo>
                  <a:lnTo>
                    <a:pt x="15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215113127" name="Freeform 27"/>
            <p:cNvSpPr>
              <a:spLocks noEditPoints="1"/>
            </p:cNvSpPr>
            <p:nvPr/>
          </p:nvSpPr>
          <p:spPr bwMode="auto">
            <a:xfrm>
              <a:off x="4782578" y="2506734"/>
              <a:ext cx="36" cy="37"/>
            </a:xfrm>
            <a:custGeom>
              <a:avLst/>
              <a:gdLst>
                <a:gd name="T0" fmla="*/ 202 w 202"/>
                <a:gd name="T1" fmla="*/ 0 h 206"/>
                <a:gd name="T2" fmla="*/ 159 w 202"/>
                <a:gd name="T3" fmla="*/ 151 h 206"/>
                <a:gd name="T4" fmla="*/ 154 w 202"/>
                <a:gd name="T5" fmla="*/ 171 h 206"/>
                <a:gd name="T6" fmla="*/ 153 w 202"/>
                <a:gd name="T7" fmla="*/ 176 h 206"/>
                <a:gd name="T8" fmla="*/ 156 w 202"/>
                <a:gd name="T9" fmla="*/ 182 h 206"/>
                <a:gd name="T10" fmla="*/ 160 w 202"/>
                <a:gd name="T11" fmla="*/ 184 h 206"/>
                <a:gd name="T12" fmla="*/ 168 w 202"/>
                <a:gd name="T13" fmla="*/ 180 h 206"/>
                <a:gd name="T14" fmla="*/ 191 w 202"/>
                <a:gd name="T15" fmla="*/ 154 h 206"/>
                <a:gd name="T16" fmla="*/ 198 w 202"/>
                <a:gd name="T17" fmla="*/ 159 h 206"/>
                <a:gd name="T18" fmla="*/ 167 w 202"/>
                <a:gd name="T19" fmla="*/ 194 h 206"/>
                <a:gd name="T20" fmla="*/ 137 w 202"/>
                <a:gd name="T21" fmla="*/ 206 h 206"/>
                <a:gd name="T22" fmla="*/ 122 w 202"/>
                <a:gd name="T23" fmla="*/ 201 h 206"/>
                <a:gd name="T24" fmla="*/ 118 w 202"/>
                <a:gd name="T25" fmla="*/ 188 h 206"/>
                <a:gd name="T26" fmla="*/ 123 w 202"/>
                <a:gd name="T27" fmla="*/ 159 h 206"/>
                <a:gd name="T28" fmla="*/ 127 w 202"/>
                <a:gd name="T29" fmla="*/ 142 h 206"/>
                <a:gd name="T30" fmla="*/ 74 w 202"/>
                <a:gd name="T31" fmla="*/ 195 h 206"/>
                <a:gd name="T32" fmla="*/ 40 w 202"/>
                <a:gd name="T33" fmla="*/ 206 h 206"/>
                <a:gd name="T34" fmla="*/ 12 w 202"/>
                <a:gd name="T35" fmla="*/ 193 h 206"/>
                <a:gd name="T36" fmla="*/ 0 w 202"/>
                <a:gd name="T37" fmla="*/ 156 h 206"/>
                <a:gd name="T38" fmla="*/ 21 w 202"/>
                <a:gd name="T39" fmla="*/ 82 h 206"/>
                <a:gd name="T40" fmla="*/ 75 w 202"/>
                <a:gd name="T41" fmla="*/ 19 h 206"/>
                <a:gd name="T42" fmla="*/ 123 w 202"/>
                <a:gd name="T43" fmla="*/ 0 h 206"/>
                <a:gd name="T44" fmla="*/ 145 w 202"/>
                <a:gd name="T45" fmla="*/ 8 h 206"/>
                <a:gd name="T46" fmla="*/ 159 w 202"/>
                <a:gd name="T47" fmla="*/ 31 h 206"/>
                <a:gd name="T48" fmla="*/ 167 w 202"/>
                <a:gd name="T49" fmla="*/ 6 h 206"/>
                <a:gd name="T50" fmla="*/ 202 w 202"/>
                <a:gd name="T51" fmla="*/ 0 h 206"/>
                <a:gd name="T52" fmla="*/ 123 w 202"/>
                <a:gd name="T53" fmla="*/ 12 h 206"/>
                <a:gd name="T54" fmla="*/ 93 w 202"/>
                <a:gd name="T55" fmla="*/ 25 h 206"/>
                <a:gd name="T56" fmla="*/ 53 w 202"/>
                <a:gd name="T57" fmla="*/ 81 h 206"/>
                <a:gd name="T58" fmla="*/ 35 w 202"/>
                <a:gd name="T59" fmla="*/ 148 h 206"/>
                <a:gd name="T60" fmla="*/ 43 w 202"/>
                <a:gd name="T61" fmla="*/ 172 h 206"/>
                <a:gd name="T62" fmla="*/ 60 w 202"/>
                <a:gd name="T63" fmla="*/ 180 h 206"/>
                <a:gd name="T64" fmla="*/ 113 w 202"/>
                <a:gd name="T65" fmla="*/ 145 h 206"/>
                <a:gd name="T66" fmla="*/ 151 w 202"/>
                <a:gd name="T67" fmla="*/ 48 h 206"/>
                <a:gd name="T68" fmla="*/ 143 w 202"/>
                <a:gd name="T69" fmla="*/ 20 h 206"/>
                <a:gd name="T70" fmla="*/ 123 w 202"/>
                <a:gd name="T71" fmla="*/ 12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2" h="206" fill="norm" stroke="1" extrusionOk="0">
                  <a:moveTo>
                    <a:pt x="202" y="0"/>
                  </a:moveTo>
                  <a:lnTo>
                    <a:pt x="159" y="151"/>
                  </a:lnTo>
                  <a:lnTo>
                    <a:pt x="154" y="171"/>
                  </a:lnTo>
                  <a:cubicBezTo>
                    <a:pt x="154" y="173"/>
                    <a:pt x="153" y="174"/>
                    <a:pt x="153" y="176"/>
                  </a:cubicBezTo>
                  <a:cubicBezTo>
                    <a:pt x="153" y="178"/>
                    <a:pt x="154" y="180"/>
                    <a:pt x="156" y="182"/>
                  </a:cubicBezTo>
                  <a:cubicBezTo>
                    <a:pt x="157" y="183"/>
                    <a:pt x="158" y="184"/>
                    <a:pt x="160" y="184"/>
                  </a:cubicBezTo>
                  <a:cubicBezTo>
                    <a:pt x="162" y="184"/>
                    <a:pt x="165" y="183"/>
                    <a:pt x="168" y="180"/>
                  </a:cubicBezTo>
                  <a:cubicBezTo>
                    <a:pt x="173" y="176"/>
                    <a:pt x="181" y="167"/>
                    <a:pt x="191" y="154"/>
                  </a:cubicBezTo>
                  <a:lnTo>
                    <a:pt x="198" y="159"/>
                  </a:lnTo>
                  <a:cubicBezTo>
                    <a:pt x="188" y="174"/>
                    <a:pt x="178" y="186"/>
                    <a:pt x="167" y="194"/>
                  </a:cubicBezTo>
                  <a:cubicBezTo>
                    <a:pt x="156" y="202"/>
                    <a:pt x="146" y="206"/>
                    <a:pt x="137" y="206"/>
                  </a:cubicBezTo>
                  <a:cubicBezTo>
                    <a:pt x="131" y="206"/>
                    <a:pt x="126" y="205"/>
                    <a:pt x="122" y="201"/>
                  </a:cubicBezTo>
                  <a:cubicBezTo>
                    <a:pt x="119" y="198"/>
                    <a:pt x="118" y="194"/>
                    <a:pt x="118" y="188"/>
                  </a:cubicBezTo>
                  <a:cubicBezTo>
                    <a:pt x="118" y="180"/>
                    <a:pt x="119" y="171"/>
                    <a:pt x="123" y="159"/>
                  </a:cubicBezTo>
                  <a:lnTo>
                    <a:pt x="127" y="142"/>
                  </a:lnTo>
                  <a:cubicBezTo>
                    <a:pt x="108" y="168"/>
                    <a:pt x="90" y="185"/>
                    <a:pt x="74" y="195"/>
                  </a:cubicBezTo>
                  <a:cubicBezTo>
                    <a:pt x="62" y="203"/>
                    <a:pt x="51" y="206"/>
                    <a:pt x="40" y="206"/>
                  </a:cubicBezTo>
                  <a:cubicBezTo>
                    <a:pt x="29" y="206"/>
                    <a:pt x="20" y="202"/>
                    <a:pt x="12" y="193"/>
                  </a:cubicBezTo>
                  <a:cubicBezTo>
                    <a:pt x="4" y="184"/>
                    <a:pt x="0" y="172"/>
                    <a:pt x="0" y="156"/>
                  </a:cubicBezTo>
                  <a:cubicBezTo>
                    <a:pt x="0" y="132"/>
                    <a:pt x="7" y="108"/>
                    <a:pt x="21" y="82"/>
                  </a:cubicBezTo>
                  <a:cubicBezTo>
                    <a:pt x="35" y="56"/>
                    <a:pt x="53" y="35"/>
                    <a:pt x="75" y="19"/>
                  </a:cubicBezTo>
                  <a:cubicBezTo>
                    <a:pt x="92" y="7"/>
                    <a:pt x="108" y="0"/>
                    <a:pt x="123" y="0"/>
                  </a:cubicBezTo>
                  <a:cubicBezTo>
                    <a:pt x="132" y="0"/>
                    <a:pt x="139" y="3"/>
                    <a:pt x="145" y="8"/>
                  </a:cubicBezTo>
                  <a:cubicBezTo>
                    <a:pt x="151" y="12"/>
                    <a:pt x="156" y="20"/>
                    <a:pt x="159" y="31"/>
                  </a:cubicBezTo>
                  <a:lnTo>
                    <a:pt x="167" y="6"/>
                  </a:lnTo>
                  <a:lnTo>
                    <a:pt x="202" y="0"/>
                  </a:lnTo>
                  <a:close/>
                  <a:moveTo>
                    <a:pt x="123" y="12"/>
                  </a:moveTo>
                  <a:cubicBezTo>
                    <a:pt x="114" y="12"/>
                    <a:pt x="104" y="16"/>
                    <a:pt x="93" y="25"/>
                  </a:cubicBezTo>
                  <a:cubicBezTo>
                    <a:pt x="78" y="38"/>
                    <a:pt x="65" y="56"/>
                    <a:pt x="53" y="81"/>
                  </a:cubicBezTo>
                  <a:cubicBezTo>
                    <a:pt x="41" y="106"/>
                    <a:pt x="35" y="128"/>
                    <a:pt x="35" y="148"/>
                  </a:cubicBezTo>
                  <a:cubicBezTo>
                    <a:pt x="35" y="158"/>
                    <a:pt x="38" y="166"/>
                    <a:pt x="43" y="172"/>
                  </a:cubicBezTo>
                  <a:cubicBezTo>
                    <a:pt x="48" y="178"/>
                    <a:pt x="54" y="180"/>
                    <a:pt x="60" y="180"/>
                  </a:cubicBezTo>
                  <a:cubicBezTo>
                    <a:pt x="76" y="180"/>
                    <a:pt x="94" y="169"/>
                    <a:pt x="113" y="145"/>
                  </a:cubicBezTo>
                  <a:cubicBezTo>
                    <a:pt x="138" y="113"/>
                    <a:pt x="151" y="81"/>
                    <a:pt x="151" y="48"/>
                  </a:cubicBezTo>
                  <a:cubicBezTo>
                    <a:pt x="151" y="35"/>
                    <a:pt x="148" y="26"/>
                    <a:pt x="143" y="20"/>
                  </a:cubicBezTo>
                  <a:cubicBezTo>
                    <a:pt x="138" y="15"/>
                    <a:pt x="132" y="12"/>
                    <a:pt x="123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400911074" name="Freeform 28"/>
            <p:cNvSpPr/>
            <p:nvPr/>
          </p:nvSpPr>
          <p:spPr bwMode="auto">
            <a:xfrm>
              <a:off x="4782623" y="2506723"/>
              <a:ext cx="20" cy="47"/>
            </a:xfrm>
            <a:custGeom>
              <a:avLst/>
              <a:gdLst>
                <a:gd name="T0" fmla="*/ 99 w 116"/>
                <a:gd name="T1" fmla="*/ 0 h 260"/>
                <a:gd name="T2" fmla="*/ 82 w 116"/>
                <a:gd name="T3" fmla="*/ 60 h 260"/>
                <a:gd name="T4" fmla="*/ 116 w 116"/>
                <a:gd name="T5" fmla="*/ 60 h 260"/>
                <a:gd name="T6" fmla="*/ 113 w 116"/>
                <a:gd name="T7" fmla="*/ 74 h 260"/>
                <a:gd name="T8" fmla="*/ 78 w 116"/>
                <a:gd name="T9" fmla="*/ 74 h 260"/>
                <a:gd name="T10" fmla="*/ 40 w 116"/>
                <a:gd name="T11" fmla="*/ 204 h 260"/>
                <a:gd name="T12" fmla="*/ 34 w 116"/>
                <a:gd name="T13" fmla="*/ 232 h 260"/>
                <a:gd name="T14" fmla="*/ 36 w 116"/>
                <a:gd name="T15" fmla="*/ 237 h 260"/>
                <a:gd name="T16" fmla="*/ 40 w 116"/>
                <a:gd name="T17" fmla="*/ 239 h 260"/>
                <a:gd name="T18" fmla="*/ 54 w 116"/>
                <a:gd name="T19" fmla="*/ 232 h 260"/>
                <a:gd name="T20" fmla="*/ 78 w 116"/>
                <a:gd name="T21" fmla="*/ 204 h 260"/>
                <a:gd name="T22" fmla="*/ 85 w 116"/>
                <a:gd name="T23" fmla="*/ 210 h 260"/>
                <a:gd name="T24" fmla="*/ 47 w 116"/>
                <a:gd name="T25" fmla="*/ 252 h 260"/>
                <a:gd name="T26" fmla="*/ 22 w 116"/>
                <a:gd name="T27" fmla="*/ 260 h 260"/>
                <a:gd name="T28" fmla="*/ 6 w 116"/>
                <a:gd name="T29" fmla="*/ 254 h 260"/>
                <a:gd name="T30" fmla="*/ 0 w 116"/>
                <a:gd name="T31" fmla="*/ 238 h 260"/>
                <a:gd name="T32" fmla="*/ 7 w 116"/>
                <a:gd name="T33" fmla="*/ 202 h 260"/>
                <a:gd name="T34" fmla="*/ 44 w 116"/>
                <a:gd name="T35" fmla="*/ 74 h 260"/>
                <a:gd name="T36" fmla="*/ 10 w 116"/>
                <a:gd name="T37" fmla="*/ 74 h 260"/>
                <a:gd name="T38" fmla="*/ 13 w 116"/>
                <a:gd name="T39" fmla="*/ 65 h 260"/>
                <a:gd name="T40" fmla="*/ 53 w 116"/>
                <a:gd name="T41" fmla="*/ 45 h 260"/>
                <a:gd name="T42" fmla="*/ 89 w 116"/>
                <a:gd name="T43" fmla="*/ 0 h 260"/>
                <a:gd name="T44" fmla="*/ 99 w 116"/>
                <a:gd name="T4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6" h="260" fill="norm" stroke="1" extrusionOk="0">
                  <a:moveTo>
                    <a:pt x="99" y="0"/>
                  </a:moveTo>
                  <a:lnTo>
                    <a:pt x="82" y="60"/>
                  </a:lnTo>
                  <a:lnTo>
                    <a:pt x="116" y="60"/>
                  </a:lnTo>
                  <a:lnTo>
                    <a:pt x="113" y="74"/>
                  </a:lnTo>
                  <a:lnTo>
                    <a:pt x="78" y="74"/>
                  </a:lnTo>
                  <a:lnTo>
                    <a:pt x="40" y="204"/>
                  </a:lnTo>
                  <a:cubicBezTo>
                    <a:pt x="36" y="218"/>
                    <a:pt x="34" y="227"/>
                    <a:pt x="34" y="232"/>
                  </a:cubicBezTo>
                  <a:cubicBezTo>
                    <a:pt x="34" y="234"/>
                    <a:pt x="34" y="236"/>
                    <a:pt x="36" y="237"/>
                  </a:cubicBezTo>
                  <a:cubicBezTo>
                    <a:pt x="37" y="239"/>
                    <a:pt x="38" y="239"/>
                    <a:pt x="40" y="239"/>
                  </a:cubicBezTo>
                  <a:cubicBezTo>
                    <a:pt x="43" y="239"/>
                    <a:pt x="48" y="237"/>
                    <a:pt x="54" y="232"/>
                  </a:cubicBezTo>
                  <a:cubicBezTo>
                    <a:pt x="58" y="229"/>
                    <a:pt x="66" y="220"/>
                    <a:pt x="78" y="204"/>
                  </a:cubicBezTo>
                  <a:lnTo>
                    <a:pt x="85" y="210"/>
                  </a:lnTo>
                  <a:cubicBezTo>
                    <a:pt x="72" y="230"/>
                    <a:pt x="59" y="244"/>
                    <a:pt x="47" y="252"/>
                  </a:cubicBezTo>
                  <a:cubicBezTo>
                    <a:pt x="39" y="257"/>
                    <a:pt x="30" y="260"/>
                    <a:pt x="22" y="260"/>
                  </a:cubicBezTo>
                  <a:cubicBezTo>
                    <a:pt x="15" y="260"/>
                    <a:pt x="10" y="258"/>
                    <a:pt x="6" y="254"/>
                  </a:cubicBezTo>
                  <a:cubicBezTo>
                    <a:pt x="2" y="250"/>
                    <a:pt x="0" y="245"/>
                    <a:pt x="0" y="238"/>
                  </a:cubicBezTo>
                  <a:cubicBezTo>
                    <a:pt x="0" y="230"/>
                    <a:pt x="2" y="218"/>
                    <a:pt x="7" y="202"/>
                  </a:cubicBezTo>
                  <a:lnTo>
                    <a:pt x="44" y="74"/>
                  </a:lnTo>
                  <a:lnTo>
                    <a:pt x="10" y="74"/>
                  </a:lnTo>
                  <a:lnTo>
                    <a:pt x="13" y="65"/>
                  </a:lnTo>
                  <a:cubicBezTo>
                    <a:pt x="29" y="61"/>
                    <a:pt x="42" y="54"/>
                    <a:pt x="53" y="45"/>
                  </a:cubicBezTo>
                  <a:cubicBezTo>
                    <a:pt x="64" y="37"/>
                    <a:pt x="76" y="21"/>
                    <a:pt x="89" y="0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864954995" name="Freeform 29"/>
            <p:cNvSpPr/>
            <p:nvPr/>
          </p:nvSpPr>
          <p:spPr bwMode="auto">
            <a:xfrm>
              <a:off x="4782645" y="2506734"/>
              <a:ext cx="37" cy="37"/>
            </a:xfrm>
            <a:custGeom>
              <a:avLst/>
              <a:gdLst>
                <a:gd name="T0" fmla="*/ 201 w 201"/>
                <a:gd name="T1" fmla="*/ 6 h 206"/>
                <a:gd name="T2" fmla="*/ 162 w 201"/>
                <a:gd name="T3" fmla="*/ 138 h 206"/>
                <a:gd name="T4" fmla="*/ 153 w 201"/>
                <a:gd name="T5" fmla="*/ 175 h 206"/>
                <a:gd name="T6" fmla="*/ 155 w 201"/>
                <a:gd name="T7" fmla="*/ 181 h 206"/>
                <a:gd name="T8" fmla="*/ 159 w 201"/>
                <a:gd name="T9" fmla="*/ 183 h 206"/>
                <a:gd name="T10" fmla="*/ 167 w 201"/>
                <a:gd name="T11" fmla="*/ 179 h 206"/>
                <a:gd name="T12" fmla="*/ 190 w 201"/>
                <a:gd name="T13" fmla="*/ 152 h 206"/>
                <a:gd name="T14" fmla="*/ 197 w 201"/>
                <a:gd name="T15" fmla="*/ 157 h 206"/>
                <a:gd name="T16" fmla="*/ 161 w 201"/>
                <a:gd name="T17" fmla="*/ 198 h 206"/>
                <a:gd name="T18" fmla="*/ 137 w 201"/>
                <a:gd name="T19" fmla="*/ 206 h 206"/>
                <a:gd name="T20" fmla="*/ 124 w 201"/>
                <a:gd name="T21" fmla="*/ 201 h 206"/>
                <a:gd name="T22" fmla="*/ 119 w 201"/>
                <a:gd name="T23" fmla="*/ 189 h 206"/>
                <a:gd name="T24" fmla="*/ 122 w 201"/>
                <a:gd name="T25" fmla="*/ 169 h 206"/>
                <a:gd name="T26" fmla="*/ 142 w 201"/>
                <a:gd name="T27" fmla="*/ 97 h 206"/>
                <a:gd name="T28" fmla="*/ 79 w 201"/>
                <a:gd name="T29" fmla="*/ 183 h 206"/>
                <a:gd name="T30" fmla="*/ 32 w 201"/>
                <a:gd name="T31" fmla="*/ 206 h 206"/>
                <a:gd name="T32" fmla="*/ 15 w 201"/>
                <a:gd name="T33" fmla="*/ 199 h 206"/>
                <a:gd name="T34" fmla="*/ 7 w 201"/>
                <a:gd name="T35" fmla="*/ 181 h 206"/>
                <a:gd name="T36" fmla="*/ 17 w 201"/>
                <a:gd name="T37" fmla="*/ 130 h 206"/>
                <a:gd name="T38" fmla="*/ 36 w 201"/>
                <a:gd name="T39" fmla="*/ 62 h 206"/>
                <a:gd name="T40" fmla="*/ 44 w 201"/>
                <a:gd name="T41" fmla="*/ 31 h 206"/>
                <a:gd name="T42" fmla="*/ 42 w 201"/>
                <a:gd name="T43" fmla="*/ 27 h 206"/>
                <a:gd name="T44" fmla="*/ 38 w 201"/>
                <a:gd name="T45" fmla="*/ 25 h 206"/>
                <a:gd name="T46" fmla="*/ 28 w 201"/>
                <a:gd name="T47" fmla="*/ 28 h 206"/>
                <a:gd name="T48" fmla="*/ 7 w 201"/>
                <a:gd name="T49" fmla="*/ 53 h 206"/>
                <a:gd name="T50" fmla="*/ 0 w 201"/>
                <a:gd name="T51" fmla="*/ 48 h 206"/>
                <a:gd name="T52" fmla="*/ 36 w 201"/>
                <a:gd name="T53" fmla="*/ 10 h 206"/>
                <a:gd name="T54" fmla="*/ 62 w 201"/>
                <a:gd name="T55" fmla="*/ 0 h 206"/>
                <a:gd name="T56" fmla="*/ 75 w 201"/>
                <a:gd name="T57" fmla="*/ 6 h 206"/>
                <a:gd name="T58" fmla="*/ 80 w 201"/>
                <a:gd name="T59" fmla="*/ 19 h 206"/>
                <a:gd name="T60" fmla="*/ 71 w 201"/>
                <a:gd name="T61" fmla="*/ 62 h 206"/>
                <a:gd name="T62" fmla="*/ 51 w 201"/>
                <a:gd name="T63" fmla="*/ 133 h 206"/>
                <a:gd name="T64" fmla="*/ 42 w 201"/>
                <a:gd name="T65" fmla="*/ 170 h 206"/>
                <a:gd name="T66" fmla="*/ 45 w 201"/>
                <a:gd name="T67" fmla="*/ 177 h 206"/>
                <a:gd name="T68" fmla="*/ 52 w 201"/>
                <a:gd name="T69" fmla="*/ 180 h 206"/>
                <a:gd name="T70" fmla="*/ 71 w 201"/>
                <a:gd name="T71" fmla="*/ 172 h 206"/>
                <a:gd name="T72" fmla="*/ 102 w 201"/>
                <a:gd name="T73" fmla="*/ 140 h 206"/>
                <a:gd name="T74" fmla="*/ 135 w 201"/>
                <a:gd name="T75" fmla="*/ 93 h 206"/>
                <a:gd name="T76" fmla="*/ 162 w 201"/>
                <a:gd name="T77" fmla="*/ 23 h 206"/>
                <a:gd name="T78" fmla="*/ 167 w 201"/>
                <a:gd name="T79" fmla="*/ 6 h 206"/>
                <a:gd name="T80" fmla="*/ 201 w 201"/>
                <a:gd name="T81" fmla="*/ 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1" h="206" fill="norm" stroke="1" extrusionOk="0">
                  <a:moveTo>
                    <a:pt x="201" y="6"/>
                  </a:moveTo>
                  <a:lnTo>
                    <a:pt x="162" y="138"/>
                  </a:lnTo>
                  <a:cubicBezTo>
                    <a:pt x="156" y="157"/>
                    <a:pt x="153" y="170"/>
                    <a:pt x="153" y="175"/>
                  </a:cubicBezTo>
                  <a:cubicBezTo>
                    <a:pt x="153" y="178"/>
                    <a:pt x="154" y="180"/>
                    <a:pt x="155" y="181"/>
                  </a:cubicBezTo>
                  <a:cubicBezTo>
                    <a:pt x="156" y="182"/>
                    <a:pt x="157" y="183"/>
                    <a:pt x="159" y="183"/>
                  </a:cubicBezTo>
                  <a:cubicBezTo>
                    <a:pt x="161" y="183"/>
                    <a:pt x="164" y="182"/>
                    <a:pt x="167" y="179"/>
                  </a:cubicBezTo>
                  <a:cubicBezTo>
                    <a:pt x="170" y="177"/>
                    <a:pt x="178" y="168"/>
                    <a:pt x="190" y="152"/>
                  </a:cubicBezTo>
                  <a:lnTo>
                    <a:pt x="197" y="157"/>
                  </a:lnTo>
                  <a:cubicBezTo>
                    <a:pt x="185" y="175"/>
                    <a:pt x="173" y="189"/>
                    <a:pt x="161" y="198"/>
                  </a:cubicBezTo>
                  <a:cubicBezTo>
                    <a:pt x="153" y="203"/>
                    <a:pt x="145" y="206"/>
                    <a:pt x="137" y="206"/>
                  </a:cubicBezTo>
                  <a:cubicBezTo>
                    <a:pt x="131" y="206"/>
                    <a:pt x="127" y="205"/>
                    <a:pt x="124" y="201"/>
                  </a:cubicBezTo>
                  <a:cubicBezTo>
                    <a:pt x="120" y="198"/>
                    <a:pt x="119" y="194"/>
                    <a:pt x="119" y="189"/>
                  </a:cubicBezTo>
                  <a:cubicBezTo>
                    <a:pt x="119" y="184"/>
                    <a:pt x="120" y="177"/>
                    <a:pt x="122" y="169"/>
                  </a:cubicBezTo>
                  <a:cubicBezTo>
                    <a:pt x="124" y="158"/>
                    <a:pt x="131" y="134"/>
                    <a:pt x="142" y="97"/>
                  </a:cubicBezTo>
                  <a:cubicBezTo>
                    <a:pt x="117" y="139"/>
                    <a:pt x="96" y="167"/>
                    <a:pt x="79" y="183"/>
                  </a:cubicBezTo>
                  <a:cubicBezTo>
                    <a:pt x="62" y="198"/>
                    <a:pt x="46" y="206"/>
                    <a:pt x="32" y="206"/>
                  </a:cubicBezTo>
                  <a:cubicBezTo>
                    <a:pt x="25" y="206"/>
                    <a:pt x="19" y="204"/>
                    <a:pt x="15" y="199"/>
                  </a:cubicBezTo>
                  <a:cubicBezTo>
                    <a:pt x="10" y="194"/>
                    <a:pt x="7" y="188"/>
                    <a:pt x="7" y="181"/>
                  </a:cubicBezTo>
                  <a:cubicBezTo>
                    <a:pt x="7" y="170"/>
                    <a:pt x="11" y="153"/>
                    <a:pt x="17" y="130"/>
                  </a:cubicBezTo>
                  <a:lnTo>
                    <a:pt x="36" y="62"/>
                  </a:lnTo>
                  <a:cubicBezTo>
                    <a:pt x="41" y="45"/>
                    <a:pt x="44" y="35"/>
                    <a:pt x="44" y="31"/>
                  </a:cubicBezTo>
                  <a:cubicBezTo>
                    <a:pt x="44" y="29"/>
                    <a:pt x="43" y="28"/>
                    <a:pt x="42" y="27"/>
                  </a:cubicBezTo>
                  <a:cubicBezTo>
                    <a:pt x="40" y="26"/>
                    <a:pt x="39" y="25"/>
                    <a:pt x="38" y="25"/>
                  </a:cubicBezTo>
                  <a:cubicBezTo>
                    <a:pt x="34" y="25"/>
                    <a:pt x="31" y="26"/>
                    <a:pt x="28" y="28"/>
                  </a:cubicBezTo>
                  <a:cubicBezTo>
                    <a:pt x="25" y="30"/>
                    <a:pt x="18" y="39"/>
                    <a:pt x="7" y="53"/>
                  </a:cubicBezTo>
                  <a:lnTo>
                    <a:pt x="0" y="48"/>
                  </a:lnTo>
                  <a:cubicBezTo>
                    <a:pt x="11" y="31"/>
                    <a:pt x="23" y="18"/>
                    <a:pt x="36" y="10"/>
                  </a:cubicBezTo>
                  <a:cubicBezTo>
                    <a:pt x="45" y="4"/>
                    <a:pt x="54" y="0"/>
                    <a:pt x="62" y="0"/>
                  </a:cubicBezTo>
                  <a:cubicBezTo>
                    <a:pt x="67" y="0"/>
                    <a:pt x="72" y="2"/>
                    <a:pt x="75" y="6"/>
                  </a:cubicBezTo>
                  <a:cubicBezTo>
                    <a:pt x="79" y="9"/>
                    <a:pt x="80" y="14"/>
                    <a:pt x="80" y="19"/>
                  </a:cubicBezTo>
                  <a:cubicBezTo>
                    <a:pt x="80" y="27"/>
                    <a:pt x="77" y="41"/>
                    <a:pt x="71" y="62"/>
                  </a:cubicBezTo>
                  <a:lnTo>
                    <a:pt x="51" y="133"/>
                  </a:lnTo>
                  <a:cubicBezTo>
                    <a:pt x="45" y="153"/>
                    <a:pt x="42" y="165"/>
                    <a:pt x="42" y="170"/>
                  </a:cubicBezTo>
                  <a:cubicBezTo>
                    <a:pt x="42" y="173"/>
                    <a:pt x="43" y="175"/>
                    <a:pt x="45" y="177"/>
                  </a:cubicBezTo>
                  <a:cubicBezTo>
                    <a:pt x="47" y="179"/>
                    <a:pt x="49" y="180"/>
                    <a:pt x="52" y="180"/>
                  </a:cubicBezTo>
                  <a:cubicBezTo>
                    <a:pt x="57" y="180"/>
                    <a:pt x="63" y="177"/>
                    <a:pt x="71" y="172"/>
                  </a:cubicBezTo>
                  <a:cubicBezTo>
                    <a:pt x="79" y="167"/>
                    <a:pt x="89" y="157"/>
                    <a:pt x="102" y="140"/>
                  </a:cubicBezTo>
                  <a:cubicBezTo>
                    <a:pt x="116" y="123"/>
                    <a:pt x="126" y="107"/>
                    <a:pt x="135" y="93"/>
                  </a:cubicBezTo>
                  <a:cubicBezTo>
                    <a:pt x="143" y="78"/>
                    <a:pt x="152" y="55"/>
                    <a:pt x="162" y="23"/>
                  </a:cubicBezTo>
                  <a:lnTo>
                    <a:pt x="167" y="6"/>
                  </a:lnTo>
                  <a:lnTo>
                    <a:pt x="201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709034697" name="Freeform 30"/>
            <p:cNvSpPr/>
            <p:nvPr/>
          </p:nvSpPr>
          <p:spPr bwMode="auto">
            <a:xfrm>
              <a:off x="4782690" y="2506734"/>
              <a:ext cx="31" cy="36"/>
            </a:xfrm>
            <a:custGeom>
              <a:avLst/>
              <a:gdLst>
                <a:gd name="T0" fmla="*/ 14 w 174"/>
                <a:gd name="T1" fmla="*/ 13 h 201"/>
                <a:gd name="T2" fmla="*/ 91 w 174"/>
                <a:gd name="T3" fmla="*/ 0 h 201"/>
                <a:gd name="T4" fmla="*/ 59 w 174"/>
                <a:gd name="T5" fmla="*/ 108 h 201"/>
                <a:gd name="T6" fmla="*/ 129 w 174"/>
                <a:gd name="T7" fmla="*/ 16 h 201"/>
                <a:gd name="T8" fmla="*/ 159 w 174"/>
                <a:gd name="T9" fmla="*/ 0 h 201"/>
                <a:gd name="T10" fmla="*/ 170 w 174"/>
                <a:gd name="T11" fmla="*/ 5 h 201"/>
                <a:gd name="T12" fmla="*/ 174 w 174"/>
                <a:gd name="T13" fmla="*/ 17 h 201"/>
                <a:gd name="T14" fmla="*/ 167 w 174"/>
                <a:gd name="T15" fmla="*/ 45 h 201"/>
                <a:gd name="T16" fmla="*/ 152 w 174"/>
                <a:gd name="T17" fmla="*/ 55 h 201"/>
                <a:gd name="T18" fmla="*/ 143 w 174"/>
                <a:gd name="T19" fmla="*/ 52 h 201"/>
                <a:gd name="T20" fmla="*/ 138 w 174"/>
                <a:gd name="T21" fmla="*/ 42 h 201"/>
                <a:gd name="T22" fmla="*/ 136 w 174"/>
                <a:gd name="T23" fmla="*/ 36 h 201"/>
                <a:gd name="T24" fmla="*/ 132 w 174"/>
                <a:gd name="T25" fmla="*/ 34 h 201"/>
                <a:gd name="T26" fmla="*/ 125 w 174"/>
                <a:gd name="T27" fmla="*/ 36 h 201"/>
                <a:gd name="T28" fmla="*/ 107 w 174"/>
                <a:gd name="T29" fmla="*/ 53 h 201"/>
                <a:gd name="T30" fmla="*/ 68 w 174"/>
                <a:gd name="T31" fmla="*/ 110 h 201"/>
                <a:gd name="T32" fmla="*/ 52 w 174"/>
                <a:gd name="T33" fmla="*/ 143 h 201"/>
                <a:gd name="T34" fmla="*/ 41 w 174"/>
                <a:gd name="T35" fmla="*/ 173 h 201"/>
                <a:gd name="T36" fmla="*/ 34 w 174"/>
                <a:gd name="T37" fmla="*/ 201 h 201"/>
                <a:gd name="T38" fmla="*/ 0 w 174"/>
                <a:gd name="T39" fmla="*/ 201 h 201"/>
                <a:gd name="T40" fmla="*/ 41 w 174"/>
                <a:gd name="T41" fmla="*/ 63 h 201"/>
                <a:gd name="T42" fmla="*/ 48 w 174"/>
                <a:gd name="T43" fmla="*/ 29 h 201"/>
                <a:gd name="T44" fmla="*/ 45 w 174"/>
                <a:gd name="T45" fmla="*/ 23 h 201"/>
                <a:gd name="T46" fmla="*/ 33 w 174"/>
                <a:gd name="T47" fmla="*/ 19 h 201"/>
                <a:gd name="T48" fmla="*/ 16 w 174"/>
                <a:gd name="T49" fmla="*/ 21 h 201"/>
                <a:gd name="T50" fmla="*/ 14 w 174"/>
                <a:gd name="T51" fmla="*/ 1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4" h="201" fill="norm" stroke="1" extrusionOk="0">
                  <a:moveTo>
                    <a:pt x="14" y="13"/>
                  </a:moveTo>
                  <a:lnTo>
                    <a:pt x="91" y="0"/>
                  </a:lnTo>
                  <a:lnTo>
                    <a:pt x="59" y="108"/>
                  </a:lnTo>
                  <a:cubicBezTo>
                    <a:pt x="85" y="64"/>
                    <a:pt x="108" y="33"/>
                    <a:pt x="129" y="16"/>
                  </a:cubicBezTo>
                  <a:cubicBezTo>
                    <a:pt x="141" y="6"/>
                    <a:pt x="151" y="0"/>
                    <a:pt x="159" y="0"/>
                  </a:cubicBezTo>
                  <a:cubicBezTo>
                    <a:pt x="163" y="0"/>
                    <a:pt x="167" y="2"/>
                    <a:pt x="170" y="5"/>
                  </a:cubicBezTo>
                  <a:cubicBezTo>
                    <a:pt x="173" y="8"/>
                    <a:pt x="174" y="12"/>
                    <a:pt x="174" y="17"/>
                  </a:cubicBezTo>
                  <a:cubicBezTo>
                    <a:pt x="174" y="27"/>
                    <a:pt x="172" y="36"/>
                    <a:pt x="167" y="45"/>
                  </a:cubicBezTo>
                  <a:cubicBezTo>
                    <a:pt x="163" y="52"/>
                    <a:pt x="158" y="55"/>
                    <a:pt x="152" y="55"/>
                  </a:cubicBezTo>
                  <a:cubicBezTo>
                    <a:pt x="148" y="55"/>
                    <a:pt x="145" y="54"/>
                    <a:pt x="143" y="52"/>
                  </a:cubicBezTo>
                  <a:cubicBezTo>
                    <a:pt x="140" y="50"/>
                    <a:pt x="139" y="46"/>
                    <a:pt x="138" y="42"/>
                  </a:cubicBezTo>
                  <a:cubicBezTo>
                    <a:pt x="138" y="39"/>
                    <a:pt x="137" y="37"/>
                    <a:pt x="136" y="36"/>
                  </a:cubicBezTo>
                  <a:cubicBezTo>
                    <a:pt x="135" y="35"/>
                    <a:pt x="134" y="34"/>
                    <a:pt x="132" y="34"/>
                  </a:cubicBezTo>
                  <a:cubicBezTo>
                    <a:pt x="130" y="34"/>
                    <a:pt x="127" y="35"/>
                    <a:pt x="125" y="36"/>
                  </a:cubicBezTo>
                  <a:cubicBezTo>
                    <a:pt x="121" y="38"/>
                    <a:pt x="115" y="44"/>
                    <a:pt x="107" y="53"/>
                  </a:cubicBezTo>
                  <a:cubicBezTo>
                    <a:pt x="95" y="68"/>
                    <a:pt x="82" y="87"/>
                    <a:pt x="68" y="110"/>
                  </a:cubicBezTo>
                  <a:cubicBezTo>
                    <a:pt x="61" y="119"/>
                    <a:pt x="56" y="130"/>
                    <a:pt x="52" y="143"/>
                  </a:cubicBezTo>
                  <a:cubicBezTo>
                    <a:pt x="45" y="159"/>
                    <a:pt x="42" y="170"/>
                    <a:pt x="41" y="173"/>
                  </a:cubicBezTo>
                  <a:lnTo>
                    <a:pt x="34" y="201"/>
                  </a:lnTo>
                  <a:lnTo>
                    <a:pt x="0" y="201"/>
                  </a:lnTo>
                  <a:lnTo>
                    <a:pt x="41" y="63"/>
                  </a:lnTo>
                  <a:cubicBezTo>
                    <a:pt x="46" y="47"/>
                    <a:pt x="48" y="36"/>
                    <a:pt x="48" y="29"/>
                  </a:cubicBezTo>
                  <a:cubicBezTo>
                    <a:pt x="48" y="27"/>
                    <a:pt x="47" y="24"/>
                    <a:pt x="45" y="23"/>
                  </a:cubicBezTo>
                  <a:cubicBezTo>
                    <a:pt x="42" y="20"/>
                    <a:pt x="38" y="19"/>
                    <a:pt x="33" y="19"/>
                  </a:cubicBezTo>
                  <a:cubicBezTo>
                    <a:pt x="30" y="19"/>
                    <a:pt x="24" y="20"/>
                    <a:pt x="16" y="21"/>
                  </a:cubicBezTo>
                  <a:lnTo>
                    <a:pt x="14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952983201" name="Freeform 31"/>
            <p:cNvSpPr>
              <a:spLocks noEditPoints="1"/>
            </p:cNvSpPr>
            <p:nvPr/>
          </p:nvSpPr>
          <p:spPr bwMode="auto">
            <a:xfrm>
              <a:off x="4782719" y="2506734"/>
              <a:ext cx="33" cy="37"/>
            </a:xfrm>
            <a:custGeom>
              <a:avLst/>
              <a:gdLst>
                <a:gd name="T0" fmla="*/ 39 w 180"/>
                <a:gd name="T1" fmla="*/ 117 h 206"/>
                <a:gd name="T2" fmla="*/ 38 w 180"/>
                <a:gd name="T3" fmla="*/ 136 h 206"/>
                <a:gd name="T4" fmla="*/ 52 w 180"/>
                <a:gd name="T5" fmla="*/ 169 h 206"/>
                <a:gd name="T6" fmla="*/ 86 w 180"/>
                <a:gd name="T7" fmla="*/ 183 h 206"/>
                <a:gd name="T8" fmla="*/ 116 w 180"/>
                <a:gd name="T9" fmla="*/ 177 h 206"/>
                <a:gd name="T10" fmla="*/ 160 w 180"/>
                <a:gd name="T11" fmla="*/ 148 h 206"/>
                <a:gd name="T12" fmla="*/ 165 w 180"/>
                <a:gd name="T13" fmla="*/ 154 h 206"/>
                <a:gd name="T14" fmla="*/ 65 w 180"/>
                <a:gd name="T15" fmla="*/ 206 h 206"/>
                <a:gd name="T16" fmla="*/ 16 w 180"/>
                <a:gd name="T17" fmla="*/ 186 h 206"/>
                <a:gd name="T18" fmla="*/ 0 w 180"/>
                <a:gd name="T19" fmla="*/ 141 h 206"/>
                <a:gd name="T20" fmla="*/ 20 w 180"/>
                <a:gd name="T21" fmla="*/ 73 h 206"/>
                <a:gd name="T22" fmla="*/ 71 w 180"/>
                <a:gd name="T23" fmla="*/ 20 h 206"/>
                <a:gd name="T24" fmla="*/ 134 w 180"/>
                <a:gd name="T25" fmla="*/ 0 h 206"/>
                <a:gd name="T26" fmla="*/ 169 w 180"/>
                <a:gd name="T27" fmla="*/ 10 h 206"/>
                <a:gd name="T28" fmla="*/ 180 w 180"/>
                <a:gd name="T29" fmla="*/ 33 h 206"/>
                <a:gd name="T30" fmla="*/ 166 w 180"/>
                <a:gd name="T31" fmla="*/ 68 h 206"/>
                <a:gd name="T32" fmla="*/ 109 w 180"/>
                <a:gd name="T33" fmla="*/ 103 h 206"/>
                <a:gd name="T34" fmla="*/ 39 w 180"/>
                <a:gd name="T35" fmla="*/ 117 h 206"/>
                <a:gd name="T36" fmla="*/ 41 w 180"/>
                <a:gd name="T37" fmla="*/ 107 h 206"/>
                <a:gd name="T38" fmla="*/ 94 w 180"/>
                <a:gd name="T39" fmla="*/ 94 h 206"/>
                <a:gd name="T40" fmla="*/ 135 w 180"/>
                <a:gd name="T41" fmla="*/ 65 h 206"/>
                <a:gd name="T42" fmla="*/ 149 w 180"/>
                <a:gd name="T43" fmla="*/ 32 h 206"/>
                <a:gd name="T44" fmla="*/ 143 w 180"/>
                <a:gd name="T45" fmla="*/ 17 h 206"/>
                <a:gd name="T46" fmla="*/ 126 w 180"/>
                <a:gd name="T47" fmla="*/ 12 h 206"/>
                <a:gd name="T48" fmla="*/ 78 w 180"/>
                <a:gd name="T49" fmla="*/ 36 h 206"/>
                <a:gd name="T50" fmla="*/ 41 w 180"/>
                <a:gd name="T51" fmla="*/ 10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0" h="206" fill="norm" stroke="1" extrusionOk="0">
                  <a:moveTo>
                    <a:pt x="39" y="117"/>
                  </a:moveTo>
                  <a:cubicBezTo>
                    <a:pt x="38" y="125"/>
                    <a:pt x="38" y="131"/>
                    <a:pt x="38" y="136"/>
                  </a:cubicBezTo>
                  <a:cubicBezTo>
                    <a:pt x="38" y="149"/>
                    <a:pt x="43" y="160"/>
                    <a:pt x="52" y="169"/>
                  </a:cubicBezTo>
                  <a:cubicBezTo>
                    <a:pt x="61" y="179"/>
                    <a:pt x="72" y="183"/>
                    <a:pt x="86" y="183"/>
                  </a:cubicBezTo>
                  <a:cubicBezTo>
                    <a:pt x="96" y="183"/>
                    <a:pt x="107" y="181"/>
                    <a:pt x="116" y="177"/>
                  </a:cubicBezTo>
                  <a:cubicBezTo>
                    <a:pt x="126" y="172"/>
                    <a:pt x="141" y="163"/>
                    <a:pt x="160" y="148"/>
                  </a:cubicBezTo>
                  <a:lnTo>
                    <a:pt x="165" y="154"/>
                  </a:lnTo>
                  <a:cubicBezTo>
                    <a:pt x="130" y="189"/>
                    <a:pt x="96" y="206"/>
                    <a:pt x="65" y="206"/>
                  </a:cubicBezTo>
                  <a:cubicBezTo>
                    <a:pt x="43" y="206"/>
                    <a:pt x="27" y="199"/>
                    <a:pt x="16" y="186"/>
                  </a:cubicBezTo>
                  <a:cubicBezTo>
                    <a:pt x="5" y="172"/>
                    <a:pt x="0" y="157"/>
                    <a:pt x="0" y="141"/>
                  </a:cubicBezTo>
                  <a:cubicBezTo>
                    <a:pt x="0" y="119"/>
                    <a:pt x="6" y="96"/>
                    <a:pt x="20" y="73"/>
                  </a:cubicBezTo>
                  <a:cubicBezTo>
                    <a:pt x="34" y="50"/>
                    <a:pt x="51" y="32"/>
                    <a:pt x="71" y="20"/>
                  </a:cubicBezTo>
                  <a:cubicBezTo>
                    <a:pt x="92" y="7"/>
                    <a:pt x="113" y="0"/>
                    <a:pt x="134" y="0"/>
                  </a:cubicBezTo>
                  <a:cubicBezTo>
                    <a:pt x="150" y="0"/>
                    <a:pt x="162" y="4"/>
                    <a:pt x="169" y="10"/>
                  </a:cubicBezTo>
                  <a:cubicBezTo>
                    <a:pt x="177" y="16"/>
                    <a:pt x="180" y="24"/>
                    <a:pt x="180" y="33"/>
                  </a:cubicBezTo>
                  <a:cubicBezTo>
                    <a:pt x="180" y="45"/>
                    <a:pt x="176" y="57"/>
                    <a:pt x="166" y="68"/>
                  </a:cubicBezTo>
                  <a:cubicBezTo>
                    <a:pt x="153" y="82"/>
                    <a:pt x="134" y="94"/>
                    <a:pt x="109" y="103"/>
                  </a:cubicBezTo>
                  <a:cubicBezTo>
                    <a:pt x="93" y="109"/>
                    <a:pt x="69" y="114"/>
                    <a:pt x="39" y="117"/>
                  </a:cubicBezTo>
                  <a:close/>
                  <a:moveTo>
                    <a:pt x="41" y="107"/>
                  </a:moveTo>
                  <a:cubicBezTo>
                    <a:pt x="63" y="104"/>
                    <a:pt x="81" y="100"/>
                    <a:pt x="94" y="94"/>
                  </a:cubicBezTo>
                  <a:cubicBezTo>
                    <a:pt x="112" y="86"/>
                    <a:pt x="126" y="76"/>
                    <a:pt x="135" y="65"/>
                  </a:cubicBezTo>
                  <a:cubicBezTo>
                    <a:pt x="144" y="53"/>
                    <a:pt x="149" y="43"/>
                    <a:pt x="149" y="32"/>
                  </a:cubicBezTo>
                  <a:cubicBezTo>
                    <a:pt x="149" y="26"/>
                    <a:pt x="147" y="21"/>
                    <a:pt x="143" y="17"/>
                  </a:cubicBezTo>
                  <a:cubicBezTo>
                    <a:pt x="139" y="13"/>
                    <a:pt x="133" y="12"/>
                    <a:pt x="126" y="12"/>
                  </a:cubicBezTo>
                  <a:cubicBezTo>
                    <a:pt x="111" y="12"/>
                    <a:pt x="95" y="20"/>
                    <a:pt x="78" y="36"/>
                  </a:cubicBezTo>
                  <a:cubicBezTo>
                    <a:pt x="61" y="52"/>
                    <a:pt x="49" y="75"/>
                    <a:pt x="41" y="1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679526916" name="Freeform 32"/>
            <p:cNvSpPr>
              <a:spLocks noEditPoints="1"/>
            </p:cNvSpPr>
            <p:nvPr/>
          </p:nvSpPr>
          <p:spPr bwMode="auto">
            <a:xfrm>
              <a:off x="4783027" y="2507270"/>
              <a:ext cx="51" cy="56"/>
            </a:xfrm>
            <a:custGeom>
              <a:avLst/>
              <a:gdLst>
                <a:gd name="T0" fmla="*/ 77 w 278"/>
                <a:gd name="T1" fmla="*/ 9 h 301"/>
                <a:gd name="T2" fmla="*/ 80 w 278"/>
                <a:gd name="T3" fmla="*/ 0 h 301"/>
                <a:gd name="T4" fmla="*/ 187 w 278"/>
                <a:gd name="T5" fmla="*/ 0 h 301"/>
                <a:gd name="T6" fmla="*/ 236 w 278"/>
                <a:gd name="T7" fmla="*/ 9 h 301"/>
                <a:gd name="T8" fmla="*/ 267 w 278"/>
                <a:gd name="T9" fmla="*/ 32 h 301"/>
                <a:gd name="T10" fmla="*/ 278 w 278"/>
                <a:gd name="T11" fmla="*/ 64 h 301"/>
                <a:gd name="T12" fmla="*/ 259 w 278"/>
                <a:gd name="T13" fmla="*/ 111 h 301"/>
                <a:gd name="T14" fmla="*/ 198 w 278"/>
                <a:gd name="T15" fmla="*/ 142 h 301"/>
                <a:gd name="T16" fmla="*/ 238 w 278"/>
                <a:gd name="T17" fmla="*/ 169 h 301"/>
                <a:gd name="T18" fmla="*/ 251 w 278"/>
                <a:gd name="T19" fmla="*/ 206 h 301"/>
                <a:gd name="T20" fmla="*/ 240 w 278"/>
                <a:gd name="T21" fmla="*/ 249 h 301"/>
                <a:gd name="T22" fmla="*/ 210 w 278"/>
                <a:gd name="T23" fmla="*/ 280 h 301"/>
                <a:gd name="T24" fmla="*/ 166 w 278"/>
                <a:gd name="T25" fmla="*/ 297 h 301"/>
                <a:gd name="T26" fmla="*/ 110 w 278"/>
                <a:gd name="T27" fmla="*/ 301 h 301"/>
                <a:gd name="T28" fmla="*/ 0 w 278"/>
                <a:gd name="T29" fmla="*/ 301 h 301"/>
                <a:gd name="T30" fmla="*/ 3 w 278"/>
                <a:gd name="T31" fmla="*/ 292 h 301"/>
                <a:gd name="T32" fmla="*/ 26 w 278"/>
                <a:gd name="T33" fmla="*/ 289 h 301"/>
                <a:gd name="T34" fmla="*/ 39 w 278"/>
                <a:gd name="T35" fmla="*/ 279 h 301"/>
                <a:gd name="T36" fmla="*/ 53 w 278"/>
                <a:gd name="T37" fmla="*/ 241 h 301"/>
                <a:gd name="T38" fmla="*/ 107 w 278"/>
                <a:gd name="T39" fmla="*/ 59 h 301"/>
                <a:gd name="T40" fmla="*/ 114 w 278"/>
                <a:gd name="T41" fmla="*/ 27 h 301"/>
                <a:gd name="T42" fmla="*/ 107 w 278"/>
                <a:gd name="T43" fmla="*/ 14 h 301"/>
                <a:gd name="T44" fmla="*/ 84 w 278"/>
                <a:gd name="T45" fmla="*/ 9 h 301"/>
                <a:gd name="T46" fmla="*/ 77 w 278"/>
                <a:gd name="T47" fmla="*/ 9 h 301"/>
                <a:gd name="T48" fmla="*/ 122 w 278"/>
                <a:gd name="T49" fmla="*/ 133 h 301"/>
                <a:gd name="T50" fmla="*/ 143 w 278"/>
                <a:gd name="T51" fmla="*/ 134 h 301"/>
                <a:gd name="T52" fmla="*/ 211 w 278"/>
                <a:gd name="T53" fmla="*/ 114 h 301"/>
                <a:gd name="T54" fmla="*/ 234 w 278"/>
                <a:gd name="T55" fmla="*/ 64 h 301"/>
                <a:gd name="T56" fmla="*/ 220 w 278"/>
                <a:gd name="T57" fmla="*/ 28 h 301"/>
                <a:gd name="T58" fmla="*/ 176 w 278"/>
                <a:gd name="T59" fmla="*/ 15 h 301"/>
                <a:gd name="T60" fmla="*/ 156 w 278"/>
                <a:gd name="T61" fmla="*/ 18 h 301"/>
                <a:gd name="T62" fmla="*/ 122 w 278"/>
                <a:gd name="T63" fmla="*/ 133 h 301"/>
                <a:gd name="T64" fmla="*/ 79 w 278"/>
                <a:gd name="T65" fmla="*/ 281 h 301"/>
                <a:gd name="T66" fmla="*/ 116 w 278"/>
                <a:gd name="T67" fmla="*/ 284 h 301"/>
                <a:gd name="T68" fmla="*/ 177 w 278"/>
                <a:gd name="T69" fmla="*/ 263 h 301"/>
                <a:gd name="T70" fmla="*/ 204 w 278"/>
                <a:gd name="T71" fmla="*/ 207 h 301"/>
                <a:gd name="T72" fmla="*/ 187 w 278"/>
                <a:gd name="T73" fmla="*/ 164 h 301"/>
                <a:gd name="T74" fmla="*/ 134 w 278"/>
                <a:gd name="T75" fmla="*/ 149 h 301"/>
                <a:gd name="T76" fmla="*/ 117 w 278"/>
                <a:gd name="T77" fmla="*/ 150 h 301"/>
                <a:gd name="T78" fmla="*/ 79 w 278"/>
                <a:gd name="T79" fmla="*/ 28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78" h="301" fill="norm" stroke="1" extrusionOk="0">
                  <a:moveTo>
                    <a:pt x="77" y="9"/>
                  </a:moveTo>
                  <a:lnTo>
                    <a:pt x="80" y="0"/>
                  </a:lnTo>
                  <a:lnTo>
                    <a:pt x="187" y="0"/>
                  </a:lnTo>
                  <a:cubicBezTo>
                    <a:pt x="206" y="0"/>
                    <a:pt x="222" y="3"/>
                    <a:pt x="236" y="9"/>
                  </a:cubicBezTo>
                  <a:cubicBezTo>
                    <a:pt x="250" y="14"/>
                    <a:pt x="260" y="22"/>
                    <a:pt x="267" y="32"/>
                  </a:cubicBezTo>
                  <a:cubicBezTo>
                    <a:pt x="274" y="42"/>
                    <a:pt x="278" y="53"/>
                    <a:pt x="278" y="64"/>
                  </a:cubicBezTo>
                  <a:cubicBezTo>
                    <a:pt x="278" y="81"/>
                    <a:pt x="272" y="97"/>
                    <a:pt x="259" y="111"/>
                  </a:cubicBezTo>
                  <a:cubicBezTo>
                    <a:pt x="247" y="125"/>
                    <a:pt x="226" y="135"/>
                    <a:pt x="198" y="142"/>
                  </a:cubicBezTo>
                  <a:cubicBezTo>
                    <a:pt x="216" y="149"/>
                    <a:pt x="230" y="158"/>
                    <a:pt x="238" y="169"/>
                  </a:cubicBezTo>
                  <a:cubicBezTo>
                    <a:pt x="247" y="180"/>
                    <a:pt x="251" y="192"/>
                    <a:pt x="251" y="206"/>
                  </a:cubicBezTo>
                  <a:cubicBezTo>
                    <a:pt x="251" y="221"/>
                    <a:pt x="247" y="235"/>
                    <a:pt x="240" y="249"/>
                  </a:cubicBezTo>
                  <a:cubicBezTo>
                    <a:pt x="232" y="262"/>
                    <a:pt x="222" y="273"/>
                    <a:pt x="210" y="280"/>
                  </a:cubicBezTo>
                  <a:cubicBezTo>
                    <a:pt x="198" y="288"/>
                    <a:pt x="183" y="293"/>
                    <a:pt x="166" y="297"/>
                  </a:cubicBezTo>
                  <a:cubicBezTo>
                    <a:pt x="154" y="299"/>
                    <a:pt x="135" y="301"/>
                    <a:pt x="110" y="301"/>
                  </a:cubicBezTo>
                  <a:lnTo>
                    <a:pt x="0" y="301"/>
                  </a:lnTo>
                  <a:lnTo>
                    <a:pt x="3" y="292"/>
                  </a:lnTo>
                  <a:cubicBezTo>
                    <a:pt x="14" y="292"/>
                    <a:pt x="22" y="291"/>
                    <a:pt x="26" y="289"/>
                  </a:cubicBezTo>
                  <a:cubicBezTo>
                    <a:pt x="32" y="287"/>
                    <a:pt x="36" y="283"/>
                    <a:pt x="39" y="279"/>
                  </a:cubicBezTo>
                  <a:cubicBezTo>
                    <a:pt x="42" y="274"/>
                    <a:pt x="47" y="261"/>
                    <a:pt x="53" y="241"/>
                  </a:cubicBezTo>
                  <a:lnTo>
                    <a:pt x="107" y="59"/>
                  </a:lnTo>
                  <a:cubicBezTo>
                    <a:pt x="111" y="44"/>
                    <a:pt x="114" y="33"/>
                    <a:pt x="114" y="27"/>
                  </a:cubicBezTo>
                  <a:cubicBezTo>
                    <a:pt x="114" y="21"/>
                    <a:pt x="111" y="17"/>
                    <a:pt x="107" y="14"/>
                  </a:cubicBezTo>
                  <a:cubicBezTo>
                    <a:pt x="103" y="10"/>
                    <a:pt x="96" y="9"/>
                    <a:pt x="84" y="9"/>
                  </a:cubicBezTo>
                  <a:cubicBezTo>
                    <a:pt x="82" y="9"/>
                    <a:pt x="79" y="9"/>
                    <a:pt x="77" y="9"/>
                  </a:cubicBezTo>
                  <a:close/>
                  <a:moveTo>
                    <a:pt x="122" y="133"/>
                  </a:moveTo>
                  <a:cubicBezTo>
                    <a:pt x="132" y="134"/>
                    <a:pt x="139" y="134"/>
                    <a:pt x="143" y="134"/>
                  </a:cubicBezTo>
                  <a:cubicBezTo>
                    <a:pt x="174" y="134"/>
                    <a:pt x="197" y="127"/>
                    <a:pt x="211" y="114"/>
                  </a:cubicBezTo>
                  <a:cubicBezTo>
                    <a:pt x="226" y="100"/>
                    <a:pt x="234" y="84"/>
                    <a:pt x="234" y="64"/>
                  </a:cubicBezTo>
                  <a:cubicBezTo>
                    <a:pt x="234" y="48"/>
                    <a:pt x="229" y="37"/>
                    <a:pt x="220" y="28"/>
                  </a:cubicBezTo>
                  <a:cubicBezTo>
                    <a:pt x="211" y="20"/>
                    <a:pt x="197" y="15"/>
                    <a:pt x="176" y="15"/>
                  </a:cubicBezTo>
                  <a:cubicBezTo>
                    <a:pt x="171" y="15"/>
                    <a:pt x="164" y="16"/>
                    <a:pt x="156" y="18"/>
                  </a:cubicBezTo>
                  <a:lnTo>
                    <a:pt x="122" y="133"/>
                  </a:lnTo>
                  <a:close/>
                  <a:moveTo>
                    <a:pt x="79" y="281"/>
                  </a:moveTo>
                  <a:cubicBezTo>
                    <a:pt x="95" y="283"/>
                    <a:pt x="107" y="284"/>
                    <a:pt x="116" y="284"/>
                  </a:cubicBezTo>
                  <a:cubicBezTo>
                    <a:pt x="139" y="284"/>
                    <a:pt x="159" y="277"/>
                    <a:pt x="177" y="263"/>
                  </a:cubicBezTo>
                  <a:cubicBezTo>
                    <a:pt x="195" y="250"/>
                    <a:pt x="204" y="231"/>
                    <a:pt x="204" y="207"/>
                  </a:cubicBezTo>
                  <a:cubicBezTo>
                    <a:pt x="204" y="189"/>
                    <a:pt x="198" y="175"/>
                    <a:pt x="187" y="164"/>
                  </a:cubicBezTo>
                  <a:cubicBezTo>
                    <a:pt x="176" y="154"/>
                    <a:pt x="159" y="149"/>
                    <a:pt x="134" y="149"/>
                  </a:cubicBezTo>
                  <a:cubicBezTo>
                    <a:pt x="129" y="149"/>
                    <a:pt x="124" y="149"/>
                    <a:pt x="117" y="150"/>
                  </a:cubicBezTo>
                  <a:lnTo>
                    <a:pt x="79" y="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387486864" name="Freeform 33"/>
            <p:cNvSpPr>
              <a:spLocks noEditPoints="1"/>
            </p:cNvSpPr>
            <p:nvPr/>
          </p:nvSpPr>
          <p:spPr bwMode="auto">
            <a:xfrm>
              <a:off x="4783086" y="2507274"/>
              <a:ext cx="18" cy="55"/>
            </a:xfrm>
            <a:custGeom>
              <a:avLst/>
              <a:gdLst>
                <a:gd name="T0" fmla="*/ 82 w 104"/>
                <a:gd name="T1" fmla="*/ 0 h 294"/>
                <a:gd name="T2" fmla="*/ 97 w 104"/>
                <a:gd name="T3" fmla="*/ 7 h 294"/>
                <a:gd name="T4" fmla="*/ 104 w 104"/>
                <a:gd name="T5" fmla="*/ 23 h 294"/>
                <a:gd name="T6" fmla="*/ 97 w 104"/>
                <a:gd name="T7" fmla="*/ 38 h 294"/>
                <a:gd name="T8" fmla="*/ 82 w 104"/>
                <a:gd name="T9" fmla="*/ 45 h 294"/>
                <a:gd name="T10" fmla="*/ 66 w 104"/>
                <a:gd name="T11" fmla="*/ 38 h 294"/>
                <a:gd name="T12" fmla="*/ 59 w 104"/>
                <a:gd name="T13" fmla="*/ 23 h 294"/>
                <a:gd name="T14" fmla="*/ 66 w 104"/>
                <a:gd name="T15" fmla="*/ 7 h 294"/>
                <a:gd name="T16" fmla="*/ 82 w 104"/>
                <a:gd name="T17" fmla="*/ 0 h 294"/>
                <a:gd name="T18" fmla="*/ 84 w 104"/>
                <a:gd name="T19" fmla="*/ 88 h 294"/>
                <a:gd name="T20" fmla="*/ 41 w 104"/>
                <a:gd name="T21" fmla="*/ 243 h 294"/>
                <a:gd name="T22" fmla="*/ 36 w 104"/>
                <a:gd name="T23" fmla="*/ 262 h 294"/>
                <a:gd name="T24" fmla="*/ 38 w 104"/>
                <a:gd name="T25" fmla="*/ 268 h 294"/>
                <a:gd name="T26" fmla="*/ 43 w 104"/>
                <a:gd name="T27" fmla="*/ 270 h 294"/>
                <a:gd name="T28" fmla="*/ 51 w 104"/>
                <a:gd name="T29" fmla="*/ 267 h 294"/>
                <a:gd name="T30" fmla="*/ 77 w 104"/>
                <a:gd name="T31" fmla="*/ 238 h 294"/>
                <a:gd name="T32" fmla="*/ 84 w 104"/>
                <a:gd name="T33" fmla="*/ 243 h 294"/>
                <a:gd name="T34" fmla="*/ 49 w 104"/>
                <a:gd name="T35" fmla="*/ 282 h 294"/>
                <a:gd name="T36" fmla="*/ 20 w 104"/>
                <a:gd name="T37" fmla="*/ 294 h 294"/>
                <a:gd name="T38" fmla="*/ 5 w 104"/>
                <a:gd name="T39" fmla="*/ 289 h 294"/>
                <a:gd name="T40" fmla="*/ 0 w 104"/>
                <a:gd name="T41" fmla="*/ 275 h 294"/>
                <a:gd name="T42" fmla="*/ 5 w 104"/>
                <a:gd name="T43" fmla="*/ 248 h 294"/>
                <a:gd name="T44" fmla="*/ 34 w 104"/>
                <a:gd name="T45" fmla="*/ 148 h 294"/>
                <a:gd name="T46" fmla="*/ 41 w 104"/>
                <a:gd name="T47" fmla="*/ 118 h 294"/>
                <a:gd name="T48" fmla="*/ 37 w 104"/>
                <a:gd name="T49" fmla="*/ 110 h 294"/>
                <a:gd name="T50" fmla="*/ 28 w 104"/>
                <a:gd name="T51" fmla="*/ 107 h 294"/>
                <a:gd name="T52" fmla="*/ 8 w 104"/>
                <a:gd name="T53" fmla="*/ 109 h 294"/>
                <a:gd name="T54" fmla="*/ 8 w 104"/>
                <a:gd name="T55" fmla="*/ 101 h 294"/>
                <a:gd name="T56" fmla="*/ 84 w 104"/>
                <a:gd name="T57" fmla="*/ 88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4" h="294" fill="norm" stroke="1" extrusionOk="0">
                  <a:moveTo>
                    <a:pt x="82" y="0"/>
                  </a:moveTo>
                  <a:cubicBezTo>
                    <a:pt x="88" y="0"/>
                    <a:pt x="93" y="3"/>
                    <a:pt x="97" y="7"/>
                  </a:cubicBezTo>
                  <a:cubicBezTo>
                    <a:pt x="102" y="11"/>
                    <a:pt x="104" y="16"/>
                    <a:pt x="104" y="23"/>
                  </a:cubicBezTo>
                  <a:cubicBezTo>
                    <a:pt x="104" y="29"/>
                    <a:pt x="101" y="34"/>
                    <a:pt x="97" y="38"/>
                  </a:cubicBezTo>
                  <a:cubicBezTo>
                    <a:pt x="93" y="43"/>
                    <a:pt x="88" y="45"/>
                    <a:pt x="82" y="45"/>
                  </a:cubicBezTo>
                  <a:cubicBezTo>
                    <a:pt x="75" y="45"/>
                    <a:pt x="70" y="43"/>
                    <a:pt x="66" y="38"/>
                  </a:cubicBezTo>
                  <a:cubicBezTo>
                    <a:pt x="62" y="34"/>
                    <a:pt x="59" y="29"/>
                    <a:pt x="59" y="23"/>
                  </a:cubicBezTo>
                  <a:cubicBezTo>
                    <a:pt x="59" y="16"/>
                    <a:pt x="62" y="11"/>
                    <a:pt x="66" y="7"/>
                  </a:cubicBezTo>
                  <a:cubicBezTo>
                    <a:pt x="70" y="3"/>
                    <a:pt x="75" y="0"/>
                    <a:pt x="82" y="0"/>
                  </a:cubicBezTo>
                  <a:close/>
                  <a:moveTo>
                    <a:pt x="84" y="88"/>
                  </a:moveTo>
                  <a:lnTo>
                    <a:pt x="41" y="243"/>
                  </a:lnTo>
                  <a:cubicBezTo>
                    <a:pt x="38" y="254"/>
                    <a:pt x="36" y="260"/>
                    <a:pt x="36" y="262"/>
                  </a:cubicBezTo>
                  <a:cubicBezTo>
                    <a:pt x="36" y="265"/>
                    <a:pt x="37" y="267"/>
                    <a:pt x="38" y="268"/>
                  </a:cubicBezTo>
                  <a:cubicBezTo>
                    <a:pt x="40" y="270"/>
                    <a:pt x="41" y="270"/>
                    <a:pt x="43" y="270"/>
                  </a:cubicBezTo>
                  <a:cubicBezTo>
                    <a:pt x="45" y="270"/>
                    <a:pt x="48" y="269"/>
                    <a:pt x="51" y="267"/>
                  </a:cubicBezTo>
                  <a:cubicBezTo>
                    <a:pt x="60" y="260"/>
                    <a:pt x="68" y="251"/>
                    <a:pt x="77" y="238"/>
                  </a:cubicBezTo>
                  <a:lnTo>
                    <a:pt x="84" y="243"/>
                  </a:lnTo>
                  <a:cubicBezTo>
                    <a:pt x="74" y="259"/>
                    <a:pt x="63" y="272"/>
                    <a:pt x="49" y="282"/>
                  </a:cubicBezTo>
                  <a:cubicBezTo>
                    <a:pt x="39" y="290"/>
                    <a:pt x="29" y="294"/>
                    <a:pt x="20" y="294"/>
                  </a:cubicBezTo>
                  <a:cubicBezTo>
                    <a:pt x="14" y="294"/>
                    <a:pt x="9" y="292"/>
                    <a:pt x="5" y="289"/>
                  </a:cubicBezTo>
                  <a:cubicBezTo>
                    <a:pt x="2" y="285"/>
                    <a:pt x="0" y="280"/>
                    <a:pt x="0" y="275"/>
                  </a:cubicBezTo>
                  <a:cubicBezTo>
                    <a:pt x="0" y="269"/>
                    <a:pt x="1" y="260"/>
                    <a:pt x="5" y="248"/>
                  </a:cubicBezTo>
                  <a:lnTo>
                    <a:pt x="34" y="148"/>
                  </a:lnTo>
                  <a:cubicBezTo>
                    <a:pt x="39" y="132"/>
                    <a:pt x="41" y="122"/>
                    <a:pt x="41" y="118"/>
                  </a:cubicBezTo>
                  <a:cubicBezTo>
                    <a:pt x="41" y="115"/>
                    <a:pt x="40" y="112"/>
                    <a:pt x="37" y="110"/>
                  </a:cubicBezTo>
                  <a:cubicBezTo>
                    <a:pt x="35" y="108"/>
                    <a:pt x="32" y="107"/>
                    <a:pt x="28" y="107"/>
                  </a:cubicBezTo>
                  <a:cubicBezTo>
                    <a:pt x="25" y="107"/>
                    <a:pt x="18" y="108"/>
                    <a:pt x="8" y="109"/>
                  </a:cubicBezTo>
                  <a:lnTo>
                    <a:pt x="8" y="101"/>
                  </a:lnTo>
                  <a:lnTo>
                    <a:pt x="84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248021307" name="Freeform 34"/>
            <p:cNvSpPr/>
            <p:nvPr/>
          </p:nvSpPr>
          <p:spPr bwMode="auto">
            <a:xfrm>
              <a:off x="4783107" y="2507289"/>
              <a:ext cx="32" cy="37"/>
            </a:xfrm>
            <a:custGeom>
              <a:avLst/>
              <a:gdLst>
                <a:gd name="T0" fmla="*/ 15 w 175"/>
                <a:gd name="T1" fmla="*/ 13 h 201"/>
                <a:gd name="T2" fmla="*/ 91 w 175"/>
                <a:gd name="T3" fmla="*/ 0 h 201"/>
                <a:gd name="T4" fmla="*/ 59 w 175"/>
                <a:gd name="T5" fmla="*/ 108 h 201"/>
                <a:gd name="T6" fmla="*/ 130 w 175"/>
                <a:gd name="T7" fmla="*/ 15 h 201"/>
                <a:gd name="T8" fmla="*/ 159 w 175"/>
                <a:gd name="T9" fmla="*/ 0 h 201"/>
                <a:gd name="T10" fmla="*/ 170 w 175"/>
                <a:gd name="T11" fmla="*/ 5 h 201"/>
                <a:gd name="T12" fmla="*/ 175 w 175"/>
                <a:gd name="T13" fmla="*/ 17 h 201"/>
                <a:gd name="T14" fmla="*/ 167 w 175"/>
                <a:gd name="T15" fmla="*/ 45 h 201"/>
                <a:gd name="T16" fmla="*/ 152 w 175"/>
                <a:gd name="T17" fmla="*/ 55 h 201"/>
                <a:gd name="T18" fmla="*/ 143 w 175"/>
                <a:gd name="T19" fmla="*/ 52 h 201"/>
                <a:gd name="T20" fmla="*/ 139 w 175"/>
                <a:gd name="T21" fmla="*/ 41 h 201"/>
                <a:gd name="T22" fmla="*/ 137 w 175"/>
                <a:gd name="T23" fmla="*/ 36 h 201"/>
                <a:gd name="T24" fmla="*/ 132 w 175"/>
                <a:gd name="T25" fmla="*/ 34 h 201"/>
                <a:gd name="T26" fmla="*/ 125 w 175"/>
                <a:gd name="T27" fmla="*/ 36 h 201"/>
                <a:gd name="T28" fmla="*/ 108 w 175"/>
                <a:gd name="T29" fmla="*/ 53 h 201"/>
                <a:gd name="T30" fmla="*/ 68 w 175"/>
                <a:gd name="T31" fmla="*/ 109 h 201"/>
                <a:gd name="T32" fmla="*/ 52 w 175"/>
                <a:gd name="T33" fmla="*/ 142 h 201"/>
                <a:gd name="T34" fmla="*/ 41 w 175"/>
                <a:gd name="T35" fmla="*/ 173 h 201"/>
                <a:gd name="T36" fmla="*/ 34 w 175"/>
                <a:gd name="T37" fmla="*/ 201 h 201"/>
                <a:gd name="T38" fmla="*/ 0 w 175"/>
                <a:gd name="T39" fmla="*/ 201 h 201"/>
                <a:gd name="T40" fmla="*/ 41 w 175"/>
                <a:gd name="T41" fmla="*/ 63 h 201"/>
                <a:gd name="T42" fmla="*/ 48 w 175"/>
                <a:gd name="T43" fmla="*/ 29 h 201"/>
                <a:gd name="T44" fmla="*/ 45 w 175"/>
                <a:gd name="T45" fmla="*/ 22 h 201"/>
                <a:gd name="T46" fmla="*/ 33 w 175"/>
                <a:gd name="T47" fmla="*/ 19 h 201"/>
                <a:gd name="T48" fmla="*/ 16 w 175"/>
                <a:gd name="T49" fmla="*/ 21 h 201"/>
                <a:gd name="T50" fmla="*/ 15 w 175"/>
                <a:gd name="T51" fmla="*/ 1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5" h="201" fill="norm" stroke="1" extrusionOk="0">
                  <a:moveTo>
                    <a:pt x="15" y="13"/>
                  </a:moveTo>
                  <a:lnTo>
                    <a:pt x="91" y="0"/>
                  </a:lnTo>
                  <a:lnTo>
                    <a:pt x="59" y="108"/>
                  </a:lnTo>
                  <a:cubicBezTo>
                    <a:pt x="85" y="64"/>
                    <a:pt x="109" y="33"/>
                    <a:pt x="130" y="15"/>
                  </a:cubicBezTo>
                  <a:cubicBezTo>
                    <a:pt x="142" y="5"/>
                    <a:pt x="151" y="0"/>
                    <a:pt x="159" y="0"/>
                  </a:cubicBezTo>
                  <a:cubicBezTo>
                    <a:pt x="164" y="0"/>
                    <a:pt x="168" y="2"/>
                    <a:pt x="170" y="5"/>
                  </a:cubicBezTo>
                  <a:cubicBezTo>
                    <a:pt x="173" y="7"/>
                    <a:pt x="175" y="12"/>
                    <a:pt x="175" y="17"/>
                  </a:cubicBezTo>
                  <a:cubicBezTo>
                    <a:pt x="175" y="27"/>
                    <a:pt x="172" y="36"/>
                    <a:pt x="167" y="45"/>
                  </a:cubicBezTo>
                  <a:cubicBezTo>
                    <a:pt x="164" y="52"/>
                    <a:pt x="158" y="55"/>
                    <a:pt x="152" y="55"/>
                  </a:cubicBezTo>
                  <a:cubicBezTo>
                    <a:pt x="148" y="55"/>
                    <a:pt x="145" y="54"/>
                    <a:pt x="143" y="52"/>
                  </a:cubicBezTo>
                  <a:cubicBezTo>
                    <a:pt x="141" y="49"/>
                    <a:pt x="139" y="46"/>
                    <a:pt x="139" y="41"/>
                  </a:cubicBezTo>
                  <a:cubicBezTo>
                    <a:pt x="138" y="39"/>
                    <a:pt x="138" y="37"/>
                    <a:pt x="137" y="36"/>
                  </a:cubicBezTo>
                  <a:cubicBezTo>
                    <a:pt x="135" y="35"/>
                    <a:pt x="134" y="34"/>
                    <a:pt x="132" y="34"/>
                  </a:cubicBezTo>
                  <a:cubicBezTo>
                    <a:pt x="130" y="34"/>
                    <a:pt x="127" y="35"/>
                    <a:pt x="125" y="36"/>
                  </a:cubicBezTo>
                  <a:cubicBezTo>
                    <a:pt x="121" y="38"/>
                    <a:pt x="116" y="44"/>
                    <a:pt x="108" y="53"/>
                  </a:cubicBezTo>
                  <a:cubicBezTo>
                    <a:pt x="96" y="68"/>
                    <a:pt x="82" y="86"/>
                    <a:pt x="68" y="109"/>
                  </a:cubicBezTo>
                  <a:cubicBezTo>
                    <a:pt x="62" y="119"/>
                    <a:pt x="56" y="130"/>
                    <a:pt x="52" y="142"/>
                  </a:cubicBezTo>
                  <a:cubicBezTo>
                    <a:pt x="46" y="159"/>
                    <a:pt x="42" y="169"/>
                    <a:pt x="41" y="173"/>
                  </a:cubicBezTo>
                  <a:lnTo>
                    <a:pt x="34" y="201"/>
                  </a:lnTo>
                  <a:lnTo>
                    <a:pt x="0" y="201"/>
                  </a:lnTo>
                  <a:lnTo>
                    <a:pt x="41" y="63"/>
                  </a:lnTo>
                  <a:cubicBezTo>
                    <a:pt x="46" y="47"/>
                    <a:pt x="48" y="36"/>
                    <a:pt x="48" y="29"/>
                  </a:cubicBezTo>
                  <a:cubicBezTo>
                    <a:pt x="48" y="26"/>
                    <a:pt x="47" y="24"/>
                    <a:pt x="45" y="22"/>
                  </a:cubicBezTo>
                  <a:cubicBezTo>
                    <a:pt x="42" y="20"/>
                    <a:pt x="38" y="19"/>
                    <a:pt x="33" y="19"/>
                  </a:cubicBezTo>
                  <a:cubicBezTo>
                    <a:pt x="30" y="19"/>
                    <a:pt x="25" y="20"/>
                    <a:pt x="16" y="21"/>
                  </a:cubicBezTo>
                  <a:lnTo>
                    <a:pt x="15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529561970" name="Freeform 35"/>
            <p:cNvSpPr>
              <a:spLocks noEditPoints="1"/>
            </p:cNvSpPr>
            <p:nvPr/>
          </p:nvSpPr>
          <p:spPr bwMode="auto">
            <a:xfrm>
              <a:off x="4783140" y="2507268"/>
              <a:ext cx="45" cy="59"/>
            </a:xfrm>
            <a:custGeom>
              <a:avLst/>
              <a:gdLst>
                <a:gd name="T0" fmla="*/ 237 w 237"/>
                <a:gd name="T1" fmla="*/ 0 h 320"/>
                <a:gd name="T2" fmla="*/ 161 w 237"/>
                <a:gd name="T3" fmla="*/ 261 h 320"/>
                <a:gd name="T4" fmla="*/ 155 w 237"/>
                <a:gd name="T5" fmla="*/ 289 h 320"/>
                <a:gd name="T6" fmla="*/ 156 w 237"/>
                <a:gd name="T7" fmla="*/ 293 h 320"/>
                <a:gd name="T8" fmla="*/ 160 w 237"/>
                <a:gd name="T9" fmla="*/ 295 h 320"/>
                <a:gd name="T10" fmla="*/ 167 w 237"/>
                <a:gd name="T11" fmla="*/ 292 h 320"/>
                <a:gd name="T12" fmla="*/ 193 w 237"/>
                <a:gd name="T13" fmla="*/ 266 h 320"/>
                <a:gd name="T14" fmla="*/ 200 w 237"/>
                <a:gd name="T15" fmla="*/ 270 h 320"/>
                <a:gd name="T16" fmla="*/ 168 w 237"/>
                <a:gd name="T17" fmla="*/ 306 h 320"/>
                <a:gd name="T18" fmla="*/ 137 w 237"/>
                <a:gd name="T19" fmla="*/ 320 h 320"/>
                <a:gd name="T20" fmla="*/ 125 w 237"/>
                <a:gd name="T21" fmla="*/ 315 h 320"/>
                <a:gd name="T22" fmla="*/ 120 w 237"/>
                <a:gd name="T23" fmla="*/ 300 h 320"/>
                <a:gd name="T24" fmla="*/ 127 w 237"/>
                <a:gd name="T25" fmla="*/ 266 h 320"/>
                <a:gd name="T26" fmla="*/ 135 w 237"/>
                <a:gd name="T27" fmla="*/ 238 h 320"/>
                <a:gd name="T28" fmla="*/ 77 w 237"/>
                <a:gd name="T29" fmla="*/ 307 h 320"/>
                <a:gd name="T30" fmla="*/ 42 w 237"/>
                <a:gd name="T31" fmla="*/ 320 h 320"/>
                <a:gd name="T32" fmla="*/ 13 w 237"/>
                <a:gd name="T33" fmla="*/ 305 h 320"/>
                <a:gd name="T34" fmla="*/ 0 w 237"/>
                <a:gd name="T35" fmla="*/ 264 h 320"/>
                <a:gd name="T36" fmla="*/ 21 w 237"/>
                <a:gd name="T37" fmla="*/ 194 h 320"/>
                <a:gd name="T38" fmla="*/ 77 w 237"/>
                <a:gd name="T39" fmla="*/ 133 h 320"/>
                <a:gd name="T40" fmla="*/ 127 w 237"/>
                <a:gd name="T41" fmla="*/ 114 h 320"/>
                <a:gd name="T42" fmla="*/ 148 w 237"/>
                <a:gd name="T43" fmla="*/ 119 h 320"/>
                <a:gd name="T44" fmla="*/ 165 w 237"/>
                <a:gd name="T45" fmla="*/ 135 h 320"/>
                <a:gd name="T46" fmla="*/ 186 w 237"/>
                <a:gd name="T47" fmla="*/ 58 h 320"/>
                <a:gd name="T48" fmla="*/ 190 w 237"/>
                <a:gd name="T49" fmla="*/ 45 h 320"/>
                <a:gd name="T50" fmla="*/ 193 w 237"/>
                <a:gd name="T51" fmla="*/ 31 h 320"/>
                <a:gd name="T52" fmla="*/ 190 w 237"/>
                <a:gd name="T53" fmla="*/ 23 h 320"/>
                <a:gd name="T54" fmla="*/ 178 w 237"/>
                <a:gd name="T55" fmla="*/ 19 h 320"/>
                <a:gd name="T56" fmla="*/ 161 w 237"/>
                <a:gd name="T57" fmla="*/ 21 h 320"/>
                <a:gd name="T58" fmla="*/ 161 w 237"/>
                <a:gd name="T59" fmla="*/ 12 h 320"/>
                <a:gd name="T60" fmla="*/ 237 w 237"/>
                <a:gd name="T61" fmla="*/ 0 h 320"/>
                <a:gd name="T62" fmla="*/ 155 w 237"/>
                <a:gd name="T63" fmla="*/ 157 h 320"/>
                <a:gd name="T64" fmla="*/ 147 w 237"/>
                <a:gd name="T65" fmla="*/ 134 h 320"/>
                <a:gd name="T66" fmla="*/ 126 w 237"/>
                <a:gd name="T67" fmla="*/ 126 h 320"/>
                <a:gd name="T68" fmla="*/ 68 w 237"/>
                <a:gd name="T69" fmla="*/ 172 h 320"/>
                <a:gd name="T70" fmla="*/ 38 w 237"/>
                <a:gd name="T71" fmla="*/ 260 h 320"/>
                <a:gd name="T72" fmla="*/ 45 w 237"/>
                <a:gd name="T73" fmla="*/ 285 h 320"/>
                <a:gd name="T74" fmla="*/ 62 w 237"/>
                <a:gd name="T75" fmla="*/ 294 h 320"/>
                <a:gd name="T76" fmla="*/ 120 w 237"/>
                <a:gd name="T77" fmla="*/ 244 h 320"/>
                <a:gd name="T78" fmla="*/ 155 w 237"/>
                <a:gd name="T79" fmla="*/ 157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37" h="320" fill="norm" stroke="1" extrusionOk="0">
                  <a:moveTo>
                    <a:pt x="237" y="0"/>
                  </a:moveTo>
                  <a:lnTo>
                    <a:pt x="161" y="261"/>
                  </a:lnTo>
                  <a:cubicBezTo>
                    <a:pt x="157" y="275"/>
                    <a:pt x="155" y="285"/>
                    <a:pt x="155" y="289"/>
                  </a:cubicBezTo>
                  <a:cubicBezTo>
                    <a:pt x="155" y="290"/>
                    <a:pt x="155" y="292"/>
                    <a:pt x="156" y="293"/>
                  </a:cubicBezTo>
                  <a:cubicBezTo>
                    <a:pt x="158" y="294"/>
                    <a:pt x="159" y="295"/>
                    <a:pt x="160" y="295"/>
                  </a:cubicBezTo>
                  <a:cubicBezTo>
                    <a:pt x="162" y="295"/>
                    <a:pt x="165" y="294"/>
                    <a:pt x="167" y="292"/>
                  </a:cubicBezTo>
                  <a:cubicBezTo>
                    <a:pt x="172" y="289"/>
                    <a:pt x="181" y="280"/>
                    <a:pt x="193" y="266"/>
                  </a:cubicBezTo>
                  <a:lnTo>
                    <a:pt x="200" y="270"/>
                  </a:lnTo>
                  <a:cubicBezTo>
                    <a:pt x="189" y="285"/>
                    <a:pt x="179" y="297"/>
                    <a:pt x="168" y="306"/>
                  </a:cubicBezTo>
                  <a:cubicBezTo>
                    <a:pt x="157" y="315"/>
                    <a:pt x="147" y="320"/>
                    <a:pt x="137" y="320"/>
                  </a:cubicBezTo>
                  <a:cubicBezTo>
                    <a:pt x="132" y="320"/>
                    <a:pt x="128" y="318"/>
                    <a:pt x="125" y="315"/>
                  </a:cubicBezTo>
                  <a:cubicBezTo>
                    <a:pt x="122" y="311"/>
                    <a:pt x="120" y="306"/>
                    <a:pt x="120" y="300"/>
                  </a:cubicBezTo>
                  <a:cubicBezTo>
                    <a:pt x="120" y="291"/>
                    <a:pt x="122" y="280"/>
                    <a:pt x="127" y="266"/>
                  </a:cubicBezTo>
                  <a:lnTo>
                    <a:pt x="135" y="238"/>
                  </a:lnTo>
                  <a:cubicBezTo>
                    <a:pt x="114" y="271"/>
                    <a:pt x="95" y="294"/>
                    <a:pt x="77" y="307"/>
                  </a:cubicBezTo>
                  <a:cubicBezTo>
                    <a:pt x="65" y="316"/>
                    <a:pt x="53" y="320"/>
                    <a:pt x="42" y="320"/>
                  </a:cubicBezTo>
                  <a:cubicBezTo>
                    <a:pt x="31" y="320"/>
                    <a:pt x="21" y="315"/>
                    <a:pt x="13" y="305"/>
                  </a:cubicBezTo>
                  <a:cubicBezTo>
                    <a:pt x="4" y="295"/>
                    <a:pt x="0" y="281"/>
                    <a:pt x="0" y="264"/>
                  </a:cubicBezTo>
                  <a:cubicBezTo>
                    <a:pt x="0" y="242"/>
                    <a:pt x="7" y="219"/>
                    <a:pt x="21" y="194"/>
                  </a:cubicBezTo>
                  <a:cubicBezTo>
                    <a:pt x="35" y="169"/>
                    <a:pt x="54" y="149"/>
                    <a:pt x="77" y="133"/>
                  </a:cubicBezTo>
                  <a:cubicBezTo>
                    <a:pt x="95" y="121"/>
                    <a:pt x="112" y="114"/>
                    <a:pt x="127" y="114"/>
                  </a:cubicBezTo>
                  <a:cubicBezTo>
                    <a:pt x="135" y="114"/>
                    <a:pt x="142" y="116"/>
                    <a:pt x="148" y="119"/>
                  </a:cubicBezTo>
                  <a:cubicBezTo>
                    <a:pt x="153" y="122"/>
                    <a:pt x="159" y="128"/>
                    <a:pt x="165" y="135"/>
                  </a:cubicBezTo>
                  <a:lnTo>
                    <a:pt x="186" y="58"/>
                  </a:lnTo>
                  <a:cubicBezTo>
                    <a:pt x="188" y="53"/>
                    <a:pt x="189" y="48"/>
                    <a:pt x="190" y="45"/>
                  </a:cubicBezTo>
                  <a:cubicBezTo>
                    <a:pt x="192" y="39"/>
                    <a:pt x="193" y="34"/>
                    <a:pt x="193" y="31"/>
                  </a:cubicBezTo>
                  <a:cubicBezTo>
                    <a:pt x="193" y="27"/>
                    <a:pt x="192" y="25"/>
                    <a:pt x="190" y="23"/>
                  </a:cubicBezTo>
                  <a:cubicBezTo>
                    <a:pt x="187" y="20"/>
                    <a:pt x="183" y="19"/>
                    <a:pt x="178" y="19"/>
                  </a:cubicBezTo>
                  <a:cubicBezTo>
                    <a:pt x="174" y="19"/>
                    <a:pt x="169" y="20"/>
                    <a:pt x="161" y="21"/>
                  </a:cubicBezTo>
                  <a:lnTo>
                    <a:pt x="161" y="12"/>
                  </a:lnTo>
                  <a:lnTo>
                    <a:pt x="237" y="0"/>
                  </a:lnTo>
                  <a:close/>
                  <a:moveTo>
                    <a:pt x="155" y="157"/>
                  </a:moveTo>
                  <a:cubicBezTo>
                    <a:pt x="155" y="148"/>
                    <a:pt x="152" y="140"/>
                    <a:pt x="147" y="134"/>
                  </a:cubicBezTo>
                  <a:cubicBezTo>
                    <a:pt x="141" y="128"/>
                    <a:pt x="134" y="126"/>
                    <a:pt x="126" y="126"/>
                  </a:cubicBezTo>
                  <a:cubicBezTo>
                    <a:pt x="107" y="126"/>
                    <a:pt x="88" y="141"/>
                    <a:pt x="68" y="172"/>
                  </a:cubicBezTo>
                  <a:cubicBezTo>
                    <a:pt x="48" y="202"/>
                    <a:pt x="38" y="232"/>
                    <a:pt x="38" y="260"/>
                  </a:cubicBezTo>
                  <a:cubicBezTo>
                    <a:pt x="38" y="271"/>
                    <a:pt x="40" y="279"/>
                    <a:pt x="45" y="285"/>
                  </a:cubicBezTo>
                  <a:cubicBezTo>
                    <a:pt x="50" y="291"/>
                    <a:pt x="56" y="294"/>
                    <a:pt x="62" y="294"/>
                  </a:cubicBezTo>
                  <a:cubicBezTo>
                    <a:pt x="78" y="294"/>
                    <a:pt x="97" y="277"/>
                    <a:pt x="120" y="244"/>
                  </a:cubicBezTo>
                  <a:cubicBezTo>
                    <a:pt x="143" y="211"/>
                    <a:pt x="155" y="182"/>
                    <a:pt x="155" y="1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2037980625" name="Freeform 36"/>
            <p:cNvSpPr/>
            <p:nvPr/>
          </p:nvSpPr>
          <p:spPr bwMode="auto">
            <a:xfrm>
              <a:off x="4783179" y="2507289"/>
              <a:ext cx="30" cy="38"/>
            </a:xfrm>
            <a:custGeom>
              <a:avLst/>
              <a:gdLst>
                <a:gd name="T0" fmla="*/ 169 w 169"/>
                <a:gd name="T1" fmla="*/ 0 h 206"/>
                <a:gd name="T2" fmla="*/ 155 w 169"/>
                <a:gd name="T3" fmla="*/ 68 h 206"/>
                <a:gd name="T4" fmla="*/ 147 w 169"/>
                <a:gd name="T5" fmla="*/ 68 h 206"/>
                <a:gd name="T6" fmla="*/ 135 w 169"/>
                <a:gd name="T7" fmla="*/ 25 h 206"/>
                <a:gd name="T8" fmla="*/ 106 w 169"/>
                <a:gd name="T9" fmla="*/ 12 h 206"/>
                <a:gd name="T10" fmla="*/ 84 w 169"/>
                <a:gd name="T11" fmla="*/ 19 h 206"/>
                <a:gd name="T12" fmla="*/ 76 w 169"/>
                <a:gd name="T13" fmla="*/ 37 h 206"/>
                <a:gd name="T14" fmla="*/ 79 w 169"/>
                <a:gd name="T15" fmla="*/ 51 h 206"/>
                <a:gd name="T16" fmla="*/ 93 w 169"/>
                <a:gd name="T17" fmla="*/ 70 h 206"/>
                <a:gd name="T18" fmla="*/ 131 w 169"/>
                <a:gd name="T19" fmla="*/ 117 h 206"/>
                <a:gd name="T20" fmla="*/ 139 w 169"/>
                <a:gd name="T21" fmla="*/ 147 h 206"/>
                <a:gd name="T22" fmla="*/ 120 w 169"/>
                <a:gd name="T23" fmla="*/ 188 h 206"/>
                <a:gd name="T24" fmla="*/ 72 w 169"/>
                <a:gd name="T25" fmla="*/ 206 h 206"/>
                <a:gd name="T26" fmla="*/ 35 w 169"/>
                <a:gd name="T27" fmla="*/ 198 h 206"/>
                <a:gd name="T28" fmla="*/ 23 w 169"/>
                <a:gd name="T29" fmla="*/ 196 h 206"/>
                <a:gd name="T30" fmla="*/ 8 w 169"/>
                <a:gd name="T31" fmla="*/ 206 h 206"/>
                <a:gd name="T32" fmla="*/ 0 w 169"/>
                <a:gd name="T33" fmla="*/ 206 h 206"/>
                <a:gd name="T34" fmla="*/ 14 w 169"/>
                <a:gd name="T35" fmla="*/ 134 h 206"/>
                <a:gd name="T36" fmla="*/ 22 w 169"/>
                <a:gd name="T37" fmla="*/ 134 h 206"/>
                <a:gd name="T38" fmla="*/ 36 w 169"/>
                <a:gd name="T39" fmla="*/ 182 h 206"/>
                <a:gd name="T40" fmla="*/ 70 w 169"/>
                <a:gd name="T41" fmla="*/ 196 h 206"/>
                <a:gd name="T42" fmla="*/ 97 w 169"/>
                <a:gd name="T43" fmla="*/ 186 h 206"/>
                <a:gd name="T44" fmla="*/ 107 w 169"/>
                <a:gd name="T45" fmla="*/ 163 h 206"/>
                <a:gd name="T46" fmla="*/ 103 w 169"/>
                <a:gd name="T47" fmla="*/ 147 h 206"/>
                <a:gd name="T48" fmla="*/ 77 w 169"/>
                <a:gd name="T49" fmla="*/ 110 h 206"/>
                <a:gd name="T50" fmla="*/ 52 w 169"/>
                <a:gd name="T51" fmla="*/ 75 h 206"/>
                <a:gd name="T52" fmla="*/ 46 w 169"/>
                <a:gd name="T53" fmla="*/ 51 h 206"/>
                <a:gd name="T54" fmla="*/ 62 w 169"/>
                <a:gd name="T55" fmla="*/ 15 h 206"/>
                <a:gd name="T56" fmla="*/ 102 w 169"/>
                <a:gd name="T57" fmla="*/ 0 h 206"/>
                <a:gd name="T58" fmla="*/ 115 w 169"/>
                <a:gd name="T59" fmla="*/ 1 h 206"/>
                <a:gd name="T60" fmla="*/ 129 w 169"/>
                <a:gd name="T61" fmla="*/ 6 h 206"/>
                <a:gd name="T62" fmla="*/ 145 w 169"/>
                <a:gd name="T63" fmla="*/ 11 h 206"/>
                <a:gd name="T64" fmla="*/ 161 w 169"/>
                <a:gd name="T65" fmla="*/ 0 h 206"/>
                <a:gd name="T66" fmla="*/ 169 w 169"/>
                <a:gd name="T67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206" fill="norm" stroke="1" extrusionOk="0">
                  <a:moveTo>
                    <a:pt x="169" y="0"/>
                  </a:moveTo>
                  <a:lnTo>
                    <a:pt x="155" y="68"/>
                  </a:lnTo>
                  <a:lnTo>
                    <a:pt x="147" y="68"/>
                  </a:lnTo>
                  <a:cubicBezTo>
                    <a:pt x="146" y="48"/>
                    <a:pt x="142" y="34"/>
                    <a:pt x="135" y="25"/>
                  </a:cubicBezTo>
                  <a:cubicBezTo>
                    <a:pt x="127" y="16"/>
                    <a:pt x="117" y="12"/>
                    <a:pt x="106" y="12"/>
                  </a:cubicBezTo>
                  <a:cubicBezTo>
                    <a:pt x="97" y="12"/>
                    <a:pt x="90" y="14"/>
                    <a:pt x="84" y="19"/>
                  </a:cubicBezTo>
                  <a:cubicBezTo>
                    <a:pt x="79" y="24"/>
                    <a:pt x="76" y="30"/>
                    <a:pt x="76" y="37"/>
                  </a:cubicBezTo>
                  <a:cubicBezTo>
                    <a:pt x="76" y="42"/>
                    <a:pt x="77" y="47"/>
                    <a:pt x="79" y="51"/>
                  </a:cubicBezTo>
                  <a:cubicBezTo>
                    <a:pt x="81" y="56"/>
                    <a:pt x="86" y="62"/>
                    <a:pt x="93" y="70"/>
                  </a:cubicBezTo>
                  <a:cubicBezTo>
                    <a:pt x="113" y="91"/>
                    <a:pt x="125" y="107"/>
                    <a:pt x="131" y="117"/>
                  </a:cubicBezTo>
                  <a:cubicBezTo>
                    <a:pt x="136" y="128"/>
                    <a:pt x="139" y="138"/>
                    <a:pt x="139" y="147"/>
                  </a:cubicBezTo>
                  <a:cubicBezTo>
                    <a:pt x="139" y="163"/>
                    <a:pt x="133" y="176"/>
                    <a:pt x="120" y="188"/>
                  </a:cubicBezTo>
                  <a:cubicBezTo>
                    <a:pt x="107" y="200"/>
                    <a:pt x="91" y="206"/>
                    <a:pt x="72" y="206"/>
                  </a:cubicBezTo>
                  <a:cubicBezTo>
                    <a:pt x="61" y="206"/>
                    <a:pt x="49" y="203"/>
                    <a:pt x="35" y="198"/>
                  </a:cubicBezTo>
                  <a:cubicBezTo>
                    <a:pt x="30" y="197"/>
                    <a:pt x="26" y="196"/>
                    <a:pt x="23" y="196"/>
                  </a:cubicBezTo>
                  <a:cubicBezTo>
                    <a:pt x="17" y="196"/>
                    <a:pt x="12" y="199"/>
                    <a:pt x="8" y="206"/>
                  </a:cubicBezTo>
                  <a:lnTo>
                    <a:pt x="0" y="206"/>
                  </a:lnTo>
                  <a:lnTo>
                    <a:pt x="14" y="134"/>
                  </a:lnTo>
                  <a:lnTo>
                    <a:pt x="22" y="134"/>
                  </a:lnTo>
                  <a:cubicBezTo>
                    <a:pt x="23" y="157"/>
                    <a:pt x="27" y="173"/>
                    <a:pt x="36" y="182"/>
                  </a:cubicBezTo>
                  <a:cubicBezTo>
                    <a:pt x="44" y="191"/>
                    <a:pt x="56" y="196"/>
                    <a:pt x="70" y="196"/>
                  </a:cubicBezTo>
                  <a:cubicBezTo>
                    <a:pt x="82" y="196"/>
                    <a:pt x="90" y="193"/>
                    <a:pt x="97" y="186"/>
                  </a:cubicBezTo>
                  <a:cubicBezTo>
                    <a:pt x="104" y="180"/>
                    <a:pt x="107" y="172"/>
                    <a:pt x="107" y="163"/>
                  </a:cubicBezTo>
                  <a:cubicBezTo>
                    <a:pt x="107" y="157"/>
                    <a:pt x="106" y="152"/>
                    <a:pt x="103" y="147"/>
                  </a:cubicBezTo>
                  <a:cubicBezTo>
                    <a:pt x="99" y="138"/>
                    <a:pt x="91" y="126"/>
                    <a:pt x="77" y="110"/>
                  </a:cubicBezTo>
                  <a:cubicBezTo>
                    <a:pt x="64" y="94"/>
                    <a:pt x="56" y="83"/>
                    <a:pt x="52" y="75"/>
                  </a:cubicBezTo>
                  <a:cubicBezTo>
                    <a:pt x="48" y="67"/>
                    <a:pt x="46" y="59"/>
                    <a:pt x="46" y="51"/>
                  </a:cubicBezTo>
                  <a:cubicBezTo>
                    <a:pt x="46" y="37"/>
                    <a:pt x="51" y="25"/>
                    <a:pt x="62" y="15"/>
                  </a:cubicBezTo>
                  <a:cubicBezTo>
                    <a:pt x="72" y="5"/>
                    <a:pt x="86" y="0"/>
                    <a:pt x="102" y="0"/>
                  </a:cubicBezTo>
                  <a:cubicBezTo>
                    <a:pt x="107" y="0"/>
                    <a:pt x="111" y="1"/>
                    <a:pt x="115" y="1"/>
                  </a:cubicBezTo>
                  <a:cubicBezTo>
                    <a:pt x="117" y="2"/>
                    <a:pt x="122" y="4"/>
                    <a:pt x="129" y="6"/>
                  </a:cubicBezTo>
                  <a:cubicBezTo>
                    <a:pt x="137" y="9"/>
                    <a:pt x="142" y="11"/>
                    <a:pt x="145" y="11"/>
                  </a:cubicBezTo>
                  <a:cubicBezTo>
                    <a:pt x="151" y="11"/>
                    <a:pt x="156" y="7"/>
                    <a:pt x="161" y="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962959960" name="Freeform 37"/>
            <p:cNvSpPr/>
            <p:nvPr/>
          </p:nvSpPr>
          <p:spPr bwMode="auto">
            <a:xfrm>
              <a:off x="4783239" y="2507289"/>
              <a:ext cx="32" cy="38"/>
            </a:xfrm>
            <a:custGeom>
              <a:avLst/>
              <a:gdLst>
                <a:gd name="T0" fmla="*/ 162 w 180"/>
                <a:gd name="T1" fmla="*/ 152 h 206"/>
                <a:gd name="T2" fmla="*/ 116 w 180"/>
                <a:gd name="T3" fmla="*/ 193 h 206"/>
                <a:gd name="T4" fmla="*/ 66 w 180"/>
                <a:gd name="T5" fmla="*/ 206 h 206"/>
                <a:gd name="T6" fmla="*/ 17 w 180"/>
                <a:gd name="T7" fmla="*/ 188 h 206"/>
                <a:gd name="T8" fmla="*/ 0 w 180"/>
                <a:gd name="T9" fmla="*/ 141 h 206"/>
                <a:gd name="T10" fmla="*/ 18 w 180"/>
                <a:gd name="T11" fmla="*/ 74 h 206"/>
                <a:gd name="T12" fmla="*/ 69 w 180"/>
                <a:gd name="T13" fmla="*/ 21 h 206"/>
                <a:gd name="T14" fmla="*/ 132 w 180"/>
                <a:gd name="T15" fmla="*/ 0 h 206"/>
                <a:gd name="T16" fmla="*/ 168 w 180"/>
                <a:gd name="T17" fmla="*/ 10 h 206"/>
                <a:gd name="T18" fmla="*/ 180 w 180"/>
                <a:gd name="T19" fmla="*/ 35 h 206"/>
                <a:gd name="T20" fmla="*/ 172 w 180"/>
                <a:gd name="T21" fmla="*/ 58 h 206"/>
                <a:gd name="T22" fmla="*/ 157 w 180"/>
                <a:gd name="T23" fmla="*/ 66 h 206"/>
                <a:gd name="T24" fmla="*/ 145 w 180"/>
                <a:gd name="T25" fmla="*/ 62 h 206"/>
                <a:gd name="T26" fmla="*/ 141 w 180"/>
                <a:gd name="T27" fmla="*/ 51 h 206"/>
                <a:gd name="T28" fmla="*/ 142 w 180"/>
                <a:gd name="T29" fmla="*/ 43 h 206"/>
                <a:gd name="T30" fmla="*/ 149 w 180"/>
                <a:gd name="T31" fmla="*/ 34 h 206"/>
                <a:gd name="T32" fmla="*/ 155 w 180"/>
                <a:gd name="T33" fmla="*/ 27 h 206"/>
                <a:gd name="T34" fmla="*/ 157 w 180"/>
                <a:gd name="T35" fmla="*/ 22 h 206"/>
                <a:gd name="T36" fmla="*/ 152 w 180"/>
                <a:gd name="T37" fmla="*/ 15 h 206"/>
                <a:gd name="T38" fmla="*/ 134 w 180"/>
                <a:gd name="T39" fmla="*/ 10 h 206"/>
                <a:gd name="T40" fmla="*/ 91 w 180"/>
                <a:gd name="T41" fmla="*/ 26 h 206"/>
                <a:gd name="T42" fmla="*/ 55 w 180"/>
                <a:gd name="T43" fmla="*/ 69 h 206"/>
                <a:gd name="T44" fmla="*/ 37 w 180"/>
                <a:gd name="T45" fmla="*/ 137 h 206"/>
                <a:gd name="T46" fmla="*/ 50 w 180"/>
                <a:gd name="T47" fmla="*/ 173 h 206"/>
                <a:gd name="T48" fmla="*/ 85 w 180"/>
                <a:gd name="T49" fmla="*/ 186 h 206"/>
                <a:gd name="T50" fmla="*/ 118 w 180"/>
                <a:gd name="T51" fmla="*/ 178 h 206"/>
                <a:gd name="T52" fmla="*/ 156 w 180"/>
                <a:gd name="T53" fmla="*/ 147 h 206"/>
                <a:gd name="T54" fmla="*/ 162 w 180"/>
                <a:gd name="T55" fmla="*/ 152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" h="206" fill="norm" stroke="1" extrusionOk="0">
                  <a:moveTo>
                    <a:pt x="162" y="152"/>
                  </a:moveTo>
                  <a:cubicBezTo>
                    <a:pt x="147" y="171"/>
                    <a:pt x="131" y="184"/>
                    <a:pt x="116" y="193"/>
                  </a:cubicBezTo>
                  <a:cubicBezTo>
                    <a:pt x="100" y="202"/>
                    <a:pt x="84" y="206"/>
                    <a:pt x="66" y="206"/>
                  </a:cubicBezTo>
                  <a:cubicBezTo>
                    <a:pt x="45" y="206"/>
                    <a:pt x="29" y="200"/>
                    <a:pt x="17" y="188"/>
                  </a:cubicBezTo>
                  <a:cubicBezTo>
                    <a:pt x="5" y="176"/>
                    <a:pt x="0" y="161"/>
                    <a:pt x="0" y="141"/>
                  </a:cubicBezTo>
                  <a:cubicBezTo>
                    <a:pt x="0" y="118"/>
                    <a:pt x="6" y="96"/>
                    <a:pt x="18" y="74"/>
                  </a:cubicBezTo>
                  <a:cubicBezTo>
                    <a:pt x="31" y="52"/>
                    <a:pt x="48" y="34"/>
                    <a:pt x="69" y="21"/>
                  </a:cubicBezTo>
                  <a:cubicBezTo>
                    <a:pt x="91" y="7"/>
                    <a:pt x="112" y="0"/>
                    <a:pt x="132" y="0"/>
                  </a:cubicBezTo>
                  <a:cubicBezTo>
                    <a:pt x="148" y="0"/>
                    <a:pt x="160" y="4"/>
                    <a:pt x="168" y="10"/>
                  </a:cubicBezTo>
                  <a:cubicBezTo>
                    <a:pt x="176" y="17"/>
                    <a:pt x="180" y="25"/>
                    <a:pt x="180" y="35"/>
                  </a:cubicBezTo>
                  <a:cubicBezTo>
                    <a:pt x="180" y="44"/>
                    <a:pt x="177" y="52"/>
                    <a:pt x="172" y="58"/>
                  </a:cubicBezTo>
                  <a:cubicBezTo>
                    <a:pt x="168" y="64"/>
                    <a:pt x="163" y="66"/>
                    <a:pt x="157" y="66"/>
                  </a:cubicBezTo>
                  <a:cubicBezTo>
                    <a:pt x="152" y="66"/>
                    <a:pt x="148" y="65"/>
                    <a:pt x="145" y="62"/>
                  </a:cubicBezTo>
                  <a:cubicBezTo>
                    <a:pt x="142" y="59"/>
                    <a:pt x="141" y="55"/>
                    <a:pt x="141" y="51"/>
                  </a:cubicBezTo>
                  <a:cubicBezTo>
                    <a:pt x="141" y="48"/>
                    <a:pt x="141" y="45"/>
                    <a:pt x="142" y="43"/>
                  </a:cubicBezTo>
                  <a:cubicBezTo>
                    <a:pt x="143" y="40"/>
                    <a:pt x="146" y="38"/>
                    <a:pt x="149" y="34"/>
                  </a:cubicBezTo>
                  <a:cubicBezTo>
                    <a:pt x="153" y="31"/>
                    <a:pt x="155" y="29"/>
                    <a:pt x="155" y="27"/>
                  </a:cubicBezTo>
                  <a:cubicBezTo>
                    <a:pt x="156" y="26"/>
                    <a:pt x="157" y="24"/>
                    <a:pt x="157" y="22"/>
                  </a:cubicBezTo>
                  <a:cubicBezTo>
                    <a:pt x="157" y="19"/>
                    <a:pt x="155" y="17"/>
                    <a:pt x="152" y="15"/>
                  </a:cubicBezTo>
                  <a:cubicBezTo>
                    <a:pt x="148" y="12"/>
                    <a:pt x="142" y="10"/>
                    <a:pt x="134" y="10"/>
                  </a:cubicBezTo>
                  <a:cubicBezTo>
                    <a:pt x="120" y="10"/>
                    <a:pt x="105" y="15"/>
                    <a:pt x="91" y="26"/>
                  </a:cubicBezTo>
                  <a:cubicBezTo>
                    <a:pt x="77" y="36"/>
                    <a:pt x="65" y="50"/>
                    <a:pt x="55" y="69"/>
                  </a:cubicBezTo>
                  <a:cubicBezTo>
                    <a:pt x="43" y="92"/>
                    <a:pt x="37" y="114"/>
                    <a:pt x="37" y="137"/>
                  </a:cubicBezTo>
                  <a:cubicBezTo>
                    <a:pt x="37" y="152"/>
                    <a:pt x="41" y="164"/>
                    <a:pt x="50" y="173"/>
                  </a:cubicBezTo>
                  <a:cubicBezTo>
                    <a:pt x="58" y="182"/>
                    <a:pt x="70" y="186"/>
                    <a:pt x="85" y="186"/>
                  </a:cubicBezTo>
                  <a:cubicBezTo>
                    <a:pt x="96" y="186"/>
                    <a:pt x="107" y="183"/>
                    <a:pt x="118" y="178"/>
                  </a:cubicBezTo>
                  <a:cubicBezTo>
                    <a:pt x="130" y="172"/>
                    <a:pt x="142" y="162"/>
                    <a:pt x="156" y="147"/>
                  </a:cubicBezTo>
                  <a:lnTo>
                    <a:pt x="162" y="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856249587" name="Freeform 38"/>
            <p:cNvSpPr/>
            <p:nvPr/>
          </p:nvSpPr>
          <p:spPr bwMode="auto">
            <a:xfrm>
              <a:off x="4783275" y="2507268"/>
              <a:ext cx="36" cy="59"/>
            </a:xfrm>
            <a:custGeom>
              <a:avLst/>
              <a:gdLst>
                <a:gd name="T0" fmla="*/ 124 w 199"/>
                <a:gd name="T1" fmla="*/ 0 h 320"/>
                <a:gd name="T2" fmla="*/ 61 w 199"/>
                <a:gd name="T3" fmla="*/ 215 h 320"/>
                <a:gd name="T4" fmla="*/ 124 w 199"/>
                <a:gd name="T5" fmla="*/ 134 h 320"/>
                <a:gd name="T6" fmla="*/ 167 w 199"/>
                <a:gd name="T7" fmla="*/ 114 h 320"/>
                <a:gd name="T8" fmla="*/ 185 w 199"/>
                <a:gd name="T9" fmla="*/ 122 h 320"/>
                <a:gd name="T10" fmla="*/ 192 w 199"/>
                <a:gd name="T11" fmla="*/ 141 h 320"/>
                <a:gd name="T12" fmla="*/ 186 w 199"/>
                <a:gd name="T13" fmla="*/ 176 h 320"/>
                <a:gd name="T14" fmla="*/ 159 w 199"/>
                <a:gd name="T15" fmla="*/ 269 h 320"/>
                <a:gd name="T16" fmla="*/ 154 w 199"/>
                <a:gd name="T17" fmla="*/ 288 h 320"/>
                <a:gd name="T18" fmla="*/ 156 w 199"/>
                <a:gd name="T19" fmla="*/ 293 h 320"/>
                <a:gd name="T20" fmla="*/ 160 w 199"/>
                <a:gd name="T21" fmla="*/ 295 h 320"/>
                <a:gd name="T22" fmla="*/ 167 w 199"/>
                <a:gd name="T23" fmla="*/ 292 h 320"/>
                <a:gd name="T24" fmla="*/ 192 w 199"/>
                <a:gd name="T25" fmla="*/ 265 h 320"/>
                <a:gd name="T26" fmla="*/ 199 w 199"/>
                <a:gd name="T27" fmla="*/ 269 h 320"/>
                <a:gd name="T28" fmla="*/ 178 w 199"/>
                <a:gd name="T29" fmla="*/ 295 h 320"/>
                <a:gd name="T30" fmla="*/ 155 w 199"/>
                <a:gd name="T31" fmla="*/ 315 h 320"/>
                <a:gd name="T32" fmla="*/ 137 w 199"/>
                <a:gd name="T33" fmla="*/ 320 h 320"/>
                <a:gd name="T34" fmla="*/ 124 w 199"/>
                <a:gd name="T35" fmla="*/ 315 h 320"/>
                <a:gd name="T36" fmla="*/ 119 w 199"/>
                <a:gd name="T37" fmla="*/ 301 h 320"/>
                <a:gd name="T38" fmla="*/ 127 w 199"/>
                <a:gd name="T39" fmla="*/ 265 h 320"/>
                <a:gd name="T40" fmla="*/ 152 w 199"/>
                <a:gd name="T41" fmla="*/ 176 h 320"/>
                <a:gd name="T42" fmla="*/ 157 w 199"/>
                <a:gd name="T43" fmla="*/ 150 h 320"/>
                <a:gd name="T44" fmla="*/ 154 w 199"/>
                <a:gd name="T45" fmla="*/ 143 h 320"/>
                <a:gd name="T46" fmla="*/ 147 w 199"/>
                <a:gd name="T47" fmla="*/ 141 h 320"/>
                <a:gd name="T48" fmla="*/ 132 w 199"/>
                <a:gd name="T49" fmla="*/ 145 h 320"/>
                <a:gd name="T50" fmla="*/ 98 w 199"/>
                <a:gd name="T51" fmla="*/ 180 h 320"/>
                <a:gd name="T52" fmla="*/ 62 w 199"/>
                <a:gd name="T53" fmla="*/ 235 h 320"/>
                <a:gd name="T54" fmla="*/ 47 w 199"/>
                <a:gd name="T55" fmla="*/ 269 h 320"/>
                <a:gd name="T56" fmla="*/ 33 w 199"/>
                <a:gd name="T57" fmla="*/ 315 h 320"/>
                <a:gd name="T58" fmla="*/ 0 w 199"/>
                <a:gd name="T59" fmla="*/ 315 h 320"/>
                <a:gd name="T60" fmla="*/ 72 w 199"/>
                <a:gd name="T61" fmla="*/ 61 h 320"/>
                <a:gd name="T62" fmla="*/ 80 w 199"/>
                <a:gd name="T63" fmla="*/ 34 h 320"/>
                <a:gd name="T64" fmla="*/ 75 w 199"/>
                <a:gd name="T65" fmla="*/ 24 h 320"/>
                <a:gd name="T66" fmla="*/ 64 w 199"/>
                <a:gd name="T67" fmla="*/ 19 h 320"/>
                <a:gd name="T68" fmla="*/ 52 w 199"/>
                <a:gd name="T69" fmla="*/ 21 h 320"/>
                <a:gd name="T70" fmla="*/ 47 w 199"/>
                <a:gd name="T71" fmla="*/ 21 h 320"/>
                <a:gd name="T72" fmla="*/ 47 w 199"/>
                <a:gd name="T73" fmla="*/ 13 h 320"/>
                <a:gd name="T74" fmla="*/ 124 w 199"/>
                <a:gd name="T7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9" h="320" fill="norm" stroke="1" extrusionOk="0">
                  <a:moveTo>
                    <a:pt x="124" y="0"/>
                  </a:moveTo>
                  <a:lnTo>
                    <a:pt x="61" y="215"/>
                  </a:lnTo>
                  <a:cubicBezTo>
                    <a:pt x="88" y="174"/>
                    <a:pt x="109" y="147"/>
                    <a:pt x="124" y="134"/>
                  </a:cubicBezTo>
                  <a:cubicBezTo>
                    <a:pt x="139" y="121"/>
                    <a:pt x="154" y="114"/>
                    <a:pt x="167" y="114"/>
                  </a:cubicBezTo>
                  <a:cubicBezTo>
                    <a:pt x="174" y="114"/>
                    <a:pt x="180" y="117"/>
                    <a:pt x="185" y="122"/>
                  </a:cubicBezTo>
                  <a:cubicBezTo>
                    <a:pt x="190" y="126"/>
                    <a:pt x="192" y="133"/>
                    <a:pt x="192" y="141"/>
                  </a:cubicBezTo>
                  <a:cubicBezTo>
                    <a:pt x="192" y="151"/>
                    <a:pt x="190" y="163"/>
                    <a:pt x="186" y="176"/>
                  </a:cubicBezTo>
                  <a:lnTo>
                    <a:pt x="159" y="269"/>
                  </a:lnTo>
                  <a:cubicBezTo>
                    <a:pt x="156" y="280"/>
                    <a:pt x="154" y="287"/>
                    <a:pt x="154" y="288"/>
                  </a:cubicBezTo>
                  <a:cubicBezTo>
                    <a:pt x="154" y="290"/>
                    <a:pt x="154" y="292"/>
                    <a:pt x="156" y="293"/>
                  </a:cubicBezTo>
                  <a:cubicBezTo>
                    <a:pt x="157" y="294"/>
                    <a:pt x="158" y="295"/>
                    <a:pt x="160" y="295"/>
                  </a:cubicBezTo>
                  <a:cubicBezTo>
                    <a:pt x="162" y="295"/>
                    <a:pt x="164" y="294"/>
                    <a:pt x="167" y="292"/>
                  </a:cubicBezTo>
                  <a:cubicBezTo>
                    <a:pt x="175" y="286"/>
                    <a:pt x="183" y="277"/>
                    <a:pt x="192" y="265"/>
                  </a:cubicBezTo>
                  <a:lnTo>
                    <a:pt x="199" y="269"/>
                  </a:lnTo>
                  <a:cubicBezTo>
                    <a:pt x="194" y="277"/>
                    <a:pt x="187" y="286"/>
                    <a:pt x="178" y="295"/>
                  </a:cubicBezTo>
                  <a:cubicBezTo>
                    <a:pt x="169" y="304"/>
                    <a:pt x="161" y="311"/>
                    <a:pt x="155" y="315"/>
                  </a:cubicBezTo>
                  <a:cubicBezTo>
                    <a:pt x="148" y="318"/>
                    <a:pt x="142" y="320"/>
                    <a:pt x="137" y="320"/>
                  </a:cubicBezTo>
                  <a:cubicBezTo>
                    <a:pt x="132" y="320"/>
                    <a:pt x="128" y="318"/>
                    <a:pt x="124" y="315"/>
                  </a:cubicBezTo>
                  <a:cubicBezTo>
                    <a:pt x="121" y="311"/>
                    <a:pt x="119" y="307"/>
                    <a:pt x="119" y="301"/>
                  </a:cubicBezTo>
                  <a:cubicBezTo>
                    <a:pt x="119" y="295"/>
                    <a:pt x="121" y="283"/>
                    <a:pt x="127" y="265"/>
                  </a:cubicBezTo>
                  <a:lnTo>
                    <a:pt x="152" y="176"/>
                  </a:lnTo>
                  <a:cubicBezTo>
                    <a:pt x="155" y="165"/>
                    <a:pt x="157" y="157"/>
                    <a:pt x="157" y="150"/>
                  </a:cubicBezTo>
                  <a:cubicBezTo>
                    <a:pt x="157" y="147"/>
                    <a:pt x="156" y="145"/>
                    <a:pt x="154" y="143"/>
                  </a:cubicBezTo>
                  <a:cubicBezTo>
                    <a:pt x="152" y="141"/>
                    <a:pt x="150" y="141"/>
                    <a:pt x="147" y="141"/>
                  </a:cubicBezTo>
                  <a:cubicBezTo>
                    <a:pt x="143" y="141"/>
                    <a:pt x="138" y="142"/>
                    <a:pt x="132" y="145"/>
                  </a:cubicBezTo>
                  <a:cubicBezTo>
                    <a:pt x="122" y="152"/>
                    <a:pt x="111" y="163"/>
                    <a:pt x="98" y="180"/>
                  </a:cubicBezTo>
                  <a:cubicBezTo>
                    <a:pt x="94" y="185"/>
                    <a:pt x="82" y="203"/>
                    <a:pt x="62" y="235"/>
                  </a:cubicBezTo>
                  <a:cubicBezTo>
                    <a:pt x="56" y="246"/>
                    <a:pt x="51" y="257"/>
                    <a:pt x="47" y="269"/>
                  </a:cubicBezTo>
                  <a:lnTo>
                    <a:pt x="33" y="315"/>
                  </a:lnTo>
                  <a:lnTo>
                    <a:pt x="0" y="315"/>
                  </a:lnTo>
                  <a:lnTo>
                    <a:pt x="72" y="61"/>
                  </a:lnTo>
                  <a:lnTo>
                    <a:pt x="80" y="34"/>
                  </a:lnTo>
                  <a:cubicBezTo>
                    <a:pt x="80" y="30"/>
                    <a:pt x="79" y="27"/>
                    <a:pt x="75" y="24"/>
                  </a:cubicBezTo>
                  <a:cubicBezTo>
                    <a:pt x="72" y="21"/>
                    <a:pt x="68" y="19"/>
                    <a:pt x="64" y="19"/>
                  </a:cubicBezTo>
                  <a:cubicBezTo>
                    <a:pt x="61" y="19"/>
                    <a:pt x="57" y="20"/>
                    <a:pt x="52" y="21"/>
                  </a:cubicBezTo>
                  <a:lnTo>
                    <a:pt x="47" y="21"/>
                  </a:lnTo>
                  <a:lnTo>
                    <a:pt x="47" y="1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491846345" name="Freeform 39"/>
            <p:cNvSpPr>
              <a:spLocks noEditPoints="1"/>
            </p:cNvSpPr>
            <p:nvPr/>
          </p:nvSpPr>
          <p:spPr bwMode="auto">
            <a:xfrm>
              <a:off x="4783320" y="2507274"/>
              <a:ext cx="18" cy="55"/>
            </a:xfrm>
            <a:custGeom>
              <a:avLst/>
              <a:gdLst>
                <a:gd name="T0" fmla="*/ 82 w 104"/>
                <a:gd name="T1" fmla="*/ 0 h 294"/>
                <a:gd name="T2" fmla="*/ 97 w 104"/>
                <a:gd name="T3" fmla="*/ 7 h 294"/>
                <a:gd name="T4" fmla="*/ 104 w 104"/>
                <a:gd name="T5" fmla="*/ 23 h 294"/>
                <a:gd name="T6" fmla="*/ 97 w 104"/>
                <a:gd name="T7" fmla="*/ 38 h 294"/>
                <a:gd name="T8" fmla="*/ 82 w 104"/>
                <a:gd name="T9" fmla="*/ 45 h 294"/>
                <a:gd name="T10" fmla="*/ 66 w 104"/>
                <a:gd name="T11" fmla="*/ 38 h 294"/>
                <a:gd name="T12" fmla="*/ 59 w 104"/>
                <a:gd name="T13" fmla="*/ 23 h 294"/>
                <a:gd name="T14" fmla="*/ 66 w 104"/>
                <a:gd name="T15" fmla="*/ 7 h 294"/>
                <a:gd name="T16" fmla="*/ 82 w 104"/>
                <a:gd name="T17" fmla="*/ 0 h 294"/>
                <a:gd name="T18" fmla="*/ 84 w 104"/>
                <a:gd name="T19" fmla="*/ 88 h 294"/>
                <a:gd name="T20" fmla="*/ 41 w 104"/>
                <a:gd name="T21" fmla="*/ 243 h 294"/>
                <a:gd name="T22" fmla="*/ 36 w 104"/>
                <a:gd name="T23" fmla="*/ 262 h 294"/>
                <a:gd name="T24" fmla="*/ 38 w 104"/>
                <a:gd name="T25" fmla="*/ 268 h 294"/>
                <a:gd name="T26" fmla="*/ 43 w 104"/>
                <a:gd name="T27" fmla="*/ 270 h 294"/>
                <a:gd name="T28" fmla="*/ 51 w 104"/>
                <a:gd name="T29" fmla="*/ 267 h 294"/>
                <a:gd name="T30" fmla="*/ 77 w 104"/>
                <a:gd name="T31" fmla="*/ 238 h 294"/>
                <a:gd name="T32" fmla="*/ 84 w 104"/>
                <a:gd name="T33" fmla="*/ 243 h 294"/>
                <a:gd name="T34" fmla="*/ 49 w 104"/>
                <a:gd name="T35" fmla="*/ 282 h 294"/>
                <a:gd name="T36" fmla="*/ 20 w 104"/>
                <a:gd name="T37" fmla="*/ 294 h 294"/>
                <a:gd name="T38" fmla="*/ 5 w 104"/>
                <a:gd name="T39" fmla="*/ 289 h 294"/>
                <a:gd name="T40" fmla="*/ 0 w 104"/>
                <a:gd name="T41" fmla="*/ 275 h 294"/>
                <a:gd name="T42" fmla="*/ 5 w 104"/>
                <a:gd name="T43" fmla="*/ 248 h 294"/>
                <a:gd name="T44" fmla="*/ 34 w 104"/>
                <a:gd name="T45" fmla="*/ 148 h 294"/>
                <a:gd name="T46" fmla="*/ 41 w 104"/>
                <a:gd name="T47" fmla="*/ 118 h 294"/>
                <a:gd name="T48" fmla="*/ 38 w 104"/>
                <a:gd name="T49" fmla="*/ 110 h 294"/>
                <a:gd name="T50" fmla="*/ 28 w 104"/>
                <a:gd name="T51" fmla="*/ 107 h 294"/>
                <a:gd name="T52" fmla="*/ 8 w 104"/>
                <a:gd name="T53" fmla="*/ 109 h 294"/>
                <a:gd name="T54" fmla="*/ 8 w 104"/>
                <a:gd name="T55" fmla="*/ 101 h 294"/>
                <a:gd name="T56" fmla="*/ 84 w 104"/>
                <a:gd name="T57" fmla="*/ 88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4" h="294" fill="norm" stroke="1" extrusionOk="0">
                  <a:moveTo>
                    <a:pt x="82" y="0"/>
                  </a:moveTo>
                  <a:cubicBezTo>
                    <a:pt x="88" y="0"/>
                    <a:pt x="93" y="3"/>
                    <a:pt x="97" y="7"/>
                  </a:cubicBezTo>
                  <a:cubicBezTo>
                    <a:pt x="102" y="11"/>
                    <a:pt x="104" y="16"/>
                    <a:pt x="104" y="23"/>
                  </a:cubicBezTo>
                  <a:cubicBezTo>
                    <a:pt x="104" y="29"/>
                    <a:pt x="101" y="34"/>
                    <a:pt x="97" y="38"/>
                  </a:cubicBezTo>
                  <a:cubicBezTo>
                    <a:pt x="93" y="43"/>
                    <a:pt x="88" y="45"/>
                    <a:pt x="82" y="45"/>
                  </a:cubicBezTo>
                  <a:cubicBezTo>
                    <a:pt x="76" y="45"/>
                    <a:pt x="70" y="43"/>
                    <a:pt x="66" y="38"/>
                  </a:cubicBezTo>
                  <a:cubicBezTo>
                    <a:pt x="62" y="34"/>
                    <a:pt x="59" y="29"/>
                    <a:pt x="59" y="23"/>
                  </a:cubicBezTo>
                  <a:cubicBezTo>
                    <a:pt x="59" y="16"/>
                    <a:pt x="62" y="11"/>
                    <a:pt x="66" y="7"/>
                  </a:cubicBezTo>
                  <a:cubicBezTo>
                    <a:pt x="70" y="3"/>
                    <a:pt x="75" y="0"/>
                    <a:pt x="82" y="0"/>
                  </a:cubicBezTo>
                  <a:close/>
                  <a:moveTo>
                    <a:pt x="84" y="88"/>
                  </a:moveTo>
                  <a:lnTo>
                    <a:pt x="41" y="243"/>
                  </a:lnTo>
                  <a:cubicBezTo>
                    <a:pt x="38" y="254"/>
                    <a:pt x="36" y="260"/>
                    <a:pt x="36" y="262"/>
                  </a:cubicBezTo>
                  <a:cubicBezTo>
                    <a:pt x="36" y="265"/>
                    <a:pt x="37" y="267"/>
                    <a:pt x="38" y="268"/>
                  </a:cubicBezTo>
                  <a:cubicBezTo>
                    <a:pt x="40" y="270"/>
                    <a:pt x="41" y="270"/>
                    <a:pt x="43" y="270"/>
                  </a:cubicBezTo>
                  <a:cubicBezTo>
                    <a:pt x="45" y="270"/>
                    <a:pt x="48" y="269"/>
                    <a:pt x="51" y="267"/>
                  </a:cubicBezTo>
                  <a:cubicBezTo>
                    <a:pt x="60" y="260"/>
                    <a:pt x="68" y="251"/>
                    <a:pt x="77" y="238"/>
                  </a:cubicBezTo>
                  <a:lnTo>
                    <a:pt x="84" y="243"/>
                  </a:lnTo>
                  <a:cubicBezTo>
                    <a:pt x="74" y="259"/>
                    <a:pt x="63" y="272"/>
                    <a:pt x="49" y="282"/>
                  </a:cubicBezTo>
                  <a:cubicBezTo>
                    <a:pt x="39" y="290"/>
                    <a:pt x="29" y="294"/>
                    <a:pt x="20" y="294"/>
                  </a:cubicBezTo>
                  <a:cubicBezTo>
                    <a:pt x="14" y="294"/>
                    <a:pt x="9" y="292"/>
                    <a:pt x="5" y="289"/>
                  </a:cubicBezTo>
                  <a:cubicBezTo>
                    <a:pt x="2" y="285"/>
                    <a:pt x="0" y="280"/>
                    <a:pt x="0" y="275"/>
                  </a:cubicBezTo>
                  <a:cubicBezTo>
                    <a:pt x="0" y="269"/>
                    <a:pt x="2" y="260"/>
                    <a:pt x="5" y="248"/>
                  </a:cubicBezTo>
                  <a:lnTo>
                    <a:pt x="34" y="148"/>
                  </a:lnTo>
                  <a:cubicBezTo>
                    <a:pt x="39" y="132"/>
                    <a:pt x="41" y="122"/>
                    <a:pt x="41" y="118"/>
                  </a:cubicBezTo>
                  <a:cubicBezTo>
                    <a:pt x="41" y="115"/>
                    <a:pt x="40" y="112"/>
                    <a:pt x="38" y="110"/>
                  </a:cubicBezTo>
                  <a:cubicBezTo>
                    <a:pt x="35" y="108"/>
                    <a:pt x="32" y="107"/>
                    <a:pt x="28" y="107"/>
                  </a:cubicBezTo>
                  <a:cubicBezTo>
                    <a:pt x="25" y="107"/>
                    <a:pt x="18" y="108"/>
                    <a:pt x="8" y="109"/>
                  </a:cubicBezTo>
                  <a:lnTo>
                    <a:pt x="8" y="101"/>
                  </a:lnTo>
                  <a:lnTo>
                    <a:pt x="84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732958167" name="Freeform 40"/>
            <p:cNvSpPr/>
            <p:nvPr/>
          </p:nvSpPr>
          <p:spPr bwMode="auto">
            <a:xfrm>
              <a:off x="4783342" y="2507289"/>
              <a:ext cx="31" cy="37"/>
            </a:xfrm>
            <a:custGeom>
              <a:avLst/>
              <a:gdLst>
                <a:gd name="T0" fmla="*/ 15 w 175"/>
                <a:gd name="T1" fmla="*/ 13 h 201"/>
                <a:gd name="T2" fmla="*/ 91 w 175"/>
                <a:gd name="T3" fmla="*/ 0 h 201"/>
                <a:gd name="T4" fmla="*/ 59 w 175"/>
                <a:gd name="T5" fmla="*/ 108 h 201"/>
                <a:gd name="T6" fmla="*/ 130 w 175"/>
                <a:gd name="T7" fmla="*/ 15 h 201"/>
                <a:gd name="T8" fmla="*/ 159 w 175"/>
                <a:gd name="T9" fmla="*/ 0 h 201"/>
                <a:gd name="T10" fmla="*/ 170 w 175"/>
                <a:gd name="T11" fmla="*/ 5 h 201"/>
                <a:gd name="T12" fmla="*/ 175 w 175"/>
                <a:gd name="T13" fmla="*/ 17 h 201"/>
                <a:gd name="T14" fmla="*/ 167 w 175"/>
                <a:gd name="T15" fmla="*/ 45 h 201"/>
                <a:gd name="T16" fmla="*/ 152 w 175"/>
                <a:gd name="T17" fmla="*/ 55 h 201"/>
                <a:gd name="T18" fmla="*/ 143 w 175"/>
                <a:gd name="T19" fmla="*/ 52 h 201"/>
                <a:gd name="T20" fmla="*/ 139 w 175"/>
                <a:gd name="T21" fmla="*/ 41 h 201"/>
                <a:gd name="T22" fmla="*/ 137 w 175"/>
                <a:gd name="T23" fmla="*/ 36 h 201"/>
                <a:gd name="T24" fmla="*/ 132 w 175"/>
                <a:gd name="T25" fmla="*/ 34 h 201"/>
                <a:gd name="T26" fmla="*/ 125 w 175"/>
                <a:gd name="T27" fmla="*/ 36 h 201"/>
                <a:gd name="T28" fmla="*/ 108 w 175"/>
                <a:gd name="T29" fmla="*/ 53 h 201"/>
                <a:gd name="T30" fmla="*/ 68 w 175"/>
                <a:gd name="T31" fmla="*/ 109 h 201"/>
                <a:gd name="T32" fmla="*/ 52 w 175"/>
                <a:gd name="T33" fmla="*/ 142 h 201"/>
                <a:gd name="T34" fmla="*/ 41 w 175"/>
                <a:gd name="T35" fmla="*/ 173 h 201"/>
                <a:gd name="T36" fmla="*/ 34 w 175"/>
                <a:gd name="T37" fmla="*/ 201 h 201"/>
                <a:gd name="T38" fmla="*/ 0 w 175"/>
                <a:gd name="T39" fmla="*/ 201 h 201"/>
                <a:gd name="T40" fmla="*/ 41 w 175"/>
                <a:gd name="T41" fmla="*/ 63 h 201"/>
                <a:gd name="T42" fmla="*/ 48 w 175"/>
                <a:gd name="T43" fmla="*/ 29 h 201"/>
                <a:gd name="T44" fmla="*/ 45 w 175"/>
                <a:gd name="T45" fmla="*/ 22 h 201"/>
                <a:gd name="T46" fmla="*/ 33 w 175"/>
                <a:gd name="T47" fmla="*/ 19 h 201"/>
                <a:gd name="T48" fmla="*/ 16 w 175"/>
                <a:gd name="T49" fmla="*/ 21 h 201"/>
                <a:gd name="T50" fmla="*/ 15 w 175"/>
                <a:gd name="T51" fmla="*/ 1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5" h="201" fill="norm" stroke="1" extrusionOk="0">
                  <a:moveTo>
                    <a:pt x="15" y="13"/>
                  </a:moveTo>
                  <a:lnTo>
                    <a:pt x="91" y="0"/>
                  </a:lnTo>
                  <a:lnTo>
                    <a:pt x="59" y="108"/>
                  </a:lnTo>
                  <a:cubicBezTo>
                    <a:pt x="85" y="64"/>
                    <a:pt x="109" y="33"/>
                    <a:pt x="130" y="15"/>
                  </a:cubicBezTo>
                  <a:cubicBezTo>
                    <a:pt x="142" y="5"/>
                    <a:pt x="151" y="0"/>
                    <a:pt x="159" y="0"/>
                  </a:cubicBezTo>
                  <a:cubicBezTo>
                    <a:pt x="164" y="0"/>
                    <a:pt x="168" y="2"/>
                    <a:pt x="170" y="5"/>
                  </a:cubicBezTo>
                  <a:cubicBezTo>
                    <a:pt x="173" y="7"/>
                    <a:pt x="175" y="12"/>
                    <a:pt x="175" y="17"/>
                  </a:cubicBezTo>
                  <a:cubicBezTo>
                    <a:pt x="175" y="27"/>
                    <a:pt x="172" y="36"/>
                    <a:pt x="167" y="45"/>
                  </a:cubicBezTo>
                  <a:cubicBezTo>
                    <a:pt x="164" y="52"/>
                    <a:pt x="159" y="55"/>
                    <a:pt x="152" y="55"/>
                  </a:cubicBezTo>
                  <a:cubicBezTo>
                    <a:pt x="148" y="55"/>
                    <a:pt x="146" y="54"/>
                    <a:pt x="143" y="52"/>
                  </a:cubicBezTo>
                  <a:cubicBezTo>
                    <a:pt x="141" y="49"/>
                    <a:pt x="139" y="46"/>
                    <a:pt x="139" y="41"/>
                  </a:cubicBezTo>
                  <a:cubicBezTo>
                    <a:pt x="138" y="39"/>
                    <a:pt x="138" y="37"/>
                    <a:pt x="137" y="36"/>
                  </a:cubicBezTo>
                  <a:cubicBezTo>
                    <a:pt x="135" y="35"/>
                    <a:pt x="134" y="34"/>
                    <a:pt x="132" y="34"/>
                  </a:cubicBezTo>
                  <a:cubicBezTo>
                    <a:pt x="130" y="34"/>
                    <a:pt x="128" y="35"/>
                    <a:pt x="125" y="36"/>
                  </a:cubicBezTo>
                  <a:cubicBezTo>
                    <a:pt x="121" y="38"/>
                    <a:pt x="116" y="44"/>
                    <a:pt x="108" y="53"/>
                  </a:cubicBezTo>
                  <a:cubicBezTo>
                    <a:pt x="96" y="68"/>
                    <a:pt x="82" y="86"/>
                    <a:pt x="68" y="109"/>
                  </a:cubicBezTo>
                  <a:cubicBezTo>
                    <a:pt x="62" y="119"/>
                    <a:pt x="56" y="130"/>
                    <a:pt x="52" y="142"/>
                  </a:cubicBezTo>
                  <a:cubicBezTo>
                    <a:pt x="46" y="159"/>
                    <a:pt x="42" y="169"/>
                    <a:pt x="41" y="173"/>
                  </a:cubicBezTo>
                  <a:lnTo>
                    <a:pt x="34" y="201"/>
                  </a:lnTo>
                  <a:lnTo>
                    <a:pt x="0" y="201"/>
                  </a:lnTo>
                  <a:lnTo>
                    <a:pt x="41" y="63"/>
                  </a:lnTo>
                  <a:cubicBezTo>
                    <a:pt x="46" y="47"/>
                    <a:pt x="48" y="36"/>
                    <a:pt x="48" y="29"/>
                  </a:cubicBezTo>
                  <a:cubicBezTo>
                    <a:pt x="48" y="26"/>
                    <a:pt x="47" y="24"/>
                    <a:pt x="45" y="22"/>
                  </a:cubicBezTo>
                  <a:cubicBezTo>
                    <a:pt x="42" y="20"/>
                    <a:pt x="38" y="19"/>
                    <a:pt x="33" y="19"/>
                  </a:cubicBezTo>
                  <a:cubicBezTo>
                    <a:pt x="30" y="19"/>
                    <a:pt x="25" y="20"/>
                    <a:pt x="16" y="21"/>
                  </a:cubicBezTo>
                  <a:lnTo>
                    <a:pt x="15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2042538158" name="Freeform 41"/>
            <p:cNvSpPr>
              <a:spLocks noEditPoints="1"/>
            </p:cNvSpPr>
            <p:nvPr/>
          </p:nvSpPr>
          <p:spPr bwMode="auto">
            <a:xfrm>
              <a:off x="4783365" y="2507289"/>
              <a:ext cx="48" cy="55"/>
            </a:xfrm>
            <a:custGeom>
              <a:avLst/>
              <a:gdLst>
                <a:gd name="T0" fmla="*/ 150 w 264"/>
                <a:gd name="T1" fmla="*/ 0 h 298"/>
                <a:gd name="T2" fmla="*/ 135 w 264"/>
                <a:gd name="T3" fmla="*/ 51 h 298"/>
                <a:gd name="T4" fmla="*/ 178 w 264"/>
                <a:gd name="T5" fmla="*/ 12 h 298"/>
                <a:gd name="T6" fmla="*/ 216 w 264"/>
                <a:gd name="T7" fmla="*/ 0 h 298"/>
                <a:gd name="T8" fmla="*/ 250 w 264"/>
                <a:gd name="T9" fmla="*/ 16 h 298"/>
                <a:gd name="T10" fmla="*/ 264 w 264"/>
                <a:gd name="T11" fmla="*/ 56 h 298"/>
                <a:gd name="T12" fmla="*/ 224 w 264"/>
                <a:gd name="T13" fmla="*/ 156 h 298"/>
                <a:gd name="T14" fmla="*/ 132 w 264"/>
                <a:gd name="T15" fmla="*/ 206 h 298"/>
                <a:gd name="T16" fmla="*/ 112 w 264"/>
                <a:gd name="T17" fmla="*/ 204 h 298"/>
                <a:gd name="T18" fmla="*/ 93 w 264"/>
                <a:gd name="T19" fmla="*/ 195 h 298"/>
                <a:gd name="T20" fmla="*/ 77 w 264"/>
                <a:gd name="T21" fmla="*/ 252 h 298"/>
                <a:gd name="T22" fmla="*/ 72 w 264"/>
                <a:gd name="T23" fmla="*/ 274 h 298"/>
                <a:gd name="T24" fmla="*/ 75 w 264"/>
                <a:gd name="T25" fmla="*/ 282 h 298"/>
                <a:gd name="T26" fmla="*/ 83 w 264"/>
                <a:gd name="T27" fmla="*/ 287 h 298"/>
                <a:gd name="T28" fmla="*/ 106 w 264"/>
                <a:gd name="T29" fmla="*/ 289 h 298"/>
                <a:gd name="T30" fmla="*/ 104 w 264"/>
                <a:gd name="T31" fmla="*/ 298 h 298"/>
                <a:gd name="T32" fmla="*/ 0 w 264"/>
                <a:gd name="T33" fmla="*/ 298 h 298"/>
                <a:gd name="T34" fmla="*/ 2 w 264"/>
                <a:gd name="T35" fmla="*/ 289 h 298"/>
                <a:gd name="T36" fmla="*/ 30 w 264"/>
                <a:gd name="T37" fmla="*/ 282 h 298"/>
                <a:gd name="T38" fmla="*/ 45 w 264"/>
                <a:gd name="T39" fmla="*/ 248 h 298"/>
                <a:gd name="T40" fmla="*/ 101 w 264"/>
                <a:gd name="T41" fmla="*/ 54 h 298"/>
                <a:gd name="T42" fmla="*/ 106 w 264"/>
                <a:gd name="T43" fmla="*/ 31 h 298"/>
                <a:gd name="T44" fmla="*/ 102 w 264"/>
                <a:gd name="T45" fmla="*/ 22 h 298"/>
                <a:gd name="T46" fmla="*/ 92 w 264"/>
                <a:gd name="T47" fmla="*/ 19 h 298"/>
                <a:gd name="T48" fmla="*/ 74 w 264"/>
                <a:gd name="T49" fmla="*/ 20 h 298"/>
                <a:gd name="T50" fmla="*/ 74 w 264"/>
                <a:gd name="T51" fmla="*/ 12 h 298"/>
                <a:gd name="T52" fmla="*/ 150 w 264"/>
                <a:gd name="T53" fmla="*/ 0 h 298"/>
                <a:gd name="T54" fmla="*/ 98 w 264"/>
                <a:gd name="T55" fmla="*/ 177 h 298"/>
                <a:gd name="T56" fmla="*/ 135 w 264"/>
                <a:gd name="T57" fmla="*/ 194 h 298"/>
                <a:gd name="T58" fmla="*/ 159 w 264"/>
                <a:gd name="T59" fmla="*/ 187 h 298"/>
                <a:gd name="T60" fmla="*/ 182 w 264"/>
                <a:gd name="T61" fmla="*/ 168 h 298"/>
                <a:gd name="T62" fmla="*/ 203 w 264"/>
                <a:gd name="T63" fmla="*/ 139 h 298"/>
                <a:gd name="T64" fmla="*/ 219 w 264"/>
                <a:gd name="T65" fmla="*/ 100 h 298"/>
                <a:gd name="T66" fmla="*/ 226 w 264"/>
                <a:gd name="T67" fmla="*/ 56 h 298"/>
                <a:gd name="T68" fmla="*/ 218 w 264"/>
                <a:gd name="T69" fmla="*/ 29 h 298"/>
                <a:gd name="T70" fmla="*/ 199 w 264"/>
                <a:gd name="T71" fmla="*/ 20 h 298"/>
                <a:gd name="T72" fmla="*/ 152 w 264"/>
                <a:gd name="T73" fmla="*/ 47 h 298"/>
                <a:gd name="T74" fmla="*/ 118 w 264"/>
                <a:gd name="T75" fmla="*/ 111 h 298"/>
                <a:gd name="T76" fmla="*/ 98 w 264"/>
                <a:gd name="T77" fmla="*/ 177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298" fill="norm" stroke="1" extrusionOk="0">
                  <a:moveTo>
                    <a:pt x="150" y="0"/>
                  </a:moveTo>
                  <a:lnTo>
                    <a:pt x="135" y="51"/>
                  </a:lnTo>
                  <a:cubicBezTo>
                    <a:pt x="151" y="32"/>
                    <a:pt x="165" y="19"/>
                    <a:pt x="178" y="12"/>
                  </a:cubicBezTo>
                  <a:cubicBezTo>
                    <a:pt x="190" y="4"/>
                    <a:pt x="203" y="0"/>
                    <a:pt x="216" y="0"/>
                  </a:cubicBezTo>
                  <a:cubicBezTo>
                    <a:pt x="229" y="0"/>
                    <a:pt x="241" y="6"/>
                    <a:pt x="250" y="16"/>
                  </a:cubicBezTo>
                  <a:cubicBezTo>
                    <a:pt x="259" y="26"/>
                    <a:pt x="264" y="40"/>
                    <a:pt x="264" y="56"/>
                  </a:cubicBezTo>
                  <a:cubicBezTo>
                    <a:pt x="264" y="89"/>
                    <a:pt x="251" y="122"/>
                    <a:pt x="224" y="156"/>
                  </a:cubicBezTo>
                  <a:cubicBezTo>
                    <a:pt x="198" y="189"/>
                    <a:pt x="167" y="206"/>
                    <a:pt x="132" y="206"/>
                  </a:cubicBezTo>
                  <a:cubicBezTo>
                    <a:pt x="125" y="206"/>
                    <a:pt x="118" y="205"/>
                    <a:pt x="112" y="204"/>
                  </a:cubicBezTo>
                  <a:cubicBezTo>
                    <a:pt x="107" y="202"/>
                    <a:pt x="100" y="199"/>
                    <a:pt x="93" y="195"/>
                  </a:cubicBezTo>
                  <a:lnTo>
                    <a:pt x="77" y="252"/>
                  </a:lnTo>
                  <a:cubicBezTo>
                    <a:pt x="74" y="263"/>
                    <a:pt x="72" y="271"/>
                    <a:pt x="72" y="274"/>
                  </a:cubicBezTo>
                  <a:cubicBezTo>
                    <a:pt x="72" y="277"/>
                    <a:pt x="73" y="280"/>
                    <a:pt x="75" y="282"/>
                  </a:cubicBezTo>
                  <a:cubicBezTo>
                    <a:pt x="76" y="284"/>
                    <a:pt x="79" y="286"/>
                    <a:pt x="83" y="287"/>
                  </a:cubicBezTo>
                  <a:cubicBezTo>
                    <a:pt x="87" y="289"/>
                    <a:pt x="94" y="289"/>
                    <a:pt x="106" y="289"/>
                  </a:cubicBezTo>
                  <a:lnTo>
                    <a:pt x="104" y="298"/>
                  </a:lnTo>
                  <a:lnTo>
                    <a:pt x="0" y="298"/>
                  </a:lnTo>
                  <a:lnTo>
                    <a:pt x="2" y="289"/>
                  </a:lnTo>
                  <a:cubicBezTo>
                    <a:pt x="15" y="289"/>
                    <a:pt x="25" y="286"/>
                    <a:pt x="30" y="282"/>
                  </a:cubicBezTo>
                  <a:cubicBezTo>
                    <a:pt x="34" y="278"/>
                    <a:pt x="39" y="267"/>
                    <a:pt x="45" y="248"/>
                  </a:cubicBezTo>
                  <a:lnTo>
                    <a:pt x="101" y="54"/>
                  </a:lnTo>
                  <a:cubicBezTo>
                    <a:pt x="104" y="42"/>
                    <a:pt x="106" y="34"/>
                    <a:pt x="106" y="31"/>
                  </a:cubicBezTo>
                  <a:cubicBezTo>
                    <a:pt x="106" y="27"/>
                    <a:pt x="105" y="24"/>
                    <a:pt x="102" y="22"/>
                  </a:cubicBezTo>
                  <a:cubicBezTo>
                    <a:pt x="100" y="20"/>
                    <a:pt x="97" y="19"/>
                    <a:pt x="92" y="19"/>
                  </a:cubicBezTo>
                  <a:cubicBezTo>
                    <a:pt x="88" y="19"/>
                    <a:pt x="82" y="19"/>
                    <a:pt x="74" y="20"/>
                  </a:cubicBezTo>
                  <a:lnTo>
                    <a:pt x="74" y="12"/>
                  </a:lnTo>
                  <a:lnTo>
                    <a:pt x="150" y="0"/>
                  </a:lnTo>
                  <a:close/>
                  <a:moveTo>
                    <a:pt x="98" y="177"/>
                  </a:moveTo>
                  <a:cubicBezTo>
                    <a:pt x="107" y="188"/>
                    <a:pt x="120" y="194"/>
                    <a:pt x="135" y="194"/>
                  </a:cubicBezTo>
                  <a:cubicBezTo>
                    <a:pt x="143" y="194"/>
                    <a:pt x="151" y="192"/>
                    <a:pt x="159" y="187"/>
                  </a:cubicBezTo>
                  <a:cubicBezTo>
                    <a:pt x="167" y="183"/>
                    <a:pt x="174" y="177"/>
                    <a:pt x="182" y="168"/>
                  </a:cubicBezTo>
                  <a:cubicBezTo>
                    <a:pt x="190" y="160"/>
                    <a:pt x="197" y="150"/>
                    <a:pt x="203" y="139"/>
                  </a:cubicBezTo>
                  <a:cubicBezTo>
                    <a:pt x="209" y="128"/>
                    <a:pt x="214" y="115"/>
                    <a:pt x="219" y="100"/>
                  </a:cubicBezTo>
                  <a:cubicBezTo>
                    <a:pt x="224" y="85"/>
                    <a:pt x="226" y="71"/>
                    <a:pt x="226" y="56"/>
                  </a:cubicBezTo>
                  <a:cubicBezTo>
                    <a:pt x="226" y="44"/>
                    <a:pt x="223" y="35"/>
                    <a:pt x="218" y="29"/>
                  </a:cubicBezTo>
                  <a:cubicBezTo>
                    <a:pt x="213" y="23"/>
                    <a:pt x="206" y="20"/>
                    <a:pt x="199" y="20"/>
                  </a:cubicBezTo>
                  <a:cubicBezTo>
                    <a:pt x="183" y="20"/>
                    <a:pt x="167" y="29"/>
                    <a:pt x="152" y="47"/>
                  </a:cubicBezTo>
                  <a:cubicBezTo>
                    <a:pt x="136" y="65"/>
                    <a:pt x="125" y="87"/>
                    <a:pt x="118" y="111"/>
                  </a:cubicBezTo>
                  <a:lnTo>
                    <a:pt x="98" y="1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638910977" name="Freeform 42"/>
            <p:cNvSpPr>
              <a:spLocks noEditPoints="1"/>
            </p:cNvSpPr>
            <p:nvPr/>
          </p:nvSpPr>
          <p:spPr bwMode="auto">
            <a:xfrm>
              <a:off x="4783421" y="2507274"/>
              <a:ext cx="18" cy="55"/>
            </a:xfrm>
            <a:custGeom>
              <a:avLst/>
              <a:gdLst>
                <a:gd name="T0" fmla="*/ 82 w 104"/>
                <a:gd name="T1" fmla="*/ 0 h 294"/>
                <a:gd name="T2" fmla="*/ 97 w 104"/>
                <a:gd name="T3" fmla="*/ 7 h 294"/>
                <a:gd name="T4" fmla="*/ 104 w 104"/>
                <a:gd name="T5" fmla="*/ 23 h 294"/>
                <a:gd name="T6" fmla="*/ 97 w 104"/>
                <a:gd name="T7" fmla="*/ 38 h 294"/>
                <a:gd name="T8" fmla="*/ 82 w 104"/>
                <a:gd name="T9" fmla="*/ 45 h 294"/>
                <a:gd name="T10" fmla="*/ 66 w 104"/>
                <a:gd name="T11" fmla="*/ 38 h 294"/>
                <a:gd name="T12" fmla="*/ 60 w 104"/>
                <a:gd name="T13" fmla="*/ 23 h 294"/>
                <a:gd name="T14" fmla="*/ 66 w 104"/>
                <a:gd name="T15" fmla="*/ 7 h 294"/>
                <a:gd name="T16" fmla="*/ 82 w 104"/>
                <a:gd name="T17" fmla="*/ 0 h 294"/>
                <a:gd name="T18" fmla="*/ 85 w 104"/>
                <a:gd name="T19" fmla="*/ 88 h 294"/>
                <a:gd name="T20" fmla="*/ 41 w 104"/>
                <a:gd name="T21" fmla="*/ 243 h 294"/>
                <a:gd name="T22" fmla="*/ 36 w 104"/>
                <a:gd name="T23" fmla="*/ 262 h 294"/>
                <a:gd name="T24" fmla="*/ 38 w 104"/>
                <a:gd name="T25" fmla="*/ 268 h 294"/>
                <a:gd name="T26" fmla="*/ 43 w 104"/>
                <a:gd name="T27" fmla="*/ 270 h 294"/>
                <a:gd name="T28" fmla="*/ 51 w 104"/>
                <a:gd name="T29" fmla="*/ 267 h 294"/>
                <a:gd name="T30" fmla="*/ 77 w 104"/>
                <a:gd name="T31" fmla="*/ 238 h 294"/>
                <a:gd name="T32" fmla="*/ 85 w 104"/>
                <a:gd name="T33" fmla="*/ 243 h 294"/>
                <a:gd name="T34" fmla="*/ 49 w 104"/>
                <a:gd name="T35" fmla="*/ 282 h 294"/>
                <a:gd name="T36" fmla="*/ 20 w 104"/>
                <a:gd name="T37" fmla="*/ 294 h 294"/>
                <a:gd name="T38" fmla="*/ 6 w 104"/>
                <a:gd name="T39" fmla="*/ 289 h 294"/>
                <a:gd name="T40" fmla="*/ 0 w 104"/>
                <a:gd name="T41" fmla="*/ 275 h 294"/>
                <a:gd name="T42" fmla="*/ 5 w 104"/>
                <a:gd name="T43" fmla="*/ 248 h 294"/>
                <a:gd name="T44" fmla="*/ 34 w 104"/>
                <a:gd name="T45" fmla="*/ 148 h 294"/>
                <a:gd name="T46" fmla="*/ 41 w 104"/>
                <a:gd name="T47" fmla="*/ 118 h 294"/>
                <a:gd name="T48" fmla="*/ 38 w 104"/>
                <a:gd name="T49" fmla="*/ 110 h 294"/>
                <a:gd name="T50" fmla="*/ 28 w 104"/>
                <a:gd name="T51" fmla="*/ 107 h 294"/>
                <a:gd name="T52" fmla="*/ 8 w 104"/>
                <a:gd name="T53" fmla="*/ 109 h 294"/>
                <a:gd name="T54" fmla="*/ 8 w 104"/>
                <a:gd name="T55" fmla="*/ 101 h 294"/>
                <a:gd name="T56" fmla="*/ 85 w 104"/>
                <a:gd name="T57" fmla="*/ 88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4" h="294" fill="norm" stroke="1" extrusionOk="0">
                  <a:moveTo>
                    <a:pt x="82" y="0"/>
                  </a:moveTo>
                  <a:cubicBezTo>
                    <a:pt x="88" y="0"/>
                    <a:pt x="93" y="3"/>
                    <a:pt x="97" y="7"/>
                  </a:cubicBezTo>
                  <a:cubicBezTo>
                    <a:pt x="102" y="11"/>
                    <a:pt x="104" y="16"/>
                    <a:pt x="104" y="23"/>
                  </a:cubicBezTo>
                  <a:cubicBezTo>
                    <a:pt x="104" y="29"/>
                    <a:pt x="102" y="34"/>
                    <a:pt x="97" y="38"/>
                  </a:cubicBezTo>
                  <a:cubicBezTo>
                    <a:pt x="93" y="43"/>
                    <a:pt x="88" y="45"/>
                    <a:pt x="82" y="45"/>
                  </a:cubicBezTo>
                  <a:cubicBezTo>
                    <a:pt x="76" y="45"/>
                    <a:pt x="70" y="43"/>
                    <a:pt x="66" y="38"/>
                  </a:cubicBezTo>
                  <a:cubicBezTo>
                    <a:pt x="62" y="34"/>
                    <a:pt x="60" y="29"/>
                    <a:pt x="60" y="23"/>
                  </a:cubicBezTo>
                  <a:cubicBezTo>
                    <a:pt x="60" y="16"/>
                    <a:pt x="62" y="11"/>
                    <a:pt x="66" y="7"/>
                  </a:cubicBezTo>
                  <a:cubicBezTo>
                    <a:pt x="70" y="3"/>
                    <a:pt x="75" y="0"/>
                    <a:pt x="82" y="0"/>
                  </a:cubicBezTo>
                  <a:close/>
                  <a:moveTo>
                    <a:pt x="85" y="88"/>
                  </a:moveTo>
                  <a:lnTo>
                    <a:pt x="41" y="243"/>
                  </a:lnTo>
                  <a:cubicBezTo>
                    <a:pt x="38" y="254"/>
                    <a:pt x="36" y="260"/>
                    <a:pt x="36" y="262"/>
                  </a:cubicBezTo>
                  <a:cubicBezTo>
                    <a:pt x="36" y="265"/>
                    <a:pt x="37" y="267"/>
                    <a:pt x="38" y="268"/>
                  </a:cubicBezTo>
                  <a:cubicBezTo>
                    <a:pt x="40" y="270"/>
                    <a:pt x="41" y="270"/>
                    <a:pt x="43" y="270"/>
                  </a:cubicBezTo>
                  <a:cubicBezTo>
                    <a:pt x="46" y="270"/>
                    <a:pt x="48" y="269"/>
                    <a:pt x="51" y="267"/>
                  </a:cubicBezTo>
                  <a:cubicBezTo>
                    <a:pt x="60" y="260"/>
                    <a:pt x="68" y="251"/>
                    <a:pt x="77" y="238"/>
                  </a:cubicBezTo>
                  <a:lnTo>
                    <a:pt x="85" y="243"/>
                  </a:lnTo>
                  <a:cubicBezTo>
                    <a:pt x="75" y="259"/>
                    <a:pt x="63" y="272"/>
                    <a:pt x="49" y="282"/>
                  </a:cubicBezTo>
                  <a:cubicBezTo>
                    <a:pt x="39" y="290"/>
                    <a:pt x="30" y="294"/>
                    <a:pt x="20" y="294"/>
                  </a:cubicBezTo>
                  <a:cubicBezTo>
                    <a:pt x="14" y="294"/>
                    <a:pt x="9" y="292"/>
                    <a:pt x="6" y="289"/>
                  </a:cubicBezTo>
                  <a:cubicBezTo>
                    <a:pt x="2" y="285"/>
                    <a:pt x="0" y="280"/>
                    <a:pt x="0" y="275"/>
                  </a:cubicBezTo>
                  <a:cubicBezTo>
                    <a:pt x="0" y="269"/>
                    <a:pt x="2" y="260"/>
                    <a:pt x="5" y="248"/>
                  </a:cubicBezTo>
                  <a:lnTo>
                    <a:pt x="34" y="148"/>
                  </a:lnTo>
                  <a:cubicBezTo>
                    <a:pt x="39" y="132"/>
                    <a:pt x="41" y="122"/>
                    <a:pt x="41" y="118"/>
                  </a:cubicBezTo>
                  <a:cubicBezTo>
                    <a:pt x="41" y="115"/>
                    <a:pt x="40" y="112"/>
                    <a:pt x="38" y="110"/>
                  </a:cubicBezTo>
                  <a:cubicBezTo>
                    <a:pt x="35" y="108"/>
                    <a:pt x="32" y="107"/>
                    <a:pt x="28" y="107"/>
                  </a:cubicBezTo>
                  <a:cubicBezTo>
                    <a:pt x="25" y="107"/>
                    <a:pt x="18" y="108"/>
                    <a:pt x="8" y="109"/>
                  </a:cubicBezTo>
                  <a:lnTo>
                    <a:pt x="8" y="101"/>
                  </a:lnTo>
                  <a:lnTo>
                    <a:pt x="85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866460918" name="Freeform 43"/>
            <p:cNvSpPr/>
            <p:nvPr/>
          </p:nvSpPr>
          <p:spPr bwMode="auto">
            <a:xfrm>
              <a:off x="4783442" y="2507289"/>
              <a:ext cx="36" cy="38"/>
            </a:xfrm>
            <a:custGeom>
              <a:avLst/>
              <a:gdLst>
                <a:gd name="T0" fmla="*/ 91 w 200"/>
                <a:gd name="T1" fmla="*/ 0 h 206"/>
                <a:gd name="T2" fmla="*/ 62 w 200"/>
                <a:gd name="T3" fmla="*/ 101 h 206"/>
                <a:gd name="T4" fmla="*/ 125 w 200"/>
                <a:gd name="T5" fmla="*/ 20 h 206"/>
                <a:gd name="T6" fmla="*/ 168 w 200"/>
                <a:gd name="T7" fmla="*/ 0 h 206"/>
                <a:gd name="T8" fmla="*/ 186 w 200"/>
                <a:gd name="T9" fmla="*/ 8 h 206"/>
                <a:gd name="T10" fmla="*/ 193 w 200"/>
                <a:gd name="T11" fmla="*/ 27 h 206"/>
                <a:gd name="T12" fmla="*/ 187 w 200"/>
                <a:gd name="T13" fmla="*/ 62 h 206"/>
                <a:gd name="T14" fmla="*/ 160 w 200"/>
                <a:gd name="T15" fmla="*/ 155 h 206"/>
                <a:gd name="T16" fmla="*/ 155 w 200"/>
                <a:gd name="T17" fmla="*/ 175 h 206"/>
                <a:gd name="T18" fmla="*/ 157 w 200"/>
                <a:gd name="T19" fmla="*/ 180 h 206"/>
                <a:gd name="T20" fmla="*/ 161 w 200"/>
                <a:gd name="T21" fmla="*/ 182 h 206"/>
                <a:gd name="T22" fmla="*/ 167 w 200"/>
                <a:gd name="T23" fmla="*/ 179 h 206"/>
                <a:gd name="T24" fmla="*/ 193 w 200"/>
                <a:gd name="T25" fmla="*/ 151 h 206"/>
                <a:gd name="T26" fmla="*/ 200 w 200"/>
                <a:gd name="T27" fmla="*/ 155 h 206"/>
                <a:gd name="T28" fmla="*/ 161 w 200"/>
                <a:gd name="T29" fmla="*/ 197 h 206"/>
                <a:gd name="T30" fmla="*/ 138 w 200"/>
                <a:gd name="T31" fmla="*/ 206 h 206"/>
                <a:gd name="T32" fmla="*/ 125 w 200"/>
                <a:gd name="T33" fmla="*/ 201 h 206"/>
                <a:gd name="T34" fmla="*/ 120 w 200"/>
                <a:gd name="T35" fmla="*/ 188 h 206"/>
                <a:gd name="T36" fmla="*/ 127 w 200"/>
                <a:gd name="T37" fmla="*/ 151 h 206"/>
                <a:gd name="T38" fmla="*/ 153 w 200"/>
                <a:gd name="T39" fmla="*/ 62 h 206"/>
                <a:gd name="T40" fmla="*/ 158 w 200"/>
                <a:gd name="T41" fmla="*/ 36 h 206"/>
                <a:gd name="T42" fmla="*/ 155 w 200"/>
                <a:gd name="T43" fmla="*/ 29 h 206"/>
                <a:gd name="T44" fmla="*/ 148 w 200"/>
                <a:gd name="T45" fmla="*/ 26 h 206"/>
                <a:gd name="T46" fmla="*/ 133 w 200"/>
                <a:gd name="T47" fmla="*/ 31 h 206"/>
                <a:gd name="T48" fmla="*/ 99 w 200"/>
                <a:gd name="T49" fmla="*/ 64 h 206"/>
                <a:gd name="T50" fmla="*/ 61 w 200"/>
                <a:gd name="T51" fmla="*/ 123 h 206"/>
                <a:gd name="T52" fmla="*/ 44 w 200"/>
                <a:gd name="T53" fmla="*/ 164 h 206"/>
                <a:gd name="T54" fmla="*/ 33 w 200"/>
                <a:gd name="T55" fmla="*/ 201 h 206"/>
                <a:gd name="T56" fmla="*/ 0 w 200"/>
                <a:gd name="T57" fmla="*/ 201 h 206"/>
                <a:gd name="T58" fmla="*/ 40 w 200"/>
                <a:gd name="T59" fmla="*/ 62 h 206"/>
                <a:gd name="T60" fmla="*/ 47 w 200"/>
                <a:gd name="T61" fmla="*/ 32 h 206"/>
                <a:gd name="T62" fmla="*/ 43 w 200"/>
                <a:gd name="T63" fmla="*/ 24 h 206"/>
                <a:gd name="T64" fmla="*/ 34 w 200"/>
                <a:gd name="T65" fmla="*/ 20 h 206"/>
                <a:gd name="T66" fmla="*/ 24 w 200"/>
                <a:gd name="T67" fmla="*/ 21 h 206"/>
                <a:gd name="T68" fmla="*/ 16 w 200"/>
                <a:gd name="T69" fmla="*/ 22 h 206"/>
                <a:gd name="T70" fmla="*/ 15 w 200"/>
                <a:gd name="T71" fmla="*/ 14 h 206"/>
                <a:gd name="T72" fmla="*/ 91 w 200"/>
                <a:gd name="T7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0" h="206" fill="norm" stroke="1" extrusionOk="0">
                  <a:moveTo>
                    <a:pt x="91" y="0"/>
                  </a:moveTo>
                  <a:lnTo>
                    <a:pt x="62" y="101"/>
                  </a:lnTo>
                  <a:cubicBezTo>
                    <a:pt x="89" y="60"/>
                    <a:pt x="111" y="33"/>
                    <a:pt x="125" y="20"/>
                  </a:cubicBezTo>
                  <a:cubicBezTo>
                    <a:pt x="140" y="7"/>
                    <a:pt x="154" y="0"/>
                    <a:pt x="168" y="0"/>
                  </a:cubicBezTo>
                  <a:cubicBezTo>
                    <a:pt x="175" y="0"/>
                    <a:pt x="181" y="3"/>
                    <a:pt x="186" y="8"/>
                  </a:cubicBezTo>
                  <a:cubicBezTo>
                    <a:pt x="191" y="12"/>
                    <a:pt x="193" y="19"/>
                    <a:pt x="193" y="27"/>
                  </a:cubicBezTo>
                  <a:cubicBezTo>
                    <a:pt x="193" y="35"/>
                    <a:pt x="191" y="47"/>
                    <a:pt x="187" y="62"/>
                  </a:cubicBezTo>
                  <a:lnTo>
                    <a:pt x="160" y="155"/>
                  </a:lnTo>
                  <a:cubicBezTo>
                    <a:pt x="157" y="166"/>
                    <a:pt x="155" y="173"/>
                    <a:pt x="155" y="175"/>
                  </a:cubicBezTo>
                  <a:cubicBezTo>
                    <a:pt x="155" y="177"/>
                    <a:pt x="156" y="179"/>
                    <a:pt x="157" y="180"/>
                  </a:cubicBezTo>
                  <a:cubicBezTo>
                    <a:pt x="158" y="182"/>
                    <a:pt x="159" y="182"/>
                    <a:pt x="161" y="182"/>
                  </a:cubicBezTo>
                  <a:cubicBezTo>
                    <a:pt x="162" y="182"/>
                    <a:pt x="165" y="181"/>
                    <a:pt x="167" y="179"/>
                  </a:cubicBezTo>
                  <a:cubicBezTo>
                    <a:pt x="175" y="173"/>
                    <a:pt x="183" y="164"/>
                    <a:pt x="193" y="151"/>
                  </a:cubicBezTo>
                  <a:lnTo>
                    <a:pt x="200" y="155"/>
                  </a:lnTo>
                  <a:cubicBezTo>
                    <a:pt x="186" y="175"/>
                    <a:pt x="173" y="189"/>
                    <a:pt x="161" y="197"/>
                  </a:cubicBezTo>
                  <a:cubicBezTo>
                    <a:pt x="152" y="203"/>
                    <a:pt x="144" y="206"/>
                    <a:pt x="138" y="206"/>
                  </a:cubicBezTo>
                  <a:cubicBezTo>
                    <a:pt x="132" y="206"/>
                    <a:pt x="128" y="204"/>
                    <a:pt x="125" y="201"/>
                  </a:cubicBezTo>
                  <a:cubicBezTo>
                    <a:pt x="121" y="198"/>
                    <a:pt x="120" y="193"/>
                    <a:pt x="120" y="188"/>
                  </a:cubicBezTo>
                  <a:cubicBezTo>
                    <a:pt x="120" y="180"/>
                    <a:pt x="122" y="168"/>
                    <a:pt x="127" y="151"/>
                  </a:cubicBezTo>
                  <a:lnTo>
                    <a:pt x="153" y="62"/>
                  </a:lnTo>
                  <a:cubicBezTo>
                    <a:pt x="156" y="51"/>
                    <a:pt x="158" y="42"/>
                    <a:pt x="158" y="36"/>
                  </a:cubicBezTo>
                  <a:cubicBezTo>
                    <a:pt x="158" y="33"/>
                    <a:pt x="157" y="31"/>
                    <a:pt x="155" y="29"/>
                  </a:cubicBezTo>
                  <a:cubicBezTo>
                    <a:pt x="153" y="27"/>
                    <a:pt x="151" y="26"/>
                    <a:pt x="148" y="26"/>
                  </a:cubicBezTo>
                  <a:cubicBezTo>
                    <a:pt x="144" y="26"/>
                    <a:pt x="139" y="28"/>
                    <a:pt x="133" y="31"/>
                  </a:cubicBezTo>
                  <a:cubicBezTo>
                    <a:pt x="122" y="38"/>
                    <a:pt x="111" y="49"/>
                    <a:pt x="99" y="64"/>
                  </a:cubicBezTo>
                  <a:cubicBezTo>
                    <a:pt x="87" y="80"/>
                    <a:pt x="75" y="99"/>
                    <a:pt x="61" y="123"/>
                  </a:cubicBezTo>
                  <a:cubicBezTo>
                    <a:pt x="55" y="135"/>
                    <a:pt x="49" y="149"/>
                    <a:pt x="44" y="164"/>
                  </a:cubicBezTo>
                  <a:lnTo>
                    <a:pt x="33" y="201"/>
                  </a:lnTo>
                  <a:lnTo>
                    <a:pt x="0" y="201"/>
                  </a:lnTo>
                  <a:lnTo>
                    <a:pt x="40" y="62"/>
                  </a:lnTo>
                  <a:cubicBezTo>
                    <a:pt x="45" y="45"/>
                    <a:pt x="47" y="35"/>
                    <a:pt x="47" y="32"/>
                  </a:cubicBezTo>
                  <a:cubicBezTo>
                    <a:pt x="47" y="29"/>
                    <a:pt x="46" y="26"/>
                    <a:pt x="43" y="24"/>
                  </a:cubicBezTo>
                  <a:cubicBezTo>
                    <a:pt x="41" y="21"/>
                    <a:pt x="38" y="20"/>
                    <a:pt x="34" y="20"/>
                  </a:cubicBezTo>
                  <a:cubicBezTo>
                    <a:pt x="32" y="20"/>
                    <a:pt x="29" y="20"/>
                    <a:pt x="24" y="21"/>
                  </a:cubicBezTo>
                  <a:lnTo>
                    <a:pt x="16" y="22"/>
                  </a:lnTo>
                  <a:lnTo>
                    <a:pt x="15" y="14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69133960" name="Freeform 44"/>
            <p:cNvSpPr>
              <a:spLocks noEditPoints="1"/>
            </p:cNvSpPr>
            <p:nvPr/>
          </p:nvSpPr>
          <p:spPr bwMode="auto">
            <a:xfrm>
              <a:off x="4783482" y="2507289"/>
              <a:ext cx="45" cy="55"/>
            </a:xfrm>
            <a:custGeom>
              <a:avLst/>
              <a:gdLst>
                <a:gd name="T0" fmla="*/ 248 w 248"/>
                <a:gd name="T1" fmla="*/ 14 h 298"/>
                <a:gd name="T2" fmla="*/ 242 w 248"/>
                <a:gd name="T3" fmla="*/ 37 h 298"/>
                <a:gd name="T4" fmla="*/ 205 w 248"/>
                <a:gd name="T5" fmla="*/ 37 h 298"/>
                <a:gd name="T6" fmla="*/ 209 w 248"/>
                <a:gd name="T7" fmla="*/ 59 h 298"/>
                <a:gd name="T8" fmla="*/ 184 w 248"/>
                <a:gd name="T9" fmla="*/ 111 h 298"/>
                <a:gd name="T10" fmla="*/ 116 w 248"/>
                <a:gd name="T11" fmla="*/ 137 h 298"/>
                <a:gd name="T12" fmla="*/ 80 w 248"/>
                <a:gd name="T13" fmla="*/ 153 h 298"/>
                <a:gd name="T14" fmla="*/ 76 w 248"/>
                <a:gd name="T15" fmla="*/ 161 h 298"/>
                <a:gd name="T16" fmla="*/ 80 w 248"/>
                <a:gd name="T17" fmla="*/ 169 h 298"/>
                <a:gd name="T18" fmla="*/ 100 w 248"/>
                <a:gd name="T19" fmla="*/ 176 h 298"/>
                <a:gd name="T20" fmla="*/ 143 w 248"/>
                <a:gd name="T21" fmla="*/ 186 h 298"/>
                <a:gd name="T22" fmla="*/ 190 w 248"/>
                <a:gd name="T23" fmla="*/ 206 h 298"/>
                <a:gd name="T24" fmla="*/ 201 w 248"/>
                <a:gd name="T25" fmla="*/ 233 h 298"/>
                <a:gd name="T26" fmla="*/ 188 w 248"/>
                <a:gd name="T27" fmla="*/ 266 h 298"/>
                <a:gd name="T28" fmla="*/ 149 w 248"/>
                <a:gd name="T29" fmla="*/ 290 h 298"/>
                <a:gd name="T30" fmla="*/ 92 w 248"/>
                <a:gd name="T31" fmla="*/ 298 h 298"/>
                <a:gd name="T32" fmla="*/ 42 w 248"/>
                <a:gd name="T33" fmla="*/ 292 h 298"/>
                <a:gd name="T34" fmla="*/ 10 w 248"/>
                <a:gd name="T35" fmla="*/ 274 h 298"/>
                <a:gd name="T36" fmla="*/ 0 w 248"/>
                <a:gd name="T37" fmla="*/ 252 h 298"/>
                <a:gd name="T38" fmla="*/ 6 w 248"/>
                <a:gd name="T39" fmla="*/ 232 h 298"/>
                <a:gd name="T40" fmla="*/ 22 w 248"/>
                <a:gd name="T41" fmla="*/ 215 h 298"/>
                <a:gd name="T42" fmla="*/ 56 w 248"/>
                <a:gd name="T43" fmla="*/ 195 h 298"/>
                <a:gd name="T44" fmla="*/ 46 w 248"/>
                <a:gd name="T45" fmla="*/ 177 h 298"/>
                <a:gd name="T46" fmla="*/ 54 w 248"/>
                <a:gd name="T47" fmla="*/ 159 h 298"/>
                <a:gd name="T48" fmla="*/ 93 w 248"/>
                <a:gd name="T49" fmla="*/ 137 h 298"/>
                <a:gd name="T50" fmla="*/ 54 w 248"/>
                <a:gd name="T51" fmla="*/ 116 h 298"/>
                <a:gd name="T52" fmla="*/ 40 w 248"/>
                <a:gd name="T53" fmla="*/ 81 h 298"/>
                <a:gd name="T54" fmla="*/ 67 w 248"/>
                <a:gd name="T55" fmla="*/ 25 h 298"/>
                <a:gd name="T56" fmla="*/ 141 w 248"/>
                <a:gd name="T57" fmla="*/ 0 h 298"/>
                <a:gd name="T58" fmla="*/ 168 w 248"/>
                <a:gd name="T59" fmla="*/ 4 h 298"/>
                <a:gd name="T60" fmla="*/ 188 w 248"/>
                <a:gd name="T61" fmla="*/ 14 h 298"/>
                <a:gd name="T62" fmla="*/ 248 w 248"/>
                <a:gd name="T63" fmla="*/ 14 h 298"/>
                <a:gd name="T64" fmla="*/ 171 w 248"/>
                <a:gd name="T65" fmla="*/ 49 h 298"/>
                <a:gd name="T66" fmla="*/ 161 w 248"/>
                <a:gd name="T67" fmla="*/ 21 h 298"/>
                <a:gd name="T68" fmla="*/ 136 w 248"/>
                <a:gd name="T69" fmla="*/ 11 h 298"/>
                <a:gd name="T70" fmla="*/ 94 w 248"/>
                <a:gd name="T71" fmla="*/ 36 h 298"/>
                <a:gd name="T72" fmla="*/ 78 w 248"/>
                <a:gd name="T73" fmla="*/ 88 h 298"/>
                <a:gd name="T74" fmla="*/ 89 w 248"/>
                <a:gd name="T75" fmla="*/ 116 h 298"/>
                <a:gd name="T76" fmla="*/ 114 w 248"/>
                <a:gd name="T77" fmla="*/ 127 h 298"/>
                <a:gd name="T78" fmla="*/ 136 w 248"/>
                <a:gd name="T79" fmla="*/ 120 h 298"/>
                <a:gd name="T80" fmla="*/ 155 w 248"/>
                <a:gd name="T81" fmla="*/ 103 h 298"/>
                <a:gd name="T82" fmla="*/ 167 w 248"/>
                <a:gd name="T83" fmla="*/ 74 h 298"/>
                <a:gd name="T84" fmla="*/ 171 w 248"/>
                <a:gd name="T85" fmla="*/ 49 h 298"/>
                <a:gd name="T86" fmla="*/ 65 w 248"/>
                <a:gd name="T87" fmla="*/ 201 h 298"/>
                <a:gd name="T88" fmla="*/ 38 w 248"/>
                <a:gd name="T89" fmla="*/ 222 h 298"/>
                <a:gd name="T90" fmla="*/ 29 w 248"/>
                <a:gd name="T91" fmla="*/ 247 h 298"/>
                <a:gd name="T92" fmla="*/ 42 w 248"/>
                <a:gd name="T93" fmla="*/ 271 h 298"/>
                <a:gd name="T94" fmla="*/ 98 w 248"/>
                <a:gd name="T95" fmla="*/ 285 h 298"/>
                <a:gd name="T96" fmla="*/ 152 w 248"/>
                <a:gd name="T97" fmla="*/ 274 h 298"/>
                <a:gd name="T98" fmla="*/ 175 w 248"/>
                <a:gd name="T99" fmla="*/ 246 h 298"/>
                <a:gd name="T100" fmla="*/ 166 w 248"/>
                <a:gd name="T101" fmla="*/ 230 h 298"/>
                <a:gd name="T102" fmla="*/ 134 w 248"/>
                <a:gd name="T103" fmla="*/ 217 h 298"/>
                <a:gd name="T104" fmla="*/ 65 w 248"/>
                <a:gd name="T105" fmla="*/ 201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48" h="298" fill="norm" stroke="1" extrusionOk="0">
                  <a:moveTo>
                    <a:pt x="248" y="14"/>
                  </a:moveTo>
                  <a:lnTo>
                    <a:pt x="242" y="37"/>
                  </a:lnTo>
                  <a:lnTo>
                    <a:pt x="205" y="37"/>
                  </a:lnTo>
                  <a:cubicBezTo>
                    <a:pt x="208" y="45"/>
                    <a:pt x="209" y="52"/>
                    <a:pt x="209" y="59"/>
                  </a:cubicBezTo>
                  <a:cubicBezTo>
                    <a:pt x="209" y="79"/>
                    <a:pt x="201" y="96"/>
                    <a:pt x="184" y="111"/>
                  </a:cubicBezTo>
                  <a:cubicBezTo>
                    <a:pt x="168" y="127"/>
                    <a:pt x="145" y="135"/>
                    <a:pt x="116" y="137"/>
                  </a:cubicBezTo>
                  <a:cubicBezTo>
                    <a:pt x="100" y="141"/>
                    <a:pt x="88" y="147"/>
                    <a:pt x="80" y="153"/>
                  </a:cubicBezTo>
                  <a:cubicBezTo>
                    <a:pt x="77" y="156"/>
                    <a:pt x="76" y="158"/>
                    <a:pt x="76" y="161"/>
                  </a:cubicBezTo>
                  <a:cubicBezTo>
                    <a:pt x="76" y="164"/>
                    <a:pt x="77" y="166"/>
                    <a:pt x="80" y="169"/>
                  </a:cubicBezTo>
                  <a:cubicBezTo>
                    <a:pt x="83" y="171"/>
                    <a:pt x="89" y="174"/>
                    <a:pt x="100" y="176"/>
                  </a:cubicBezTo>
                  <a:lnTo>
                    <a:pt x="143" y="186"/>
                  </a:lnTo>
                  <a:cubicBezTo>
                    <a:pt x="167" y="192"/>
                    <a:pt x="183" y="198"/>
                    <a:pt x="190" y="206"/>
                  </a:cubicBezTo>
                  <a:cubicBezTo>
                    <a:pt x="198" y="214"/>
                    <a:pt x="201" y="223"/>
                    <a:pt x="201" y="233"/>
                  </a:cubicBezTo>
                  <a:cubicBezTo>
                    <a:pt x="201" y="245"/>
                    <a:pt x="197" y="256"/>
                    <a:pt x="188" y="266"/>
                  </a:cubicBezTo>
                  <a:cubicBezTo>
                    <a:pt x="179" y="276"/>
                    <a:pt x="166" y="284"/>
                    <a:pt x="149" y="290"/>
                  </a:cubicBezTo>
                  <a:cubicBezTo>
                    <a:pt x="132" y="296"/>
                    <a:pt x="113" y="298"/>
                    <a:pt x="92" y="298"/>
                  </a:cubicBezTo>
                  <a:cubicBezTo>
                    <a:pt x="74" y="298"/>
                    <a:pt x="57" y="296"/>
                    <a:pt x="42" y="292"/>
                  </a:cubicBezTo>
                  <a:cubicBezTo>
                    <a:pt x="27" y="288"/>
                    <a:pt x="16" y="282"/>
                    <a:pt x="10" y="274"/>
                  </a:cubicBezTo>
                  <a:cubicBezTo>
                    <a:pt x="3" y="267"/>
                    <a:pt x="0" y="259"/>
                    <a:pt x="0" y="252"/>
                  </a:cubicBezTo>
                  <a:cubicBezTo>
                    <a:pt x="0" y="245"/>
                    <a:pt x="2" y="239"/>
                    <a:pt x="6" y="232"/>
                  </a:cubicBezTo>
                  <a:cubicBezTo>
                    <a:pt x="10" y="225"/>
                    <a:pt x="16" y="219"/>
                    <a:pt x="22" y="215"/>
                  </a:cubicBezTo>
                  <a:cubicBezTo>
                    <a:pt x="26" y="212"/>
                    <a:pt x="37" y="205"/>
                    <a:pt x="56" y="195"/>
                  </a:cubicBezTo>
                  <a:cubicBezTo>
                    <a:pt x="49" y="190"/>
                    <a:pt x="46" y="184"/>
                    <a:pt x="46" y="177"/>
                  </a:cubicBezTo>
                  <a:cubicBezTo>
                    <a:pt x="46" y="171"/>
                    <a:pt x="49" y="165"/>
                    <a:pt x="54" y="159"/>
                  </a:cubicBezTo>
                  <a:cubicBezTo>
                    <a:pt x="61" y="152"/>
                    <a:pt x="73" y="145"/>
                    <a:pt x="93" y="137"/>
                  </a:cubicBezTo>
                  <a:cubicBezTo>
                    <a:pt x="76" y="134"/>
                    <a:pt x="63" y="127"/>
                    <a:pt x="54" y="116"/>
                  </a:cubicBezTo>
                  <a:cubicBezTo>
                    <a:pt x="44" y="106"/>
                    <a:pt x="40" y="94"/>
                    <a:pt x="40" y="81"/>
                  </a:cubicBezTo>
                  <a:cubicBezTo>
                    <a:pt x="40" y="60"/>
                    <a:pt x="49" y="42"/>
                    <a:pt x="67" y="25"/>
                  </a:cubicBezTo>
                  <a:cubicBezTo>
                    <a:pt x="86" y="9"/>
                    <a:pt x="110" y="0"/>
                    <a:pt x="141" y="0"/>
                  </a:cubicBezTo>
                  <a:cubicBezTo>
                    <a:pt x="152" y="0"/>
                    <a:pt x="161" y="1"/>
                    <a:pt x="168" y="4"/>
                  </a:cubicBezTo>
                  <a:cubicBezTo>
                    <a:pt x="175" y="6"/>
                    <a:pt x="182" y="9"/>
                    <a:pt x="188" y="14"/>
                  </a:cubicBezTo>
                  <a:lnTo>
                    <a:pt x="248" y="14"/>
                  </a:lnTo>
                  <a:close/>
                  <a:moveTo>
                    <a:pt x="171" y="49"/>
                  </a:moveTo>
                  <a:cubicBezTo>
                    <a:pt x="171" y="37"/>
                    <a:pt x="168" y="28"/>
                    <a:pt x="161" y="21"/>
                  </a:cubicBezTo>
                  <a:cubicBezTo>
                    <a:pt x="155" y="14"/>
                    <a:pt x="146" y="11"/>
                    <a:pt x="136" y="11"/>
                  </a:cubicBezTo>
                  <a:cubicBezTo>
                    <a:pt x="119" y="11"/>
                    <a:pt x="105" y="19"/>
                    <a:pt x="94" y="36"/>
                  </a:cubicBezTo>
                  <a:cubicBezTo>
                    <a:pt x="84" y="53"/>
                    <a:pt x="78" y="70"/>
                    <a:pt x="78" y="88"/>
                  </a:cubicBezTo>
                  <a:cubicBezTo>
                    <a:pt x="78" y="100"/>
                    <a:pt x="82" y="109"/>
                    <a:pt x="89" y="116"/>
                  </a:cubicBezTo>
                  <a:cubicBezTo>
                    <a:pt x="96" y="123"/>
                    <a:pt x="104" y="127"/>
                    <a:pt x="114" y="127"/>
                  </a:cubicBezTo>
                  <a:cubicBezTo>
                    <a:pt x="122" y="127"/>
                    <a:pt x="129" y="125"/>
                    <a:pt x="136" y="120"/>
                  </a:cubicBezTo>
                  <a:cubicBezTo>
                    <a:pt x="144" y="116"/>
                    <a:pt x="150" y="110"/>
                    <a:pt x="155" y="103"/>
                  </a:cubicBezTo>
                  <a:cubicBezTo>
                    <a:pt x="160" y="95"/>
                    <a:pt x="164" y="86"/>
                    <a:pt x="167" y="74"/>
                  </a:cubicBezTo>
                  <a:cubicBezTo>
                    <a:pt x="170" y="62"/>
                    <a:pt x="171" y="54"/>
                    <a:pt x="171" y="49"/>
                  </a:cubicBezTo>
                  <a:close/>
                  <a:moveTo>
                    <a:pt x="65" y="201"/>
                  </a:moveTo>
                  <a:cubicBezTo>
                    <a:pt x="53" y="206"/>
                    <a:pt x="44" y="213"/>
                    <a:pt x="38" y="222"/>
                  </a:cubicBezTo>
                  <a:cubicBezTo>
                    <a:pt x="32" y="230"/>
                    <a:pt x="29" y="239"/>
                    <a:pt x="29" y="247"/>
                  </a:cubicBezTo>
                  <a:cubicBezTo>
                    <a:pt x="29" y="257"/>
                    <a:pt x="33" y="265"/>
                    <a:pt x="42" y="271"/>
                  </a:cubicBezTo>
                  <a:cubicBezTo>
                    <a:pt x="55" y="280"/>
                    <a:pt x="74" y="285"/>
                    <a:pt x="98" y="285"/>
                  </a:cubicBezTo>
                  <a:cubicBezTo>
                    <a:pt x="119" y="285"/>
                    <a:pt x="137" y="281"/>
                    <a:pt x="152" y="274"/>
                  </a:cubicBezTo>
                  <a:cubicBezTo>
                    <a:pt x="167" y="267"/>
                    <a:pt x="175" y="258"/>
                    <a:pt x="175" y="246"/>
                  </a:cubicBezTo>
                  <a:cubicBezTo>
                    <a:pt x="175" y="240"/>
                    <a:pt x="172" y="235"/>
                    <a:pt x="166" y="230"/>
                  </a:cubicBezTo>
                  <a:cubicBezTo>
                    <a:pt x="161" y="225"/>
                    <a:pt x="150" y="220"/>
                    <a:pt x="134" y="217"/>
                  </a:cubicBezTo>
                  <a:cubicBezTo>
                    <a:pt x="125" y="215"/>
                    <a:pt x="103" y="210"/>
                    <a:pt x="65" y="20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9382857" name="Image 0" descr="fraunhof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9788" y="237744"/>
            <a:ext cx="1475062" cy="420624"/>
          </a:xfrm>
          <a:prstGeom prst="rect">
            <a:avLst/>
          </a:prstGeom>
        </p:spPr>
      </p:pic>
      <p:pic>
        <p:nvPicPr>
          <p:cNvPr id="1550037792" name="Image 1" descr="chalmer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3478" y="237744"/>
            <a:ext cx="1353920" cy="420624"/>
          </a:xfrm>
          <a:prstGeom prst="rect">
            <a:avLst/>
          </a:prstGeom>
        </p:spPr>
      </p:pic>
      <p:pic>
        <p:nvPicPr>
          <p:cNvPr id="663867504" name="Image 2" descr="gotebor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1280" y="195680"/>
            <a:ext cx="1484553" cy="504747"/>
          </a:xfrm>
          <a:prstGeom prst="rect">
            <a:avLst/>
          </a:prstGeom>
        </p:spPr>
      </p:pic>
      <p:pic>
        <p:nvPicPr>
          <p:cNvPr id="1654320707" name="Image 3" descr="napoli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77885" y="237744"/>
            <a:ext cx="1297583" cy="420624"/>
          </a:xfrm>
          <a:prstGeom prst="rect">
            <a:avLst/>
          </a:prstGeom>
        </p:spPr>
      </p:pic>
      <p:sp>
        <p:nvSpPr>
          <p:cNvPr id="252750016" name="Text 0"/>
          <p:cNvSpPr/>
          <p:nvPr/>
        </p:nvSpPr>
        <p:spPr bwMode="auto">
          <a:xfrm>
            <a:off x="365760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sv-SE" sz="2600" b="1" i="0" u="none" strike="noStrike" cap="none" spc="0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Causal RE workflow</a:t>
            </a:r>
            <a:endParaRPr lang="en-US"/>
          </a:p>
        </p:txBody>
      </p:sp>
      <p:sp>
        <p:nvSpPr>
          <p:cNvPr id="649839341" name="Text 2"/>
          <p:cNvSpPr/>
          <p:nvPr/>
        </p:nvSpPr>
        <p:spPr bwMode="auto">
          <a:xfrm>
            <a:off x="36576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FSE 2026  ·  Montréal  ·  5–9 July 2026</a:t>
            </a:r>
            <a:endParaRPr lang="en-US" sz="900"/>
          </a:p>
        </p:txBody>
      </p:sp>
      <p:sp>
        <p:nvSpPr>
          <p:cNvPr id="794928728" name="Text 3"/>
          <p:cNvSpPr/>
          <p:nvPr/>
        </p:nvSpPr>
        <p:spPr bwMode="auto"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Causal Models as RE activity</a:t>
            </a:r>
            <a:endParaRPr lang="en-US" sz="9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9717248" name="Text 4"/>
          <p:cNvSpPr/>
          <p:nvPr/>
        </p:nvSpPr>
        <p:spPr bwMode="auto">
          <a:xfrm>
            <a:off x="78638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sv-SE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5</a:t>
            </a:r>
            <a:endParaRPr lang="en-US" sz="900"/>
          </a:p>
        </p:txBody>
      </p:sp>
      <p:sp>
        <p:nvSpPr>
          <p:cNvPr id="1156631538" name=""/>
          <p:cNvSpPr txBox="1"/>
          <p:nvPr/>
        </p:nvSpPr>
        <p:spPr bwMode="auto">
          <a:xfrm rot="0" flipH="0" flipV="0">
            <a:off x="365759" y="1655206"/>
            <a:ext cx="4740276" cy="2530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42900" indent="-342900" algn="l">
              <a:buFont typeface="Arial"/>
              <a:buChar char="•"/>
              <a:defRPr/>
            </a:pPr>
            <a:r>
              <a:rPr lang="en-NZ" sz="2000" b="1"/>
              <a:t>Step 1: </a:t>
            </a:r>
            <a:r>
              <a:rPr lang="en-NZ" sz="2000"/>
              <a:t>Identify individual causal mechanisms</a:t>
            </a:r>
            <a:endParaRPr sz="2000"/>
          </a:p>
          <a:p>
            <a:pPr marL="342900" indent="-342900" algn="l">
              <a:buFont typeface="Arial"/>
              <a:buChar char="•"/>
              <a:defRPr/>
            </a:pPr>
            <a:r>
              <a:rPr lang="en-NZ" sz="2000" b="1"/>
              <a:t>Step 2: </a:t>
            </a:r>
            <a:r>
              <a:rPr lang="en-NZ" sz="2000"/>
              <a:t>Create / update a graphical causal model (DAG)</a:t>
            </a:r>
            <a:endParaRPr sz="2000"/>
          </a:p>
          <a:p>
            <a:pPr marL="342900" indent="-342900" algn="l">
              <a:buFont typeface="Arial"/>
              <a:buChar char="•"/>
              <a:defRPr/>
            </a:pPr>
            <a:r>
              <a:rPr lang="en-NZ" sz="2000" b="1"/>
              <a:t>Step 3: </a:t>
            </a:r>
            <a:r>
              <a:rPr lang="en-NZ" sz="2000"/>
              <a:t>Use d-separation to identify confounding and close non-causal paths.</a:t>
            </a:r>
            <a:endParaRPr sz="2000"/>
          </a:p>
          <a:p>
            <a:pPr marL="342900" indent="-342900" algn="l">
              <a:buFont typeface="Arial"/>
              <a:buChar char="•"/>
              <a:defRPr/>
            </a:pPr>
            <a:r>
              <a:rPr lang="en-NZ" sz="2000" b="1"/>
              <a:t>Step 4: </a:t>
            </a:r>
            <a:r>
              <a:rPr lang="en-NZ" sz="2000"/>
              <a:t>Check graph consistency and observability of necessary variables.</a:t>
            </a:r>
            <a:endParaRPr/>
          </a:p>
        </p:txBody>
      </p:sp>
      <p:pic>
        <p:nvPicPr>
          <p:cNvPr id="1926474364" name="Content Placeholder 18"/>
          <p:cNvPicPr>
            <a:picLocks noChangeAspect="1" noGrp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5513994" y="614002"/>
            <a:ext cx="3370343" cy="4059199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350646" name="Image 0" descr="fraunhof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9788" y="237744"/>
            <a:ext cx="1475062" cy="420624"/>
          </a:xfrm>
          <a:prstGeom prst="rect">
            <a:avLst/>
          </a:prstGeom>
        </p:spPr>
      </p:pic>
      <p:pic>
        <p:nvPicPr>
          <p:cNvPr id="952738206" name="Image 1" descr="chalmer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3478" y="237744"/>
            <a:ext cx="1353920" cy="420624"/>
          </a:xfrm>
          <a:prstGeom prst="rect">
            <a:avLst/>
          </a:prstGeom>
        </p:spPr>
      </p:pic>
      <p:pic>
        <p:nvPicPr>
          <p:cNvPr id="298940032" name="Image 2" descr="gotebor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1280" y="195680"/>
            <a:ext cx="1484553" cy="504747"/>
          </a:xfrm>
          <a:prstGeom prst="rect">
            <a:avLst/>
          </a:prstGeom>
        </p:spPr>
      </p:pic>
      <p:pic>
        <p:nvPicPr>
          <p:cNvPr id="586441455" name="Image 3" descr="napoli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77885" y="237744"/>
            <a:ext cx="1297583" cy="420624"/>
          </a:xfrm>
          <a:prstGeom prst="rect">
            <a:avLst/>
          </a:prstGeom>
        </p:spPr>
      </p:pic>
      <p:sp>
        <p:nvSpPr>
          <p:cNvPr id="63464" name="Text 0"/>
          <p:cNvSpPr/>
          <p:nvPr/>
        </p:nvSpPr>
        <p:spPr bwMode="auto">
          <a:xfrm>
            <a:off x="91440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spc="198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Section 4</a:t>
            </a:r>
            <a:endParaRPr lang="en-US" sz="1400"/>
          </a:p>
        </p:txBody>
      </p:sp>
      <p:sp>
        <p:nvSpPr>
          <p:cNvPr id="1715021945" name="Text 1"/>
          <p:cNvSpPr/>
          <p:nvPr/>
        </p:nvSpPr>
        <p:spPr bwMode="auto">
          <a:xfrm>
            <a:off x="91440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sv-SE" sz="3400" b="1">
                <a:solidFill>
                  <a:srgbClr val="1E3A5F"/>
                </a:solidFill>
                <a:latin typeface="Cambria"/>
                <a:ea typeface="Cambria"/>
              </a:rPr>
              <a:t>CONTINUE HERE MONDAY :)</a:t>
            </a:r>
            <a:endParaRPr lang="en-US"/>
          </a:p>
        </p:txBody>
      </p:sp>
      <p:sp>
        <p:nvSpPr>
          <p:cNvPr id="1076956803" name="Text 2"/>
          <p:cNvSpPr/>
          <p:nvPr/>
        </p:nvSpPr>
        <p:spPr bwMode="auto">
          <a:xfrm>
            <a:off x="36576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FSE 2026  ·  Montréal  ·  5–9 July 2026</a:t>
            </a:r>
            <a:endParaRPr lang="en-US" sz="900"/>
          </a:p>
        </p:txBody>
      </p:sp>
      <p:sp>
        <p:nvSpPr>
          <p:cNvPr id="1867057076" name="Text 3"/>
          <p:cNvSpPr/>
          <p:nvPr/>
        </p:nvSpPr>
        <p:spPr bwMode="auto"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Causal Models as RE activity</a:t>
            </a:r>
            <a:endParaRPr lang="en-US"/>
          </a:p>
        </p:txBody>
      </p:sp>
      <p:sp>
        <p:nvSpPr>
          <p:cNvPr id="1756445900" name="Text 4"/>
          <p:cNvSpPr/>
          <p:nvPr/>
        </p:nvSpPr>
        <p:spPr bwMode="auto">
          <a:xfrm>
            <a:off x="78638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529256" name="Image 0" descr="fraunhof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9788" y="237744"/>
            <a:ext cx="1475062" cy="420624"/>
          </a:xfrm>
          <a:prstGeom prst="rect">
            <a:avLst/>
          </a:prstGeom>
        </p:spPr>
      </p:pic>
      <p:pic>
        <p:nvPicPr>
          <p:cNvPr id="402222932" name="Image 1" descr="chalmer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3478" y="237744"/>
            <a:ext cx="1353920" cy="420624"/>
          </a:xfrm>
          <a:prstGeom prst="rect">
            <a:avLst/>
          </a:prstGeom>
        </p:spPr>
      </p:pic>
      <p:pic>
        <p:nvPicPr>
          <p:cNvPr id="1168559373" name="Image 2" descr="gotebor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1280" y="195680"/>
            <a:ext cx="1484553" cy="504747"/>
          </a:xfrm>
          <a:prstGeom prst="rect">
            <a:avLst/>
          </a:prstGeom>
        </p:spPr>
      </p:pic>
      <p:pic>
        <p:nvPicPr>
          <p:cNvPr id="2079470095" name="Image 3" descr="napoli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77885" y="237744"/>
            <a:ext cx="1297583" cy="420624"/>
          </a:xfrm>
          <a:prstGeom prst="rect">
            <a:avLst/>
          </a:prstGeom>
        </p:spPr>
      </p:pic>
      <p:sp>
        <p:nvSpPr>
          <p:cNvPr id="139736809" name="Text 0"/>
          <p:cNvSpPr/>
          <p:nvPr/>
        </p:nvSpPr>
        <p:spPr bwMode="auto">
          <a:xfrm>
            <a:off x="91440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spc="198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Section 4</a:t>
            </a:r>
            <a:endParaRPr lang="en-US" sz="1400"/>
          </a:p>
        </p:txBody>
      </p:sp>
      <p:sp>
        <p:nvSpPr>
          <p:cNvPr id="448272950" name="Text 1"/>
          <p:cNvSpPr/>
          <p:nvPr/>
        </p:nvSpPr>
        <p:spPr bwMode="auto">
          <a:xfrm>
            <a:off x="91440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sv-SE" sz="3400" b="1">
                <a:solidFill>
                  <a:srgbClr val="1E3A5F"/>
                </a:solidFill>
                <a:latin typeface="Cambria"/>
                <a:ea typeface="Cambria"/>
              </a:rPr>
              <a:t>BACKUP</a:t>
            </a:r>
            <a:endParaRPr lang="en-US"/>
          </a:p>
        </p:txBody>
      </p:sp>
      <p:sp>
        <p:nvSpPr>
          <p:cNvPr id="1134372656" name="Text 2"/>
          <p:cNvSpPr/>
          <p:nvPr/>
        </p:nvSpPr>
        <p:spPr bwMode="auto">
          <a:xfrm>
            <a:off x="36576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FSE 2026  ·  Montréal  ·  5–9 July 2026</a:t>
            </a:r>
            <a:endParaRPr lang="en-US" sz="900"/>
          </a:p>
        </p:txBody>
      </p:sp>
      <p:sp>
        <p:nvSpPr>
          <p:cNvPr id="1863774120" name="Text 3"/>
          <p:cNvSpPr/>
          <p:nvPr/>
        </p:nvSpPr>
        <p:spPr bwMode="auto"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Causal Models as RE activity</a:t>
            </a:r>
            <a:endParaRPr lang="en-US"/>
          </a:p>
        </p:txBody>
      </p:sp>
      <p:sp>
        <p:nvSpPr>
          <p:cNvPr id="304268926" name="Text 4"/>
          <p:cNvSpPr/>
          <p:nvPr/>
        </p:nvSpPr>
        <p:spPr bwMode="auto">
          <a:xfrm>
            <a:off x="78638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3621401" name="Image 0" descr="fraunhof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9788" y="237744"/>
            <a:ext cx="1475063" cy="420624"/>
          </a:xfrm>
          <a:prstGeom prst="rect">
            <a:avLst/>
          </a:prstGeom>
        </p:spPr>
      </p:pic>
      <p:pic>
        <p:nvPicPr>
          <p:cNvPr id="551260375" name="Image 1" descr="chalmer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3478" y="237744"/>
            <a:ext cx="1353921" cy="420624"/>
          </a:xfrm>
          <a:prstGeom prst="rect">
            <a:avLst/>
          </a:prstGeom>
        </p:spPr>
      </p:pic>
      <p:pic>
        <p:nvPicPr>
          <p:cNvPr id="1867643073" name="Image 2" descr="goteborg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1281" y="195681"/>
            <a:ext cx="1484554" cy="504748"/>
          </a:xfrm>
          <a:prstGeom prst="rect">
            <a:avLst/>
          </a:prstGeom>
        </p:spPr>
      </p:pic>
      <p:pic>
        <p:nvPicPr>
          <p:cNvPr id="1083370319" name="Image 3" descr="napoli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77886" y="237744"/>
            <a:ext cx="1297584" cy="420624"/>
          </a:xfrm>
          <a:prstGeom prst="rect">
            <a:avLst/>
          </a:prstGeom>
        </p:spPr>
      </p:pic>
      <p:sp>
        <p:nvSpPr>
          <p:cNvPr id="694354314" name="Text 0"/>
          <p:cNvSpPr/>
          <p:nvPr/>
        </p:nvSpPr>
        <p:spPr bwMode="auto">
          <a:xfrm>
            <a:off x="365760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2600" b="1" i="0" u="none" strike="noStrike" cap="none" spc="0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Causal factorisation and d-separation</a:t>
            </a:r>
            <a:endParaRPr lang="en-US"/>
          </a:p>
        </p:txBody>
      </p:sp>
      <p:sp>
        <p:nvSpPr>
          <p:cNvPr id="1856966393" name="Text 1"/>
          <p:cNvSpPr/>
          <p:nvPr/>
        </p:nvSpPr>
        <p:spPr bwMode="auto">
          <a:xfrm>
            <a:off x="365760" y="1691640"/>
            <a:ext cx="575839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99"/>
              </a:spcAft>
              <a:buSzPct val="100000"/>
              <a:buChar char="•"/>
              <a:defRPr/>
            </a:pPr>
            <a:r>
              <a:rPr lang="en-US" sz="1800" b="0" i="0" u="none" strike="noStrike" cap="none" spc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A DAG also provides us with a causal factorisation, where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rgbClr val="2B2B2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rgbClr val="2B2B2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rgbClr val="2B2B2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 denotes the set of parents: </a:t>
            </a:r>
            <a:endParaRPr lang="en-US" sz="1800" b="0" i="0" u="none" strike="noStrike" cap="none" spc="0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797"/>
              </a:spcAft>
              <a:buSzPct val="100000"/>
              <a:buChar char="•"/>
              <a:defRPr/>
            </a:pPr>
            <a:endParaRPr/>
          </a:p>
          <a:p>
            <a:pPr marL="342900" indent="-342900">
              <a:spcAft>
                <a:spcPts val="797"/>
              </a:spcAft>
              <a:buSzPct val="100000"/>
              <a:buChar char="•"/>
              <a:defRPr/>
            </a:pPr>
            <a:r>
              <a:rPr lang="en-NZ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d-separation is a graphical criterion for conditional independence.</a:t>
            </a:r>
            <a:endParaRPr/>
          </a:p>
          <a:p>
            <a:pPr marL="342900" indent="-342900" algn="l">
              <a:spcAft>
                <a:spcPts val="799"/>
              </a:spcAft>
              <a:buSzPct val="100000"/>
              <a:buChar char="•"/>
              <a:defRPr/>
            </a:pPr>
            <a:endParaRPr lang="en-US">
              <a:solidFill>
                <a:srgbClr val="2B2B2B"/>
              </a:solidFill>
              <a:ea typeface="Calibri"/>
              <a:cs typeface="Calibri"/>
            </a:endParaRPr>
          </a:p>
        </p:txBody>
      </p:sp>
      <p:sp>
        <p:nvSpPr>
          <p:cNvPr id="1261714547" name="Text 2"/>
          <p:cNvSpPr/>
          <p:nvPr/>
        </p:nvSpPr>
        <p:spPr bwMode="auto">
          <a:xfrm>
            <a:off x="36576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FSE 2026  ·  Montréal  ·  5–9 July 2026</a:t>
            </a:r>
            <a:endParaRPr lang="en-US" sz="900"/>
          </a:p>
        </p:txBody>
      </p:sp>
      <p:sp>
        <p:nvSpPr>
          <p:cNvPr id="1765543900" name="Text 3"/>
          <p:cNvSpPr/>
          <p:nvPr/>
        </p:nvSpPr>
        <p:spPr bwMode="auto"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Causal Models as RE activity</a:t>
            </a:r>
            <a:endParaRPr lang="en-US" sz="9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2783460" name="Text 4"/>
          <p:cNvSpPr/>
          <p:nvPr/>
        </p:nvSpPr>
        <p:spPr bwMode="auto">
          <a:xfrm>
            <a:off x="78638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sv-SE" sz="900">
                <a:solidFill>
                  <a:srgbClr val="7A8794"/>
                </a:solidFill>
                <a:latin typeface="Calibri"/>
                <a:ea typeface="Calibri"/>
                <a:cs typeface="Calibri"/>
              </a:rPr>
              <a:t>4</a:t>
            </a:r>
            <a:endParaRPr lang="en-US" sz="900"/>
          </a:p>
        </p:txBody>
      </p:sp>
      <p:pic>
        <p:nvPicPr>
          <p:cNvPr id="1469837267" name="Picture 11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721123" y="2272789"/>
            <a:ext cx="2122354" cy="478858"/>
          </a:xfrm>
          <a:prstGeom prst="rect">
            <a:avLst/>
          </a:prstGeom>
        </p:spPr>
      </p:pic>
      <p:sp>
        <p:nvSpPr>
          <p:cNvPr id="180108946" name="Content Placeholder 6"/>
          <p:cNvSpPr txBox="1"/>
          <p:nvPr/>
        </p:nvSpPr>
        <p:spPr bwMode="auto">
          <a:xfrm flipH="0" flipV="0">
            <a:off x="596835" y="3598763"/>
            <a:ext cx="7947421" cy="10137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 marL="457200" indent="-457200" algn="l" defTabSz="914400" rtl="0">
              <a:lnSpc>
                <a:spcPct val="90000"/>
              </a:lnSpc>
              <a:spcBef>
                <a:spcPts val="998"/>
              </a:spcBef>
              <a:buFont typeface="Wingdings"/>
              <a:buChar char="§"/>
              <a:defRPr sz="2000">
                <a:solidFill>
                  <a:schemeClr val="tx1"/>
                </a:solidFill>
                <a:latin typeface="Aptos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8"/>
              </a:spcBef>
              <a:buFont typeface="Wingdings"/>
              <a:buChar char="§"/>
              <a:defRPr sz="1800">
                <a:solidFill>
                  <a:schemeClr val="tx1"/>
                </a:solidFill>
                <a:latin typeface="Aptos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8"/>
              </a:spcBef>
              <a:buFont typeface="Wingdings"/>
              <a:buChar char="§"/>
              <a:defRPr sz="1400">
                <a:solidFill>
                  <a:schemeClr val="tx1"/>
                </a:solidFill>
                <a:latin typeface="Aptos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8"/>
              </a:spcBef>
              <a:buFont typeface="Wingdings"/>
              <a:buChar char="§"/>
              <a:defRPr sz="1200">
                <a:solidFill>
                  <a:schemeClr val="tx1"/>
                </a:solidFill>
                <a:latin typeface="Aptos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8"/>
              </a:spcBef>
              <a:buFont typeface="Wingdings"/>
              <a:buChar char="§"/>
              <a:defRPr sz="1100">
                <a:solidFill>
                  <a:schemeClr val="tx1"/>
                </a:solidFill>
                <a:latin typeface="Aptos"/>
                <a:ea typeface="+mn-ea"/>
                <a:cs typeface="+mn-cs"/>
              </a:defRPr>
            </a:lvl5pPr>
            <a:lvl6pPr marL="2514598" indent="-228600" algn="l" defTabSz="914400" rtl="0">
              <a:lnSpc>
                <a:spcPct val="90000"/>
              </a:lnSpc>
              <a:spcBef>
                <a:spcPts val="498"/>
              </a:spcBef>
              <a:buFont typeface="Wingdings"/>
              <a:buChar char="§"/>
              <a:defRPr sz="800">
                <a:solidFill>
                  <a:schemeClr val="tx1"/>
                </a:solidFill>
                <a:latin typeface="Aptos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en-NZ" sz="1400">
                <a:latin typeface="Calibre"/>
                <a:ea typeface="Calibre"/>
                <a:cs typeface="Calibre"/>
              </a:rPr>
              <a:t>If variables X and Y are d-separated by Z, then X ⊥ Y | Z,</a:t>
            </a:r>
            <a:endParaRPr>
              <a:latin typeface="Calibre"/>
              <a:cs typeface="Calibre"/>
            </a:endParaRPr>
          </a:p>
          <a:p>
            <a:pPr lvl="1">
              <a:defRPr/>
            </a:pPr>
            <a:r>
              <a:rPr lang="en-NZ" sz="1400">
                <a:latin typeface="Calibre"/>
                <a:ea typeface="Calibre"/>
                <a:cs typeface="Calibre"/>
              </a:rPr>
              <a:t>Used to block non-causal paths (e.g., confounding),</a:t>
            </a:r>
            <a:endParaRPr>
              <a:latin typeface="Calibre"/>
              <a:cs typeface="Calibre"/>
            </a:endParaRPr>
          </a:p>
          <a:p>
            <a:pPr lvl="1">
              <a:defRPr/>
            </a:pPr>
            <a:r>
              <a:rPr lang="en-NZ" sz="1400">
                <a:latin typeface="Calibre"/>
                <a:ea typeface="Calibre"/>
                <a:cs typeface="Calibre"/>
              </a:rPr>
              <a:t>Enables reasoning about what needs to be measured to learn causal effects and not spurious correlation.</a:t>
            </a:r>
            <a:endParaRPr/>
          </a:p>
        </p:txBody>
      </p:sp>
      <p:grpSp>
        <p:nvGrpSpPr>
          <p:cNvPr id="570431343" name="Group 10"/>
          <p:cNvGrpSpPr>
            <a:grpSpLocks noChangeAspect="1"/>
          </p:cNvGrpSpPr>
          <p:nvPr/>
        </p:nvGrpSpPr>
        <p:grpSpPr bwMode="auto">
          <a:xfrm>
            <a:off x="5650026" y="2125782"/>
            <a:ext cx="3390899" cy="1173160"/>
            <a:chOff x="4781549" y="2506660"/>
            <a:chExt cx="2134" cy="738"/>
          </a:xfrm>
        </p:grpSpPr>
        <p:sp>
          <p:nvSpPr>
            <p:cNvPr id="1993721710" name="AutoShape 3"/>
            <p:cNvSpPr>
              <a:spLocks noChangeArrowheads="1" noChangeAspect="1" noTextEdit="1"/>
            </p:cNvSpPr>
            <p:nvPr/>
          </p:nvSpPr>
          <p:spPr bwMode="auto">
            <a:xfrm>
              <a:off x="4781549" y="2506660"/>
              <a:ext cx="2133" cy="73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334333560" name="Line 5"/>
            <p:cNvSpPr>
              <a:spLocks noChangeShapeType="1"/>
            </p:cNvSpPr>
            <p:nvPr/>
          </p:nvSpPr>
          <p:spPr bwMode="auto">
            <a:xfrm>
              <a:off x="4781799" y="2507305"/>
              <a:ext cx="1055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45630262" name="Freeform 6"/>
            <p:cNvSpPr/>
            <p:nvPr/>
          </p:nvSpPr>
          <p:spPr bwMode="auto">
            <a:xfrm>
              <a:off x="4782810" y="2507280"/>
              <a:ext cx="72" cy="48"/>
            </a:xfrm>
            <a:custGeom>
              <a:avLst/>
              <a:gdLst>
                <a:gd name="T0" fmla="*/ 389 w 389"/>
                <a:gd name="T1" fmla="*/ 129 h 259"/>
                <a:gd name="T2" fmla="*/ 0 w 389"/>
                <a:gd name="T3" fmla="*/ 259 h 259"/>
                <a:gd name="T4" fmla="*/ 78 w 389"/>
                <a:gd name="T5" fmla="*/ 129 h 259"/>
                <a:gd name="T6" fmla="*/ 0 w 389"/>
                <a:gd name="T7" fmla="*/ 0 h 259"/>
                <a:gd name="T8" fmla="*/ 389 w 389"/>
                <a:gd name="T9" fmla="*/ 12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9" h="259" fill="norm" stroke="1" extrusionOk="0">
                  <a:moveTo>
                    <a:pt x="389" y="129"/>
                  </a:moveTo>
                  <a:lnTo>
                    <a:pt x="0" y="259"/>
                  </a:lnTo>
                  <a:lnTo>
                    <a:pt x="78" y="129"/>
                  </a:lnTo>
                  <a:lnTo>
                    <a:pt x="0" y="0"/>
                  </a:lnTo>
                  <a:lnTo>
                    <a:pt x="389" y="1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05312115" name="Line 7"/>
            <p:cNvSpPr>
              <a:spLocks noChangeShapeType="1"/>
            </p:cNvSpPr>
            <p:nvPr/>
          </p:nvSpPr>
          <p:spPr bwMode="auto">
            <a:xfrm flipV="1">
              <a:off x="4781799" y="2506851"/>
              <a:ext cx="606" cy="45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2031579670" name="Freeform 8"/>
            <p:cNvSpPr/>
            <p:nvPr/>
          </p:nvSpPr>
          <p:spPr bwMode="auto">
            <a:xfrm>
              <a:off x="4782354" y="2506831"/>
              <a:ext cx="73" cy="63"/>
            </a:xfrm>
            <a:custGeom>
              <a:avLst/>
              <a:gdLst>
                <a:gd name="T0" fmla="*/ 389 w 389"/>
                <a:gd name="T1" fmla="*/ 0 h 337"/>
                <a:gd name="T2" fmla="*/ 155 w 389"/>
                <a:gd name="T3" fmla="*/ 337 h 337"/>
                <a:gd name="T4" fmla="*/ 140 w 389"/>
                <a:gd name="T5" fmla="*/ 187 h 337"/>
                <a:gd name="T6" fmla="*/ 0 w 389"/>
                <a:gd name="T7" fmla="*/ 130 h 337"/>
                <a:gd name="T8" fmla="*/ 389 w 389"/>
                <a:gd name="T9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9" h="337" fill="norm" stroke="1" extrusionOk="0">
                  <a:moveTo>
                    <a:pt x="389" y="0"/>
                  </a:moveTo>
                  <a:lnTo>
                    <a:pt x="155" y="337"/>
                  </a:lnTo>
                  <a:lnTo>
                    <a:pt x="140" y="187"/>
                  </a:lnTo>
                  <a:lnTo>
                    <a:pt x="0" y="130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25078126" name="Line 9"/>
            <p:cNvSpPr>
              <a:spLocks noChangeShapeType="1"/>
            </p:cNvSpPr>
            <p:nvPr/>
          </p:nvSpPr>
          <p:spPr bwMode="auto">
            <a:xfrm>
              <a:off x="4782538" y="2506749"/>
              <a:ext cx="605" cy="45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571408460" name="Freeform 10"/>
            <p:cNvSpPr/>
            <p:nvPr/>
          </p:nvSpPr>
          <p:spPr bwMode="auto">
            <a:xfrm>
              <a:off x="4783095" y="2507157"/>
              <a:ext cx="72" cy="63"/>
            </a:xfrm>
            <a:custGeom>
              <a:avLst/>
              <a:gdLst>
                <a:gd name="T0" fmla="*/ 389 w 389"/>
                <a:gd name="T1" fmla="*/ 337 h 337"/>
                <a:gd name="T2" fmla="*/ 0 w 389"/>
                <a:gd name="T3" fmla="*/ 208 h 337"/>
                <a:gd name="T4" fmla="*/ 140 w 389"/>
                <a:gd name="T5" fmla="*/ 151 h 337"/>
                <a:gd name="T6" fmla="*/ 156 w 389"/>
                <a:gd name="T7" fmla="*/ 0 h 337"/>
                <a:gd name="T8" fmla="*/ 389 w 389"/>
                <a:gd name="T9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9" h="337" fill="norm" stroke="1" extrusionOk="0">
                  <a:moveTo>
                    <a:pt x="389" y="337"/>
                  </a:moveTo>
                  <a:lnTo>
                    <a:pt x="0" y="208"/>
                  </a:lnTo>
                  <a:lnTo>
                    <a:pt x="140" y="151"/>
                  </a:lnTo>
                  <a:lnTo>
                    <a:pt x="156" y="0"/>
                  </a:lnTo>
                  <a:lnTo>
                    <a:pt x="389" y="3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715818641" name="Oval 18"/>
            <p:cNvSpPr>
              <a:spLocks noChangeArrowheads="1"/>
            </p:cNvSpPr>
            <p:nvPr/>
          </p:nvSpPr>
          <p:spPr bwMode="auto">
            <a:xfrm>
              <a:off x="4781550" y="2507220"/>
              <a:ext cx="492" cy="17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045939398" name="Oval 19"/>
            <p:cNvSpPr>
              <a:spLocks noChangeArrowheads="1"/>
            </p:cNvSpPr>
            <p:nvPr/>
          </p:nvSpPr>
          <p:spPr bwMode="auto">
            <a:xfrm>
              <a:off x="4782180" y="2506661"/>
              <a:ext cx="714" cy="17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56852659" name="Oval 20"/>
            <p:cNvSpPr>
              <a:spLocks noChangeArrowheads="1"/>
            </p:cNvSpPr>
            <p:nvPr/>
          </p:nvSpPr>
          <p:spPr bwMode="auto">
            <a:xfrm>
              <a:off x="4782894" y="2507220"/>
              <a:ext cx="789" cy="17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617981460" name="Freeform 14"/>
            <p:cNvSpPr/>
            <p:nvPr/>
          </p:nvSpPr>
          <p:spPr bwMode="auto">
            <a:xfrm>
              <a:off x="4781668" y="2507269"/>
              <a:ext cx="45" cy="58"/>
            </a:xfrm>
            <a:custGeom>
              <a:avLst/>
              <a:gdLst>
                <a:gd name="T0" fmla="*/ 0 w 243"/>
                <a:gd name="T1" fmla="*/ 313 h 313"/>
                <a:gd name="T2" fmla="*/ 25 w 243"/>
                <a:gd name="T3" fmla="*/ 202 h 313"/>
                <a:gd name="T4" fmla="*/ 32 w 243"/>
                <a:gd name="T5" fmla="*/ 202 h 313"/>
                <a:gd name="T6" fmla="*/ 31 w 243"/>
                <a:gd name="T7" fmla="*/ 229 h 313"/>
                <a:gd name="T8" fmla="*/ 50 w 243"/>
                <a:gd name="T9" fmla="*/ 278 h 313"/>
                <a:gd name="T10" fmla="*/ 101 w 243"/>
                <a:gd name="T11" fmla="*/ 297 h 313"/>
                <a:gd name="T12" fmla="*/ 145 w 243"/>
                <a:gd name="T13" fmla="*/ 280 h 313"/>
                <a:gd name="T14" fmla="*/ 160 w 243"/>
                <a:gd name="T15" fmla="*/ 238 h 313"/>
                <a:gd name="T16" fmla="*/ 153 w 243"/>
                <a:gd name="T17" fmla="*/ 211 h 313"/>
                <a:gd name="T18" fmla="*/ 97 w 243"/>
                <a:gd name="T19" fmla="*/ 146 h 313"/>
                <a:gd name="T20" fmla="*/ 69 w 243"/>
                <a:gd name="T21" fmla="*/ 113 h 313"/>
                <a:gd name="T22" fmla="*/ 59 w 243"/>
                <a:gd name="T23" fmla="*/ 76 h 313"/>
                <a:gd name="T24" fmla="*/ 82 w 243"/>
                <a:gd name="T25" fmla="*/ 22 h 313"/>
                <a:gd name="T26" fmla="*/ 143 w 243"/>
                <a:gd name="T27" fmla="*/ 0 h 313"/>
                <a:gd name="T28" fmla="*/ 166 w 243"/>
                <a:gd name="T29" fmla="*/ 2 h 313"/>
                <a:gd name="T30" fmla="*/ 191 w 243"/>
                <a:gd name="T31" fmla="*/ 11 h 313"/>
                <a:gd name="T32" fmla="*/ 205 w 243"/>
                <a:gd name="T33" fmla="*/ 16 h 313"/>
                <a:gd name="T34" fmla="*/ 212 w 243"/>
                <a:gd name="T35" fmla="*/ 17 h 313"/>
                <a:gd name="T36" fmla="*/ 223 w 243"/>
                <a:gd name="T37" fmla="*/ 14 h 313"/>
                <a:gd name="T38" fmla="*/ 234 w 243"/>
                <a:gd name="T39" fmla="*/ 0 h 313"/>
                <a:gd name="T40" fmla="*/ 243 w 243"/>
                <a:gd name="T41" fmla="*/ 0 h 313"/>
                <a:gd name="T42" fmla="*/ 219 w 243"/>
                <a:gd name="T43" fmla="*/ 99 h 313"/>
                <a:gd name="T44" fmla="*/ 212 w 243"/>
                <a:gd name="T45" fmla="*/ 99 h 313"/>
                <a:gd name="T46" fmla="*/ 213 w 243"/>
                <a:gd name="T47" fmla="*/ 78 h 313"/>
                <a:gd name="T48" fmla="*/ 195 w 243"/>
                <a:gd name="T49" fmla="*/ 34 h 313"/>
                <a:gd name="T50" fmla="*/ 148 w 243"/>
                <a:gd name="T51" fmla="*/ 17 h 313"/>
                <a:gd name="T52" fmla="*/ 111 w 243"/>
                <a:gd name="T53" fmla="*/ 30 h 313"/>
                <a:gd name="T54" fmla="*/ 97 w 243"/>
                <a:gd name="T55" fmla="*/ 62 h 313"/>
                <a:gd name="T56" fmla="*/ 106 w 243"/>
                <a:gd name="T57" fmla="*/ 91 h 313"/>
                <a:gd name="T58" fmla="*/ 148 w 243"/>
                <a:gd name="T59" fmla="*/ 137 h 313"/>
                <a:gd name="T60" fmla="*/ 191 w 243"/>
                <a:gd name="T61" fmla="*/ 187 h 313"/>
                <a:gd name="T62" fmla="*/ 201 w 243"/>
                <a:gd name="T63" fmla="*/ 224 h 313"/>
                <a:gd name="T64" fmla="*/ 188 w 243"/>
                <a:gd name="T65" fmla="*/ 269 h 313"/>
                <a:gd name="T66" fmla="*/ 154 w 243"/>
                <a:gd name="T67" fmla="*/ 302 h 313"/>
                <a:gd name="T68" fmla="*/ 105 w 243"/>
                <a:gd name="T69" fmla="*/ 313 h 313"/>
                <a:gd name="T70" fmla="*/ 80 w 243"/>
                <a:gd name="T71" fmla="*/ 311 h 313"/>
                <a:gd name="T72" fmla="*/ 43 w 243"/>
                <a:gd name="T73" fmla="*/ 299 h 313"/>
                <a:gd name="T74" fmla="*/ 29 w 243"/>
                <a:gd name="T75" fmla="*/ 296 h 313"/>
                <a:gd name="T76" fmla="*/ 8 w 243"/>
                <a:gd name="T77" fmla="*/ 313 h 313"/>
                <a:gd name="T78" fmla="*/ 0 w 243"/>
                <a:gd name="T79" fmla="*/ 313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43" h="313" fill="norm" stroke="1" extrusionOk="0">
                  <a:moveTo>
                    <a:pt x="0" y="313"/>
                  </a:moveTo>
                  <a:lnTo>
                    <a:pt x="25" y="202"/>
                  </a:lnTo>
                  <a:lnTo>
                    <a:pt x="32" y="202"/>
                  </a:lnTo>
                  <a:cubicBezTo>
                    <a:pt x="31" y="213"/>
                    <a:pt x="31" y="222"/>
                    <a:pt x="31" y="229"/>
                  </a:cubicBezTo>
                  <a:cubicBezTo>
                    <a:pt x="31" y="249"/>
                    <a:pt x="37" y="266"/>
                    <a:pt x="50" y="278"/>
                  </a:cubicBezTo>
                  <a:cubicBezTo>
                    <a:pt x="63" y="291"/>
                    <a:pt x="80" y="297"/>
                    <a:pt x="101" y="297"/>
                  </a:cubicBezTo>
                  <a:cubicBezTo>
                    <a:pt x="120" y="297"/>
                    <a:pt x="135" y="291"/>
                    <a:pt x="145" y="280"/>
                  </a:cubicBezTo>
                  <a:cubicBezTo>
                    <a:pt x="155" y="268"/>
                    <a:pt x="160" y="254"/>
                    <a:pt x="160" y="238"/>
                  </a:cubicBezTo>
                  <a:cubicBezTo>
                    <a:pt x="160" y="228"/>
                    <a:pt x="157" y="219"/>
                    <a:pt x="153" y="211"/>
                  </a:cubicBezTo>
                  <a:cubicBezTo>
                    <a:pt x="146" y="199"/>
                    <a:pt x="127" y="177"/>
                    <a:pt x="97" y="146"/>
                  </a:cubicBezTo>
                  <a:cubicBezTo>
                    <a:pt x="83" y="132"/>
                    <a:pt x="73" y="121"/>
                    <a:pt x="69" y="113"/>
                  </a:cubicBezTo>
                  <a:cubicBezTo>
                    <a:pt x="62" y="101"/>
                    <a:pt x="59" y="89"/>
                    <a:pt x="59" y="76"/>
                  </a:cubicBezTo>
                  <a:cubicBezTo>
                    <a:pt x="59" y="55"/>
                    <a:pt x="67" y="37"/>
                    <a:pt x="82" y="22"/>
                  </a:cubicBezTo>
                  <a:cubicBezTo>
                    <a:pt x="98" y="7"/>
                    <a:pt x="118" y="0"/>
                    <a:pt x="143" y="0"/>
                  </a:cubicBezTo>
                  <a:cubicBezTo>
                    <a:pt x="151" y="0"/>
                    <a:pt x="159" y="0"/>
                    <a:pt x="166" y="2"/>
                  </a:cubicBezTo>
                  <a:cubicBezTo>
                    <a:pt x="171" y="3"/>
                    <a:pt x="179" y="6"/>
                    <a:pt x="191" y="11"/>
                  </a:cubicBezTo>
                  <a:cubicBezTo>
                    <a:pt x="200" y="14"/>
                    <a:pt x="204" y="16"/>
                    <a:pt x="205" y="16"/>
                  </a:cubicBezTo>
                  <a:cubicBezTo>
                    <a:pt x="207" y="17"/>
                    <a:pt x="210" y="17"/>
                    <a:pt x="212" y="17"/>
                  </a:cubicBezTo>
                  <a:cubicBezTo>
                    <a:pt x="216" y="17"/>
                    <a:pt x="220" y="16"/>
                    <a:pt x="223" y="14"/>
                  </a:cubicBezTo>
                  <a:cubicBezTo>
                    <a:pt x="226" y="12"/>
                    <a:pt x="230" y="7"/>
                    <a:pt x="234" y="0"/>
                  </a:cubicBezTo>
                  <a:lnTo>
                    <a:pt x="243" y="0"/>
                  </a:lnTo>
                  <a:lnTo>
                    <a:pt x="219" y="99"/>
                  </a:lnTo>
                  <a:lnTo>
                    <a:pt x="212" y="99"/>
                  </a:lnTo>
                  <a:cubicBezTo>
                    <a:pt x="213" y="90"/>
                    <a:pt x="213" y="83"/>
                    <a:pt x="213" y="78"/>
                  </a:cubicBezTo>
                  <a:cubicBezTo>
                    <a:pt x="213" y="60"/>
                    <a:pt x="207" y="45"/>
                    <a:pt x="195" y="34"/>
                  </a:cubicBezTo>
                  <a:cubicBezTo>
                    <a:pt x="183" y="23"/>
                    <a:pt x="168" y="17"/>
                    <a:pt x="148" y="17"/>
                  </a:cubicBezTo>
                  <a:cubicBezTo>
                    <a:pt x="133" y="17"/>
                    <a:pt x="121" y="21"/>
                    <a:pt x="111" y="30"/>
                  </a:cubicBezTo>
                  <a:cubicBezTo>
                    <a:pt x="101" y="39"/>
                    <a:pt x="97" y="50"/>
                    <a:pt x="97" y="62"/>
                  </a:cubicBezTo>
                  <a:cubicBezTo>
                    <a:pt x="97" y="72"/>
                    <a:pt x="100" y="82"/>
                    <a:pt x="106" y="91"/>
                  </a:cubicBezTo>
                  <a:cubicBezTo>
                    <a:pt x="112" y="101"/>
                    <a:pt x="126" y="116"/>
                    <a:pt x="148" y="137"/>
                  </a:cubicBezTo>
                  <a:cubicBezTo>
                    <a:pt x="170" y="158"/>
                    <a:pt x="184" y="175"/>
                    <a:pt x="191" y="187"/>
                  </a:cubicBezTo>
                  <a:cubicBezTo>
                    <a:pt x="197" y="198"/>
                    <a:pt x="201" y="211"/>
                    <a:pt x="201" y="224"/>
                  </a:cubicBezTo>
                  <a:cubicBezTo>
                    <a:pt x="201" y="240"/>
                    <a:pt x="197" y="254"/>
                    <a:pt x="188" y="269"/>
                  </a:cubicBezTo>
                  <a:cubicBezTo>
                    <a:pt x="181" y="283"/>
                    <a:pt x="169" y="294"/>
                    <a:pt x="154" y="302"/>
                  </a:cubicBezTo>
                  <a:cubicBezTo>
                    <a:pt x="139" y="310"/>
                    <a:pt x="122" y="313"/>
                    <a:pt x="105" y="313"/>
                  </a:cubicBezTo>
                  <a:cubicBezTo>
                    <a:pt x="96" y="313"/>
                    <a:pt x="87" y="313"/>
                    <a:pt x="80" y="311"/>
                  </a:cubicBezTo>
                  <a:cubicBezTo>
                    <a:pt x="72" y="309"/>
                    <a:pt x="60" y="305"/>
                    <a:pt x="43" y="299"/>
                  </a:cubicBezTo>
                  <a:cubicBezTo>
                    <a:pt x="37" y="297"/>
                    <a:pt x="32" y="296"/>
                    <a:pt x="29" y="296"/>
                  </a:cubicBezTo>
                  <a:cubicBezTo>
                    <a:pt x="20" y="296"/>
                    <a:pt x="13" y="302"/>
                    <a:pt x="8" y="313"/>
                  </a:cubicBezTo>
                  <a:lnTo>
                    <a:pt x="0" y="3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730873217" name="Freeform 15"/>
            <p:cNvSpPr/>
            <p:nvPr/>
          </p:nvSpPr>
          <p:spPr bwMode="auto">
            <a:xfrm>
              <a:off x="4781713" y="2507289"/>
              <a:ext cx="36" cy="38"/>
            </a:xfrm>
            <a:custGeom>
              <a:avLst/>
              <a:gdLst>
                <a:gd name="T0" fmla="*/ 200 w 200"/>
                <a:gd name="T1" fmla="*/ 6 h 206"/>
                <a:gd name="T2" fmla="*/ 161 w 200"/>
                <a:gd name="T3" fmla="*/ 138 h 206"/>
                <a:gd name="T4" fmla="*/ 153 w 200"/>
                <a:gd name="T5" fmla="*/ 175 h 206"/>
                <a:gd name="T6" fmla="*/ 154 w 200"/>
                <a:gd name="T7" fmla="*/ 181 h 206"/>
                <a:gd name="T8" fmla="*/ 158 w 200"/>
                <a:gd name="T9" fmla="*/ 182 h 206"/>
                <a:gd name="T10" fmla="*/ 166 w 200"/>
                <a:gd name="T11" fmla="*/ 179 h 206"/>
                <a:gd name="T12" fmla="*/ 189 w 200"/>
                <a:gd name="T13" fmla="*/ 152 h 206"/>
                <a:gd name="T14" fmla="*/ 196 w 200"/>
                <a:gd name="T15" fmla="*/ 157 h 206"/>
                <a:gd name="T16" fmla="*/ 160 w 200"/>
                <a:gd name="T17" fmla="*/ 198 h 206"/>
                <a:gd name="T18" fmla="*/ 137 w 200"/>
                <a:gd name="T19" fmla="*/ 206 h 206"/>
                <a:gd name="T20" fmla="*/ 123 w 200"/>
                <a:gd name="T21" fmla="*/ 201 h 206"/>
                <a:gd name="T22" fmla="*/ 118 w 200"/>
                <a:gd name="T23" fmla="*/ 188 h 206"/>
                <a:gd name="T24" fmla="*/ 121 w 200"/>
                <a:gd name="T25" fmla="*/ 169 h 206"/>
                <a:gd name="T26" fmla="*/ 141 w 200"/>
                <a:gd name="T27" fmla="*/ 97 h 206"/>
                <a:gd name="T28" fmla="*/ 78 w 200"/>
                <a:gd name="T29" fmla="*/ 182 h 206"/>
                <a:gd name="T30" fmla="*/ 31 w 200"/>
                <a:gd name="T31" fmla="*/ 206 h 206"/>
                <a:gd name="T32" fmla="*/ 14 w 200"/>
                <a:gd name="T33" fmla="*/ 199 h 206"/>
                <a:gd name="T34" fmla="*/ 7 w 200"/>
                <a:gd name="T35" fmla="*/ 181 h 206"/>
                <a:gd name="T36" fmla="*/ 17 w 200"/>
                <a:gd name="T37" fmla="*/ 130 h 206"/>
                <a:gd name="T38" fmla="*/ 36 w 200"/>
                <a:gd name="T39" fmla="*/ 62 h 206"/>
                <a:gd name="T40" fmla="*/ 43 w 200"/>
                <a:gd name="T41" fmla="*/ 31 h 206"/>
                <a:gd name="T42" fmla="*/ 41 w 200"/>
                <a:gd name="T43" fmla="*/ 27 h 206"/>
                <a:gd name="T44" fmla="*/ 37 w 200"/>
                <a:gd name="T45" fmla="*/ 25 h 206"/>
                <a:gd name="T46" fmla="*/ 28 w 200"/>
                <a:gd name="T47" fmla="*/ 28 h 206"/>
                <a:gd name="T48" fmla="*/ 7 w 200"/>
                <a:gd name="T49" fmla="*/ 53 h 206"/>
                <a:gd name="T50" fmla="*/ 0 w 200"/>
                <a:gd name="T51" fmla="*/ 48 h 206"/>
                <a:gd name="T52" fmla="*/ 35 w 200"/>
                <a:gd name="T53" fmla="*/ 10 h 206"/>
                <a:gd name="T54" fmla="*/ 61 w 200"/>
                <a:gd name="T55" fmla="*/ 0 h 206"/>
                <a:gd name="T56" fmla="*/ 74 w 200"/>
                <a:gd name="T57" fmla="*/ 6 h 206"/>
                <a:gd name="T58" fmla="*/ 80 w 200"/>
                <a:gd name="T59" fmla="*/ 19 h 206"/>
                <a:gd name="T60" fmla="*/ 71 w 200"/>
                <a:gd name="T61" fmla="*/ 62 h 206"/>
                <a:gd name="T62" fmla="*/ 50 w 200"/>
                <a:gd name="T63" fmla="*/ 133 h 206"/>
                <a:gd name="T64" fmla="*/ 41 w 200"/>
                <a:gd name="T65" fmla="*/ 170 h 206"/>
                <a:gd name="T66" fmla="*/ 44 w 200"/>
                <a:gd name="T67" fmla="*/ 177 h 206"/>
                <a:gd name="T68" fmla="*/ 52 w 200"/>
                <a:gd name="T69" fmla="*/ 179 h 206"/>
                <a:gd name="T70" fmla="*/ 71 w 200"/>
                <a:gd name="T71" fmla="*/ 172 h 206"/>
                <a:gd name="T72" fmla="*/ 102 w 200"/>
                <a:gd name="T73" fmla="*/ 140 h 206"/>
                <a:gd name="T74" fmla="*/ 134 w 200"/>
                <a:gd name="T75" fmla="*/ 93 h 206"/>
                <a:gd name="T76" fmla="*/ 161 w 200"/>
                <a:gd name="T77" fmla="*/ 22 h 206"/>
                <a:gd name="T78" fmla="*/ 166 w 200"/>
                <a:gd name="T79" fmla="*/ 6 h 206"/>
                <a:gd name="T80" fmla="*/ 200 w 200"/>
                <a:gd name="T81" fmla="*/ 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0" h="206" fill="norm" stroke="1" extrusionOk="0">
                  <a:moveTo>
                    <a:pt x="200" y="6"/>
                  </a:moveTo>
                  <a:lnTo>
                    <a:pt x="161" y="138"/>
                  </a:lnTo>
                  <a:cubicBezTo>
                    <a:pt x="156" y="157"/>
                    <a:pt x="153" y="170"/>
                    <a:pt x="153" y="175"/>
                  </a:cubicBezTo>
                  <a:cubicBezTo>
                    <a:pt x="153" y="177"/>
                    <a:pt x="153" y="179"/>
                    <a:pt x="154" y="181"/>
                  </a:cubicBezTo>
                  <a:cubicBezTo>
                    <a:pt x="155" y="182"/>
                    <a:pt x="156" y="182"/>
                    <a:pt x="158" y="182"/>
                  </a:cubicBezTo>
                  <a:cubicBezTo>
                    <a:pt x="161" y="182"/>
                    <a:pt x="163" y="181"/>
                    <a:pt x="166" y="179"/>
                  </a:cubicBezTo>
                  <a:cubicBezTo>
                    <a:pt x="169" y="177"/>
                    <a:pt x="177" y="168"/>
                    <a:pt x="189" y="152"/>
                  </a:cubicBezTo>
                  <a:lnTo>
                    <a:pt x="196" y="157"/>
                  </a:lnTo>
                  <a:cubicBezTo>
                    <a:pt x="184" y="175"/>
                    <a:pt x="172" y="189"/>
                    <a:pt x="160" y="198"/>
                  </a:cubicBezTo>
                  <a:cubicBezTo>
                    <a:pt x="152" y="203"/>
                    <a:pt x="144" y="206"/>
                    <a:pt x="137" y="206"/>
                  </a:cubicBezTo>
                  <a:cubicBezTo>
                    <a:pt x="131" y="206"/>
                    <a:pt x="126" y="204"/>
                    <a:pt x="123" y="201"/>
                  </a:cubicBezTo>
                  <a:cubicBezTo>
                    <a:pt x="120" y="198"/>
                    <a:pt x="118" y="194"/>
                    <a:pt x="118" y="188"/>
                  </a:cubicBezTo>
                  <a:cubicBezTo>
                    <a:pt x="118" y="183"/>
                    <a:pt x="119" y="177"/>
                    <a:pt x="121" y="169"/>
                  </a:cubicBezTo>
                  <a:cubicBezTo>
                    <a:pt x="123" y="158"/>
                    <a:pt x="130" y="134"/>
                    <a:pt x="141" y="97"/>
                  </a:cubicBezTo>
                  <a:cubicBezTo>
                    <a:pt x="116" y="138"/>
                    <a:pt x="95" y="167"/>
                    <a:pt x="78" y="182"/>
                  </a:cubicBezTo>
                  <a:cubicBezTo>
                    <a:pt x="61" y="198"/>
                    <a:pt x="46" y="206"/>
                    <a:pt x="31" y="206"/>
                  </a:cubicBezTo>
                  <a:cubicBezTo>
                    <a:pt x="24" y="206"/>
                    <a:pt x="19" y="204"/>
                    <a:pt x="14" y="199"/>
                  </a:cubicBezTo>
                  <a:cubicBezTo>
                    <a:pt x="9" y="194"/>
                    <a:pt x="7" y="188"/>
                    <a:pt x="7" y="181"/>
                  </a:cubicBezTo>
                  <a:cubicBezTo>
                    <a:pt x="7" y="170"/>
                    <a:pt x="10" y="153"/>
                    <a:pt x="17" y="130"/>
                  </a:cubicBezTo>
                  <a:lnTo>
                    <a:pt x="36" y="62"/>
                  </a:lnTo>
                  <a:cubicBezTo>
                    <a:pt x="41" y="45"/>
                    <a:pt x="43" y="35"/>
                    <a:pt x="43" y="31"/>
                  </a:cubicBezTo>
                  <a:cubicBezTo>
                    <a:pt x="43" y="29"/>
                    <a:pt x="42" y="28"/>
                    <a:pt x="41" y="27"/>
                  </a:cubicBezTo>
                  <a:cubicBezTo>
                    <a:pt x="40" y="25"/>
                    <a:pt x="38" y="25"/>
                    <a:pt x="37" y="25"/>
                  </a:cubicBezTo>
                  <a:cubicBezTo>
                    <a:pt x="34" y="25"/>
                    <a:pt x="31" y="26"/>
                    <a:pt x="28" y="28"/>
                  </a:cubicBezTo>
                  <a:cubicBezTo>
                    <a:pt x="25" y="30"/>
                    <a:pt x="18" y="38"/>
                    <a:pt x="7" y="53"/>
                  </a:cubicBezTo>
                  <a:lnTo>
                    <a:pt x="0" y="48"/>
                  </a:lnTo>
                  <a:cubicBezTo>
                    <a:pt x="11" y="31"/>
                    <a:pt x="23" y="18"/>
                    <a:pt x="35" y="10"/>
                  </a:cubicBezTo>
                  <a:cubicBezTo>
                    <a:pt x="44" y="3"/>
                    <a:pt x="53" y="0"/>
                    <a:pt x="61" y="0"/>
                  </a:cubicBezTo>
                  <a:cubicBezTo>
                    <a:pt x="67" y="0"/>
                    <a:pt x="71" y="2"/>
                    <a:pt x="74" y="6"/>
                  </a:cubicBezTo>
                  <a:cubicBezTo>
                    <a:pt x="78" y="9"/>
                    <a:pt x="80" y="13"/>
                    <a:pt x="80" y="19"/>
                  </a:cubicBezTo>
                  <a:cubicBezTo>
                    <a:pt x="80" y="27"/>
                    <a:pt x="77" y="41"/>
                    <a:pt x="71" y="62"/>
                  </a:cubicBezTo>
                  <a:lnTo>
                    <a:pt x="50" y="133"/>
                  </a:lnTo>
                  <a:cubicBezTo>
                    <a:pt x="44" y="153"/>
                    <a:pt x="41" y="165"/>
                    <a:pt x="41" y="170"/>
                  </a:cubicBezTo>
                  <a:cubicBezTo>
                    <a:pt x="41" y="173"/>
                    <a:pt x="42" y="175"/>
                    <a:pt x="44" y="177"/>
                  </a:cubicBezTo>
                  <a:cubicBezTo>
                    <a:pt x="46" y="179"/>
                    <a:pt x="48" y="179"/>
                    <a:pt x="52" y="179"/>
                  </a:cubicBezTo>
                  <a:cubicBezTo>
                    <a:pt x="56" y="179"/>
                    <a:pt x="63" y="177"/>
                    <a:pt x="71" y="172"/>
                  </a:cubicBezTo>
                  <a:cubicBezTo>
                    <a:pt x="78" y="167"/>
                    <a:pt x="89" y="156"/>
                    <a:pt x="102" y="140"/>
                  </a:cubicBezTo>
                  <a:cubicBezTo>
                    <a:pt x="115" y="123"/>
                    <a:pt x="126" y="107"/>
                    <a:pt x="134" y="93"/>
                  </a:cubicBezTo>
                  <a:cubicBezTo>
                    <a:pt x="143" y="78"/>
                    <a:pt x="152" y="54"/>
                    <a:pt x="161" y="22"/>
                  </a:cubicBezTo>
                  <a:lnTo>
                    <a:pt x="166" y="6"/>
                  </a:lnTo>
                  <a:lnTo>
                    <a:pt x="200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689056546" name="Freeform 16"/>
            <p:cNvSpPr/>
            <p:nvPr/>
          </p:nvSpPr>
          <p:spPr bwMode="auto">
            <a:xfrm>
              <a:off x="4781755" y="2507289"/>
              <a:ext cx="36" cy="38"/>
            </a:xfrm>
            <a:custGeom>
              <a:avLst/>
              <a:gdLst>
                <a:gd name="T0" fmla="*/ 91 w 199"/>
                <a:gd name="T1" fmla="*/ 0 h 206"/>
                <a:gd name="T2" fmla="*/ 62 w 199"/>
                <a:gd name="T3" fmla="*/ 101 h 206"/>
                <a:gd name="T4" fmla="*/ 125 w 199"/>
                <a:gd name="T5" fmla="*/ 20 h 206"/>
                <a:gd name="T6" fmla="*/ 168 w 199"/>
                <a:gd name="T7" fmla="*/ 0 h 206"/>
                <a:gd name="T8" fmla="*/ 186 w 199"/>
                <a:gd name="T9" fmla="*/ 8 h 206"/>
                <a:gd name="T10" fmla="*/ 193 w 199"/>
                <a:gd name="T11" fmla="*/ 27 h 206"/>
                <a:gd name="T12" fmla="*/ 187 w 199"/>
                <a:gd name="T13" fmla="*/ 62 h 206"/>
                <a:gd name="T14" fmla="*/ 160 w 199"/>
                <a:gd name="T15" fmla="*/ 155 h 206"/>
                <a:gd name="T16" fmla="*/ 155 w 199"/>
                <a:gd name="T17" fmla="*/ 175 h 206"/>
                <a:gd name="T18" fmla="*/ 157 w 199"/>
                <a:gd name="T19" fmla="*/ 180 h 206"/>
                <a:gd name="T20" fmla="*/ 161 w 199"/>
                <a:gd name="T21" fmla="*/ 182 h 206"/>
                <a:gd name="T22" fmla="*/ 167 w 199"/>
                <a:gd name="T23" fmla="*/ 179 h 206"/>
                <a:gd name="T24" fmla="*/ 193 w 199"/>
                <a:gd name="T25" fmla="*/ 151 h 206"/>
                <a:gd name="T26" fmla="*/ 199 w 199"/>
                <a:gd name="T27" fmla="*/ 155 h 206"/>
                <a:gd name="T28" fmla="*/ 161 w 199"/>
                <a:gd name="T29" fmla="*/ 197 h 206"/>
                <a:gd name="T30" fmla="*/ 138 w 199"/>
                <a:gd name="T31" fmla="*/ 206 h 206"/>
                <a:gd name="T32" fmla="*/ 124 w 199"/>
                <a:gd name="T33" fmla="*/ 201 h 206"/>
                <a:gd name="T34" fmla="*/ 120 w 199"/>
                <a:gd name="T35" fmla="*/ 188 h 206"/>
                <a:gd name="T36" fmla="*/ 127 w 199"/>
                <a:gd name="T37" fmla="*/ 151 h 206"/>
                <a:gd name="T38" fmla="*/ 153 w 199"/>
                <a:gd name="T39" fmla="*/ 62 h 206"/>
                <a:gd name="T40" fmla="*/ 158 w 199"/>
                <a:gd name="T41" fmla="*/ 36 h 206"/>
                <a:gd name="T42" fmla="*/ 155 w 199"/>
                <a:gd name="T43" fmla="*/ 29 h 206"/>
                <a:gd name="T44" fmla="*/ 148 w 199"/>
                <a:gd name="T45" fmla="*/ 26 h 206"/>
                <a:gd name="T46" fmla="*/ 133 w 199"/>
                <a:gd name="T47" fmla="*/ 31 h 206"/>
                <a:gd name="T48" fmla="*/ 99 w 199"/>
                <a:gd name="T49" fmla="*/ 64 h 206"/>
                <a:gd name="T50" fmla="*/ 61 w 199"/>
                <a:gd name="T51" fmla="*/ 123 h 206"/>
                <a:gd name="T52" fmla="*/ 44 w 199"/>
                <a:gd name="T53" fmla="*/ 164 h 206"/>
                <a:gd name="T54" fmla="*/ 33 w 199"/>
                <a:gd name="T55" fmla="*/ 201 h 206"/>
                <a:gd name="T56" fmla="*/ 0 w 199"/>
                <a:gd name="T57" fmla="*/ 201 h 206"/>
                <a:gd name="T58" fmla="*/ 40 w 199"/>
                <a:gd name="T59" fmla="*/ 62 h 206"/>
                <a:gd name="T60" fmla="*/ 47 w 199"/>
                <a:gd name="T61" fmla="*/ 32 h 206"/>
                <a:gd name="T62" fmla="*/ 43 w 199"/>
                <a:gd name="T63" fmla="*/ 24 h 206"/>
                <a:gd name="T64" fmla="*/ 34 w 199"/>
                <a:gd name="T65" fmla="*/ 20 h 206"/>
                <a:gd name="T66" fmla="*/ 24 w 199"/>
                <a:gd name="T67" fmla="*/ 21 h 206"/>
                <a:gd name="T68" fmla="*/ 16 w 199"/>
                <a:gd name="T69" fmla="*/ 22 h 206"/>
                <a:gd name="T70" fmla="*/ 15 w 199"/>
                <a:gd name="T71" fmla="*/ 14 h 206"/>
                <a:gd name="T72" fmla="*/ 91 w 199"/>
                <a:gd name="T7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99" h="206" fill="norm" stroke="1" extrusionOk="0">
                  <a:moveTo>
                    <a:pt x="91" y="0"/>
                  </a:moveTo>
                  <a:lnTo>
                    <a:pt x="62" y="101"/>
                  </a:lnTo>
                  <a:cubicBezTo>
                    <a:pt x="89" y="60"/>
                    <a:pt x="110" y="33"/>
                    <a:pt x="125" y="20"/>
                  </a:cubicBezTo>
                  <a:cubicBezTo>
                    <a:pt x="140" y="7"/>
                    <a:pt x="154" y="0"/>
                    <a:pt x="168" y="0"/>
                  </a:cubicBezTo>
                  <a:cubicBezTo>
                    <a:pt x="175" y="0"/>
                    <a:pt x="181" y="3"/>
                    <a:pt x="186" y="8"/>
                  </a:cubicBezTo>
                  <a:cubicBezTo>
                    <a:pt x="191" y="12"/>
                    <a:pt x="193" y="19"/>
                    <a:pt x="193" y="27"/>
                  </a:cubicBezTo>
                  <a:cubicBezTo>
                    <a:pt x="193" y="35"/>
                    <a:pt x="191" y="47"/>
                    <a:pt x="187" y="62"/>
                  </a:cubicBezTo>
                  <a:lnTo>
                    <a:pt x="160" y="155"/>
                  </a:lnTo>
                  <a:cubicBezTo>
                    <a:pt x="157" y="166"/>
                    <a:pt x="155" y="173"/>
                    <a:pt x="155" y="175"/>
                  </a:cubicBezTo>
                  <a:cubicBezTo>
                    <a:pt x="155" y="177"/>
                    <a:pt x="156" y="179"/>
                    <a:pt x="157" y="180"/>
                  </a:cubicBezTo>
                  <a:cubicBezTo>
                    <a:pt x="158" y="182"/>
                    <a:pt x="159" y="182"/>
                    <a:pt x="161" y="182"/>
                  </a:cubicBezTo>
                  <a:cubicBezTo>
                    <a:pt x="162" y="182"/>
                    <a:pt x="164" y="181"/>
                    <a:pt x="167" y="179"/>
                  </a:cubicBezTo>
                  <a:cubicBezTo>
                    <a:pt x="175" y="173"/>
                    <a:pt x="183" y="164"/>
                    <a:pt x="193" y="151"/>
                  </a:cubicBezTo>
                  <a:lnTo>
                    <a:pt x="199" y="155"/>
                  </a:lnTo>
                  <a:cubicBezTo>
                    <a:pt x="186" y="175"/>
                    <a:pt x="173" y="189"/>
                    <a:pt x="161" y="197"/>
                  </a:cubicBezTo>
                  <a:cubicBezTo>
                    <a:pt x="152" y="203"/>
                    <a:pt x="144" y="206"/>
                    <a:pt x="138" y="206"/>
                  </a:cubicBezTo>
                  <a:cubicBezTo>
                    <a:pt x="132" y="206"/>
                    <a:pt x="128" y="204"/>
                    <a:pt x="124" y="201"/>
                  </a:cubicBezTo>
                  <a:cubicBezTo>
                    <a:pt x="121" y="198"/>
                    <a:pt x="120" y="193"/>
                    <a:pt x="120" y="188"/>
                  </a:cubicBezTo>
                  <a:cubicBezTo>
                    <a:pt x="120" y="180"/>
                    <a:pt x="122" y="168"/>
                    <a:pt x="127" y="151"/>
                  </a:cubicBezTo>
                  <a:lnTo>
                    <a:pt x="153" y="62"/>
                  </a:lnTo>
                  <a:cubicBezTo>
                    <a:pt x="156" y="51"/>
                    <a:pt x="158" y="42"/>
                    <a:pt x="158" y="36"/>
                  </a:cubicBezTo>
                  <a:cubicBezTo>
                    <a:pt x="158" y="33"/>
                    <a:pt x="157" y="31"/>
                    <a:pt x="155" y="29"/>
                  </a:cubicBezTo>
                  <a:cubicBezTo>
                    <a:pt x="153" y="27"/>
                    <a:pt x="150" y="26"/>
                    <a:pt x="148" y="26"/>
                  </a:cubicBezTo>
                  <a:cubicBezTo>
                    <a:pt x="144" y="26"/>
                    <a:pt x="139" y="28"/>
                    <a:pt x="133" y="31"/>
                  </a:cubicBezTo>
                  <a:cubicBezTo>
                    <a:pt x="122" y="38"/>
                    <a:pt x="111" y="49"/>
                    <a:pt x="99" y="64"/>
                  </a:cubicBezTo>
                  <a:cubicBezTo>
                    <a:pt x="87" y="80"/>
                    <a:pt x="74" y="99"/>
                    <a:pt x="61" y="123"/>
                  </a:cubicBezTo>
                  <a:cubicBezTo>
                    <a:pt x="54" y="135"/>
                    <a:pt x="49" y="149"/>
                    <a:pt x="44" y="164"/>
                  </a:cubicBezTo>
                  <a:lnTo>
                    <a:pt x="33" y="201"/>
                  </a:lnTo>
                  <a:lnTo>
                    <a:pt x="0" y="201"/>
                  </a:lnTo>
                  <a:lnTo>
                    <a:pt x="40" y="62"/>
                  </a:lnTo>
                  <a:cubicBezTo>
                    <a:pt x="45" y="45"/>
                    <a:pt x="47" y="35"/>
                    <a:pt x="47" y="32"/>
                  </a:cubicBezTo>
                  <a:cubicBezTo>
                    <a:pt x="47" y="29"/>
                    <a:pt x="46" y="26"/>
                    <a:pt x="43" y="24"/>
                  </a:cubicBezTo>
                  <a:cubicBezTo>
                    <a:pt x="41" y="21"/>
                    <a:pt x="38" y="20"/>
                    <a:pt x="34" y="20"/>
                  </a:cubicBezTo>
                  <a:cubicBezTo>
                    <a:pt x="32" y="20"/>
                    <a:pt x="29" y="20"/>
                    <a:pt x="24" y="21"/>
                  </a:cubicBezTo>
                  <a:lnTo>
                    <a:pt x="16" y="22"/>
                  </a:lnTo>
                  <a:lnTo>
                    <a:pt x="15" y="14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71820736" name="Freeform 17"/>
            <p:cNvSpPr/>
            <p:nvPr/>
          </p:nvSpPr>
          <p:spPr bwMode="auto">
            <a:xfrm>
              <a:off x="4781799" y="2507289"/>
              <a:ext cx="32" cy="37"/>
            </a:xfrm>
            <a:custGeom>
              <a:avLst/>
              <a:gdLst>
                <a:gd name="T0" fmla="*/ 15 w 174"/>
                <a:gd name="T1" fmla="*/ 13 h 201"/>
                <a:gd name="T2" fmla="*/ 91 w 174"/>
                <a:gd name="T3" fmla="*/ 0 h 201"/>
                <a:gd name="T4" fmla="*/ 59 w 174"/>
                <a:gd name="T5" fmla="*/ 108 h 201"/>
                <a:gd name="T6" fmla="*/ 129 w 174"/>
                <a:gd name="T7" fmla="*/ 15 h 201"/>
                <a:gd name="T8" fmla="*/ 159 w 174"/>
                <a:gd name="T9" fmla="*/ 0 h 201"/>
                <a:gd name="T10" fmla="*/ 170 w 174"/>
                <a:gd name="T11" fmla="*/ 5 h 201"/>
                <a:gd name="T12" fmla="*/ 174 w 174"/>
                <a:gd name="T13" fmla="*/ 17 h 201"/>
                <a:gd name="T14" fmla="*/ 167 w 174"/>
                <a:gd name="T15" fmla="*/ 45 h 201"/>
                <a:gd name="T16" fmla="*/ 152 w 174"/>
                <a:gd name="T17" fmla="*/ 55 h 201"/>
                <a:gd name="T18" fmla="*/ 143 w 174"/>
                <a:gd name="T19" fmla="*/ 52 h 201"/>
                <a:gd name="T20" fmla="*/ 138 w 174"/>
                <a:gd name="T21" fmla="*/ 41 h 201"/>
                <a:gd name="T22" fmla="*/ 136 w 174"/>
                <a:gd name="T23" fmla="*/ 36 h 201"/>
                <a:gd name="T24" fmla="*/ 132 w 174"/>
                <a:gd name="T25" fmla="*/ 34 h 201"/>
                <a:gd name="T26" fmla="*/ 125 w 174"/>
                <a:gd name="T27" fmla="*/ 36 h 201"/>
                <a:gd name="T28" fmla="*/ 108 w 174"/>
                <a:gd name="T29" fmla="*/ 53 h 201"/>
                <a:gd name="T30" fmla="*/ 68 w 174"/>
                <a:gd name="T31" fmla="*/ 109 h 201"/>
                <a:gd name="T32" fmla="*/ 52 w 174"/>
                <a:gd name="T33" fmla="*/ 142 h 201"/>
                <a:gd name="T34" fmla="*/ 41 w 174"/>
                <a:gd name="T35" fmla="*/ 173 h 201"/>
                <a:gd name="T36" fmla="*/ 34 w 174"/>
                <a:gd name="T37" fmla="*/ 201 h 201"/>
                <a:gd name="T38" fmla="*/ 0 w 174"/>
                <a:gd name="T39" fmla="*/ 201 h 201"/>
                <a:gd name="T40" fmla="*/ 41 w 174"/>
                <a:gd name="T41" fmla="*/ 63 h 201"/>
                <a:gd name="T42" fmla="*/ 48 w 174"/>
                <a:gd name="T43" fmla="*/ 29 h 201"/>
                <a:gd name="T44" fmla="*/ 45 w 174"/>
                <a:gd name="T45" fmla="*/ 22 h 201"/>
                <a:gd name="T46" fmla="*/ 33 w 174"/>
                <a:gd name="T47" fmla="*/ 19 h 201"/>
                <a:gd name="T48" fmla="*/ 16 w 174"/>
                <a:gd name="T49" fmla="*/ 21 h 201"/>
                <a:gd name="T50" fmla="*/ 15 w 174"/>
                <a:gd name="T51" fmla="*/ 1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4" h="201" fill="norm" stroke="1" extrusionOk="0">
                  <a:moveTo>
                    <a:pt x="15" y="13"/>
                  </a:moveTo>
                  <a:lnTo>
                    <a:pt x="91" y="0"/>
                  </a:lnTo>
                  <a:lnTo>
                    <a:pt x="59" y="108"/>
                  </a:lnTo>
                  <a:cubicBezTo>
                    <a:pt x="85" y="64"/>
                    <a:pt x="108" y="33"/>
                    <a:pt x="129" y="15"/>
                  </a:cubicBezTo>
                  <a:cubicBezTo>
                    <a:pt x="141" y="5"/>
                    <a:pt x="151" y="0"/>
                    <a:pt x="159" y="0"/>
                  </a:cubicBezTo>
                  <a:cubicBezTo>
                    <a:pt x="164" y="0"/>
                    <a:pt x="167" y="2"/>
                    <a:pt x="170" y="5"/>
                  </a:cubicBezTo>
                  <a:cubicBezTo>
                    <a:pt x="173" y="7"/>
                    <a:pt x="174" y="12"/>
                    <a:pt x="174" y="17"/>
                  </a:cubicBezTo>
                  <a:cubicBezTo>
                    <a:pt x="174" y="27"/>
                    <a:pt x="172" y="36"/>
                    <a:pt x="167" y="45"/>
                  </a:cubicBezTo>
                  <a:cubicBezTo>
                    <a:pt x="163" y="52"/>
                    <a:pt x="158" y="55"/>
                    <a:pt x="152" y="55"/>
                  </a:cubicBezTo>
                  <a:cubicBezTo>
                    <a:pt x="148" y="55"/>
                    <a:pt x="145" y="54"/>
                    <a:pt x="143" y="52"/>
                  </a:cubicBezTo>
                  <a:cubicBezTo>
                    <a:pt x="140" y="49"/>
                    <a:pt x="139" y="46"/>
                    <a:pt x="138" y="41"/>
                  </a:cubicBezTo>
                  <a:cubicBezTo>
                    <a:pt x="138" y="39"/>
                    <a:pt x="137" y="37"/>
                    <a:pt x="136" y="36"/>
                  </a:cubicBezTo>
                  <a:cubicBezTo>
                    <a:pt x="135" y="35"/>
                    <a:pt x="134" y="34"/>
                    <a:pt x="132" y="34"/>
                  </a:cubicBezTo>
                  <a:cubicBezTo>
                    <a:pt x="130" y="34"/>
                    <a:pt x="127" y="35"/>
                    <a:pt x="125" y="36"/>
                  </a:cubicBezTo>
                  <a:cubicBezTo>
                    <a:pt x="121" y="38"/>
                    <a:pt x="115" y="44"/>
                    <a:pt x="108" y="53"/>
                  </a:cubicBezTo>
                  <a:cubicBezTo>
                    <a:pt x="95" y="68"/>
                    <a:pt x="82" y="86"/>
                    <a:pt x="68" y="109"/>
                  </a:cubicBezTo>
                  <a:cubicBezTo>
                    <a:pt x="61" y="119"/>
                    <a:pt x="56" y="130"/>
                    <a:pt x="52" y="142"/>
                  </a:cubicBezTo>
                  <a:cubicBezTo>
                    <a:pt x="46" y="159"/>
                    <a:pt x="42" y="169"/>
                    <a:pt x="41" y="173"/>
                  </a:cubicBezTo>
                  <a:lnTo>
                    <a:pt x="34" y="201"/>
                  </a:lnTo>
                  <a:lnTo>
                    <a:pt x="0" y="201"/>
                  </a:lnTo>
                  <a:lnTo>
                    <a:pt x="41" y="63"/>
                  </a:lnTo>
                  <a:cubicBezTo>
                    <a:pt x="46" y="47"/>
                    <a:pt x="48" y="36"/>
                    <a:pt x="48" y="29"/>
                  </a:cubicBezTo>
                  <a:cubicBezTo>
                    <a:pt x="48" y="26"/>
                    <a:pt x="47" y="24"/>
                    <a:pt x="45" y="22"/>
                  </a:cubicBezTo>
                  <a:cubicBezTo>
                    <a:pt x="42" y="20"/>
                    <a:pt x="38" y="19"/>
                    <a:pt x="33" y="19"/>
                  </a:cubicBezTo>
                  <a:cubicBezTo>
                    <a:pt x="30" y="19"/>
                    <a:pt x="24" y="20"/>
                    <a:pt x="16" y="21"/>
                  </a:cubicBezTo>
                  <a:lnTo>
                    <a:pt x="15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359455529" name="Freeform 18"/>
            <p:cNvSpPr>
              <a:spLocks noEditPoints="1"/>
            </p:cNvSpPr>
            <p:nvPr/>
          </p:nvSpPr>
          <p:spPr bwMode="auto">
            <a:xfrm>
              <a:off x="4781835" y="2507274"/>
              <a:ext cx="18" cy="55"/>
            </a:xfrm>
            <a:custGeom>
              <a:avLst/>
              <a:gdLst>
                <a:gd name="T0" fmla="*/ 82 w 104"/>
                <a:gd name="T1" fmla="*/ 0 h 294"/>
                <a:gd name="T2" fmla="*/ 97 w 104"/>
                <a:gd name="T3" fmla="*/ 7 h 294"/>
                <a:gd name="T4" fmla="*/ 104 w 104"/>
                <a:gd name="T5" fmla="*/ 23 h 294"/>
                <a:gd name="T6" fmla="*/ 97 w 104"/>
                <a:gd name="T7" fmla="*/ 38 h 294"/>
                <a:gd name="T8" fmla="*/ 82 w 104"/>
                <a:gd name="T9" fmla="*/ 45 h 294"/>
                <a:gd name="T10" fmla="*/ 66 w 104"/>
                <a:gd name="T11" fmla="*/ 38 h 294"/>
                <a:gd name="T12" fmla="*/ 60 w 104"/>
                <a:gd name="T13" fmla="*/ 23 h 294"/>
                <a:gd name="T14" fmla="*/ 66 w 104"/>
                <a:gd name="T15" fmla="*/ 7 h 294"/>
                <a:gd name="T16" fmla="*/ 82 w 104"/>
                <a:gd name="T17" fmla="*/ 0 h 294"/>
                <a:gd name="T18" fmla="*/ 85 w 104"/>
                <a:gd name="T19" fmla="*/ 88 h 294"/>
                <a:gd name="T20" fmla="*/ 41 w 104"/>
                <a:gd name="T21" fmla="*/ 243 h 294"/>
                <a:gd name="T22" fmla="*/ 36 w 104"/>
                <a:gd name="T23" fmla="*/ 262 h 294"/>
                <a:gd name="T24" fmla="*/ 38 w 104"/>
                <a:gd name="T25" fmla="*/ 268 h 294"/>
                <a:gd name="T26" fmla="*/ 43 w 104"/>
                <a:gd name="T27" fmla="*/ 270 h 294"/>
                <a:gd name="T28" fmla="*/ 51 w 104"/>
                <a:gd name="T29" fmla="*/ 267 h 294"/>
                <a:gd name="T30" fmla="*/ 77 w 104"/>
                <a:gd name="T31" fmla="*/ 238 h 294"/>
                <a:gd name="T32" fmla="*/ 85 w 104"/>
                <a:gd name="T33" fmla="*/ 243 h 294"/>
                <a:gd name="T34" fmla="*/ 49 w 104"/>
                <a:gd name="T35" fmla="*/ 282 h 294"/>
                <a:gd name="T36" fmla="*/ 20 w 104"/>
                <a:gd name="T37" fmla="*/ 294 h 294"/>
                <a:gd name="T38" fmla="*/ 6 w 104"/>
                <a:gd name="T39" fmla="*/ 289 h 294"/>
                <a:gd name="T40" fmla="*/ 0 w 104"/>
                <a:gd name="T41" fmla="*/ 275 h 294"/>
                <a:gd name="T42" fmla="*/ 5 w 104"/>
                <a:gd name="T43" fmla="*/ 248 h 294"/>
                <a:gd name="T44" fmla="*/ 34 w 104"/>
                <a:gd name="T45" fmla="*/ 148 h 294"/>
                <a:gd name="T46" fmla="*/ 41 w 104"/>
                <a:gd name="T47" fmla="*/ 118 h 294"/>
                <a:gd name="T48" fmla="*/ 38 w 104"/>
                <a:gd name="T49" fmla="*/ 110 h 294"/>
                <a:gd name="T50" fmla="*/ 28 w 104"/>
                <a:gd name="T51" fmla="*/ 107 h 294"/>
                <a:gd name="T52" fmla="*/ 8 w 104"/>
                <a:gd name="T53" fmla="*/ 109 h 294"/>
                <a:gd name="T54" fmla="*/ 8 w 104"/>
                <a:gd name="T55" fmla="*/ 101 h 294"/>
                <a:gd name="T56" fmla="*/ 85 w 104"/>
                <a:gd name="T57" fmla="*/ 88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4" h="294" fill="norm" stroke="1" extrusionOk="0">
                  <a:moveTo>
                    <a:pt x="82" y="0"/>
                  </a:moveTo>
                  <a:cubicBezTo>
                    <a:pt x="88" y="0"/>
                    <a:pt x="93" y="3"/>
                    <a:pt x="97" y="7"/>
                  </a:cubicBezTo>
                  <a:cubicBezTo>
                    <a:pt x="102" y="11"/>
                    <a:pt x="104" y="16"/>
                    <a:pt x="104" y="23"/>
                  </a:cubicBezTo>
                  <a:cubicBezTo>
                    <a:pt x="104" y="29"/>
                    <a:pt x="102" y="34"/>
                    <a:pt x="97" y="38"/>
                  </a:cubicBezTo>
                  <a:cubicBezTo>
                    <a:pt x="93" y="43"/>
                    <a:pt x="88" y="45"/>
                    <a:pt x="82" y="45"/>
                  </a:cubicBezTo>
                  <a:cubicBezTo>
                    <a:pt x="76" y="45"/>
                    <a:pt x="70" y="43"/>
                    <a:pt x="66" y="38"/>
                  </a:cubicBezTo>
                  <a:cubicBezTo>
                    <a:pt x="62" y="34"/>
                    <a:pt x="60" y="29"/>
                    <a:pt x="60" y="23"/>
                  </a:cubicBezTo>
                  <a:cubicBezTo>
                    <a:pt x="60" y="16"/>
                    <a:pt x="62" y="11"/>
                    <a:pt x="66" y="7"/>
                  </a:cubicBezTo>
                  <a:cubicBezTo>
                    <a:pt x="70" y="3"/>
                    <a:pt x="76" y="0"/>
                    <a:pt x="82" y="0"/>
                  </a:cubicBezTo>
                  <a:close/>
                  <a:moveTo>
                    <a:pt x="85" y="88"/>
                  </a:moveTo>
                  <a:lnTo>
                    <a:pt x="41" y="243"/>
                  </a:lnTo>
                  <a:cubicBezTo>
                    <a:pt x="38" y="254"/>
                    <a:pt x="36" y="260"/>
                    <a:pt x="36" y="262"/>
                  </a:cubicBezTo>
                  <a:cubicBezTo>
                    <a:pt x="36" y="265"/>
                    <a:pt x="37" y="267"/>
                    <a:pt x="38" y="268"/>
                  </a:cubicBezTo>
                  <a:cubicBezTo>
                    <a:pt x="40" y="270"/>
                    <a:pt x="41" y="270"/>
                    <a:pt x="43" y="270"/>
                  </a:cubicBezTo>
                  <a:cubicBezTo>
                    <a:pt x="46" y="270"/>
                    <a:pt x="48" y="269"/>
                    <a:pt x="51" y="267"/>
                  </a:cubicBezTo>
                  <a:cubicBezTo>
                    <a:pt x="60" y="260"/>
                    <a:pt x="68" y="251"/>
                    <a:pt x="77" y="238"/>
                  </a:cubicBezTo>
                  <a:lnTo>
                    <a:pt x="85" y="243"/>
                  </a:lnTo>
                  <a:cubicBezTo>
                    <a:pt x="75" y="259"/>
                    <a:pt x="63" y="272"/>
                    <a:pt x="49" y="282"/>
                  </a:cubicBezTo>
                  <a:cubicBezTo>
                    <a:pt x="39" y="290"/>
                    <a:pt x="30" y="294"/>
                    <a:pt x="20" y="294"/>
                  </a:cubicBezTo>
                  <a:cubicBezTo>
                    <a:pt x="14" y="294"/>
                    <a:pt x="9" y="292"/>
                    <a:pt x="6" y="289"/>
                  </a:cubicBezTo>
                  <a:cubicBezTo>
                    <a:pt x="2" y="285"/>
                    <a:pt x="0" y="280"/>
                    <a:pt x="0" y="275"/>
                  </a:cubicBezTo>
                  <a:cubicBezTo>
                    <a:pt x="0" y="269"/>
                    <a:pt x="2" y="260"/>
                    <a:pt x="5" y="248"/>
                  </a:cubicBezTo>
                  <a:lnTo>
                    <a:pt x="34" y="148"/>
                  </a:lnTo>
                  <a:cubicBezTo>
                    <a:pt x="39" y="132"/>
                    <a:pt x="41" y="122"/>
                    <a:pt x="41" y="118"/>
                  </a:cubicBezTo>
                  <a:cubicBezTo>
                    <a:pt x="41" y="115"/>
                    <a:pt x="40" y="112"/>
                    <a:pt x="38" y="110"/>
                  </a:cubicBezTo>
                  <a:cubicBezTo>
                    <a:pt x="35" y="108"/>
                    <a:pt x="32" y="107"/>
                    <a:pt x="28" y="107"/>
                  </a:cubicBezTo>
                  <a:cubicBezTo>
                    <a:pt x="25" y="107"/>
                    <a:pt x="18" y="108"/>
                    <a:pt x="8" y="109"/>
                  </a:cubicBezTo>
                  <a:lnTo>
                    <a:pt x="8" y="101"/>
                  </a:lnTo>
                  <a:lnTo>
                    <a:pt x="85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699074845" name="Freeform 19"/>
            <p:cNvSpPr/>
            <p:nvPr/>
          </p:nvSpPr>
          <p:spPr bwMode="auto">
            <a:xfrm>
              <a:off x="4781854" y="2507289"/>
              <a:ext cx="30" cy="38"/>
            </a:xfrm>
            <a:custGeom>
              <a:avLst/>
              <a:gdLst>
                <a:gd name="T0" fmla="*/ 169 w 169"/>
                <a:gd name="T1" fmla="*/ 0 h 206"/>
                <a:gd name="T2" fmla="*/ 155 w 169"/>
                <a:gd name="T3" fmla="*/ 68 h 206"/>
                <a:gd name="T4" fmla="*/ 147 w 169"/>
                <a:gd name="T5" fmla="*/ 68 h 206"/>
                <a:gd name="T6" fmla="*/ 134 w 169"/>
                <a:gd name="T7" fmla="*/ 25 h 206"/>
                <a:gd name="T8" fmla="*/ 106 w 169"/>
                <a:gd name="T9" fmla="*/ 12 h 206"/>
                <a:gd name="T10" fmla="*/ 84 w 169"/>
                <a:gd name="T11" fmla="*/ 19 h 206"/>
                <a:gd name="T12" fmla="*/ 76 w 169"/>
                <a:gd name="T13" fmla="*/ 37 h 206"/>
                <a:gd name="T14" fmla="*/ 79 w 169"/>
                <a:gd name="T15" fmla="*/ 51 h 206"/>
                <a:gd name="T16" fmla="*/ 93 w 169"/>
                <a:gd name="T17" fmla="*/ 70 h 206"/>
                <a:gd name="T18" fmla="*/ 130 w 169"/>
                <a:gd name="T19" fmla="*/ 117 h 206"/>
                <a:gd name="T20" fmla="*/ 139 w 169"/>
                <a:gd name="T21" fmla="*/ 147 h 206"/>
                <a:gd name="T22" fmla="*/ 120 w 169"/>
                <a:gd name="T23" fmla="*/ 188 h 206"/>
                <a:gd name="T24" fmla="*/ 71 w 169"/>
                <a:gd name="T25" fmla="*/ 206 h 206"/>
                <a:gd name="T26" fmla="*/ 35 w 169"/>
                <a:gd name="T27" fmla="*/ 198 h 206"/>
                <a:gd name="T28" fmla="*/ 23 w 169"/>
                <a:gd name="T29" fmla="*/ 196 h 206"/>
                <a:gd name="T30" fmla="*/ 8 w 169"/>
                <a:gd name="T31" fmla="*/ 206 h 206"/>
                <a:gd name="T32" fmla="*/ 0 w 169"/>
                <a:gd name="T33" fmla="*/ 206 h 206"/>
                <a:gd name="T34" fmla="*/ 14 w 169"/>
                <a:gd name="T35" fmla="*/ 134 h 206"/>
                <a:gd name="T36" fmla="*/ 22 w 169"/>
                <a:gd name="T37" fmla="*/ 134 h 206"/>
                <a:gd name="T38" fmla="*/ 36 w 169"/>
                <a:gd name="T39" fmla="*/ 182 h 206"/>
                <a:gd name="T40" fmla="*/ 70 w 169"/>
                <a:gd name="T41" fmla="*/ 196 h 206"/>
                <a:gd name="T42" fmla="*/ 97 w 169"/>
                <a:gd name="T43" fmla="*/ 186 h 206"/>
                <a:gd name="T44" fmla="*/ 107 w 169"/>
                <a:gd name="T45" fmla="*/ 163 h 206"/>
                <a:gd name="T46" fmla="*/ 103 w 169"/>
                <a:gd name="T47" fmla="*/ 147 h 206"/>
                <a:gd name="T48" fmla="*/ 77 w 169"/>
                <a:gd name="T49" fmla="*/ 110 h 206"/>
                <a:gd name="T50" fmla="*/ 52 w 169"/>
                <a:gd name="T51" fmla="*/ 75 h 206"/>
                <a:gd name="T52" fmla="*/ 46 w 169"/>
                <a:gd name="T53" fmla="*/ 51 h 206"/>
                <a:gd name="T54" fmla="*/ 62 w 169"/>
                <a:gd name="T55" fmla="*/ 15 h 206"/>
                <a:gd name="T56" fmla="*/ 102 w 169"/>
                <a:gd name="T57" fmla="*/ 0 h 206"/>
                <a:gd name="T58" fmla="*/ 115 w 169"/>
                <a:gd name="T59" fmla="*/ 1 h 206"/>
                <a:gd name="T60" fmla="*/ 129 w 169"/>
                <a:gd name="T61" fmla="*/ 6 h 206"/>
                <a:gd name="T62" fmla="*/ 144 w 169"/>
                <a:gd name="T63" fmla="*/ 11 h 206"/>
                <a:gd name="T64" fmla="*/ 160 w 169"/>
                <a:gd name="T65" fmla="*/ 0 h 206"/>
                <a:gd name="T66" fmla="*/ 169 w 169"/>
                <a:gd name="T67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206" fill="norm" stroke="1" extrusionOk="0">
                  <a:moveTo>
                    <a:pt x="169" y="0"/>
                  </a:moveTo>
                  <a:lnTo>
                    <a:pt x="155" y="68"/>
                  </a:lnTo>
                  <a:lnTo>
                    <a:pt x="147" y="68"/>
                  </a:lnTo>
                  <a:cubicBezTo>
                    <a:pt x="146" y="48"/>
                    <a:pt x="142" y="34"/>
                    <a:pt x="134" y="25"/>
                  </a:cubicBezTo>
                  <a:cubicBezTo>
                    <a:pt x="127" y="16"/>
                    <a:pt x="117" y="12"/>
                    <a:pt x="106" y="12"/>
                  </a:cubicBezTo>
                  <a:cubicBezTo>
                    <a:pt x="97" y="12"/>
                    <a:pt x="89" y="14"/>
                    <a:pt x="84" y="19"/>
                  </a:cubicBezTo>
                  <a:cubicBezTo>
                    <a:pt x="79" y="24"/>
                    <a:pt x="76" y="30"/>
                    <a:pt x="76" y="37"/>
                  </a:cubicBezTo>
                  <a:cubicBezTo>
                    <a:pt x="76" y="42"/>
                    <a:pt x="77" y="47"/>
                    <a:pt x="79" y="51"/>
                  </a:cubicBezTo>
                  <a:cubicBezTo>
                    <a:pt x="81" y="56"/>
                    <a:pt x="86" y="62"/>
                    <a:pt x="93" y="70"/>
                  </a:cubicBezTo>
                  <a:cubicBezTo>
                    <a:pt x="112" y="91"/>
                    <a:pt x="125" y="107"/>
                    <a:pt x="130" y="117"/>
                  </a:cubicBezTo>
                  <a:cubicBezTo>
                    <a:pt x="136" y="128"/>
                    <a:pt x="139" y="138"/>
                    <a:pt x="139" y="147"/>
                  </a:cubicBezTo>
                  <a:cubicBezTo>
                    <a:pt x="139" y="163"/>
                    <a:pt x="132" y="176"/>
                    <a:pt x="120" y="188"/>
                  </a:cubicBezTo>
                  <a:cubicBezTo>
                    <a:pt x="107" y="200"/>
                    <a:pt x="91" y="206"/>
                    <a:pt x="71" y="206"/>
                  </a:cubicBezTo>
                  <a:cubicBezTo>
                    <a:pt x="61" y="206"/>
                    <a:pt x="48" y="203"/>
                    <a:pt x="35" y="198"/>
                  </a:cubicBezTo>
                  <a:cubicBezTo>
                    <a:pt x="30" y="197"/>
                    <a:pt x="26" y="196"/>
                    <a:pt x="23" y="196"/>
                  </a:cubicBezTo>
                  <a:cubicBezTo>
                    <a:pt x="17" y="196"/>
                    <a:pt x="12" y="199"/>
                    <a:pt x="8" y="206"/>
                  </a:cubicBezTo>
                  <a:lnTo>
                    <a:pt x="0" y="206"/>
                  </a:lnTo>
                  <a:lnTo>
                    <a:pt x="14" y="134"/>
                  </a:lnTo>
                  <a:lnTo>
                    <a:pt x="22" y="134"/>
                  </a:lnTo>
                  <a:cubicBezTo>
                    <a:pt x="23" y="157"/>
                    <a:pt x="27" y="173"/>
                    <a:pt x="36" y="182"/>
                  </a:cubicBezTo>
                  <a:cubicBezTo>
                    <a:pt x="44" y="191"/>
                    <a:pt x="56" y="196"/>
                    <a:pt x="70" y="196"/>
                  </a:cubicBezTo>
                  <a:cubicBezTo>
                    <a:pt x="81" y="196"/>
                    <a:pt x="90" y="193"/>
                    <a:pt x="97" y="186"/>
                  </a:cubicBezTo>
                  <a:cubicBezTo>
                    <a:pt x="103" y="180"/>
                    <a:pt x="107" y="172"/>
                    <a:pt x="107" y="163"/>
                  </a:cubicBezTo>
                  <a:cubicBezTo>
                    <a:pt x="107" y="157"/>
                    <a:pt x="106" y="152"/>
                    <a:pt x="103" y="147"/>
                  </a:cubicBezTo>
                  <a:cubicBezTo>
                    <a:pt x="99" y="138"/>
                    <a:pt x="90" y="126"/>
                    <a:pt x="77" y="110"/>
                  </a:cubicBezTo>
                  <a:cubicBezTo>
                    <a:pt x="64" y="94"/>
                    <a:pt x="56" y="83"/>
                    <a:pt x="52" y="75"/>
                  </a:cubicBezTo>
                  <a:cubicBezTo>
                    <a:pt x="48" y="67"/>
                    <a:pt x="46" y="59"/>
                    <a:pt x="46" y="51"/>
                  </a:cubicBezTo>
                  <a:cubicBezTo>
                    <a:pt x="46" y="37"/>
                    <a:pt x="51" y="25"/>
                    <a:pt x="62" y="15"/>
                  </a:cubicBezTo>
                  <a:cubicBezTo>
                    <a:pt x="72" y="5"/>
                    <a:pt x="86" y="0"/>
                    <a:pt x="102" y="0"/>
                  </a:cubicBezTo>
                  <a:cubicBezTo>
                    <a:pt x="107" y="0"/>
                    <a:pt x="111" y="1"/>
                    <a:pt x="115" y="1"/>
                  </a:cubicBezTo>
                  <a:cubicBezTo>
                    <a:pt x="117" y="2"/>
                    <a:pt x="122" y="4"/>
                    <a:pt x="129" y="6"/>
                  </a:cubicBezTo>
                  <a:cubicBezTo>
                    <a:pt x="137" y="9"/>
                    <a:pt x="142" y="11"/>
                    <a:pt x="144" y="11"/>
                  </a:cubicBezTo>
                  <a:cubicBezTo>
                    <a:pt x="151" y="11"/>
                    <a:pt x="156" y="7"/>
                    <a:pt x="160" y="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332208151" name="Freeform 20"/>
            <p:cNvSpPr>
              <a:spLocks noEditPoints="1"/>
            </p:cNvSpPr>
            <p:nvPr/>
          </p:nvSpPr>
          <p:spPr bwMode="auto">
            <a:xfrm>
              <a:off x="4781891" y="2507289"/>
              <a:ext cx="32" cy="38"/>
            </a:xfrm>
            <a:custGeom>
              <a:avLst/>
              <a:gdLst>
                <a:gd name="T0" fmla="*/ 40 w 181"/>
                <a:gd name="T1" fmla="*/ 117 h 206"/>
                <a:gd name="T2" fmla="*/ 38 w 181"/>
                <a:gd name="T3" fmla="*/ 136 h 206"/>
                <a:gd name="T4" fmla="*/ 52 w 181"/>
                <a:gd name="T5" fmla="*/ 169 h 206"/>
                <a:gd name="T6" fmla="*/ 86 w 181"/>
                <a:gd name="T7" fmla="*/ 183 h 206"/>
                <a:gd name="T8" fmla="*/ 117 w 181"/>
                <a:gd name="T9" fmla="*/ 176 h 206"/>
                <a:gd name="T10" fmla="*/ 160 w 181"/>
                <a:gd name="T11" fmla="*/ 147 h 206"/>
                <a:gd name="T12" fmla="*/ 165 w 181"/>
                <a:gd name="T13" fmla="*/ 154 h 206"/>
                <a:gd name="T14" fmla="*/ 65 w 181"/>
                <a:gd name="T15" fmla="*/ 206 h 206"/>
                <a:gd name="T16" fmla="*/ 16 w 181"/>
                <a:gd name="T17" fmla="*/ 186 h 206"/>
                <a:gd name="T18" fmla="*/ 0 w 181"/>
                <a:gd name="T19" fmla="*/ 141 h 206"/>
                <a:gd name="T20" fmla="*/ 20 w 181"/>
                <a:gd name="T21" fmla="*/ 73 h 206"/>
                <a:gd name="T22" fmla="*/ 71 w 181"/>
                <a:gd name="T23" fmla="*/ 20 h 206"/>
                <a:gd name="T24" fmla="*/ 135 w 181"/>
                <a:gd name="T25" fmla="*/ 0 h 206"/>
                <a:gd name="T26" fmla="*/ 169 w 181"/>
                <a:gd name="T27" fmla="*/ 10 h 206"/>
                <a:gd name="T28" fmla="*/ 181 w 181"/>
                <a:gd name="T29" fmla="*/ 32 h 206"/>
                <a:gd name="T30" fmla="*/ 166 w 181"/>
                <a:gd name="T31" fmla="*/ 68 h 206"/>
                <a:gd name="T32" fmla="*/ 109 w 181"/>
                <a:gd name="T33" fmla="*/ 103 h 206"/>
                <a:gd name="T34" fmla="*/ 40 w 181"/>
                <a:gd name="T35" fmla="*/ 117 h 206"/>
                <a:gd name="T36" fmla="*/ 41 w 181"/>
                <a:gd name="T37" fmla="*/ 106 h 206"/>
                <a:gd name="T38" fmla="*/ 95 w 181"/>
                <a:gd name="T39" fmla="*/ 93 h 206"/>
                <a:gd name="T40" fmla="*/ 135 w 181"/>
                <a:gd name="T41" fmla="*/ 64 h 206"/>
                <a:gd name="T42" fmla="*/ 149 w 181"/>
                <a:gd name="T43" fmla="*/ 32 h 206"/>
                <a:gd name="T44" fmla="*/ 143 w 181"/>
                <a:gd name="T45" fmla="*/ 17 h 206"/>
                <a:gd name="T46" fmla="*/ 127 w 181"/>
                <a:gd name="T47" fmla="*/ 11 h 206"/>
                <a:gd name="T48" fmla="*/ 79 w 181"/>
                <a:gd name="T49" fmla="*/ 35 h 206"/>
                <a:gd name="T50" fmla="*/ 41 w 181"/>
                <a:gd name="T51" fmla="*/ 10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1" h="206" fill="norm" stroke="1" extrusionOk="0">
                  <a:moveTo>
                    <a:pt x="40" y="117"/>
                  </a:moveTo>
                  <a:cubicBezTo>
                    <a:pt x="39" y="125"/>
                    <a:pt x="38" y="131"/>
                    <a:pt x="38" y="136"/>
                  </a:cubicBezTo>
                  <a:cubicBezTo>
                    <a:pt x="38" y="149"/>
                    <a:pt x="43" y="160"/>
                    <a:pt x="52" y="169"/>
                  </a:cubicBezTo>
                  <a:cubicBezTo>
                    <a:pt x="61" y="178"/>
                    <a:pt x="73" y="183"/>
                    <a:pt x="86" y="183"/>
                  </a:cubicBezTo>
                  <a:cubicBezTo>
                    <a:pt x="97" y="183"/>
                    <a:pt x="107" y="181"/>
                    <a:pt x="117" y="176"/>
                  </a:cubicBezTo>
                  <a:cubicBezTo>
                    <a:pt x="126" y="172"/>
                    <a:pt x="141" y="162"/>
                    <a:pt x="160" y="147"/>
                  </a:cubicBezTo>
                  <a:lnTo>
                    <a:pt x="165" y="154"/>
                  </a:lnTo>
                  <a:cubicBezTo>
                    <a:pt x="130" y="189"/>
                    <a:pt x="97" y="206"/>
                    <a:pt x="65" y="206"/>
                  </a:cubicBezTo>
                  <a:cubicBezTo>
                    <a:pt x="43" y="206"/>
                    <a:pt x="27" y="199"/>
                    <a:pt x="16" y="186"/>
                  </a:cubicBezTo>
                  <a:cubicBezTo>
                    <a:pt x="5" y="172"/>
                    <a:pt x="0" y="157"/>
                    <a:pt x="0" y="141"/>
                  </a:cubicBezTo>
                  <a:cubicBezTo>
                    <a:pt x="0" y="119"/>
                    <a:pt x="7" y="96"/>
                    <a:pt x="20" y="73"/>
                  </a:cubicBezTo>
                  <a:cubicBezTo>
                    <a:pt x="34" y="50"/>
                    <a:pt x="51" y="32"/>
                    <a:pt x="71" y="20"/>
                  </a:cubicBezTo>
                  <a:cubicBezTo>
                    <a:pt x="92" y="7"/>
                    <a:pt x="113" y="0"/>
                    <a:pt x="135" y="0"/>
                  </a:cubicBezTo>
                  <a:cubicBezTo>
                    <a:pt x="150" y="0"/>
                    <a:pt x="162" y="3"/>
                    <a:pt x="169" y="10"/>
                  </a:cubicBezTo>
                  <a:cubicBezTo>
                    <a:pt x="177" y="16"/>
                    <a:pt x="181" y="24"/>
                    <a:pt x="181" y="32"/>
                  </a:cubicBezTo>
                  <a:cubicBezTo>
                    <a:pt x="181" y="45"/>
                    <a:pt x="176" y="56"/>
                    <a:pt x="166" y="68"/>
                  </a:cubicBezTo>
                  <a:cubicBezTo>
                    <a:pt x="153" y="82"/>
                    <a:pt x="134" y="94"/>
                    <a:pt x="109" y="103"/>
                  </a:cubicBezTo>
                  <a:cubicBezTo>
                    <a:pt x="93" y="109"/>
                    <a:pt x="70" y="114"/>
                    <a:pt x="40" y="117"/>
                  </a:cubicBezTo>
                  <a:close/>
                  <a:moveTo>
                    <a:pt x="41" y="106"/>
                  </a:moveTo>
                  <a:cubicBezTo>
                    <a:pt x="63" y="104"/>
                    <a:pt x="81" y="100"/>
                    <a:pt x="95" y="93"/>
                  </a:cubicBezTo>
                  <a:cubicBezTo>
                    <a:pt x="113" y="85"/>
                    <a:pt x="126" y="76"/>
                    <a:pt x="135" y="64"/>
                  </a:cubicBezTo>
                  <a:cubicBezTo>
                    <a:pt x="145" y="53"/>
                    <a:pt x="149" y="42"/>
                    <a:pt x="149" y="32"/>
                  </a:cubicBezTo>
                  <a:cubicBezTo>
                    <a:pt x="149" y="26"/>
                    <a:pt x="147" y="21"/>
                    <a:pt x="143" y="17"/>
                  </a:cubicBezTo>
                  <a:cubicBezTo>
                    <a:pt x="139" y="13"/>
                    <a:pt x="134" y="11"/>
                    <a:pt x="127" y="11"/>
                  </a:cubicBezTo>
                  <a:cubicBezTo>
                    <a:pt x="111" y="11"/>
                    <a:pt x="95" y="19"/>
                    <a:pt x="79" y="35"/>
                  </a:cubicBezTo>
                  <a:cubicBezTo>
                    <a:pt x="62" y="51"/>
                    <a:pt x="49" y="75"/>
                    <a:pt x="41" y="10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497807080" name="Freeform 21"/>
            <p:cNvSpPr/>
            <p:nvPr/>
          </p:nvSpPr>
          <p:spPr bwMode="auto">
            <a:xfrm>
              <a:off x="4782325" y="2506716"/>
              <a:ext cx="49" cy="55"/>
            </a:xfrm>
            <a:custGeom>
              <a:avLst/>
              <a:gdLst>
                <a:gd name="T0" fmla="*/ 35 w 263"/>
                <a:gd name="T1" fmla="*/ 0 h 300"/>
                <a:gd name="T2" fmla="*/ 263 w 263"/>
                <a:gd name="T3" fmla="*/ 0 h 300"/>
                <a:gd name="T4" fmla="*/ 239 w 263"/>
                <a:gd name="T5" fmla="*/ 79 h 300"/>
                <a:gd name="T6" fmla="*/ 230 w 263"/>
                <a:gd name="T7" fmla="*/ 79 h 300"/>
                <a:gd name="T8" fmla="*/ 234 w 263"/>
                <a:gd name="T9" fmla="*/ 48 h 300"/>
                <a:gd name="T10" fmla="*/ 224 w 263"/>
                <a:gd name="T11" fmla="*/ 24 h 300"/>
                <a:gd name="T12" fmla="*/ 186 w 263"/>
                <a:gd name="T13" fmla="*/ 18 h 300"/>
                <a:gd name="T14" fmla="*/ 162 w 263"/>
                <a:gd name="T15" fmla="*/ 18 h 300"/>
                <a:gd name="T16" fmla="*/ 103 w 263"/>
                <a:gd name="T17" fmla="*/ 224 h 300"/>
                <a:gd name="T18" fmla="*/ 91 w 263"/>
                <a:gd name="T19" fmla="*/ 272 h 300"/>
                <a:gd name="T20" fmla="*/ 99 w 263"/>
                <a:gd name="T21" fmla="*/ 286 h 300"/>
                <a:gd name="T22" fmla="*/ 124 w 263"/>
                <a:gd name="T23" fmla="*/ 292 h 300"/>
                <a:gd name="T24" fmla="*/ 134 w 263"/>
                <a:gd name="T25" fmla="*/ 292 h 300"/>
                <a:gd name="T26" fmla="*/ 131 w 263"/>
                <a:gd name="T27" fmla="*/ 300 h 300"/>
                <a:gd name="T28" fmla="*/ 0 w 263"/>
                <a:gd name="T29" fmla="*/ 300 h 300"/>
                <a:gd name="T30" fmla="*/ 3 w 263"/>
                <a:gd name="T31" fmla="*/ 292 h 300"/>
                <a:gd name="T32" fmla="*/ 9 w 263"/>
                <a:gd name="T33" fmla="*/ 292 h 300"/>
                <a:gd name="T34" fmla="*/ 35 w 263"/>
                <a:gd name="T35" fmla="*/ 286 h 300"/>
                <a:gd name="T36" fmla="*/ 47 w 263"/>
                <a:gd name="T37" fmla="*/ 273 h 300"/>
                <a:gd name="T38" fmla="*/ 61 w 263"/>
                <a:gd name="T39" fmla="*/ 231 h 300"/>
                <a:gd name="T40" fmla="*/ 124 w 263"/>
                <a:gd name="T41" fmla="*/ 18 h 300"/>
                <a:gd name="T42" fmla="*/ 106 w 263"/>
                <a:gd name="T43" fmla="*/ 18 h 300"/>
                <a:gd name="T44" fmla="*/ 64 w 263"/>
                <a:gd name="T45" fmla="*/ 24 h 300"/>
                <a:gd name="T46" fmla="*/ 38 w 263"/>
                <a:gd name="T47" fmla="*/ 43 h 300"/>
                <a:gd name="T48" fmla="*/ 22 w 263"/>
                <a:gd name="T49" fmla="*/ 79 h 300"/>
                <a:gd name="T50" fmla="*/ 14 w 263"/>
                <a:gd name="T51" fmla="*/ 79 h 300"/>
                <a:gd name="T52" fmla="*/ 35 w 263"/>
                <a:gd name="T5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3" h="300" fill="norm" stroke="1" extrusionOk="0">
                  <a:moveTo>
                    <a:pt x="35" y="0"/>
                  </a:moveTo>
                  <a:lnTo>
                    <a:pt x="263" y="0"/>
                  </a:lnTo>
                  <a:lnTo>
                    <a:pt x="239" y="79"/>
                  </a:lnTo>
                  <a:lnTo>
                    <a:pt x="230" y="79"/>
                  </a:lnTo>
                  <a:cubicBezTo>
                    <a:pt x="233" y="68"/>
                    <a:pt x="234" y="57"/>
                    <a:pt x="234" y="48"/>
                  </a:cubicBezTo>
                  <a:cubicBezTo>
                    <a:pt x="234" y="37"/>
                    <a:pt x="231" y="29"/>
                    <a:pt x="224" y="24"/>
                  </a:cubicBezTo>
                  <a:cubicBezTo>
                    <a:pt x="219" y="20"/>
                    <a:pt x="207" y="18"/>
                    <a:pt x="186" y="18"/>
                  </a:cubicBezTo>
                  <a:lnTo>
                    <a:pt x="162" y="18"/>
                  </a:lnTo>
                  <a:lnTo>
                    <a:pt x="103" y="224"/>
                  </a:lnTo>
                  <a:cubicBezTo>
                    <a:pt x="95" y="250"/>
                    <a:pt x="91" y="266"/>
                    <a:pt x="91" y="272"/>
                  </a:cubicBezTo>
                  <a:cubicBezTo>
                    <a:pt x="91" y="278"/>
                    <a:pt x="94" y="283"/>
                    <a:pt x="99" y="286"/>
                  </a:cubicBezTo>
                  <a:cubicBezTo>
                    <a:pt x="103" y="290"/>
                    <a:pt x="112" y="292"/>
                    <a:pt x="124" y="292"/>
                  </a:cubicBezTo>
                  <a:lnTo>
                    <a:pt x="134" y="292"/>
                  </a:lnTo>
                  <a:lnTo>
                    <a:pt x="131" y="300"/>
                  </a:lnTo>
                  <a:lnTo>
                    <a:pt x="0" y="300"/>
                  </a:lnTo>
                  <a:lnTo>
                    <a:pt x="3" y="292"/>
                  </a:lnTo>
                  <a:lnTo>
                    <a:pt x="9" y="292"/>
                  </a:lnTo>
                  <a:cubicBezTo>
                    <a:pt x="20" y="292"/>
                    <a:pt x="29" y="290"/>
                    <a:pt x="35" y="286"/>
                  </a:cubicBezTo>
                  <a:cubicBezTo>
                    <a:pt x="39" y="284"/>
                    <a:pt x="43" y="279"/>
                    <a:pt x="47" y="273"/>
                  </a:cubicBezTo>
                  <a:cubicBezTo>
                    <a:pt x="50" y="266"/>
                    <a:pt x="55" y="252"/>
                    <a:pt x="61" y="231"/>
                  </a:cubicBezTo>
                  <a:lnTo>
                    <a:pt x="124" y="18"/>
                  </a:lnTo>
                  <a:lnTo>
                    <a:pt x="106" y="18"/>
                  </a:lnTo>
                  <a:cubicBezTo>
                    <a:pt x="88" y="18"/>
                    <a:pt x="74" y="20"/>
                    <a:pt x="64" y="24"/>
                  </a:cubicBezTo>
                  <a:cubicBezTo>
                    <a:pt x="53" y="29"/>
                    <a:pt x="45" y="35"/>
                    <a:pt x="38" y="43"/>
                  </a:cubicBezTo>
                  <a:cubicBezTo>
                    <a:pt x="32" y="52"/>
                    <a:pt x="26" y="64"/>
                    <a:pt x="22" y="79"/>
                  </a:cubicBezTo>
                  <a:lnTo>
                    <a:pt x="14" y="79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707186384" name="Freeform 22"/>
            <p:cNvSpPr>
              <a:spLocks noEditPoints="1"/>
            </p:cNvSpPr>
            <p:nvPr/>
          </p:nvSpPr>
          <p:spPr bwMode="auto">
            <a:xfrm>
              <a:off x="4782362" y="2506734"/>
              <a:ext cx="33" cy="37"/>
            </a:xfrm>
            <a:custGeom>
              <a:avLst/>
              <a:gdLst>
                <a:gd name="T0" fmla="*/ 40 w 181"/>
                <a:gd name="T1" fmla="*/ 117 h 206"/>
                <a:gd name="T2" fmla="*/ 39 w 181"/>
                <a:gd name="T3" fmla="*/ 136 h 206"/>
                <a:gd name="T4" fmla="*/ 53 w 181"/>
                <a:gd name="T5" fmla="*/ 169 h 206"/>
                <a:gd name="T6" fmla="*/ 87 w 181"/>
                <a:gd name="T7" fmla="*/ 183 h 206"/>
                <a:gd name="T8" fmla="*/ 117 w 181"/>
                <a:gd name="T9" fmla="*/ 177 h 206"/>
                <a:gd name="T10" fmla="*/ 161 w 181"/>
                <a:gd name="T11" fmla="*/ 148 h 206"/>
                <a:gd name="T12" fmla="*/ 166 w 181"/>
                <a:gd name="T13" fmla="*/ 154 h 206"/>
                <a:gd name="T14" fmla="*/ 66 w 181"/>
                <a:gd name="T15" fmla="*/ 206 h 206"/>
                <a:gd name="T16" fmla="*/ 17 w 181"/>
                <a:gd name="T17" fmla="*/ 186 h 206"/>
                <a:gd name="T18" fmla="*/ 0 w 181"/>
                <a:gd name="T19" fmla="*/ 141 h 206"/>
                <a:gd name="T20" fmla="*/ 21 w 181"/>
                <a:gd name="T21" fmla="*/ 73 h 206"/>
                <a:gd name="T22" fmla="*/ 72 w 181"/>
                <a:gd name="T23" fmla="*/ 20 h 206"/>
                <a:gd name="T24" fmla="*/ 135 w 181"/>
                <a:gd name="T25" fmla="*/ 0 h 206"/>
                <a:gd name="T26" fmla="*/ 170 w 181"/>
                <a:gd name="T27" fmla="*/ 10 h 206"/>
                <a:gd name="T28" fmla="*/ 181 w 181"/>
                <a:gd name="T29" fmla="*/ 33 h 206"/>
                <a:gd name="T30" fmla="*/ 167 w 181"/>
                <a:gd name="T31" fmla="*/ 68 h 206"/>
                <a:gd name="T32" fmla="*/ 110 w 181"/>
                <a:gd name="T33" fmla="*/ 103 h 206"/>
                <a:gd name="T34" fmla="*/ 40 w 181"/>
                <a:gd name="T35" fmla="*/ 117 h 206"/>
                <a:gd name="T36" fmla="*/ 42 w 181"/>
                <a:gd name="T37" fmla="*/ 107 h 206"/>
                <a:gd name="T38" fmla="*/ 95 w 181"/>
                <a:gd name="T39" fmla="*/ 94 h 206"/>
                <a:gd name="T40" fmla="*/ 136 w 181"/>
                <a:gd name="T41" fmla="*/ 65 h 206"/>
                <a:gd name="T42" fmla="*/ 150 w 181"/>
                <a:gd name="T43" fmla="*/ 32 h 206"/>
                <a:gd name="T44" fmla="*/ 144 w 181"/>
                <a:gd name="T45" fmla="*/ 17 h 206"/>
                <a:gd name="T46" fmla="*/ 127 w 181"/>
                <a:gd name="T47" fmla="*/ 12 h 206"/>
                <a:gd name="T48" fmla="*/ 79 w 181"/>
                <a:gd name="T49" fmla="*/ 36 h 206"/>
                <a:gd name="T50" fmla="*/ 42 w 181"/>
                <a:gd name="T51" fmla="*/ 10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1" h="206" fill="norm" stroke="1" extrusionOk="0">
                  <a:moveTo>
                    <a:pt x="40" y="117"/>
                  </a:moveTo>
                  <a:cubicBezTo>
                    <a:pt x="39" y="125"/>
                    <a:pt x="39" y="131"/>
                    <a:pt x="39" y="136"/>
                  </a:cubicBezTo>
                  <a:cubicBezTo>
                    <a:pt x="39" y="149"/>
                    <a:pt x="43" y="160"/>
                    <a:pt x="53" y="169"/>
                  </a:cubicBezTo>
                  <a:cubicBezTo>
                    <a:pt x="62" y="179"/>
                    <a:pt x="73" y="183"/>
                    <a:pt x="87" y="183"/>
                  </a:cubicBezTo>
                  <a:cubicBezTo>
                    <a:pt x="97" y="183"/>
                    <a:pt x="107" y="181"/>
                    <a:pt x="117" y="177"/>
                  </a:cubicBezTo>
                  <a:cubicBezTo>
                    <a:pt x="127" y="172"/>
                    <a:pt x="142" y="163"/>
                    <a:pt x="161" y="148"/>
                  </a:cubicBezTo>
                  <a:lnTo>
                    <a:pt x="166" y="154"/>
                  </a:lnTo>
                  <a:cubicBezTo>
                    <a:pt x="131" y="189"/>
                    <a:pt x="97" y="206"/>
                    <a:pt x="66" y="206"/>
                  </a:cubicBezTo>
                  <a:cubicBezTo>
                    <a:pt x="44" y="206"/>
                    <a:pt x="28" y="199"/>
                    <a:pt x="17" y="186"/>
                  </a:cubicBezTo>
                  <a:cubicBezTo>
                    <a:pt x="6" y="172"/>
                    <a:pt x="0" y="157"/>
                    <a:pt x="0" y="141"/>
                  </a:cubicBezTo>
                  <a:cubicBezTo>
                    <a:pt x="0" y="119"/>
                    <a:pt x="7" y="96"/>
                    <a:pt x="21" y="73"/>
                  </a:cubicBezTo>
                  <a:cubicBezTo>
                    <a:pt x="34" y="50"/>
                    <a:pt x="51" y="32"/>
                    <a:pt x="72" y="20"/>
                  </a:cubicBezTo>
                  <a:cubicBezTo>
                    <a:pt x="93" y="7"/>
                    <a:pt x="114" y="0"/>
                    <a:pt x="135" y="0"/>
                  </a:cubicBezTo>
                  <a:cubicBezTo>
                    <a:pt x="151" y="0"/>
                    <a:pt x="163" y="4"/>
                    <a:pt x="170" y="10"/>
                  </a:cubicBezTo>
                  <a:cubicBezTo>
                    <a:pt x="178" y="16"/>
                    <a:pt x="181" y="24"/>
                    <a:pt x="181" y="33"/>
                  </a:cubicBezTo>
                  <a:cubicBezTo>
                    <a:pt x="181" y="45"/>
                    <a:pt x="176" y="57"/>
                    <a:pt x="167" y="68"/>
                  </a:cubicBezTo>
                  <a:cubicBezTo>
                    <a:pt x="154" y="82"/>
                    <a:pt x="135" y="94"/>
                    <a:pt x="110" y="103"/>
                  </a:cubicBezTo>
                  <a:cubicBezTo>
                    <a:pt x="94" y="109"/>
                    <a:pt x="70" y="114"/>
                    <a:pt x="40" y="117"/>
                  </a:cubicBezTo>
                  <a:close/>
                  <a:moveTo>
                    <a:pt x="42" y="107"/>
                  </a:moveTo>
                  <a:cubicBezTo>
                    <a:pt x="64" y="104"/>
                    <a:pt x="82" y="100"/>
                    <a:pt x="95" y="94"/>
                  </a:cubicBezTo>
                  <a:cubicBezTo>
                    <a:pt x="113" y="86"/>
                    <a:pt x="127" y="76"/>
                    <a:pt x="136" y="65"/>
                  </a:cubicBezTo>
                  <a:cubicBezTo>
                    <a:pt x="145" y="53"/>
                    <a:pt x="150" y="43"/>
                    <a:pt x="150" y="32"/>
                  </a:cubicBezTo>
                  <a:cubicBezTo>
                    <a:pt x="150" y="26"/>
                    <a:pt x="148" y="21"/>
                    <a:pt x="144" y="17"/>
                  </a:cubicBezTo>
                  <a:cubicBezTo>
                    <a:pt x="140" y="13"/>
                    <a:pt x="134" y="12"/>
                    <a:pt x="127" y="12"/>
                  </a:cubicBezTo>
                  <a:cubicBezTo>
                    <a:pt x="112" y="12"/>
                    <a:pt x="96" y="20"/>
                    <a:pt x="79" y="36"/>
                  </a:cubicBezTo>
                  <a:cubicBezTo>
                    <a:pt x="62" y="52"/>
                    <a:pt x="50" y="75"/>
                    <a:pt x="42" y="1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005154045" name="Freeform 23"/>
            <p:cNvSpPr/>
            <p:nvPr/>
          </p:nvSpPr>
          <p:spPr bwMode="auto">
            <a:xfrm>
              <a:off x="4782398" y="2506734"/>
              <a:ext cx="56" cy="37"/>
            </a:xfrm>
            <a:custGeom>
              <a:avLst/>
              <a:gdLst>
                <a:gd name="T0" fmla="*/ 91 w 300"/>
                <a:gd name="T1" fmla="*/ 0 h 206"/>
                <a:gd name="T2" fmla="*/ 62 w 300"/>
                <a:gd name="T3" fmla="*/ 100 h 206"/>
                <a:gd name="T4" fmla="*/ 95 w 300"/>
                <a:gd name="T5" fmla="*/ 47 h 206"/>
                <a:gd name="T6" fmla="*/ 136 w 300"/>
                <a:gd name="T7" fmla="*/ 8 h 206"/>
                <a:gd name="T8" fmla="*/ 160 w 300"/>
                <a:gd name="T9" fmla="*/ 0 h 206"/>
                <a:gd name="T10" fmla="*/ 179 w 300"/>
                <a:gd name="T11" fmla="*/ 8 h 206"/>
                <a:gd name="T12" fmla="*/ 186 w 300"/>
                <a:gd name="T13" fmla="*/ 26 h 206"/>
                <a:gd name="T14" fmla="*/ 181 w 300"/>
                <a:gd name="T15" fmla="*/ 54 h 206"/>
                <a:gd name="T16" fmla="*/ 165 w 300"/>
                <a:gd name="T17" fmla="*/ 110 h 206"/>
                <a:gd name="T18" fmla="*/ 234 w 300"/>
                <a:gd name="T19" fmla="*/ 16 h 206"/>
                <a:gd name="T20" fmla="*/ 269 w 300"/>
                <a:gd name="T21" fmla="*/ 0 h 206"/>
                <a:gd name="T22" fmla="*/ 286 w 300"/>
                <a:gd name="T23" fmla="*/ 8 h 206"/>
                <a:gd name="T24" fmla="*/ 292 w 300"/>
                <a:gd name="T25" fmla="*/ 29 h 206"/>
                <a:gd name="T26" fmla="*/ 288 w 300"/>
                <a:gd name="T27" fmla="*/ 56 h 206"/>
                <a:gd name="T28" fmla="*/ 264 w 300"/>
                <a:gd name="T29" fmla="*/ 142 h 206"/>
                <a:gd name="T30" fmla="*/ 256 w 300"/>
                <a:gd name="T31" fmla="*/ 174 h 206"/>
                <a:gd name="T32" fmla="*/ 258 w 300"/>
                <a:gd name="T33" fmla="*/ 179 h 206"/>
                <a:gd name="T34" fmla="*/ 262 w 300"/>
                <a:gd name="T35" fmla="*/ 180 h 206"/>
                <a:gd name="T36" fmla="*/ 269 w 300"/>
                <a:gd name="T37" fmla="*/ 176 h 206"/>
                <a:gd name="T38" fmla="*/ 293 w 300"/>
                <a:gd name="T39" fmla="*/ 151 h 206"/>
                <a:gd name="T40" fmla="*/ 300 w 300"/>
                <a:gd name="T41" fmla="*/ 155 h 206"/>
                <a:gd name="T42" fmla="*/ 281 w 300"/>
                <a:gd name="T43" fmla="*/ 180 h 206"/>
                <a:gd name="T44" fmla="*/ 257 w 300"/>
                <a:gd name="T45" fmla="*/ 201 h 206"/>
                <a:gd name="T46" fmla="*/ 238 w 300"/>
                <a:gd name="T47" fmla="*/ 206 h 206"/>
                <a:gd name="T48" fmla="*/ 225 w 300"/>
                <a:gd name="T49" fmla="*/ 201 h 206"/>
                <a:gd name="T50" fmla="*/ 220 w 300"/>
                <a:gd name="T51" fmla="*/ 188 h 206"/>
                <a:gd name="T52" fmla="*/ 229 w 300"/>
                <a:gd name="T53" fmla="*/ 145 h 206"/>
                <a:gd name="T54" fmla="*/ 249 w 300"/>
                <a:gd name="T55" fmla="*/ 74 h 206"/>
                <a:gd name="T56" fmla="*/ 257 w 300"/>
                <a:gd name="T57" fmla="*/ 47 h 206"/>
                <a:gd name="T58" fmla="*/ 257 w 300"/>
                <a:gd name="T59" fmla="*/ 39 h 206"/>
                <a:gd name="T60" fmla="*/ 255 w 300"/>
                <a:gd name="T61" fmla="*/ 30 h 206"/>
                <a:gd name="T62" fmla="*/ 249 w 300"/>
                <a:gd name="T63" fmla="*/ 27 h 206"/>
                <a:gd name="T64" fmla="*/ 229 w 300"/>
                <a:gd name="T65" fmla="*/ 36 h 206"/>
                <a:gd name="T66" fmla="*/ 172 w 300"/>
                <a:gd name="T67" fmla="*/ 115 h 206"/>
                <a:gd name="T68" fmla="*/ 139 w 300"/>
                <a:gd name="T69" fmla="*/ 201 h 206"/>
                <a:gd name="T70" fmla="*/ 106 w 300"/>
                <a:gd name="T71" fmla="*/ 201 h 206"/>
                <a:gd name="T72" fmla="*/ 144 w 300"/>
                <a:gd name="T73" fmla="*/ 67 h 206"/>
                <a:gd name="T74" fmla="*/ 150 w 300"/>
                <a:gd name="T75" fmla="*/ 38 h 206"/>
                <a:gd name="T76" fmla="*/ 148 w 300"/>
                <a:gd name="T77" fmla="*/ 29 h 206"/>
                <a:gd name="T78" fmla="*/ 142 w 300"/>
                <a:gd name="T79" fmla="*/ 26 h 206"/>
                <a:gd name="T80" fmla="*/ 126 w 300"/>
                <a:gd name="T81" fmla="*/ 31 h 206"/>
                <a:gd name="T82" fmla="*/ 92 w 300"/>
                <a:gd name="T83" fmla="*/ 68 h 206"/>
                <a:gd name="T84" fmla="*/ 59 w 300"/>
                <a:gd name="T85" fmla="*/ 123 h 206"/>
                <a:gd name="T86" fmla="*/ 33 w 300"/>
                <a:gd name="T87" fmla="*/ 201 h 206"/>
                <a:gd name="T88" fmla="*/ 0 w 300"/>
                <a:gd name="T89" fmla="*/ 201 h 206"/>
                <a:gd name="T90" fmla="*/ 41 w 300"/>
                <a:gd name="T91" fmla="*/ 57 h 206"/>
                <a:gd name="T92" fmla="*/ 47 w 300"/>
                <a:gd name="T93" fmla="*/ 39 h 206"/>
                <a:gd name="T94" fmla="*/ 48 w 300"/>
                <a:gd name="T95" fmla="*/ 33 h 206"/>
                <a:gd name="T96" fmla="*/ 44 w 300"/>
                <a:gd name="T97" fmla="*/ 24 h 206"/>
                <a:gd name="T98" fmla="*/ 32 w 300"/>
                <a:gd name="T99" fmla="*/ 20 h 206"/>
                <a:gd name="T100" fmla="*/ 16 w 300"/>
                <a:gd name="T101" fmla="*/ 23 h 206"/>
                <a:gd name="T102" fmla="*/ 14 w 300"/>
                <a:gd name="T103" fmla="*/ 14 h 206"/>
                <a:gd name="T104" fmla="*/ 91 w 300"/>
                <a:gd name="T105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0" h="206" fill="norm" stroke="1" extrusionOk="0">
                  <a:moveTo>
                    <a:pt x="91" y="0"/>
                  </a:moveTo>
                  <a:lnTo>
                    <a:pt x="62" y="100"/>
                  </a:lnTo>
                  <a:cubicBezTo>
                    <a:pt x="75" y="77"/>
                    <a:pt x="86" y="59"/>
                    <a:pt x="95" y="47"/>
                  </a:cubicBezTo>
                  <a:cubicBezTo>
                    <a:pt x="109" y="29"/>
                    <a:pt x="123" y="16"/>
                    <a:pt x="136" y="8"/>
                  </a:cubicBezTo>
                  <a:cubicBezTo>
                    <a:pt x="144" y="3"/>
                    <a:pt x="152" y="0"/>
                    <a:pt x="160" y="0"/>
                  </a:cubicBezTo>
                  <a:cubicBezTo>
                    <a:pt x="168" y="0"/>
                    <a:pt x="174" y="3"/>
                    <a:pt x="179" y="8"/>
                  </a:cubicBezTo>
                  <a:cubicBezTo>
                    <a:pt x="184" y="12"/>
                    <a:pt x="186" y="18"/>
                    <a:pt x="186" y="26"/>
                  </a:cubicBezTo>
                  <a:cubicBezTo>
                    <a:pt x="186" y="33"/>
                    <a:pt x="184" y="42"/>
                    <a:pt x="181" y="54"/>
                  </a:cubicBezTo>
                  <a:lnTo>
                    <a:pt x="165" y="110"/>
                  </a:lnTo>
                  <a:cubicBezTo>
                    <a:pt x="189" y="65"/>
                    <a:pt x="212" y="34"/>
                    <a:pt x="234" y="16"/>
                  </a:cubicBezTo>
                  <a:cubicBezTo>
                    <a:pt x="246" y="6"/>
                    <a:pt x="257" y="0"/>
                    <a:pt x="269" y="0"/>
                  </a:cubicBezTo>
                  <a:cubicBezTo>
                    <a:pt x="276" y="0"/>
                    <a:pt x="281" y="3"/>
                    <a:pt x="286" y="8"/>
                  </a:cubicBezTo>
                  <a:cubicBezTo>
                    <a:pt x="290" y="12"/>
                    <a:pt x="292" y="19"/>
                    <a:pt x="292" y="29"/>
                  </a:cubicBezTo>
                  <a:cubicBezTo>
                    <a:pt x="292" y="38"/>
                    <a:pt x="291" y="47"/>
                    <a:pt x="288" y="56"/>
                  </a:cubicBezTo>
                  <a:lnTo>
                    <a:pt x="264" y="142"/>
                  </a:lnTo>
                  <a:cubicBezTo>
                    <a:pt x="259" y="161"/>
                    <a:pt x="256" y="172"/>
                    <a:pt x="256" y="174"/>
                  </a:cubicBezTo>
                  <a:cubicBezTo>
                    <a:pt x="256" y="176"/>
                    <a:pt x="257" y="177"/>
                    <a:pt x="258" y="179"/>
                  </a:cubicBezTo>
                  <a:cubicBezTo>
                    <a:pt x="259" y="180"/>
                    <a:pt x="260" y="180"/>
                    <a:pt x="262" y="180"/>
                  </a:cubicBezTo>
                  <a:cubicBezTo>
                    <a:pt x="263" y="180"/>
                    <a:pt x="266" y="179"/>
                    <a:pt x="269" y="176"/>
                  </a:cubicBezTo>
                  <a:cubicBezTo>
                    <a:pt x="278" y="170"/>
                    <a:pt x="286" y="161"/>
                    <a:pt x="293" y="151"/>
                  </a:cubicBezTo>
                  <a:lnTo>
                    <a:pt x="300" y="155"/>
                  </a:lnTo>
                  <a:cubicBezTo>
                    <a:pt x="297" y="161"/>
                    <a:pt x="290" y="169"/>
                    <a:pt x="281" y="180"/>
                  </a:cubicBezTo>
                  <a:cubicBezTo>
                    <a:pt x="271" y="190"/>
                    <a:pt x="263" y="197"/>
                    <a:pt x="257" y="201"/>
                  </a:cubicBezTo>
                  <a:cubicBezTo>
                    <a:pt x="250" y="204"/>
                    <a:pt x="244" y="206"/>
                    <a:pt x="238" y="206"/>
                  </a:cubicBezTo>
                  <a:cubicBezTo>
                    <a:pt x="233" y="206"/>
                    <a:pt x="229" y="204"/>
                    <a:pt x="225" y="201"/>
                  </a:cubicBezTo>
                  <a:cubicBezTo>
                    <a:pt x="222" y="197"/>
                    <a:pt x="220" y="193"/>
                    <a:pt x="220" y="188"/>
                  </a:cubicBezTo>
                  <a:cubicBezTo>
                    <a:pt x="220" y="181"/>
                    <a:pt x="223" y="166"/>
                    <a:pt x="229" y="145"/>
                  </a:cubicBezTo>
                  <a:lnTo>
                    <a:pt x="249" y="74"/>
                  </a:lnTo>
                  <a:cubicBezTo>
                    <a:pt x="254" y="58"/>
                    <a:pt x="256" y="49"/>
                    <a:pt x="257" y="47"/>
                  </a:cubicBezTo>
                  <a:cubicBezTo>
                    <a:pt x="257" y="44"/>
                    <a:pt x="257" y="41"/>
                    <a:pt x="257" y="39"/>
                  </a:cubicBezTo>
                  <a:cubicBezTo>
                    <a:pt x="257" y="35"/>
                    <a:pt x="257" y="32"/>
                    <a:pt x="255" y="30"/>
                  </a:cubicBezTo>
                  <a:cubicBezTo>
                    <a:pt x="253" y="28"/>
                    <a:pt x="251" y="27"/>
                    <a:pt x="249" y="27"/>
                  </a:cubicBezTo>
                  <a:cubicBezTo>
                    <a:pt x="243" y="27"/>
                    <a:pt x="236" y="30"/>
                    <a:pt x="229" y="36"/>
                  </a:cubicBezTo>
                  <a:cubicBezTo>
                    <a:pt x="209" y="55"/>
                    <a:pt x="190" y="81"/>
                    <a:pt x="172" y="115"/>
                  </a:cubicBezTo>
                  <a:cubicBezTo>
                    <a:pt x="160" y="137"/>
                    <a:pt x="150" y="166"/>
                    <a:pt x="139" y="201"/>
                  </a:cubicBezTo>
                  <a:lnTo>
                    <a:pt x="106" y="201"/>
                  </a:lnTo>
                  <a:lnTo>
                    <a:pt x="144" y="67"/>
                  </a:lnTo>
                  <a:cubicBezTo>
                    <a:pt x="148" y="52"/>
                    <a:pt x="150" y="43"/>
                    <a:pt x="150" y="38"/>
                  </a:cubicBezTo>
                  <a:cubicBezTo>
                    <a:pt x="150" y="34"/>
                    <a:pt x="149" y="31"/>
                    <a:pt x="148" y="29"/>
                  </a:cubicBezTo>
                  <a:cubicBezTo>
                    <a:pt x="146" y="27"/>
                    <a:pt x="144" y="26"/>
                    <a:pt x="142" y="26"/>
                  </a:cubicBezTo>
                  <a:cubicBezTo>
                    <a:pt x="137" y="26"/>
                    <a:pt x="132" y="28"/>
                    <a:pt x="126" y="31"/>
                  </a:cubicBezTo>
                  <a:cubicBezTo>
                    <a:pt x="117" y="37"/>
                    <a:pt x="106" y="50"/>
                    <a:pt x="92" y="68"/>
                  </a:cubicBezTo>
                  <a:cubicBezTo>
                    <a:pt x="78" y="87"/>
                    <a:pt x="67" y="105"/>
                    <a:pt x="59" y="123"/>
                  </a:cubicBezTo>
                  <a:cubicBezTo>
                    <a:pt x="56" y="131"/>
                    <a:pt x="47" y="157"/>
                    <a:pt x="33" y="201"/>
                  </a:cubicBezTo>
                  <a:lnTo>
                    <a:pt x="0" y="201"/>
                  </a:lnTo>
                  <a:lnTo>
                    <a:pt x="41" y="57"/>
                  </a:lnTo>
                  <a:lnTo>
                    <a:pt x="47" y="39"/>
                  </a:lnTo>
                  <a:cubicBezTo>
                    <a:pt x="48" y="36"/>
                    <a:pt x="48" y="34"/>
                    <a:pt x="48" y="33"/>
                  </a:cubicBezTo>
                  <a:cubicBezTo>
                    <a:pt x="48" y="29"/>
                    <a:pt x="47" y="26"/>
                    <a:pt x="44" y="24"/>
                  </a:cubicBezTo>
                  <a:cubicBezTo>
                    <a:pt x="41" y="21"/>
                    <a:pt x="37" y="20"/>
                    <a:pt x="32" y="20"/>
                  </a:cubicBezTo>
                  <a:cubicBezTo>
                    <a:pt x="31" y="20"/>
                    <a:pt x="25" y="21"/>
                    <a:pt x="16" y="23"/>
                  </a:cubicBezTo>
                  <a:lnTo>
                    <a:pt x="14" y="14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458987372" name="Freeform 24"/>
            <p:cNvSpPr>
              <a:spLocks noEditPoints="1"/>
            </p:cNvSpPr>
            <p:nvPr/>
          </p:nvSpPr>
          <p:spPr bwMode="auto">
            <a:xfrm>
              <a:off x="4782450" y="2506734"/>
              <a:ext cx="48" cy="55"/>
            </a:xfrm>
            <a:custGeom>
              <a:avLst/>
              <a:gdLst>
                <a:gd name="T0" fmla="*/ 150 w 264"/>
                <a:gd name="T1" fmla="*/ 0 h 298"/>
                <a:gd name="T2" fmla="*/ 135 w 264"/>
                <a:gd name="T3" fmla="*/ 51 h 298"/>
                <a:gd name="T4" fmla="*/ 178 w 264"/>
                <a:gd name="T5" fmla="*/ 12 h 298"/>
                <a:gd name="T6" fmla="*/ 217 w 264"/>
                <a:gd name="T7" fmla="*/ 0 h 298"/>
                <a:gd name="T8" fmla="*/ 250 w 264"/>
                <a:gd name="T9" fmla="*/ 16 h 298"/>
                <a:gd name="T10" fmla="*/ 264 w 264"/>
                <a:gd name="T11" fmla="*/ 57 h 298"/>
                <a:gd name="T12" fmla="*/ 225 w 264"/>
                <a:gd name="T13" fmla="*/ 156 h 298"/>
                <a:gd name="T14" fmla="*/ 132 w 264"/>
                <a:gd name="T15" fmla="*/ 206 h 298"/>
                <a:gd name="T16" fmla="*/ 113 w 264"/>
                <a:gd name="T17" fmla="*/ 204 h 298"/>
                <a:gd name="T18" fmla="*/ 94 w 264"/>
                <a:gd name="T19" fmla="*/ 195 h 298"/>
                <a:gd name="T20" fmla="*/ 77 w 264"/>
                <a:gd name="T21" fmla="*/ 252 h 298"/>
                <a:gd name="T22" fmla="*/ 73 w 264"/>
                <a:gd name="T23" fmla="*/ 274 h 298"/>
                <a:gd name="T24" fmla="*/ 75 w 264"/>
                <a:gd name="T25" fmla="*/ 282 h 298"/>
                <a:gd name="T26" fmla="*/ 83 w 264"/>
                <a:gd name="T27" fmla="*/ 288 h 298"/>
                <a:gd name="T28" fmla="*/ 106 w 264"/>
                <a:gd name="T29" fmla="*/ 290 h 298"/>
                <a:gd name="T30" fmla="*/ 104 w 264"/>
                <a:gd name="T31" fmla="*/ 298 h 298"/>
                <a:gd name="T32" fmla="*/ 0 w 264"/>
                <a:gd name="T33" fmla="*/ 298 h 298"/>
                <a:gd name="T34" fmla="*/ 2 w 264"/>
                <a:gd name="T35" fmla="*/ 290 h 298"/>
                <a:gd name="T36" fmla="*/ 30 w 264"/>
                <a:gd name="T37" fmla="*/ 283 h 298"/>
                <a:gd name="T38" fmla="*/ 45 w 264"/>
                <a:gd name="T39" fmla="*/ 248 h 298"/>
                <a:gd name="T40" fmla="*/ 101 w 264"/>
                <a:gd name="T41" fmla="*/ 54 h 298"/>
                <a:gd name="T42" fmla="*/ 106 w 264"/>
                <a:gd name="T43" fmla="*/ 31 h 298"/>
                <a:gd name="T44" fmla="*/ 103 w 264"/>
                <a:gd name="T45" fmla="*/ 22 h 298"/>
                <a:gd name="T46" fmla="*/ 92 w 264"/>
                <a:gd name="T47" fmla="*/ 19 h 298"/>
                <a:gd name="T48" fmla="*/ 74 w 264"/>
                <a:gd name="T49" fmla="*/ 20 h 298"/>
                <a:gd name="T50" fmla="*/ 74 w 264"/>
                <a:gd name="T51" fmla="*/ 12 h 298"/>
                <a:gd name="T52" fmla="*/ 150 w 264"/>
                <a:gd name="T53" fmla="*/ 0 h 298"/>
                <a:gd name="T54" fmla="*/ 99 w 264"/>
                <a:gd name="T55" fmla="*/ 178 h 298"/>
                <a:gd name="T56" fmla="*/ 136 w 264"/>
                <a:gd name="T57" fmla="*/ 194 h 298"/>
                <a:gd name="T58" fmla="*/ 159 w 264"/>
                <a:gd name="T59" fmla="*/ 188 h 298"/>
                <a:gd name="T60" fmla="*/ 182 w 264"/>
                <a:gd name="T61" fmla="*/ 169 h 298"/>
                <a:gd name="T62" fmla="*/ 203 w 264"/>
                <a:gd name="T63" fmla="*/ 140 h 298"/>
                <a:gd name="T64" fmla="*/ 219 w 264"/>
                <a:gd name="T65" fmla="*/ 101 h 298"/>
                <a:gd name="T66" fmla="*/ 226 w 264"/>
                <a:gd name="T67" fmla="*/ 56 h 298"/>
                <a:gd name="T68" fmla="*/ 218 w 264"/>
                <a:gd name="T69" fmla="*/ 29 h 298"/>
                <a:gd name="T70" fmla="*/ 199 w 264"/>
                <a:gd name="T71" fmla="*/ 20 h 298"/>
                <a:gd name="T72" fmla="*/ 152 w 264"/>
                <a:gd name="T73" fmla="*/ 47 h 298"/>
                <a:gd name="T74" fmla="*/ 118 w 264"/>
                <a:gd name="T75" fmla="*/ 111 h 298"/>
                <a:gd name="T76" fmla="*/ 99 w 264"/>
                <a:gd name="T77" fmla="*/ 17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298" fill="norm" stroke="1" extrusionOk="0">
                  <a:moveTo>
                    <a:pt x="150" y="0"/>
                  </a:moveTo>
                  <a:lnTo>
                    <a:pt x="135" y="51"/>
                  </a:lnTo>
                  <a:cubicBezTo>
                    <a:pt x="151" y="33"/>
                    <a:pt x="165" y="19"/>
                    <a:pt x="178" y="12"/>
                  </a:cubicBezTo>
                  <a:cubicBezTo>
                    <a:pt x="191" y="4"/>
                    <a:pt x="204" y="0"/>
                    <a:pt x="217" y="0"/>
                  </a:cubicBezTo>
                  <a:cubicBezTo>
                    <a:pt x="230" y="0"/>
                    <a:pt x="241" y="6"/>
                    <a:pt x="250" y="16"/>
                  </a:cubicBezTo>
                  <a:cubicBezTo>
                    <a:pt x="260" y="27"/>
                    <a:pt x="264" y="40"/>
                    <a:pt x="264" y="57"/>
                  </a:cubicBezTo>
                  <a:cubicBezTo>
                    <a:pt x="264" y="89"/>
                    <a:pt x="251" y="122"/>
                    <a:pt x="225" y="156"/>
                  </a:cubicBezTo>
                  <a:cubicBezTo>
                    <a:pt x="198" y="189"/>
                    <a:pt x="167" y="206"/>
                    <a:pt x="132" y="206"/>
                  </a:cubicBezTo>
                  <a:cubicBezTo>
                    <a:pt x="125" y="206"/>
                    <a:pt x="118" y="205"/>
                    <a:pt x="113" y="204"/>
                  </a:cubicBezTo>
                  <a:cubicBezTo>
                    <a:pt x="107" y="202"/>
                    <a:pt x="101" y="199"/>
                    <a:pt x="94" y="195"/>
                  </a:cubicBezTo>
                  <a:lnTo>
                    <a:pt x="77" y="252"/>
                  </a:lnTo>
                  <a:cubicBezTo>
                    <a:pt x="74" y="263"/>
                    <a:pt x="73" y="271"/>
                    <a:pt x="73" y="274"/>
                  </a:cubicBezTo>
                  <a:cubicBezTo>
                    <a:pt x="73" y="277"/>
                    <a:pt x="73" y="280"/>
                    <a:pt x="75" y="282"/>
                  </a:cubicBezTo>
                  <a:cubicBezTo>
                    <a:pt x="77" y="285"/>
                    <a:pt x="80" y="286"/>
                    <a:pt x="83" y="288"/>
                  </a:cubicBezTo>
                  <a:cubicBezTo>
                    <a:pt x="87" y="289"/>
                    <a:pt x="95" y="290"/>
                    <a:pt x="106" y="290"/>
                  </a:cubicBezTo>
                  <a:lnTo>
                    <a:pt x="104" y="298"/>
                  </a:lnTo>
                  <a:lnTo>
                    <a:pt x="0" y="298"/>
                  </a:lnTo>
                  <a:lnTo>
                    <a:pt x="2" y="290"/>
                  </a:lnTo>
                  <a:cubicBezTo>
                    <a:pt x="16" y="289"/>
                    <a:pt x="25" y="287"/>
                    <a:pt x="30" y="283"/>
                  </a:cubicBezTo>
                  <a:cubicBezTo>
                    <a:pt x="35" y="278"/>
                    <a:pt x="40" y="267"/>
                    <a:pt x="45" y="248"/>
                  </a:cubicBezTo>
                  <a:lnTo>
                    <a:pt x="101" y="54"/>
                  </a:lnTo>
                  <a:cubicBezTo>
                    <a:pt x="105" y="42"/>
                    <a:pt x="106" y="34"/>
                    <a:pt x="106" y="31"/>
                  </a:cubicBezTo>
                  <a:cubicBezTo>
                    <a:pt x="106" y="28"/>
                    <a:pt x="105" y="24"/>
                    <a:pt x="103" y="22"/>
                  </a:cubicBezTo>
                  <a:cubicBezTo>
                    <a:pt x="100" y="20"/>
                    <a:pt x="97" y="19"/>
                    <a:pt x="92" y="19"/>
                  </a:cubicBezTo>
                  <a:cubicBezTo>
                    <a:pt x="88" y="19"/>
                    <a:pt x="82" y="19"/>
                    <a:pt x="74" y="20"/>
                  </a:cubicBezTo>
                  <a:lnTo>
                    <a:pt x="74" y="12"/>
                  </a:lnTo>
                  <a:lnTo>
                    <a:pt x="150" y="0"/>
                  </a:lnTo>
                  <a:close/>
                  <a:moveTo>
                    <a:pt x="99" y="178"/>
                  </a:moveTo>
                  <a:cubicBezTo>
                    <a:pt x="108" y="189"/>
                    <a:pt x="120" y="194"/>
                    <a:pt x="136" y="194"/>
                  </a:cubicBezTo>
                  <a:cubicBezTo>
                    <a:pt x="143" y="194"/>
                    <a:pt x="151" y="192"/>
                    <a:pt x="159" y="188"/>
                  </a:cubicBezTo>
                  <a:cubicBezTo>
                    <a:pt x="167" y="183"/>
                    <a:pt x="175" y="177"/>
                    <a:pt x="182" y="169"/>
                  </a:cubicBezTo>
                  <a:cubicBezTo>
                    <a:pt x="190" y="160"/>
                    <a:pt x="197" y="150"/>
                    <a:pt x="203" y="140"/>
                  </a:cubicBezTo>
                  <a:cubicBezTo>
                    <a:pt x="209" y="128"/>
                    <a:pt x="214" y="115"/>
                    <a:pt x="219" y="101"/>
                  </a:cubicBezTo>
                  <a:cubicBezTo>
                    <a:pt x="224" y="86"/>
                    <a:pt x="226" y="71"/>
                    <a:pt x="226" y="56"/>
                  </a:cubicBezTo>
                  <a:cubicBezTo>
                    <a:pt x="226" y="44"/>
                    <a:pt x="224" y="35"/>
                    <a:pt x="218" y="29"/>
                  </a:cubicBezTo>
                  <a:cubicBezTo>
                    <a:pt x="213" y="23"/>
                    <a:pt x="207" y="20"/>
                    <a:pt x="199" y="20"/>
                  </a:cubicBezTo>
                  <a:cubicBezTo>
                    <a:pt x="184" y="20"/>
                    <a:pt x="168" y="29"/>
                    <a:pt x="152" y="47"/>
                  </a:cubicBezTo>
                  <a:cubicBezTo>
                    <a:pt x="137" y="66"/>
                    <a:pt x="125" y="87"/>
                    <a:pt x="118" y="111"/>
                  </a:cubicBezTo>
                  <a:lnTo>
                    <a:pt x="99" y="1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2049762171" name="Freeform 25"/>
            <p:cNvSpPr>
              <a:spLocks noEditPoints="1"/>
            </p:cNvSpPr>
            <p:nvPr/>
          </p:nvSpPr>
          <p:spPr bwMode="auto">
            <a:xfrm>
              <a:off x="4782506" y="2506734"/>
              <a:ext cx="33" cy="37"/>
            </a:xfrm>
            <a:custGeom>
              <a:avLst/>
              <a:gdLst>
                <a:gd name="T0" fmla="*/ 40 w 181"/>
                <a:gd name="T1" fmla="*/ 117 h 206"/>
                <a:gd name="T2" fmla="*/ 38 w 181"/>
                <a:gd name="T3" fmla="*/ 136 h 206"/>
                <a:gd name="T4" fmla="*/ 52 w 181"/>
                <a:gd name="T5" fmla="*/ 169 h 206"/>
                <a:gd name="T6" fmla="*/ 86 w 181"/>
                <a:gd name="T7" fmla="*/ 183 h 206"/>
                <a:gd name="T8" fmla="*/ 117 w 181"/>
                <a:gd name="T9" fmla="*/ 177 h 206"/>
                <a:gd name="T10" fmla="*/ 160 w 181"/>
                <a:gd name="T11" fmla="*/ 148 h 206"/>
                <a:gd name="T12" fmla="*/ 165 w 181"/>
                <a:gd name="T13" fmla="*/ 154 h 206"/>
                <a:gd name="T14" fmla="*/ 65 w 181"/>
                <a:gd name="T15" fmla="*/ 206 h 206"/>
                <a:gd name="T16" fmla="*/ 16 w 181"/>
                <a:gd name="T17" fmla="*/ 186 h 206"/>
                <a:gd name="T18" fmla="*/ 0 w 181"/>
                <a:gd name="T19" fmla="*/ 141 h 206"/>
                <a:gd name="T20" fmla="*/ 20 w 181"/>
                <a:gd name="T21" fmla="*/ 73 h 206"/>
                <a:gd name="T22" fmla="*/ 71 w 181"/>
                <a:gd name="T23" fmla="*/ 20 h 206"/>
                <a:gd name="T24" fmla="*/ 135 w 181"/>
                <a:gd name="T25" fmla="*/ 0 h 206"/>
                <a:gd name="T26" fmla="*/ 169 w 181"/>
                <a:gd name="T27" fmla="*/ 10 h 206"/>
                <a:gd name="T28" fmla="*/ 181 w 181"/>
                <a:gd name="T29" fmla="*/ 33 h 206"/>
                <a:gd name="T30" fmla="*/ 166 w 181"/>
                <a:gd name="T31" fmla="*/ 68 h 206"/>
                <a:gd name="T32" fmla="*/ 109 w 181"/>
                <a:gd name="T33" fmla="*/ 103 h 206"/>
                <a:gd name="T34" fmla="*/ 40 w 181"/>
                <a:gd name="T35" fmla="*/ 117 h 206"/>
                <a:gd name="T36" fmla="*/ 41 w 181"/>
                <a:gd name="T37" fmla="*/ 107 h 206"/>
                <a:gd name="T38" fmla="*/ 95 w 181"/>
                <a:gd name="T39" fmla="*/ 94 h 206"/>
                <a:gd name="T40" fmla="*/ 135 w 181"/>
                <a:gd name="T41" fmla="*/ 65 h 206"/>
                <a:gd name="T42" fmla="*/ 149 w 181"/>
                <a:gd name="T43" fmla="*/ 32 h 206"/>
                <a:gd name="T44" fmla="*/ 143 w 181"/>
                <a:gd name="T45" fmla="*/ 17 h 206"/>
                <a:gd name="T46" fmla="*/ 127 w 181"/>
                <a:gd name="T47" fmla="*/ 12 h 206"/>
                <a:gd name="T48" fmla="*/ 78 w 181"/>
                <a:gd name="T49" fmla="*/ 36 h 206"/>
                <a:gd name="T50" fmla="*/ 41 w 181"/>
                <a:gd name="T51" fmla="*/ 10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1" h="206" fill="norm" stroke="1" extrusionOk="0">
                  <a:moveTo>
                    <a:pt x="40" y="117"/>
                  </a:moveTo>
                  <a:cubicBezTo>
                    <a:pt x="39" y="125"/>
                    <a:pt x="38" y="131"/>
                    <a:pt x="38" y="136"/>
                  </a:cubicBezTo>
                  <a:cubicBezTo>
                    <a:pt x="38" y="149"/>
                    <a:pt x="43" y="160"/>
                    <a:pt x="52" y="169"/>
                  </a:cubicBezTo>
                  <a:cubicBezTo>
                    <a:pt x="61" y="179"/>
                    <a:pt x="73" y="183"/>
                    <a:pt x="86" y="183"/>
                  </a:cubicBezTo>
                  <a:cubicBezTo>
                    <a:pt x="97" y="183"/>
                    <a:pt x="107" y="181"/>
                    <a:pt x="117" y="177"/>
                  </a:cubicBezTo>
                  <a:cubicBezTo>
                    <a:pt x="126" y="172"/>
                    <a:pt x="141" y="163"/>
                    <a:pt x="160" y="148"/>
                  </a:cubicBezTo>
                  <a:lnTo>
                    <a:pt x="165" y="154"/>
                  </a:lnTo>
                  <a:cubicBezTo>
                    <a:pt x="130" y="189"/>
                    <a:pt x="97" y="206"/>
                    <a:pt x="65" y="206"/>
                  </a:cubicBezTo>
                  <a:cubicBezTo>
                    <a:pt x="43" y="206"/>
                    <a:pt x="27" y="199"/>
                    <a:pt x="16" y="186"/>
                  </a:cubicBezTo>
                  <a:cubicBezTo>
                    <a:pt x="5" y="172"/>
                    <a:pt x="0" y="157"/>
                    <a:pt x="0" y="141"/>
                  </a:cubicBezTo>
                  <a:cubicBezTo>
                    <a:pt x="0" y="119"/>
                    <a:pt x="7" y="96"/>
                    <a:pt x="20" y="73"/>
                  </a:cubicBezTo>
                  <a:cubicBezTo>
                    <a:pt x="34" y="50"/>
                    <a:pt x="51" y="32"/>
                    <a:pt x="71" y="20"/>
                  </a:cubicBezTo>
                  <a:cubicBezTo>
                    <a:pt x="92" y="7"/>
                    <a:pt x="113" y="0"/>
                    <a:pt x="135" y="0"/>
                  </a:cubicBezTo>
                  <a:cubicBezTo>
                    <a:pt x="150" y="0"/>
                    <a:pt x="162" y="4"/>
                    <a:pt x="169" y="10"/>
                  </a:cubicBezTo>
                  <a:cubicBezTo>
                    <a:pt x="177" y="16"/>
                    <a:pt x="181" y="24"/>
                    <a:pt x="181" y="33"/>
                  </a:cubicBezTo>
                  <a:cubicBezTo>
                    <a:pt x="181" y="45"/>
                    <a:pt x="176" y="57"/>
                    <a:pt x="166" y="68"/>
                  </a:cubicBezTo>
                  <a:cubicBezTo>
                    <a:pt x="153" y="82"/>
                    <a:pt x="134" y="94"/>
                    <a:pt x="109" y="103"/>
                  </a:cubicBezTo>
                  <a:cubicBezTo>
                    <a:pt x="93" y="109"/>
                    <a:pt x="70" y="114"/>
                    <a:pt x="40" y="117"/>
                  </a:cubicBezTo>
                  <a:close/>
                  <a:moveTo>
                    <a:pt x="41" y="107"/>
                  </a:moveTo>
                  <a:cubicBezTo>
                    <a:pt x="63" y="104"/>
                    <a:pt x="81" y="100"/>
                    <a:pt x="95" y="94"/>
                  </a:cubicBezTo>
                  <a:cubicBezTo>
                    <a:pt x="113" y="86"/>
                    <a:pt x="126" y="76"/>
                    <a:pt x="135" y="65"/>
                  </a:cubicBezTo>
                  <a:cubicBezTo>
                    <a:pt x="145" y="53"/>
                    <a:pt x="149" y="43"/>
                    <a:pt x="149" y="32"/>
                  </a:cubicBezTo>
                  <a:cubicBezTo>
                    <a:pt x="149" y="26"/>
                    <a:pt x="147" y="21"/>
                    <a:pt x="143" y="17"/>
                  </a:cubicBezTo>
                  <a:cubicBezTo>
                    <a:pt x="139" y="13"/>
                    <a:pt x="134" y="12"/>
                    <a:pt x="127" y="12"/>
                  </a:cubicBezTo>
                  <a:cubicBezTo>
                    <a:pt x="111" y="12"/>
                    <a:pt x="95" y="20"/>
                    <a:pt x="78" y="36"/>
                  </a:cubicBezTo>
                  <a:cubicBezTo>
                    <a:pt x="62" y="52"/>
                    <a:pt x="49" y="75"/>
                    <a:pt x="41" y="1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369943350" name="Freeform 26"/>
            <p:cNvSpPr/>
            <p:nvPr/>
          </p:nvSpPr>
          <p:spPr bwMode="auto">
            <a:xfrm>
              <a:off x="4782546" y="2506734"/>
              <a:ext cx="31" cy="36"/>
            </a:xfrm>
            <a:custGeom>
              <a:avLst/>
              <a:gdLst>
                <a:gd name="T0" fmla="*/ 15 w 174"/>
                <a:gd name="T1" fmla="*/ 13 h 201"/>
                <a:gd name="T2" fmla="*/ 91 w 174"/>
                <a:gd name="T3" fmla="*/ 0 h 201"/>
                <a:gd name="T4" fmla="*/ 59 w 174"/>
                <a:gd name="T5" fmla="*/ 108 h 201"/>
                <a:gd name="T6" fmla="*/ 130 w 174"/>
                <a:gd name="T7" fmla="*/ 16 h 201"/>
                <a:gd name="T8" fmla="*/ 159 w 174"/>
                <a:gd name="T9" fmla="*/ 0 h 201"/>
                <a:gd name="T10" fmla="*/ 170 w 174"/>
                <a:gd name="T11" fmla="*/ 5 h 201"/>
                <a:gd name="T12" fmla="*/ 174 w 174"/>
                <a:gd name="T13" fmla="*/ 17 h 201"/>
                <a:gd name="T14" fmla="*/ 167 w 174"/>
                <a:gd name="T15" fmla="*/ 45 h 201"/>
                <a:gd name="T16" fmla="*/ 152 w 174"/>
                <a:gd name="T17" fmla="*/ 55 h 201"/>
                <a:gd name="T18" fmla="*/ 143 w 174"/>
                <a:gd name="T19" fmla="*/ 52 h 201"/>
                <a:gd name="T20" fmla="*/ 138 w 174"/>
                <a:gd name="T21" fmla="*/ 42 h 201"/>
                <a:gd name="T22" fmla="*/ 136 w 174"/>
                <a:gd name="T23" fmla="*/ 36 h 201"/>
                <a:gd name="T24" fmla="*/ 132 w 174"/>
                <a:gd name="T25" fmla="*/ 34 h 201"/>
                <a:gd name="T26" fmla="*/ 125 w 174"/>
                <a:gd name="T27" fmla="*/ 36 h 201"/>
                <a:gd name="T28" fmla="*/ 108 w 174"/>
                <a:gd name="T29" fmla="*/ 53 h 201"/>
                <a:gd name="T30" fmla="*/ 68 w 174"/>
                <a:gd name="T31" fmla="*/ 110 h 201"/>
                <a:gd name="T32" fmla="*/ 52 w 174"/>
                <a:gd name="T33" fmla="*/ 143 h 201"/>
                <a:gd name="T34" fmla="*/ 41 w 174"/>
                <a:gd name="T35" fmla="*/ 173 h 201"/>
                <a:gd name="T36" fmla="*/ 34 w 174"/>
                <a:gd name="T37" fmla="*/ 201 h 201"/>
                <a:gd name="T38" fmla="*/ 0 w 174"/>
                <a:gd name="T39" fmla="*/ 201 h 201"/>
                <a:gd name="T40" fmla="*/ 41 w 174"/>
                <a:gd name="T41" fmla="*/ 63 h 201"/>
                <a:gd name="T42" fmla="*/ 48 w 174"/>
                <a:gd name="T43" fmla="*/ 29 h 201"/>
                <a:gd name="T44" fmla="*/ 45 w 174"/>
                <a:gd name="T45" fmla="*/ 23 h 201"/>
                <a:gd name="T46" fmla="*/ 33 w 174"/>
                <a:gd name="T47" fmla="*/ 19 h 201"/>
                <a:gd name="T48" fmla="*/ 16 w 174"/>
                <a:gd name="T49" fmla="*/ 21 h 201"/>
                <a:gd name="T50" fmla="*/ 15 w 174"/>
                <a:gd name="T51" fmla="*/ 1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4" h="201" fill="norm" stroke="1" extrusionOk="0">
                  <a:moveTo>
                    <a:pt x="15" y="13"/>
                  </a:moveTo>
                  <a:lnTo>
                    <a:pt x="91" y="0"/>
                  </a:lnTo>
                  <a:lnTo>
                    <a:pt x="59" y="108"/>
                  </a:lnTo>
                  <a:cubicBezTo>
                    <a:pt x="85" y="64"/>
                    <a:pt x="108" y="33"/>
                    <a:pt x="130" y="16"/>
                  </a:cubicBezTo>
                  <a:cubicBezTo>
                    <a:pt x="142" y="6"/>
                    <a:pt x="151" y="0"/>
                    <a:pt x="159" y="0"/>
                  </a:cubicBezTo>
                  <a:cubicBezTo>
                    <a:pt x="164" y="0"/>
                    <a:pt x="167" y="2"/>
                    <a:pt x="170" y="5"/>
                  </a:cubicBezTo>
                  <a:cubicBezTo>
                    <a:pt x="173" y="8"/>
                    <a:pt x="174" y="12"/>
                    <a:pt x="174" y="17"/>
                  </a:cubicBezTo>
                  <a:cubicBezTo>
                    <a:pt x="174" y="27"/>
                    <a:pt x="172" y="36"/>
                    <a:pt x="167" y="45"/>
                  </a:cubicBezTo>
                  <a:cubicBezTo>
                    <a:pt x="163" y="52"/>
                    <a:pt x="158" y="55"/>
                    <a:pt x="152" y="55"/>
                  </a:cubicBezTo>
                  <a:cubicBezTo>
                    <a:pt x="148" y="55"/>
                    <a:pt x="145" y="54"/>
                    <a:pt x="143" y="52"/>
                  </a:cubicBezTo>
                  <a:cubicBezTo>
                    <a:pt x="140" y="50"/>
                    <a:pt x="139" y="46"/>
                    <a:pt x="138" y="42"/>
                  </a:cubicBezTo>
                  <a:cubicBezTo>
                    <a:pt x="138" y="39"/>
                    <a:pt x="137" y="37"/>
                    <a:pt x="136" y="36"/>
                  </a:cubicBezTo>
                  <a:cubicBezTo>
                    <a:pt x="135" y="35"/>
                    <a:pt x="134" y="34"/>
                    <a:pt x="132" y="34"/>
                  </a:cubicBezTo>
                  <a:cubicBezTo>
                    <a:pt x="130" y="34"/>
                    <a:pt x="127" y="35"/>
                    <a:pt x="125" y="36"/>
                  </a:cubicBezTo>
                  <a:cubicBezTo>
                    <a:pt x="121" y="38"/>
                    <a:pt x="115" y="44"/>
                    <a:pt x="108" y="53"/>
                  </a:cubicBezTo>
                  <a:cubicBezTo>
                    <a:pt x="95" y="68"/>
                    <a:pt x="82" y="87"/>
                    <a:pt x="68" y="110"/>
                  </a:cubicBezTo>
                  <a:cubicBezTo>
                    <a:pt x="62" y="119"/>
                    <a:pt x="56" y="130"/>
                    <a:pt x="52" y="143"/>
                  </a:cubicBezTo>
                  <a:cubicBezTo>
                    <a:pt x="46" y="159"/>
                    <a:pt x="42" y="170"/>
                    <a:pt x="41" y="173"/>
                  </a:cubicBezTo>
                  <a:lnTo>
                    <a:pt x="34" y="201"/>
                  </a:lnTo>
                  <a:lnTo>
                    <a:pt x="0" y="201"/>
                  </a:lnTo>
                  <a:lnTo>
                    <a:pt x="41" y="63"/>
                  </a:lnTo>
                  <a:cubicBezTo>
                    <a:pt x="46" y="47"/>
                    <a:pt x="48" y="36"/>
                    <a:pt x="48" y="29"/>
                  </a:cubicBezTo>
                  <a:cubicBezTo>
                    <a:pt x="48" y="27"/>
                    <a:pt x="47" y="24"/>
                    <a:pt x="45" y="23"/>
                  </a:cubicBezTo>
                  <a:cubicBezTo>
                    <a:pt x="42" y="20"/>
                    <a:pt x="38" y="19"/>
                    <a:pt x="33" y="19"/>
                  </a:cubicBezTo>
                  <a:cubicBezTo>
                    <a:pt x="30" y="19"/>
                    <a:pt x="24" y="20"/>
                    <a:pt x="16" y="21"/>
                  </a:cubicBezTo>
                  <a:lnTo>
                    <a:pt x="15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676213248" name="Freeform 27"/>
            <p:cNvSpPr>
              <a:spLocks noEditPoints="1"/>
            </p:cNvSpPr>
            <p:nvPr/>
          </p:nvSpPr>
          <p:spPr bwMode="auto">
            <a:xfrm>
              <a:off x="4782578" y="2506734"/>
              <a:ext cx="36" cy="37"/>
            </a:xfrm>
            <a:custGeom>
              <a:avLst/>
              <a:gdLst>
                <a:gd name="T0" fmla="*/ 202 w 202"/>
                <a:gd name="T1" fmla="*/ 0 h 206"/>
                <a:gd name="T2" fmla="*/ 159 w 202"/>
                <a:gd name="T3" fmla="*/ 151 h 206"/>
                <a:gd name="T4" fmla="*/ 154 w 202"/>
                <a:gd name="T5" fmla="*/ 171 h 206"/>
                <a:gd name="T6" fmla="*/ 153 w 202"/>
                <a:gd name="T7" fmla="*/ 176 h 206"/>
                <a:gd name="T8" fmla="*/ 156 w 202"/>
                <a:gd name="T9" fmla="*/ 182 h 206"/>
                <a:gd name="T10" fmla="*/ 160 w 202"/>
                <a:gd name="T11" fmla="*/ 184 h 206"/>
                <a:gd name="T12" fmla="*/ 168 w 202"/>
                <a:gd name="T13" fmla="*/ 180 h 206"/>
                <a:gd name="T14" fmla="*/ 191 w 202"/>
                <a:gd name="T15" fmla="*/ 154 h 206"/>
                <a:gd name="T16" fmla="*/ 198 w 202"/>
                <a:gd name="T17" fmla="*/ 159 h 206"/>
                <a:gd name="T18" fmla="*/ 167 w 202"/>
                <a:gd name="T19" fmla="*/ 194 h 206"/>
                <a:gd name="T20" fmla="*/ 137 w 202"/>
                <a:gd name="T21" fmla="*/ 206 h 206"/>
                <a:gd name="T22" fmla="*/ 122 w 202"/>
                <a:gd name="T23" fmla="*/ 201 h 206"/>
                <a:gd name="T24" fmla="*/ 118 w 202"/>
                <a:gd name="T25" fmla="*/ 188 h 206"/>
                <a:gd name="T26" fmla="*/ 123 w 202"/>
                <a:gd name="T27" fmla="*/ 159 h 206"/>
                <a:gd name="T28" fmla="*/ 127 w 202"/>
                <a:gd name="T29" fmla="*/ 142 h 206"/>
                <a:gd name="T30" fmla="*/ 74 w 202"/>
                <a:gd name="T31" fmla="*/ 195 h 206"/>
                <a:gd name="T32" fmla="*/ 40 w 202"/>
                <a:gd name="T33" fmla="*/ 206 h 206"/>
                <a:gd name="T34" fmla="*/ 12 w 202"/>
                <a:gd name="T35" fmla="*/ 193 h 206"/>
                <a:gd name="T36" fmla="*/ 0 w 202"/>
                <a:gd name="T37" fmla="*/ 156 h 206"/>
                <a:gd name="T38" fmla="*/ 21 w 202"/>
                <a:gd name="T39" fmla="*/ 82 h 206"/>
                <a:gd name="T40" fmla="*/ 75 w 202"/>
                <a:gd name="T41" fmla="*/ 19 h 206"/>
                <a:gd name="T42" fmla="*/ 123 w 202"/>
                <a:gd name="T43" fmla="*/ 0 h 206"/>
                <a:gd name="T44" fmla="*/ 145 w 202"/>
                <a:gd name="T45" fmla="*/ 8 h 206"/>
                <a:gd name="T46" fmla="*/ 159 w 202"/>
                <a:gd name="T47" fmla="*/ 31 h 206"/>
                <a:gd name="T48" fmla="*/ 167 w 202"/>
                <a:gd name="T49" fmla="*/ 6 h 206"/>
                <a:gd name="T50" fmla="*/ 202 w 202"/>
                <a:gd name="T51" fmla="*/ 0 h 206"/>
                <a:gd name="T52" fmla="*/ 123 w 202"/>
                <a:gd name="T53" fmla="*/ 12 h 206"/>
                <a:gd name="T54" fmla="*/ 93 w 202"/>
                <a:gd name="T55" fmla="*/ 25 h 206"/>
                <a:gd name="T56" fmla="*/ 53 w 202"/>
                <a:gd name="T57" fmla="*/ 81 h 206"/>
                <a:gd name="T58" fmla="*/ 35 w 202"/>
                <a:gd name="T59" fmla="*/ 148 h 206"/>
                <a:gd name="T60" fmla="*/ 43 w 202"/>
                <a:gd name="T61" fmla="*/ 172 h 206"/>
                <a:gd name="T62" fmla="*/ 60 w 202"/>
                <a:gd name="T63" fmla="*/ 180 h 206"/>
                <a:gd name="T64" fmla="*/ 113 w 202"/>
                <a:gd name="T65" fmla="*/ 145 h 206"/>
                <a:gd name="T66" fmla="*/ 151 w 202"/>
                <a:gd name="T67" fmla="*/ 48 h 206"/>
                <a:gd name="T68" fmla="*/ 143 w 202"/>
                <a:gd name="T69" fmla="*/ 20 h 206"/>
                <a:gd name="T70" fmla="*/ 123 w 202"/>
                <a:gd name="T71" fmla="*/ 12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2" h="206" fill="norm" stroke="1" extrusionOk="0">
                  <a:moveTo>
                    <a:pt x="202" y="0"/>
                  </a:moveTo>
                  <a:lnTo>
                    <a:pt x="159" y="151"/>
                  </a:lnTo>
                  <a:lnTo>
                    <a:pt x="154" y="171"/>
                  </a:lnTo>
                  <a:cubicBezTo>
                    <a:pt x="154" y="173"/>
                    <a:pt x="153" y="174"/>
                    <a:pt x="153" y="176"/>
                  </a:cubicBezTo>
                  <a:cubicBezTo>
                    <a:pt x="153" y="178"/>
                    <a:pt x="154" y="180"/>
                    <a:pt x="156" y="182"/>
                  </a:cubicBezTo>
                  <a:cubicBezTo>
                    <a:pt x="157" y="183"/>
                    <a:pt x="158" y="184"/>
                    <a:pt x="160" y="184"/>
                  </a:cubicBezTo>
                  <a:cubicBezTo>
                    <a:pt x="162" y="184"/>
                    <a:pt x="165" y="183"/>
                    <a:pt x="168" y="180"/>
                  </a:cubicBezTo>
                  <a:cubicBezTo>
                    <a:pt x="173" y="176"/>
                    <a:pt x="181" y="167"/>
                    <a:pt x="191" y="154"/>
                  </a:cubicBezTo>
                  <a:lnTo>
                    <a:pt x="198" y="159"/>
                  </a:lnTo>
                  <a:cubicBezTo>
                    <a:pt x="188" y="174"/>
                    <a:pt x="178" y="186"/>
                    <a:pt x="167" y="194"/>
                  </a:cubicBezTo>
                  <a:cubicBezTo>
                    <a:pt x="156" y="202"/>
                    <a:pt x="146" y="206"/>
                    <a:pt x="137" y="206"/>
                  </a:cubicBezTo>
                  <a:cubicBezTo>
                    <a:pt x="131" y="206"/>
                    <a:pt x="126" y="205"/>
                    <a:pt x="122" y="201"/>
                  </a:cubicBezTo>
                  <a:cubicBezTo>
                    <a:pt x="119" y="198"/>
                    <a:pt x="118" y="194"/>
                    <a:pt x="118" y="188"/>
                  </a:cubicBezTo>
                  <a:cubicBezTo>
                    <a:pt x="118" y="180"/>
                    <a:pt x="119" y="171"/>
                    <a:pt x="123" y="159"/>
                  </a:cubicBezTo>
                  <a:lnTo>
                    <a:pt x="127" y="142"/>
                  </a:lnTo>
                  <a:cubicBezTo>
                    <a:pt x="108" y="168"/>
                    <a:pt x="90" y="185"/>
                    <a:pt x="74" y="195"/>
                  </a:cubicBezTo>
                  <a:cubicBezTo>
                    <a:pt x="62" y="203"/>
                    <a:pt x="51" y="206"/>
                    <a:pt x="40" y="206"/>
                  </a:cubicBezTo>
                  <a:cubicBezTo>
                    <a:pt x="29" y="206"/>
                    <a:pt x="20" y="202"/>
                    <a:pt x="12" y="193"/>
                  </a:cubicBezTo>
                  <a:cubicBezTo>
                    <a:pt x="4" y="184"/>
                    <a:pt x="0" y="172"/>
                    <a:pt x="0" y="156"/>
                  </a:cubicBezTo>
                  <a:cubicBezTo>
                    <a:pt x="0" y="132"/>
                    <a:pt x="7" y="108"/>
                    <a:pt x="21" y="82"/>
                  </a:cubicBezTo>
                  <a:cubicBezTo>
                    <a:pt x="35" y="56"/>
                    <a:pt x="53" y="35"/>
                    <a:pt x="75" y="19"/>
                  </a:cubicBezTo>
                  <a:cubicBezTo>
                    <a:pt x="92" y="7"/>
                    <a:pt x="108" y="0"/>
                    <a:pt x="123" y="0"/>
                  </a:cubicBezTo>
                  <a:cubicBezTo>
                    <a:pt x="132" y="0"/>
                    <a:pt x="139" y="3"/>
                    <a:pt x="145" y="8"/>
                  </a:cubicBezTo>
                  <a:cubicBezTo>
                    <a:pt x="151" y="12"/>
                    <a:pt x="156" y="20"/>
                    <a:pt x="159" y="31"/>
                  </a:cubicBezTo>
                  <a:lnTo>
                    <a:pt x="167" y="6"/>
                  </a:lnTo>
                  <a:lnTo>
                    <a:pt x="202" y="0"/>
                  </a:lnTo>
                  <a:close/>
                  <a:moveTo>
                    <a:pt x="123" y="12"/>
                  </a:moveTo>
                  <a:cubicBezTo>
                    <a:pt x="114" y="12"/>
                    <a:pt x="104" y="16"/>
                    <a:pt x="93" y="25"/>
                  </a:cubicBezTo>
                  <a:cubicBezTo>
                    <a:pt x="78" y="38"/>
                    <a:pt x="65" y="56"/>
                    <a:pt x="53" y="81"/>
                  </a:cubicBezTo>
                  <a:cubicBezTo>
                    <a:pt x="41" y="106"/>
                    <a:pt x="35" y="128"/>
                    <a:pt x="35" y="148"/>
                  </a:cubicBezTo>
                  <a:cubicBezTo>
                    <a:pt x="35" y="158"/>
                    <a:pt x="38" y="166"/>
                    <a:pt x="43" y="172"/>
                  </a:cubicBezTo>
                  <a:cubicBezTo>
                    <a:pt x="48" y="178"/>
                    <a:pt x="54" y="180"/>
                    <a:pt x="60" y="180"/>
                  </a:cubicBezTo>
                  <a:cubicBezTo>
                    <a:pt x="76" y="180"/>
                    <a:pt x="94" y="169"/>
                    <a:pt x="113" y="145"/>
                  </a:cubicBezTo>
                  <a:cubicBezTo>
                    <a:pt x="138" y="113"/>
                    <a:pt x="151" y="81"/>
                    <a:pt x="151" y="48"/>
                  </a:cubicBezTo>
                  <a:cubicBezTo>
                    <a:pt x="151" y="35"/>
                    <a:pt x="148" y="26"/>
                    <a:pt x="143" y="20"/>
                  </a:cubicBezTo>
                  <a:cubicBezTo>
                    <a:pt x="138" y="15"/>
                    <a:pt x="132" y="12"/>
                    <a:pt x="123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897844411" name="Freeform 28"/>
            <p:cNvSpPr/>
            <p:nvPr/>
          </p:nvSpPr>
          <p:spPr bwMode="auto">
            <a:xfrm>
              <a:off x="4782623" y="2506723"/>
              <a:ext cx="20" cy="47"/>
            </a:xfrm>
            <a:custGeom>
              <a:avLst/>
              <a:gdLst>
                <a:gd name="T0" fmla="*/ 99 w 116"/>
                <a:gd name="T1" fmla="*/ 0 h 260"/>
                <a:gd name="T2" fmla="*/ 82 w 116"/>
                <a:gd name="T3" fmla="*/ 60 h 260"/>
                <a:gd name="T4" fmla="*/ 116 w 116"/>
                <a:gd name="T5" fmla="*/ 60 h 260"/>
                <a:gd name="T6" fmla="*/ 113 w 116"/>
                <a:gd name="T7" fmla="*/ 74 h 260"/>
                <a:gd name="T8" fmla="*/ 78 w 116"/>
                <a:gd name="T9" fmla="*/ 74 h 260"/>
                <a:gd name="T10" fmla="*/ 40 w 116"/>
                <a:gd name="T11" fmla="*/ 204 h 260"/>
                <a:gd name="T12" fmla="*/ 34 w 116"/>
                <a:gd name="T13" fmla="*/ 232 h 260"/>
                <a:gd name="T14" fmla="*/ 36 w 116"/>
                <a:gd name="T15" fmla="*/ 237 h 260"/>
                <a:gd name="T16" fmla="*/ 40 w 116"/>
                <a:gd name="T17" fmla="*/ 239 h 260"/>
                <a:gd name="T18" fmla="*/ 54 w 116"/>
                <a:gd name="T19" fmla="*/ 232 h 260"/>
                <a:gd name="T20" fmla="*/ 78 w 116"/>
                <a:gd name="T21" fmla="*/ 204 h 260"/>
                <a:gd name="T22" fmla="*/ 85 w 116"/>
                <a:gd name="T23" fmla="*/ 210 h 260"/>
                <a:gd name="T24" fmla="*/ 47 w 116"/>
                <a:gd name="T25" fmla="*/ 252 h 260"/>
                <a:gd name="T26" fmla="*/ 22 w 116"/>
                <a:gd name="T27" fmla="*/ 260 h 260"/>
                <a:gd name="T28" fmla="*/ 6 w 116"/>
                <a:gd name="T29" fmla="*/ 254 h 260"/>
                <a:gd name="T30" fmla="*/ 0 w 116"/>
                <a:gd name="T31" fmla="*/ 238 h 260"/>
                <a:gd name="T32" fmla="*/ 7 w 116"/>
                <a:gd name="T33" fmla="*/ 202 h 260"/>
                <a:gd name="T34" fmla="*/ 44 w 116"/>
                <a:gd name="T35" fmla="*/ 74 h 260"/>
                <a:gd name="T36" fmla="*/ 10 w 116"/>
                <a:gd name="T37" fmla="*/ 74 h 260"/>
                <a:gd name="T38" fmla="*/ 13 w 116"/>
                <a:gd name="T39" fmla="*/ 65 h 260"/>
                <a:gd name="T40" fmla="*/ 53 w 116"/>
                <a:gd name="T41" fmla="*/ 45 h 260"/>
                <a:gd name="T42" fmla="*/ 89 w 116"/>
                <a:gd name="T43" fmla="*/ 0 h 260"/>
                <a:gd name="T44" fmla="*/ 99 w 116"/>
                <a:gd name="T4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6" h="260" fill="norm" stroke="1" extrusionOk="0">
                  <a:moveTo>
                    <a:pt x="99" y="0"/>
                  </a:moveTo>
                  <a:lnTo>
                    <a:pt x="82" y="60"/>
                  </a:lnTo>
                  <a:lnTo>
                    <a:pt x="116" y="60"/>
                  </a:lnTo>
                  <a:lnTo>
                    <a:pt x="113" y="74"/>
                  </a:lnTo>
                  <a:lnTo>
                    <a:pt x="78" y="74"/>
                  </a:lnTo>
                  <a:lnTo>
                    <a:pt x="40" y="204"/>
                  </a:lnTo>
                  <a:cubicBezTo>
                    <a:pt x="36" y="218"/>
                    <a:pt x="34" y="227"/>
                    <a:pt x="34" y="232"/>
                  </a:cubicBezTo>
                  <a:cubicBezTo>
                    <a:pt x="34" y="234"/>
                    <a:pt x="34" y="236"/>
                    <a:pt x="36" y="237"/>
                  </a:cubicBezTo>
                  <a:cubicBezTo>
                    <a:pt x="37" y="239"/>
                    <a:pt x="38" y="239"/>
                    <a:pt x="40" y="239"/>
                  </a:cubicBezTo>
                  <a:cubicBezTo>
                    <a:pt x="43" y="239"/>
                    <a:pt x="48" y="237"/>
                    <a:pt x="54" y="232"/>
                  </a:cubicBezTo>
                  <a:cubicBezTo>
                    <a:pt x="58" y="229"/>
                    <a:pt x="66" y="220"/>
                    <a:pt x="78" y="204"/>
                  </a:cubicBezTo>
                  <a:lnTo>
                    <a:pt x="85" y="210"/>
                  </a:lnTo>
                  <a:cubicBezTo>
                    <a:pt x="72" y="230"/>
                    <a:pt x="59" y="244"/>
                    <a:pt x="47" y="252"/>
                  </a:cubicBezTo>
                  <a:cubicBezTo>
                    <a:pt x="39" y="257"/>
                    <a:pt x="30" y="260"/>
                    <a:pt x="22" y="260"/>
                  </a:cubicBezTo>
                  <a:cubicBezTo>
                    <a:pt x="15" y="260"/>
                    <a:pt x="10" y="258"/>
                    <a:pt x="6" y="254"/>
                  </a:cubicBezTo>
                  <a:cubicBezTo>
                    <a:pt x="2" y="250"/>
                    <a:pt x="0" y="245"/>
                    <a:pt x="0" y="238"/>
                  </a:cubicBezTo>
                  <a:cubicBezTo>
                    <a:pt x="0" y="230"/>
                    <a:pt x="2" y="218"/>
                    <a:pt x="7" y="202"/>
                  </a:cubicBezTo>
                  <a:lnTo>
                    <a:pt x="44" y="74"/>
                  </a:lnTo>
                  <a:lnTo>
                    <a:pt x="10" y="74"/>
                  </a:lnTo>
                  <a:lnTo>
                    <a:pt x="13" y="65"/>
                  </a:lnTo>
                  <a:cubicBezTo>
                    <a:pt x="29" y="61"/>
                    <a:pt x="42" y="54"/>
                    <a:pt x="53" y="45"/>
                  </a:cubicBezTo>
                  <a:cubicBezTo>
                    <a:pt x="64" y="37"/>
                    <a:pt x="76" y="21"/>
                    <a:pt x="89" y="0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091871699" name="Freeform 29"/>
            <p:cNvSpPr/>
            <p:nvPr/>
          </p:nvSpPr>
          <p:spPr bwMode="auto">
            <a:xfrm>
              <a:off x="4782645" y="2506734"/>
              <a:ext cx="37" cy="37"/>
            </a:xfrm>
            <a:custGeom>
              <a:avLst/>
              <a:gdLst>
                <a:gd name="T0" fmla="*/ 201 w 201"/>
                <a:gd name="T1" fmla="*/ 6 h 206"/>
                <a:gd name="T2" fmla="*/ 162 w 201"/>
                <a:gd name="T3" fmla="*/ 138 h 206"/>
                <a:gd name="T4" fmla="*/ 153 w 201"/>
                <a:gd name="T5" fmla="*/ 175 h 206"/>
                <a:gd name="T6" fmla="*/ 155 w 201"/>
                <a:gd name="T7" fmla="*/ 181 h 206"/>
                <a:gd name="T8" fmla="*/ 159 w 201"/>
                <a:gd name="T9" fmla="*/ 183 h 206"/>
                <a:gd name="T10" fmla="*/ 167 w 201"/>
                <a:gd name="T11" fmla="*/ 179 h 206"/>
                <a:gd name="T12" fmla="*/ 190 w 201"/>
                <a:gd name="T13" fmla="*/ 152 h 206"/>
                <a:gd name="T14" fmla="*/ 197 w 201"/>
                <a:gd name="T15" fmla="*/ 157 h 206"/>
                <a:gd name="T16" fmla="*/ 161 w 201"/>
                <a:gd name="T17" fmla="*/ 198 h 206"/>
                <a:gd name="T18" fmla="*/ 137 w 201"/>
                <a:gd name="T19" fmla="*/ 206 h 206"/>
                <a:gd name="T20" fmla="*/ 124 w 201"/>
                <a:gd name="T21" fmla="*/ 201 h 206"/>
                <a:gd name="T22" fmla="*/ 119 w 201"/>
                <a:gd name="T23" fmla="*/ 189 h 206"/>
                <a:gd name="T24" fmla="*/ 122 w 201"/>
                <a:gd name="T25" fmla="*/ 169 h 206"/>
                <a:gd name="T26" fmla="*/ 142 w 201"/>
                <a:gd name="T27" fmla="*/ 97 h 206"/>
                <a:gd name="T28" fmla="*/ 79 w 201"/>
                <a:gd name="T29" fmla="*/ 183 h 206"/>
                <a:gd name="T30" fmla="*/ 32 w 201"/>
                <a:gd name="T31" fmla="*/ 206 h 206"/>
                <a:gd name="T32" fmla="*/ 15 w 201"/>
                <a:gd name="T33" fmla="*/ 199 h 206"/>
                <a:gd name="T34" fmla="*/ 7 w 201"/>
                <a:gd name="T35" fmla="*/ 181 h 206"/>
                <a:gd name="T36" fmla="*/ 17 w 201"/>
                <a:gd name="T37" fmla="*/ 130 h 206"/>
                <a:gd name="T38" fmla="*/ 36 w 201"/>
                <a:gd name="T39" fmla="*/ 62 h 206"/>
                <a:gd name="T40" fmla="*/ 44 w 201"/>
                <a:gd name="T41" fmla="*/ 31 h 206"/>
                <a:gd name="T42" fmla="*/ 42 w 201"/>
                <a:gd name="T43" fmla="*/ 27 h 206"/>
                <a:gd name="T44" fmla="*/ 38 w 201"/>
                <a:gd name="T45" fmla="*/ 25 h 206"/>
                <a:gd name="T46" fmla="*/ 28 w 201"/>
                <a:gd name="T47" fmla="*/ 28 h 206"/>
                <a:gd name="T48" fmla="*/ 7 w 201"/>
                <a:gd name="T49" fmla="*/ 53 h 206"/>
                <a:gd name="T50" fmla="*/ 0 w 201"/>
                <a:gd name="T51" fmla="*/ 48 h 206"/>
                <a:gd name="T52" fmla="*/ 36 w 201"/>
                <a:gd name="T53" fmla="*/ 10 h 206"/>
                <a:gd name="T54" fmla="*/ 62 w 201"/>
                <a:gd name="T55" fmla="*/ 0 h 206"/>
                <a:gd name="T56" fmla="*/ 75 w 201"/>
                <a:gd name="T57" fmla="*/ 6 h 206"/>
                <a:gd name="T58" fmla="*/ 80 w 201"/>
                <a:gd name="T59" fmla="*/ 19 h 206"/>
                <a:gd name="T60" fmla="*/ 71 w 201"/>
                <a:gd name="T61" fmla="*/ 62 h 206"/>
                <a:gd name="T62" fmla="*/ 51 w 201"/>
                <a:gd name="T63" fmla="*/ 133 h 206"/>
                <a:gd name="T64" fmla="*/ 42 w 201"/>
                <a:gd name="T65" fmla="*/ 170 h 206"/>
                <a:gd name="T66" fmla="*/ 45 w 201"/>
                <a:gd name="T67" fmla="*/ 177 h 206"/>
                <a:gd name="T68" fmla="*/ 52 w 201"/>
                <a:gd name="T69" fmla="*/ 180 h 206"/>
                <a:gd name="T70" fmla="*/ 71 w 201"/>
                <a:gd name="T71" fmla="*/ 172 h 206"/>
                <a:gd name="T72" fmla="*/ 102 w 201"/>
                <a:gd name="T73" fmla="*/ 140 h 206"/>
                <a:gd name="T74" fmla="*/ 135 w 201"/>
                <a:gd name="T75" fmla="*/ 93 h 206"/>
                <a:gd name="T76" fmla="*/ 162 w 201"/>
                <a:gd name="T77" fmla="*/ 23 h 206"/>
                <a:gd name="T78" fmla="*/ 167 w 201"/>
                <a:gd name="T79" fmla="*/ 6 h 206"/>
                <a:gd name="T80" fmla="*/ 201 w 201"/>
                <a:gd name="T81" fmla="*/ 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1" h="206" fill="norm" stroke="1" extrusionOk="0">
                  <a:moveTo>
                    <a:pt x="201" y="6"/>
                  </a:moveTo>
                  <a:lnTo>
                    <a:pt x="162" y="138"/>
                  </a:lnTo>
                  <a:cubicBezTo>
                    <a:pt x="156" y="157"/>
                    <a:pt x="153" y="170"/>
                    <a:pt x="153" y="175"/>
                  </a:cubicBezTo>
                  <a:cubicBezTo>
                    <a:pt x="153" y="178"/>
                    <a:pt x="154" y="180"/>
                    <a:pt x="155" y="181"/>
                  </a:cubicBezTo>
                  <a:cubicBezTo>
                    <a:pt x="156" y="182"/>
                    <a:pt x="157" y="183"/>
                    <a:pt x="159" y="183"/>
                  </a:cubicBezTo>
                  <a:cubicBezTo>
                    <a:pt x="161" y="183"/>
                    <a:pt x="164" y="182"/>
                    <a:pt x="167" y="179"/>
                  </a:cubicBezTo>
                  <a:cubicBezTo>
                    <a:pt x="170" y="177"/>
                    <a:pt x="178" y="168"/>
                    <a:pt x="190" y="152"/>
                  </a:cubicBezTo>
                  <a:lnTo>
                    <a:pt x="197" y="157"/>
                  </a:lnTo>
                  <a:cubicBezTo>
                    <a:pt x="185" y="175"/>
                    <a:pt x="173" y="189"/>
                    <a:pt x="161" y="198"/>
                  </a:cubicBezTo>
                  <a:cubicBezTo>
                    <a:pt x="153" y="203"/>
                    <a:pt x="145" y="206"/>
                    <a:pt x="137" y="206"/>
                  </a:cubicBezTo>
                  <a:cubicBezTo>
                    <a:pt x="131" y="206"/>
                    <a:pt x="127" y="205"/>
                    <a:pt x="124" y="201"/>
                  </a:cubicBezTo>
                  <a:cubicBezTo>
                    <a:pt x="120" y="198"/>
                    <a:pt x="119" y="194"/>
                    <a:pt x="119" y="189"/>
                  </a:cubicBezTo>
                  <a:cubicBezTo>
                    <a:pt x="119" y="184"/>
                    <a:pt x="120" y="177"/>
                    <a:pt x="122" y="169"/>
                  </a:cubicBezTo>
                  <a:cubicBezTo>
                    <a:pt x="124" y="158"/>
                    <a:pt x="131" y="134"/>
                    <a:pt x="142" y="97"/>
                  </a:cubicBezTo>
                  <a:cubicBezTo>
                    <a:pt x="117" y="139"/>
                    <a:pt x="96" y="167"/>
                    <a:pt x="79" y="183"/>
                  </a:cubicBezTo>
                  <a:cubicBezTo>
                    <a:pt x="62" y="198"/>
                    <a:pt x="46" y="206"/>
                    <a:pt x="32" y="206"/>
                  </a:cubicBezTo>
                  <a:cubicBezTo>
                    <a:pt x="25" y="206"/>
                    <a:pt x="19" y="204"/>
                    <a:pt x="15" y="199"/>
                  </a:cubicBezTo>
                  <a:cubicBezTo>
                    <a:pt x="10" y="194"/>
                    <a:pt x="7" y="188"/>
                    <a:pt x="7" y="181"/>
                  </a:cubicBezTo>
                  <a:cubicBezTo>
                    <a:pt x="7" y="170"/>
                    <a:pt x="11" y="153"/>
                    <a:pt x="17" y="130"/>
                  </a:cubicBezTo>
                  <a:lnTo>
                    <a:pt x="36" y="62"/>
                  </a:lnTo>
                  <a:cubicBezTo>
                    <a:pt x="41" y="45"/>
                    <a:pt x="44" y="35"/>
                    <a:pt x="44" y="31"/>
                  </a:cubicBezTo>
                  <a:cubicBezTo>
                    <a:pt x="44" y="29"/>
                    <a:pt x="43" y="28"/>
                    <a:pt x="42" y="27"/>
                  </a:cubicBezTo>
                  <a:cubicBezTo>
                    <a:pt x="40" y="26"/>
                    <a:pt x="39" y="25"/>
                    <a:pt x="38" y="25"/>
                  </a:cubicBezTo>
                  <a:cubicBezTo>
                    <a:pt x="34" y="25"/>
                    <a:pt x="31" y="26"/>
                    <a:pt x="28" y="28"/>
                  </a:cubicBezTo>
                  <a:cubicBezTo>
                    <a:pt x="25" y="30"/>
                    <a:pt x="18" y="39"/>
                    <a:pt x="7" y="53"/>
                  </a:cubicBezTo>
                  <a:lnTo>
                    <a:pt x="0" y="48"/>
                  </a:lnTo>
                  <a:cubicBezTo>
                    <a:pt x="11" y="31"/>
                    <a:pt x="23" y="18"/>
                    <a:pt x="36" y="10"/>
                  </a:cubicBezTo>
                  <a:cubicBezTo>
                    <a:pt x="45" y="4"/>
                    <a:pt x="54" y="0"/>
                    <a:pt x="62" y="0"/>
                  </a:cubicBezTo>
                  <a:cubicBezTo>
                    <a:pt x="67" y="0"/>
                    <a:pt x="72" y="2"/>
                    <a:pt x="75" y="6"/>
                  </a:cubicBezTo>
                  <a:cubicBezTo>
                    <a:pt x="79" y="9"/>
                    <a:pt x="80" y="14"/>
                    <a:pt x="80" y="19"/>
                  </a:cubicBezTo>
                  <a:cubicBezTo>
                    <a:pt x="80" y="27"/>
                    <a:pt x="77" y="41"/>
                    <a:pt x="71" y="62"/>
                  </a:cubicBezTo>
                  <a:lnTo>
                    <a:pt x="51" y="133"/>
                  </a:lnTo>
                  <a:cubicBezTo>
                    <a:pt x="45" y="153"/>
                    <a:pt x="42" y="165"/>
                    <a:pt x="42" y="170"/>
                  </a:cubicBezTo>
                  <a:cubicBezTo>
                    <a:pt x="42" y="173"/>
                    <a:pt x="43" y="175"/>
                    <a:pt x="45" y="177"/>
                  </a:cubicBezTo>
                  <a:cubicBezTo>
                    <a:pt x="47" y="179"/>
                    <a:pt x="49" y="180"/>
                    <a:pt x="52" y="180"/>
                  </a:cubicBezTo>
                  <a:cubicBezTo>
                    <a:pt x="57" y="180"/>
                    <a:pt x="63" y="177"/>
                    <a:pt x="71" y="172"/>
                  </a:cubicBezTo>
                  <a:cubicBezTo>
                    <a:pt x="79" y="167"/>
                    <a:pt x="89" y="157"/>
                    <a:pt x="102" y="140"/>
                  </a:cubicBezTo>
                  <a:cubicBezTo>
                    <a:pt x="116" y="123"/>
                    <a:pt x="126" y="107"/>
                    <a:pt x="135" y="93"/>
                  </a:cubicBezTo>
                  <a:cubicBezTo>
                    <a:pt x="143" y="78"/>
                    <a:pt x="152" y="55"/>
                    <a:pt x="162" y="23"/>
                  </a:cubicBezTo>
                  <a:lnTo>
                    <a:pt x="167" y="6"/>
                  </a:lnTo>
                  <a:lnTo>
                    <a:pt x="201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992791647" name="Freeform 30"/>
            <p:cNvSpPr/>
            <p:nvPr/>
          </p:nvSpPr>
          <p:spPr bwMode="auto">
            <a:xfrm>
              <a:off x="4782690" y="2506734"/>
              <a:ext cx="31" cy="36"/>
            </a:xfrm>
            <a:custGeom>
              <a:avLst/>
              <a:gdLst>
                <a:gd name="T0" fmla="*/ 14 w 174"/>
                <a:gd name="T1" fmla="*/ 13 h 201"/>
                <a:gd name="T2" fmla="*/ 91 w 174"/>
                <a:gd name="T3" fmla="*/ 0 h 201"/>
                <a:gd name="T4" fmla="*/ 59 w 174"/>
                <a:gd name="T5" fmla="*/ 108 h 201"/>
                <a:gd name="T6" fmla="*/ 129 w 174"/>
                <a:gd name="T7" fmla="*/ 16 h 201"/>
                <a:gd name="T8" fmla="*/ 159 w 174"/>
                <a:gd name="T9" fmla="*/ 0 h 201"/>
                <a:gd name="T10" fmla="*/ 170 w 174"/>
                <a:gd name="T11" fmla="*/ 5 h 201"/>
                <a:gd name="T12" fmla="*/ 174 w 174"/>
                <a:gd name="T13" fmla="*/ 17 h 201"/>
                <a:gd name="T14" fmla="*/ 167 w 174"/>
                <a:gd name="T15" fmla="*/ 45 h 201"/>
                <a:gd name="T16" fmla="*/ 152 w 174"/>
                <a:gd name="T17" fmla="*/ 55 h 201"/>
                <a:gd name="T18" fmla="*/ 143 w 174"/>
                <a:gd name="T19" fmla="*/ 52 h 201"/>
                <a:gd name="T20" fmla="*/ 138 w 174"/>
                <a:gd name="T21" fmla="*/ 42 h 201"/>
                <a:gd name="T22" fmla="*/ 136 w 174"/>
                <a:gd name="T23" fmla="*/ 36 h 201"/>
                <a:gd name="T24" fmla="*/ 132 w 174"/>
                <a:gd name="T25" fmla="*/ 34 h 201"/>
                <a:gd name="T26" fmla="*/ 125 w 174"/>
                <a:gd name="T27" fmla="*/ 36 h 201"/>
                <a:gd name="T28" fmla="*/ 107 w 174"/>
                <a:gd name="T29" fmla="*/ 53 h 201"/>
                <a:gd name="T30" fmla="*/ 68 w 174"/>
                <a:gd name="T31" fmla="*/ 110 h 201"/>
                <a:gd name="T32" fmla="*/ 52 w 174"/>
                <a:gd name="T33" fmla="*/ 143 h 201"/>
                <a:gd name="T34" fmla="*/ 41 w 174"/>
                <a:gd name="T35" fmla="*/ 173 h 201"/>
                <a:gd name="T36" fmla="*/ 34 w 174"/>
                <a:gd name="T37" fmla="*/ 201 h 201"/>
                <a:gd name="T38" fmla="*/ 0 w 174"/>
                <a:gd name="T39" fmla="*/ 201 h 201"/>
                <a:gd name="T40" fmla="*/ 41 w 174"/>
                <a:gd name="T41" fmla="*/ 63 h 201"/>
                <a:gd name="T42" fmla="*/ 48 w 174"/>
                <a:gd name="T43" fmla="*/ 29 h 201"/>
                <a:gd name="T44" fmla="*/ 45 w 174"/>
                <a:gd name="T45" fmla="*/ 23 h 201"/>
                <a:gd name="T46" fmla="*/ 33 w 174"/>
                <a:gd name="T47" fmla="*/ 19 h 201"/>
                <a:gd name="T48" fmla="*/ 16 w 174"/>
                <a:gd name="T49" fmla="*/ 21 h 201"/>
                <a:gd name="T50" fmla="*/ 14 w 174"/>
                <a:gd name="T51" fmla="*/ 1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4" h="201" fill="norm" stroke="1" extrusionOk="0">
                  <a:moveTo>
                    <a:pt x="14" y="13"/>
                  </a:moveTo>
                  <a:lnTo>
                    <a:pt x="91" y="0"/>
                  </a:lnTo>
                  <a:lnTo>
                    <a:pt x="59" y="108"/>
                  </a:lnTo>
                  <a:cubicBezTo>
                    <a:pt x="85" y="64"/>
                    <a:pt x="108" y="33"/>
                    <a:pt x="129" y="16"/>
                  </a:cubicBezTo>
                  <a:cubicBezTo>
                    <a:pt x="141" y="6"/>
                    <a:pt x="151" y="0"/>
                    <a:pt x="159" y="0"/>
                  </a:cubicBezTo>
                  <a:cubicBezTo>
                    <a:pt x="163" y="0"/>
                    <a:pt x="167" y="2"/>
                    <a:pt x="170" y="5"/>
                  </a:cubicBezTo>
                  <a:cubicBezTo>
                    <a:pt x="173" y="8"/>
                    <a:pt x="174" y="12"/>
                    <a:pt x="174" y="17"/>
                  </a:cubicBezTo>
                  <a:cubicBezTo>
                    <a:pt x="174" y="27"/>
                    <a:pt x="172" y="36"/>
                    <a:pt x="167" y="45"/>
                  </a:cubicBezTo>
                  <a:cubicBezTo>
                    <a:pt x="163" y="52"/>
                    <a:pt x="158" y="55"/>
                    <a:pt x="152" y="55"/>
                  </a:cubicBezTo>
                  <a:cubicBezTo>
                    <a:pt x="148" y="55"/>
                    <a:pt x="145" y="54"/>
                    <a:pt x="143" y="52"/>
                  </a:cubicBezTo>
                  <a:cubicBezTo>
                    <a:pt x="140" y="50"/>
                    <a:pt x="139" y="46"/>
                    <a:pt x="138" y="42"/>
                  </a:cubicBezTo>
                  <a:cubicBezTo>
                    <a:pt x="138" y="39"/>
                    <a:pt x="137" y="37"/>
                    <a:pt x="136" y="36"/>
                  </a:cubicBezTo>
                  <a:cubicBezTo>
                    <a:pt x="135" y="35"/>
                    <a:pt x="134" y="34"/>
                    <a:pt x="132" y="34"/>
                  </a:cubicBezTo>
                  <a:cubicBezTo>
                    <a:pt x="130" y="34"/>
                    <a:pt x="127" y="35"/>
                    <a:pt x="125" y="36"/>
                  </a:cubicBezTo>
                  <a:cubicBezTo>
                    <a:pt x="121" y="38"/>
                    <a:pt x="115" y="44"/>
                    <a:pt x="107" y="53"/>
                  </a:cubicBezTo>
                  <a:cubicBezTo>
                    <a:pt x="95" y="68"/>
                    <a:pt x="82" y="87"/>
                    <a:pt x="68" y="110"/>
                  </a:cubicBezTo>
                  <a:cubicBezTo>
                    <a:pt x="61" y="119"/>
                    <a:pt x="56" y="130"/>
                    <a:pt x="52" y="143"/>
                  </a:cubicBezTo>
                  <a:cubicBezTo>
                    <a:pt x="45" y="159"/>
                    <a:pt x="42" y="170"/>
                    <a:pt x="41" y="173"/>
                  </a:cubicBezTo>
                  <a:lnTo>
                    <a:pt x="34" y="201"/>
                  </a:lnTo>
                  <a:lnTo>
                    <a:pt x="0" y="201"/>
                  </a:lnTo>
                  <a:lnTo>
                    <a:pt x="41" y="63"/>
                  </a:lnTo>
                  <a:cubicBezTo>
                    <a:pt x="46" y="47"/>
                    <a:pt x="48" y="36"/>
                    <a:pt x="48" y="29"/>
                  </a:cubicBezTo>
                  <a:cubicBezTo>
                    <a:pt x="48" y="27"/>
                    <a:pt x="47" y="24"/>
                    <a:pt x="45" y="23"/>
                  </a:cubicBezTo>
                  <a:cubicBezTo>
                    <a:pt x="42" y="20"/>
                    <a:pt x="38" y="19"/>
                    <a:pt x="33" y="19"/>
                  </a:cubicBezTo>
                  <a:cubicBezTo>
                    <a:pt x="30" y="19"/>
                    <a:pt x="24" y="20"/>
                    <a:pt x="16" y="21"/>
                  </a:cubicBezTo>
                  <a:lnTo>
                    <a:pt x="14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336613717" name="Freeform 31"/>
            <p:cNvSpPr>
              <a:spLocks noEditPoints="1"/>
            </p:cNvSpPr>
            <p:nvPr/>
          </p:nvSpPr>
          <p:spPr bwMode="auto">
            <a:xfrm>
              <a:off x="4782719" y="2506734"/>
              <a:ext cx="33" cy="37"/>
            </a:xfrm>
            <a:custGeom>
              <a:avLst/>
              <a:gdLst>
                <a:gd name="T0" fmla="*/ 39 w 180"/>
                <a:gd name="T1" fmla="*/ 117 h 206"/>
                <a:gd name="T2" fmla="*/ 38 w 180"/>
                <a:gd name="T3" fmla="*/ 136 h 206"/>
                <a:gd name="T4" fmla="*/ 52 w 180"/>
                <a:gd name="T5" fmla="*/ 169 h 206"/>
                <a:gd name="T6" fmla="*/ 86 w 180"/>
                <a:gd name="T7" fmla="*/ 183 h 206"/>
                <a:gd name="T8" fmla="*/ 116 w 180"/>
                <a:gd name="T9" fmla="*/ 177 h 206"/>
                <a:gd name="T10" fmla="*/ 160 w 180"/>
                <a:gd name="T11" fmla="*/ 148 h 206"/>
                <a:gd name="T12" fmla="*/ 165 w 180"/>
                <a:gd name="T13" fmla="*/ 154 h 206"/>
                <a:gd name="T14" fmla="*/ 65 w 180"/>
                <a:gd name="T15" fmla="*/ 206 h 206"/>
                <a:gd name="T16" fmla="*/ 16 w 180"/>
                <a:gd name="T17" fmla="*/ 186 h 206"/>
                <a:gd name="T18" fmla="*/ 0 w 180"/>
                <a:gd name="T19" fmla="*/ 141 h 206"/>
                <a:gd name="T20" fmla="*/ 20 w 180"/>
                <a:gd name="T21" fmla="*/ 73 h 206"/>
                <a:gd name="T22" fmla="*/ 71 w 180"/>
                <a:gd name="T23" fmla="*/ 20 h 206"/>
                <a:gd name="T24" fmla="*/ 134 w 180"/>
                <a:gd name="T25" fmla="*/ 0 h 206"/>
                <a:gd name="T26" fmla="*/ 169 w 180"/>
                <a:gd name="T27" fmla="*/ 10 h 206"/>
                <a:gd name="T28" fmla="*/ 180 w 180"/>
                <a:gd name="T29" fmla="*/ 33 h 206"/>
                <a:gd name="T30" fmla="*/ 166 w 180"/>
                <a:gd name="T31" fmla="*/ 68 h 206"/>
                <a:gd name="T32" fmla="*/ 109 w 180"/>
                <a:gd name="T33" fmla="*/ 103 h 206"/>
                <a:gd name="T34" fmla="*/ 39 w 180"/>
                <a:gd name="T35" fmla="*/ 117 h 206"/>
                <a:gd name="T36" fmla="*/ 41 w 180"/>
                <a:gd name="T37" fmla="*/ 107 h 206"/>
                <a:gd name="T38" fmla="*/ 94 w 180"/>
                <a:gd name="T39" fmla="*/ 94 h 206"/>
                <a:gd name="T40" fmla="*/ 135 w 180"/>
                <a:gd name="T41" fmla="*/ 65 h 206"/>
                <a:gd name="T42" fmla="*/ 149 w 180"/>
                <a:gd name="T43" fmla="*/ 32 h 206"/>
                <a:gd name="T44" fmla="*/ 143 w 180"/>
                <a:gd name="T45" fmla="*/ 17 h 206"/>
                <a:gd name="T46" fmla="*/ 126 w 180"/>
                <a:gd name="T47" fmla="*/ 12 h 206"/>
                <a:gd name="T48" fmla="*/ 78 w 180"/>
                <a:gd name="T49" fmla="*/ 36 h 206"/>
                <a:gd name="T50" fmla="*/ 41 w 180"/>
                <a:gd name="T51" fmla="*/ 10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0" h="206" fill="norm" stroke="1" extrusionOk="0">
                  <a:moveTo>
                    <a:pt x="39" y="117"/>
                  </a:moveTo>
                  <a:cubicBezTo>
                    <a:pt x="38" y="125"/>
                    <a:pt x="38" y="131"/>
                    <a:pt x="38" y="136"/>
                  </a:cubicBezTo>
                  <a:cubicBezTo>
                    <a:pt x="38" y="149"/>
                    <a:pt x="43" y="160"/>
                    <a:pt x="52" y="169"/>
                  </a:cubicBezTo>
                  <a:cubicBezTo>
                    <a:pt x="61" y="179"/>
                    <a:pt x="72" y="183"/>
                    <a:pt x="86" y="183"/>
                  </a:cubicBezTo>
                  <a:cubicBezTo>
                    <a:pt x="96" y="183"/>
                    <a:pt x="107" y="181"/>
                    <a:pt x="116" y="177"/>
                  </a:cubicBezTo>
                  <a:cubicBezTo>
                    <a:pt x="126" y="172"/>
                    <a:pt x="141" y="163"/>
                    <a:pt x="160" y="148"/>
                  </a:cubicBezTo>
                  <a:lnTo>
                    <a:pt x="165" y="154"/>
                  </a:lnTo>
                  <a:cubicBezTo>
                    <a:pt x="130" y="189"/>
                    <a:pt x="96" y="206"/>
                    <a:pt x="65" y="206"/>
                  </a:cubicBezTo>
                  <a:cubicBezTo>
                    <a:pt x="43" y="206"/>
                    <a:pt x="27" y="199"/>
                    <a:pt x="16" y="186"/>
                  </a:cubicBezTo>
                  <a:cubicBezTo>
                    <a:pt x="5" y="172"/>
                    <a:pt x="0" y="157"/>
                    <a:pt x="0" y="141"/>
                  </a:cubicBezTo>
                  <a:cubicBezTo>
                    <a:pt x="0" y="119"/>
                    <a:pt x="6" y="96"/>
                    <a:pt x="20" y="73"/>
                  </a:cubicBezTo>
                  <a:cubicBezTo>
                    <a:pt x="34" y="50"/>
                    <a:pt x="51" y="32"/>
                    <a:pt x="71" y="20"/>
                  </a:cubicBezTo>
                  <a:cubicBezTo>
                    <a:pt x="92" y="7"/>
                    <a:pt x="113" y="0"/>
                    <a:pt x="134" y="0"/>
                  </a:cubicBezTo>
                  <a:cubicBezTo>
                    <a:pt x="150" y="0"/>
                    <a:pt x="162" y="4"/>
                    <a:pt x="169" y="10"/>
                  </a:cubicBezTo>
                  <a:cubicBezTo>
                    <a:pt x="177" y="16"/>
                    <a:pt x="180" y="24"/>
                    <a:pt x="180" y="33"/>
                  </a:cubicBezTo>
                  <a:cubicBezTo>
                    <a:pt x="180" y="45"/>
                    <a:pt x="176" y="57"/>
                    <a:pt x="166" y="68"/>
                  </a:cubicBezTo>
                  <a:cubicBezTo>
                    <a:pt x="153" y="82"/>
                    <a:pt x="134" y="94"/>
                    <a:pt x="109" y="103"/>
                  </a:cubicBezTo>
                  <a:cubicBezTo>
                    <a:pt x="93" y="109"/>
                    <a:pt x="69" y="114"/>
                    <a:pt x="39" y="117"/>
                  </a:cubicBezTo>
                  <a:close/>
                  <a:moveTo>
                    <a:pt x="41" y="107"/>
                  </a:moveTo>
                  <a:cubicBezTo>
                    <a:pt x="63" y="104"/>
                    <a:pt x="81" y="100"/>
                    <a:pt x="94" y="94"/>
                  </a:cubicBezTo>
                  <a:cubicBezTo>
                    <a:pt x="112" y="86"/>
                    <a:pt x="126" y="76"/>
                    <a:pt x="135" y="65"/>
                  </a:cubicBezTo>
                  <a:cubicBezTo>
                    <a:pt x="144" y="53"/>
                    <a:pt x="149" y="43"/>
                    <a:pt x="149" y="32"/>
                  </a:cubicBezTo>
                  <a:cubicBezTo>
                    <a:pt x="149" y="26"/>
                    <a:pt x="147" y="21"/>
                    <a:pt x="143" y="17"/>
                  </a:cubicBezTo>
                  <a:cubicBezTo>
                    <a:pt x="139" y="13"/>
                    <a:pt x="133" y="12"/>
                    <a:pt x="126" y="12"/>
                  </a:cubicBezTo>
                  <a:cubicBezTo>
                    <a:pt x="111" y="12"/>
                    <a:pt x="95" y="20"/>
                    <a:pt x="78" y="36"/>
                  </a:cubicBezTo>
                  <a:cubicBezTo>
                    <a:pt x="61" y="52"/>
                    <a:pt x="49" y="75"/>
                    <a:pt x="41" y="1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216692906" name="Freeform 32"/>
            <p:cNvSpPr>
              <a:spLocks noEditPoints="1"/>
            </p:cNvSpPr>
            <p:nvPr/>
          </p:nvSpPr>
          <p:spPr bwMode="auto">
            <a:xfrm>
              <a:off x="4783027" y="2507270"/>
              <a:ext cx="51" cy="56"/>
            </a:xfrm>
            <a:custGeom>
              <a:avLst/>
              <a:gdLst>
                <a:gd name="T0" fmla="*/ 77 w 278"/>
                <a:gd name="T1" fmla="*/ 9 h 301"/>
                <a:gd name="T2" fmla="*/ 80 w 278"/>
                <a:gd name="T3" fmla="*/ 0 h 301"/>
                <a:gd name="T4" fmla="*/ 187 w 278"/>
                <a:gd name="T5" fmla="*/ 0 h 301"/>
                <a:gd name="T6" fmla="*/ 236 w 278"/>
                <a:gd name="T7" fmla="*/ 9 h 301"/>
                <a:gd name="T8" fmla="*/ 267 w 278"/>
                <a:gd name="T9" fmla="*/ 32 h 301"/>
                <a:gd name="T10" fmla="*/ 278 w 278"/>
                <a:gd name="T11" fmla="*/ 64 h 301"/>
                <a:gd name="T12" fmla="*/ 259 w 278"/>
                <a:gd name="T13" fmla="*/ 111 h 301"/>
                <a:gd name="T14" fmla="*/ 198 w 278"/>
                <a:gd name="T15" fmla="*/ 142 h 301"/>
                <a:gd name="T16" fmla="*/ 238 w 278"/>
                <a:gd name="T17" fmla="*/ 169 h 301"/>
                <a:gd name="T18" fmla="*/ 251 w 278"/>
                <a:gd name="T19" fmla="*/ 206 h 301"/>
                <a:gd name="T20" fmla="*/ 240 w 278"/>
                <a:gd name="T21" fmla="*/ 249 h 301"/>
                <a:gd name="T22" fmla="*/ 210 w 278"/>
                <a:gd name="T23" fmla="*/ 280 h 301"/>
                <a:gd name="T24" fmla="*/ 166 w 278"/>
                <a:gd name="T25" fmla="*/ 297 h 301"/>
                <a:gd name="T26" fmla="*/ 110 w 278"/>
                <a:gd name="T27" fmla="*/ 301 h 301"/>
                <a:gd name="T28" fmla="*/ 0 w 278"/>
                <a:gd name="T29" fmla="*/ 301 h 301"/>
                <a:gd name="T30" fmla="*/ 3 w 278"/>
                <a:gd name="T31" fmla="*/ 292 h 301"/>
                <a:gd name="T32" fmla="*/ 26 w 278"/>
                <a:gd name="T33" fmla="*/ 289 h 301"/>
                <a:gd name="T34" fmla="*/ 39 w 278"/>
                <a:gd name="T35" fmla="*/ 279 h 301"/>
                <a:gd name="T36" fmla="*/ 53 w 278"/>
                <a:gd name="T37" fmla="*/ 241 h 301"/>
                <a:gd name="T38" fmla="*/ 107 w 278"/>
                <a:gd name="T39" fmla="*/ 59 h 301"/>
                <a:gd name="T40" fmla="*/ 114 w 278"/>
                <a:gd name="T41" fmla="*/ 27 h 301"/>
                <a:gd name="T42" fmla="*/ 107 w 278"/>
                <a:gd name="T43" fmla="*/ 14 h 301"/>
                <a:gd name="T44" fmla="*/ 84 w 278"/>
                <a:gd name="T45" fmla="*/ 9 h 301"/>
                <a:gd name="T46" fmla="*/ 77 w 278"/>
                <a:gd name="T47" fmla="*/ 9 h 301"/>
                <a:gd name="T48" fmla="*/ 122 w 278"/>
                <a:gd name="T49" fmla="*/ 133 h 301"/>
                <a:gd name="T50" fmla="*/ 143 w 278"/>
                <a:gd name="T51" fmla="*/ 134 h 301"/>
                <a:gd name="T52" fmla="*/ 211 w 278"/>
                <a:gd name="T53" fmla="*/ 114 h 301"/>
                <a:gd name="T54" fmla="*/ 234 w 278"/>
                <a:gd name="T55" fmla="*/ 64 h 301"/>
                <a:gd name="T56" fmla="*/ 220 w 278"/>
                <a:gd name="T57" fmla="*/ 28 h 301"/>
                <a:gd name="T58" fmla="*/ 176 w 278"/>
                <a:gd name="T59" fmla="*/ 15 h 301"/>
                <a:gd name="T60" fmla="*/ 156 w 278"/>
                <a:gd name="T61" fmla="*/ 18 h 301"/>
                <a:gd name="T62" fmla="*/ 122 w 278"/>
                <a:gd name="T63" fmla="*/ 133 h 301"/>
                <a:gd name="T64" fmla="*/ 79 w 278"/>
                <a:gd name="T65" fmla="*/ 281 h 301"/>
                <a:gd name="T66" fmla="*/ 116 w 278"/>
                <a:gd name="T67" fmla="*/ 284 h 301"/>
                <a:gd name="T68" fmla="*/ 177 w 278"/>
                <a:gd name="T69" fmla="*/ 263 h 301"/>
                <a:gd name="T70" fmla="*/ 204 w 278"/>
                <a:gd name="T71" fmla="*/ 207 h 301"/>
                <a:gd name="T72" fmla="*/ 187 w 278"/>
                <a:gd name="T73" fmla="*/ 164 h 301"/>
                <a:gd name="T74" fmla="*/ 134 w 278"/>
                <a:gd name="T75" fmla="*/ 149 h 301"/>
                <a:gd name="T76" fmla="*/ 117 w 278"/>
                <a:gd name="T77" fmla="*/ 150 h 301"/>
                <a:gd name="T78" fmla="*/ 79 w 278"/>
                <a:gd name="T79" fmla="*/ 28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78" h="301" fill="norm" stroke="1" extrusionOk="0">
                  <a:moveTo>
                    <a:pt x="77" y="9"/>
                  </a:moveTo>
                  <a:lnTo>
                    <a:pt x="80" y="0"/>
                  </a:lnTo>
                  <a:lnTo>
                    <a:pt x="187" y="0"/>
                  </a:lnTo>
                  <a:cubicBezTo>
                    <a:pt x="206" y="0"/>
                    <a:pt x="222" y="3"/>
                    <a:pt x="236" y="9"/>
                  </a:cubicBezTo>
                  <a:cubicBezTo>
                    <a:pt x="250" y="14"/>
                    <a:pt x="260" y="22"/>
                    <a:pt x="267" y="32"/>
                  </a:cubicBezTo>
                  <a:cubicBezTo>
                    <a:pt x="274" y="42"/>
                    <a:pt x="278" y="53"/>
                    <a:pt x="278" y="64"/>
                  </a:cubicBezTo>
                  <a:cubicBezTo>
                    <a:pt x="278" y="81"/>
                    <a:pt x="272" y="97"/>
                    <a:pt x="259" y="111"/>
                  </a:cubicBezTo>
                  <a:cubicBezTo>
                    <a:pt x="247" y="125"/>
                    <a:pt x="226" y="135"/>
                    <a:pt x="198" y="142"/>
                  </a:cubicBezTo>
                  <a:cubicBezTo>
                    <a:pt x="216" y="149"/>
                    <a:pt x="230" y="158"/>
                    <a:pt x="238" y="169"/>
                  </a:cubicBezTo>
                  <a:cubicBezTo>
                    <a:pt x="247" y="180"/>
                    <a:pt x="251" y="192"/>
                    <a:pt x="251" y="206"/>
                  </a:cubicBezTo>
                  <a:cubicBezTo>
                    <a:pt x="251" y="221"/>
                    <a:pt x="247" y="235"/>
                    <a:pt x="240" y="249"/>
                  </a:cubicBezTo>
                  <a:cubicBezTo>
                    <a:pt x="232" y="262"/>
                    <a:pt x="222" y="273"/>
                    <a:pt x="210" y="280"/>
                  </a:cubicBezTo>
                  <a:cubicBezTo>
                    <a:pt x="198" y="288"/>
                    <a:pt x="183" y="293"/>
                    <a:pt x="166" y="297"/>
                  </a:cubicBezTo>
                  <a:cubicBezTo>
                    <a:pt x="154" y="299"/>
                    <a:pt x="135" y="301"/>
                    <a:pt x="110" y="301"/>
                  </a:cubicBezTo>
                  <a:lnTo>
                    <a:pt x="0" y="301"/>
                  </a:lnTo>
                  <a:lnTo>
                    <a:pt x="3" y="292"/>
                  </a:lnTo>
                  <a:cubicBezTo>
                    <a:pt x="14" y="292"/>
                    <a:pt x="22" y="291"/>
                    <a:pt x="26" y="289"/>
                  </a:cubicBezTo>
                  <a:cubicBezTo>
                    <a:pt x="32" y="287"/>
                    <a:pt x="36" y="283"/>
                    <a:pt x="39" y="279"/>
                  </a:cubicBezTo>
                  <a:cubicBezTo>
                    <a:pt x="42" y="274"/>
                    <a:pt x="47" y="261"/>
                    <a:pt x="53" y="241"/>
                  </a:cubicBezTo>
                  <a:lnTo>
                    <a:pt x="107" y="59"/>
                  </a:lnTo>
                  <a:cubicBezTo>
                    <a:pt x="111" y="44"/>
                    <a:pt x="114" y="33"/>
                    <a:pt x="114" y="27"/>
                  </a:cubicBezTo>
                  <a:cubicBezTo>
                    <a:pt x="114" y="21"/>
                    <a:pt x="111" y="17"/>
                    <a:pt x="107" y="14"/>
                  </a:cubicBezTo>
                  <a:cubicBezTo>
                    <a:pt x="103" y="10"/>
                    <a:pt x="96" y="9"/>
                    <a:pt x="84" y="9"/>
                  </a:cubicBezTo>
                  <a:cubicBezTo>
                    <a:pt x="82" y="9"/>
                    <a:pt x="79" y="9"/>
                    <a:pt x="77" y="9"/>
                  </a:cubicBezTo>
                  <a:close/>
                  <a:moveTo>
                    <a:pt x="122" y="133"/>
                  </a:moveTo>
                  <a:cubicBezTo>
                    <a:pt x="132" y="134"/>
                    <a:pt x="139" y="134"/>
                    <a:pt x="143" y="134"/>
                  </a:cubicBezTo>
                  <a:cubicBezTo>
                    <a:pt x="174" y="134"/>
                    <a:pt x="197" y="127"/>
                    <a:pt x="211" y="114"/>
                  </a:cubicBezTo>
                  <a:cubicBezTo>
                    <a:pt x="226" y="100"/>
                    <a:pt x="234" y="84"/>
                    <a:pt x="234" y="64"/>
                  </a:cubicBezTo>
                  <a:cubicBezTo>
                    <a:pt x="234" y="48"/>
                    <a:pt x="229" y="37"/>
                    <a:pt x="220" y="28"/>
                  </a:cubicBezTo>
                  <a:cubicBezTo>
                    <a:pt x="211" y="20"/>
                    <a:pt x="197" y="15"/>
                    <a:pt x="176" y="15"/>
                  </a:cubicBezTo>
                  <a:cubicBezTo>
                    <a:pt x="171" y="15"/>
                    <a:pt x="164" y="16"/>
                    <a:pt x="156" y="18"/>
                  </a:cubicBezTo>
                  <a:lnTo>
                    <a:pt x="122" y="133"/>
                  </a:lnTo>
                  <a:close/>
                  <a:moveTo>
                    <a:pt x="79" y="281"/>
                  </a:moveTo>
                  <a:cubicBezTo>
                    <a:pt x="95" y="283"/>
                    <a:pt x="107" y="284"/>
                    <a:pt x="116" y="284"/>
                  </a:cubicBezTo>
                  <a:cubicBezTo>
                    <a:pt x="139" y="284"/>
                    <a:pt x="159" y="277"/>
                    <a:pt x="177" y="263"/>
                  </a:cubicBezTo>
                  <a:cubicBezTo>
                    <a:pt x="195" y="250"/>
                    <a:pt x="204" y="231"/>
                    <a:pt x="204" y="207"/>
                  </a:cubicBezTo>
                  <a:cubicBezTo>
                    <a:pt x="204" y="189"/>
                    <a:pt x="198" y="175"/>
                    <a:pt x="187" y="164"/>
                  </a:cubicBezTo>
                  <a:cubicBezTo>
                    <a:pt x="176" y="154"/>
                    <a:pt x="159" y="149"/>
                    <a:pt x="134" y="149"/>
                  </a:cubicBezTo>
                  <a:cubicBezTo>
                    <a:pt x="129" y="149"/>
                    <a:pt x="124" y="149"/>
                    <a:pt x="117" y="150"/>
                  </a:cubicBezTo>
                  <a:lnTo>
                    <a:pt x="79" y="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203444295" name="Freeform 33"/>
            <p:cNvSpPr>
              <a:spLocks noEditPoints="1"/>
            </p:cNvSpPr>
            <p:nvPr/>
          </p:nvSpPr>
          <p:spPr bwMode="auto">
            <a:xfrm>
              <a:off x="4783086" y="2507274"/>
              <a:ext cx="18" cy="55"/>
            </a:xfrm>
            <a:custGeom>
              <a:avLst/>
              <a:gdLst>
                <a:gd name="T0" fmla="*/ 82 w 104"/>
                <a:gd name="T1" fmla="*/ 0 h 294"/>
                <a:gd name="T2" fmla="*/ 97 w 104"/>
                <a:gd name="T3" fmla="*/ 7 h 294"/>
                <a:gd name="T4" fmla="*/ 104 w 104"/>
                <a:gd name="T5" fmla="*/ 23 h 294"/>
                <a:gd name="T6" fmla="*/ 97 w 104"/>
                <a:gd name="T7" fmla="*/ 38 h 294"/>
                <a:gd name="T8" fmla="*/ 82 w 104"/>
                <a:gd name="T9" fmla="*/ 45 h 294"/>
                <a:gd name="T10" fmla="*/ 66 w 104"/>
                <a:gd name="T11" fmla="*/ 38 h 294"/>
                <a:gd name="T12" fmla="*/ 59 w 104"/>
                <a:gd name="T13" fmla="*/ 23 h 294"/>
                <a:gd name="T14" fmla="*/ 66 w 104"/>
                <a:gd name="T15" fmla="*/ 7 h 294"/>
                <a:gd name="T16" fmla="*/ 82 w 104"/>
                <a:gd name="T17" fmla="*/ 0 h 294"/>
                <a:gd name="T18" fmla="*/ 84 w 104"/>
                <a:gd name="T19" fmla="*/ 88 h 294"/>
                <a:gd name="T20" fmla="*/ 41 w 104"/>
                <a:gd name="T21" fmla="*/ 243 h 294"/>
                <a:gd name="T22" fmla="*/ 36 w 104"/>
                <a:gd name="T23" fmla="*/ 262 h 294"/>
                <a:gd name="T24" fmla="*/ 38 w 104"/>
                <a:gd name="T25" fmla="*/ 268 h 294"/>
                <a:gd name="T26" fmla="*/ 43 w 104"/>
                <a:gd name="T27" fmla="*/ 270 h 294"/>
                <a:gd name="T28" fmla="*/ 51 w 104"/>
                <a:gd name="T29" fmla="*/ 267 h 294"/>
                <a:gd name="T30" fmla="*/ 77 w 104"/>
                <a:gd name="T31" fmla="*/ 238 h 294"/>
                <a:gd name="T32" fmla="*/ 84 w 104"/>
                <a:gd name="T33" fmla="*/ 243 h 294"/>
                <a:gd name="T34" fmla="*/ 49 w 104"/>
                <a:gd name="T35" fmla="*/ 282 h 294"/>
                <a:gd name="T36" fmla="*/ 20 w 104"/>
                <a:gd name="T37" fmla="*/ 294 h 294"/>
                <a:gd name="T38" fmla="*/ 5 w 104"/>
                <a:gd name="T39" fmla="*/ 289 h 294"/>
                <a:gd name="T40" fmla="*/ 0 w 104"/>
                <a:gd name="T41" fmla="*/ 275 h 294"/>
                <a:gd name="T42" fmla="*/ 5 w 104"/>
                <a:gd name="T43" fmla="*/ 248 h 294"/>
                <a:gd name="T44" fmla="*/ 34 w 104"/>
                <a:gd name="T45" fmla="*/ 148 h 294"/>
                <a:gd name="T46" fmla="*/ 41 w 104"/>
                <a:gd name="T47" fmla="*/ 118 h 294"/>
                <a:gd name="T48" fmla="*/ 37 w 104"/>
                <a:gd name="T49" fmla="*/ 110 h 294"/>
                <a:gd name="T50" fmla="*/ 28 w 104"/>
                <a:gd name="T51" fmla="*/ 107 h 294"/>
                <a:gd name="T52" fmla="*/ 8 w 104"/>
                <a:gd name="T53" fmla="*/ 109 h 294"/>
                <a:gd name="T54" fmla="*/ 8 w 104"/>
                <a:gd name="T55" fmla="*/ 101 h 294"/>
                <a:gd name="T56" fmla="*/ 84 w 104"/>
                <a:gd name="T57" fmla="*/ 88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4" h="294" fill="norm" stroke="1" extrusionOk="0">
                  <a:moveTo>
                    <a:pt x="82" y="0"/>
                  </a:moveTo>
                  <a:cubicBezTo>
                    <a:pt x="88" y="0"/>
                    <a:pt x="93" y="3"/>
                    <a:pt x="97" y="7"/>
                  </a:cubicBezTo>
                  <a:cubicBezTo>
                    <a:pt x="102" y="11"/>
                    <a:pt x="104" y="16"/>
                    <a:pt x="104" y="23"/>
                  </a:cubicBezTo>
                  <a:cubicBezTo>
                    <a:pt x="104" y="29"/>
                    <a:pt x="101" y="34"/>
                    <a:pt x="97" y="38"/>
                  </a:cubicBezTo>
                  <a:cubicBezTo>
                    <a:pt x="93" y="43"/>
                    <a:pt x="88" y="45"/>
                    <a:pt x="82" y="45"/>
                  </a:cubicBezTo>
                  <a:cubicBezTo>
                    <a:pt x="75" y="45"/>
                    <a:pt x="70" y="43"/>
                    <a:pt x="66" y="38"/>
                  </a:cubicBezTo>
                  <a:cubicBezTo>
                    <a:pt x="62" y="34"/>
                    <a:pt x="59" y="29"/>
                    <a:pt x="59" y="23"/>
                  </a:cubicBezTo>
                  <a:cubicBezTo>
                    <a:pt x="59" y="16"/>
                    <a:pt x="62" y="11"/>
                    <a:pt x="66" y="7"/>
                  </a:cubicBezTo>
                  <a:cubicBezTo>
                    <a:pt x="70" y="3"/>
                    <a:pt x="75" y="0"/>
                    <a:pt x="82" y="0"/>
                  </a:cubicBezTo>
                  <a:close/>
                  <a:moveTo>
                    <a:pt x="84" y="88"/>
                  </a:moveTo>
                  <a:lnTo>
                    <a:pt x="41" y="243"/>
                  </a:lnTo>
                  <a:cubicBezTo>
                    <a:pt x="38" y="254"/>
                    <a:pt x="36" y="260"/>
                    <a:pt x="36" y="262"/>
                  </a:cubicBezTo>
                  <a:cubicBezTo>
                    <a:pt x="36" y="265"/>
                    <a:pt x="37" y="267"/>
                    <a:pt x="38" y="268"/>
                  </a:cubicBezTo>
                  <a:cubicBezTo>
                    <a:pt x="40" y="270"/>
                    <a:pt x="41" y="270"/>
                    <a:pt x="43" y="270"/>
                  </a:cubicBezTo>
                  <a:cubicBezTo>
                    <a:pt x="45" y="270"/>
                    <a:pt x="48" y="269"/>
                    <a:pt x="51" y="267"/>
                  </a:cubicBezTo>
                  <a:cubicBezTo>
                    <a:pt x="60" y="260"/>
                    <a:pt x="68" y="251"/>
                    <a:pt x="77" y="238"/>
                  </a:cubicBezTo>
                  <a:lnTo>
                    <a:pt x="84" y="243"/>
                  </a:lnTo>
                  <a:cubicBezTo>
                    <a:pt x="74" y="259"/>
                    <a:pt x="63" y="272"/>
                    <a:pt x="49" y="282"/>
                  </a:cubicBezTo>
                  <a:cubicBezTo>
                    <a:pt x="39" y="290"/>
                    <a:pt x="29" y="294"/>
                    <a:pt x="20" y="294"/>
                  </a:cubicBezTo>
                  <a:cubicBezTo>
                    <a:pt x="14" y="294"/>
                    <a:pt x="9" y="292"/>
                    <a:pt x="5" y="289"/>
                  </a:cubicBezTo>
                  <a:cubicBezTo>
                    <a:pt x="2" y="285"/>
                    <a:pt x="0" y="280"/>
                    <a:pt x="0" y="275"/>
                  </a:cubicBezTo>
                  <a:cubicBezTo>
                    <a:pt x="0" y="269"/>
                    <a:pt x="1" y="260"/>
                    <a:pt x="5" y="248"/>
                  </a:cubicBezTo>
                  <a:lnTo>
                    <a:pt x="34" y="148"/>
                  </a:lnTo>
                  <a:cubicBezTo>
                    <a:pt x="39" y="132"/>
                    <a:pt x="41" y="122"/>
                    <a:pt x="41" y="118"/>
                  </a:cubicBezTo>
                  <a:cubicBezTo>
                    <a:pt x="41" y="115"/>
                    <a:pt x="40" y="112"/>
                    <a:pt x="37" y="110"/>
                  </a:cubicBezTo>
                  <a:cubicBezTo>
                    <a:pt x="35" y="108"/>
                    <a:pt x="32" y="107"/>
                    <a:pt x="28" y="107"/>
                  </a:cubicBezTo>
                  <a:cubicBezTo>
                    <a:pt x="25" y="107"/>
                    <a:pt x="18" y="108"/>
                    <a:pt x="8" y="109"/>
                  </a:cubicBezTo>
                  <a:lnTo>
                    <a:pt x="8" y="101"/>
                  </a:lnTo>
                  <a:lnTo>
                    <a:pt x="84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878822107" name="Freeform 34"/>
            <p:cNvSpPr/>
            <p:nvPr/>
          </p:nvSpPr>
          <p:spPr bwMode="auto">
            <a:xfrm>
              <a:off x="4783107" y="2507289"/>
              <a:ext cx="32" cy="37"/>
            </a:xfrm>
            <a:custGeom>
              <a:avLst/>
              <a:gdLst>
                <a:gd name="T0" fmla="*/ 15 w 175"/>
                <a:gd name="T1" fmla="*/ 13 h 201"/>
                <a:gd name="T2" fmla="*/ 91 w 175"/>
                <a:gd name="T3" fmla="*/ 0 h 201"/>
                <a:gd name="T4" fmla="*/ 59 w 175"/>
                <a:gd name="T5" fmla="*/ 108 h 201"/>
                <a:gd name="T6" fmla="*/ 130 w 175"/>
                <a:gd name="T7" fmla="*/ 15 h 201"/>
                <a:gd name="T8" fmla="*/ 159 w 175"/>
                <a:gd name="T9" fmla="*/ 0 h 201"/>
                <a:gd name="T10" fmla="*/ 170 w 175"/>
                <a:gd name="T11" fmla="*/ 5 h 201"/>
                <a:gd name="T12" fmla="*/ 175 w 175"/>
                <a:gd name="T13" fmla="*/ 17 h 201"/>
                <a:gd name="T14" fmla="*/ 167 w 175"/>
                <a:gd name="T15" fmla="*/ 45 h 201"/>
                <a:gd name="T16" fmla="*/ 152 w 175"/>
                <a:gd name="T17" fmla="*/ 55 h 201"/>
                <a:gd name="T18" fmla="*/ 143 w 175"/>
                <a:gd name="T19" fmla="*/ 52 h 201"/>
                <a:gd name="T20" fmla="*/ 139 w 175"/>
                <a:gd name="T21" fmla="*/ 41 h 201"/>
                <a:gd name="T22" fmla="*/ 137 w 175"/>
                <a:gd name="T23" fmla="*/ 36 h 201"/>
                <a:gd name="T24" fmla="*/ 132 w 175"/>
                <a:gd name="T25" fmla="*/ 34 h 201"/>
                <a:gd name="T26" fmla="*/ 125 w 175"/>
                <a:gd name="T27" fmla="*/ 36 h 201"/>
                <a:gd name="T28" fmla="*/ 108 w 175"/>
                <a:gd name="T29" fmla="*/ 53 h 201"/>
                <a:gd name="T30" fmla="*/ 68 w 175"/>
                <a:gd name="T31" fmla="*/ 109 h 201"/>
                <a:gd name="T32" fmla="*/ 52 w 175"/>
                <a:gd name="T33" fmla="*/ 142 h 201"/>
                <a:gd name="T34" fmla="*/ 41 w 175"/>
                <a:gd name="T35" fmla="*/ 173 h 201"/>
                <a:gd name="T36" fmla="*/ 34 w 175"/>
                <a:gd name="T37" fmla="*/ 201 h 201"/>
                <a:gd name="T38" fmla="*/ 0 w 175"/>
                <a:gd name="T39" fmla="*/ 201 h 201"/>
                <a:gd name="T40" fmla="*/ 41 w 175"/>
                <a:gd name="T41" fmla="*/ 63 h 201"/>
                <a:gd name="T42" fmla="*/ 48 w 175"/>
                <a:gd name="T43" fmla="*/ 29 h 201"/>
                <a:gd name="T44" fmla="*/ 45 w 175"/>
                <a:gd name="T45" fmla="*/ 22 h 201"/>
                <a:gd name="T46" fmla="*/ 33 w 175"/>
                <a:gd name="T47" fmla="*/ 19 h 201"/>
                <a:gd name="T48" fmla="*/ 16 w 175"/>
                <a:gd name="T49" fmla="*/ 21 h 201"/>
                <a:gd name="T50" fmla="*/ 15 w 175"/>
                <a:gd name="T51" fmla="*/ 1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5" h="201" fill="norm" stroke="1" extrusionOk="0">
                  <a:moveTo>
                    <a:pt x="15" y="13"/>
                  </a:moveTo>
                  <a:lnTo>
                    <a:pt x="91" y="0"/>
                  </a:lnTo>
                  <a:lnTo>
                    <a:pt x="59" y="108"/>
                  </a:lnTo>
                  <a:cubicBezTo>
                    <a:pt x="85" y="64"/>
                    <a:pt x="109" y="33"/>
                    <a:pt x="130" y="15"/>
                  </a:cubicBezTo>
                  <a:cubicBezTo>
                    <a:pt x="142" y="5"/>
                    <a:pt x="151" y="0"/>
                    <a:pt x="159" y="0"/>
                  </a:cubicBezTo>
                  <a:cubicBezTo>
                    <a:pt x="164" y="0"/>
                    <a:pt x="168" y="2"/>
                    <a:pt x="170" y="5"/>
                  </a:cubicBezTo>
                  <a:cubicBezTo>
                    <a:pt x="173" y="7"/>
                    <a:pt x="175" y="12"/>
                    <a:pt x="175" y="17"/>
                  </a:cubicBezTo>
                  <a:cubicBezTo>
                    <a:pt x="175" y="27"/>
                    <a:pt x="172" y="36"/>
                    <a:pt x="167" y="45"/>
                  </a:cubicBezTo>
                  <a:cubicBezTo>
                    <a:pt x="164" y="52"/>
                    <a:pt x="158" y="55"/>
                    <a:pt x="152" y="55"/>
                  </a:cubicBezTo>
                  <a:cubicBezTo>
                    <a:pt x="148" y="55"/>
                    <a:pt x="145" y="54"/>
                    <a:pt x="143" y="52"/>
                  </a:cubicBezTo>
                  <a:cubicBezTo>
                    <a:pt x="141" y="49"/>
                    <a:pt x="139" y="46"/>
                    <a:pt x="139" y="41"/>
                  </a:cubicBezTo>
                  <a:cubicBezTo>
                    <a:pt x="138" y="39"/>
                    <a:pt x="138" y="37"/>
                    <a:pt x="137" y="36"/>
                  </a:cubicBezTo>
                  <a:cubicBezTo>
                    <a:pt x="135" y="35"/>
                    <a:pt x="134" y="34"/>
                    <a:pt x="132" y="34"/>
                  </a:cubicBezTo>
                  <a:cubicBezTo>
                    <a:pt x="130" y="34"/>
                    <a:pt x="127" y="35"/>
                    <a:pt x="125" y="36"/>
                  </a:cubicBezTo>
                  <a:cubicBezTo>
                    <a:pt x="121" y="38"/>
                    <a:pt x="116" y="44"/>
                    <a:pt x="108" y="53"/>
                  </a:cubicBezTo>
                  <a:cubicBezTo>
                    <a:pt x="96" y="68"/>
                    <a:pt x="82" y="86"/>
                    <a:pt x="68" y="109"/>
                  </a:cubicBezTo>
                  <a:cubicBezTo>
                    <a:pt x="62" y="119"/>
                    <a:pt x="56" y="130"/>
                    <a:pt x="52" y="142"/>
                  </a:cubicBezTo>
                  <a:cubicBezTo>
                    <a:pt x="46" y="159"/>
                    <a:pt x="42" y="169"/>
                    <a:pt x="41" y="173"/>
                  </a:cubicBezTo>
                  <a:lnTo>
                    <a:pt x="34" y="201"/>
                  </a:lnTo>
                  <a:lnTo>
                    <a:pt x="0" y="201"/>
                  </a:lnTo>
                  <a:lnTo>
                    <a:pt x="41" y="63"/>
                  </a:lnTo>
                  <a:cubicBezTo>
                    <a:pt x="46" y="47"/>
                    <a:pt x="48" y="36"/>
                    <a:pt x="48" y="29"/>
                  </a:cubicBezTo>
                  <a:cubicBezTo>
                    <a:pt x="48" y="26"/>
                    <a:pt x="47" y="24"/>
                    <a:pt x="45" y="22"/>
                  </a:cubicBezTo>
                  <a:cubicBezTo>
                    <a:pt x="42" y="20"/>
                    <a:pt x="38" y="19"/>
                    <a:pt x="33" y="19"/>
                  </a:cubicBezTo>
                  <a:cubicBezTo>
                    <a:pt x="30" y="19"/>
                    <a:pt x="25" y="20"/>
                    <a:pt x="16" y="21"/>
                  </a:cubicBezTo>
                  <a:lnTo>
                    <a:pt x="15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667417950" name="Freeform 35"/>
            <p:cNvSpPr>
              <a:spLocks noEditPoints="1"/>
            </p:cNvSpPr>
            <p:nvPr/>
          </p:nvSpPr>
          <p:spPr bwMode="auto">
            <a:xfrm>
              <a:off x="4783140" y="2507268"/>
              <a:ext cx="45" cy="59"/>
            </a:xfrm>
            <a:custGeom>
              <a:avLst/>
              <a:gdLst>
                <a:gd name="T0" fmla="*/ 237 w 237"/>
                <a:gd name="T1" fmla="*/ 0 h 320"/>
                <a:gd name="T2" fmla="*/ 161 w 237"/>
                <a:gd name="T3" fmla="*/ 261 h 320"/>
                <a:gd name="T4" fmla="*/ 155 w 237"/>
                <a:gd name="T5" fmla="*/ 289 h 320"/>
                <a:gd name="T6" fmla="*/ 156 w 237"/>
                <a:gd name="T7" fmla="*/ 293 h 320"/>
                <a:gd name="T8" fmla="*/ 160 w 237"/>
                <a:gd name="T9" fmla="*/ 295 h 320"/>
                <a:gd name="T10" fmla="*/ 167 w 237"/>
                <a:gd name="T11" fmla="*/ 292 h 320"/>
                <a:gd name="T12" fmla="*/ 193 w 237"/>
                <a:gd name="T13" fmla="*/ 266 h 320"/>
                <a:gd name="T14" fmla="*/ 200 w 237"/>
                <a:gd name="T15" fmla="*/ 270 h 320"/>
                <a:gd name="T16" fmla="*/ 168 w 237"/>
                <a:gd name="T17" fmla="*/ 306 h 320"/>
                <a:gd name="T18" fmla="*/ 137 w 237"/>
                <a:gd name="T19" fmla="*/ 320 h 320"/>
                <a:gd name="T20" fmla="*/ 125 w 237"/>
                <a:gd name="T21" fmla="*/ 315 h 320"/>
                <a:gd name="T22" fmla="*/ 120 w 237"/>
                <a:gd name="T23" fmla="*/ 300 h 320"/>
                <a:gd name="T24" fmla="*/ 127 w 237"/>
                <a:gd name="T25" fmla="*/ 266 h 320"/>
                <a:gd name="T26" fmla="*/ 135 w 237"/>
                <a:gd name="T27" fmla="*/ 238 h 320"/>
                <a:gd name="T28" fmla="*/ 77 w 237"/>
                <a:gd name="T29" fmla="*/ 307 h 320"/>
                <a:gd name="T30" fmla="*/ 42 w 237"/>
                <a:gd name="T31" fmla="*/ 320 h 320"/>
                <a:gd name="T32" fmla="*/ 13 w 237"/>
                <a:gd name="T33" fmla="*/ 305 h 320"/>
                <a:gd name="T34" fmla="*/ 0 w 237"/>
                <a:gd name="T35" fmla="*/ 264 h 320"/>
                <a:gd name="T36" fmla="*/ 21 w 237"/>
                <a:gd name="T37" fmla="*/ 194 h 320"/>
                <a:gd name="T38" fmla="*/ 77 w 237"/>
                <a:gd name="T39" fmla="*/ 133 h 320"/>
                <a:gd name="T40" fmla="*/ 127 w 237"/>
                <a:gd name="T41" fmla="*/ 114 h 320"/>
                <a:gd name="T42" fmla="*/ 148 w 237"/>
                <a:gd name="T43" fmla="*/ 119 h 320"/>
                <a:gd name="T44" fmla="*/ 165 w 237"/>
                <a:gd name="T45" fmla="*/ 135 h 320"/>
                <a:gd name="T46" fmla="*/ 186 w 237"/>
                <a:gd name="T47" fmla="*/ 58 h 320"/>
                <a:gd name="T48" fmla="*/ 190 w 237"/>
                <a:gd name="T49" fmla="*/ 45 h 320"/>
                <a:gd name="T50" fmla="*/ 193 w 237"/>
                <a:gd name="T51" fmla="*/ 31 h 320"/>
                <a:gd name="T52" fmla="*/ 190 w 237"/>
                <a:gd name="T53" fmla="*/ 23 h 320"/>
                <a:gd name="T54" fmla="*/ 178 w 237"/>
                <a:gd name="T55" fmla="*/ 19 h 320"/>
                <a:gd name="T56" fmla="*/ 161 w 237"/>
                <a:gd name="T57" fmla="*/ 21 h 320"/>
                <a:gd name="T58" fmla="*/ 161 w 237"/>
                <a:gd name="T59" fmla="*/ 12 h 320"/>
                <a:gd name="T60" fmla="*/ 237 w 237"/>
                <a:gd name="T61" fmla="*/ 0 h 320"/>
                <a:gd name="T62" fmla="*/ 155 w 237"/>
                <a:gd name="T63" fmla="*/ 157 h 320"/>
                <a:gd name="T64" fmla="*/ 147 w 237"/>
                <a:gd name="T65" fmla="*/ 134 h 320"/>
                <a:gd name="T66" fmla="*/ 126 w 237"/>
                <a:gd name="T67" fmla="*/ 126 h 320"/>
                <a:gd name="T68" fmla="*/ 68 w 237"/>
                <a:gd name="T69" fmla="*/ 172 h 320"/>
                <a:gd name="T70" fmla="*/ 38 w 237"/>
                <a:gd name="T71" fmla="*/ 260 h 320"/>
                <a:gd name="T72" fmla="*/ 45 w 237"/>
                <a:gd name="T73" fmla="*/ 285 h 320"/>
                <a:gd name="T74" fmla="*/ 62 w 237"/>
                <a:gd name="T75" fmla="*/ 294 h 320"/>
                <a:gd name="T76" fmla="*/ 120 w 237"/>
                <a:gd name="T77" fmla="*/ 244 h 320"/>
                <a:gd name="T78" fmla="*/ 155 w 237"/>
                <a:gd name="T79" fmla="*/ 157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37" h="320" fill="norm" stroke="1" extrusionOk="0">
                  <a:moveTo>
                    <a:pt x="237" y="0"/>
                  </a:moveTo>
                  <a:lnTo>
                    <a:pt x="161" y="261"/>
                  </a:lnTo>
                  <a:cubicBezTo>
                    <a:pt x="157" y="275"/>
                    <a:pt x="155" y="285"/>
                    <a:pt x="155" y="289"/>
                  </a:cubicBezTo>
                  <a:cubicBezTo>
                    <a:pt x="155" y="290"/>
                    <a:pt x="155" y="292"/>
                    <a:pt x="156" y="293"/>
                  </a:cubicBezTo>
                  <a:cubicBezTo>
                    <a:pt x="158" y="294"/>
                    <a:pt x="159" y="295"/>
                    <a:pt x="160" y="295"/>
                  </a:cubicBezTo>
                  <a:cubicBezTo>
                    <a:pt x="162" y="295"/>
                    <a:pt x="165" y="294"/>
                    <a:pt x="167" y="292"/>
                  </a:cubicBezTo>
                  <a:cubicBezTo>
                    <a:pt x="172" y="289"/>
                    <a:pt x="181" y="280"/>
                    <a:pt x="193" y="266"/>
                  </a:cubicBezTo>
                  <a:lnTo>
                    <a:pt x="200" y="270"/>
                  </a:lnTo>
                  <a:cubicBezTo>
                    <a:pt x="189" y="285"/>
                    <a:pt x="179" y="297"/>
                    <a:pt x="168" y="306"/>
                  </a:cubicBezTo>
                  <a:cubicBezTo>
                    <a:pt x="157" y="315"/>
                    <a:pt x="147" y="320"/>
                    <a:pt x="137" y="320"/>
                  </a:cubicBezTo>
                  <a:cubicBezTo>
                    <a:pt x="132" y="320"/>
                    <a:pt x="128" y="318"/>
                    <a:pt x="125" y="315"/>
                  </a:cubicBezTo>
                  <a:cubicBezTo>
                    <a:pt x="122" y="311"/>
                    <a:pt x="120" y="306"/>
                    <a:pt x="120" y="300"/>
                  </a:cubicBezTo>
                  <a:cubicBezTo>
                    <a:pt x="120" y="291"/>
                    <a:pt x="122" y="280"/>
                    <a:pt x="127" y="266"/>
                  </a:cubicBezTo>
                  <a:lnTo>
                    <a:pt x="135" y="238"/>
                  </a:lnTo>
                  <a:cubicBezTo>
                    <a:pt x="114" y="271"/>
                    <a:pt x="95" y="294"/>
                    <a:pt x="77" y="307"/>
                  </a:cubicBezTo>
                  <a:cubicBezTo>
                    <a:pt x="65" y="316"/>
                    <a:pt x="53" y="320"/>
                    <a:pt x="42" y="320"/>
                  </a:cubicBezTo>
                  <a:cubicBezTo>
                    <a:pt x="31" y="320"/>
                    <a:pt x="21" y="315"/>
                    <a:pt x="13" y="305"/>
                  </a:cubicBezTo>
                  <a:cubicBezTo>
                    <a:pt x="4" y="295"/>
                    <a:pt x="0" y="281"/>
                    <a:pt x="0" y="264"/>
                  </a:cubicBezTo>
                  <a:cubicBezTo>
                    <a:pt x="0" y="242"/>
                    <a:pt x="7" y="219"/>
                    <a:pt x="21" y="194"/>
                  </a:cubicBezTo>
                  <a:cubicBezTo>
                    <a:pt x="35" y="169"/>
                    <a:pt x="54" y="149"/>
                    <a:pt x="77" y="133"/>
                  </a:cubicBezTo>
                  <a:cubicBezTo>
                    <a:pt x="95" y="121"/>
                    <a:pt x="112" y="114"/>
                    <a:pt x="127" y="114"/>
                  </a:cubicBezTo>
                  <a:cubicBezTo>
                    <a:pt x="135" y="114"/>
                    <a:pt x="142" y="116"/>
                    <a:pt x="148" y="119"/>
                  </a:cubicBezTo>
                  <a:cubicBezTo>
                    <a:pt x="153" y="122"/>
                    <a:pt x="159" y="128"/>
                    <a:pt x="165" y="135"/>
                  </a:cubicBezTo>
                  <a:lnTo>
                    <a:pt x="186" y="58"/>
                  </a:lnTo>
                  <a:cubicBezTo>
                    <a:pt x="188" y="53"/>
                    <a:pt x="189" y="48"/>
                    <a:pt x="190" y="45"/>
                  </a:cubicBezTo>
                  <a:cubicBezTo>
                    <a:pt x="192" y="39"/>
                    <a:pt x="193" y="34"/>
                    <a:pt x="193" y="31"/>
                  </a:cubicBezTo>
                  <a:cubicBezTo>
                    <a:pt x="193" y="27"/>
                    <a:pt x="192" y="25"/>
                    <a:pt x="190" y="23"/>
                  </a:cubicBezTo>
                  <a:cubicBezTo>
                    <a:pt x="187" y="20"/>
                    <a:pt x="183" y="19"/>
                    <a:pt x="178" y="19"/>
                  </a:cubicBezTo>
                  <a:cubicBezTo>
                    <a:pt x="174" y="19"/>
                    <a:pt x="169" y="20"/>
                    <a:pt x="161" y="21"/>
                  </a:cubicBezTo>
                  <a:lnTo>
                    <a:pt x="161" y="12"/>
                  </a:lnTo>
                  <a:lnTo>
                    <a:pt x="237" y="0"/>
                  </a:lnTo>
                  <a:close/>
                  <a:moveTo>
                    <a:pt x="155" y="157"/>
                  </a:moveTo>
                  <a:cubicBezTo>
                    <a:pt x="155" y="148"/>
                    <a:pt x="152" y="140"/>
                    <a:pt x="147" y="134"/>
                  </a:cubicBezTo>
                  <a:cubicBezTo>
                    <a:pt x="141" y="128"/>
                    <a:pt x="134" y="126"/>
                    <a:pt x="126" y="126"/>
                  </a:cubicBezTo>
                  <a:cubicBezTo>
                    <a:pt x="107" y="126"/>
                    <a:pt x="88" y="141"/>
                    <a:pt x="68" y="172"/>
                  </a:cubicBezTo>
                  <a:cubicBezTo>
                    <a:pt x="48" y="202"/>
                    <a:pt x="38" y="232"/>
                    <a:pt x="38" y="260"/>
                  </a:cubicBezTo>
                  <a:cubicBezTo>
                    <a:pt x="38" y="271"/>
                    <a:pt x="40" y="279"/>
                    <a:pt x="45" y="285"/>
                  </a:cubicBezTo>
                  <a:cubicBezTo>
                    <a:pt x="50" y="291"/>
                    <a:pt x="56" y="294"/>
                    <a:pt x="62" y="294"/>
                  </a:cubicBezTo>
                  <a:cubicBezTo>
                    <a:pt x="78" y="294"/>
                    <a:pt x="97" y="277"/>
                    <a:pt x="120" y="244"/>
                  </a:cubicBezTo>
                  <a:cubicBezTo>
                    <a:pt x="143" y="211"/>
                    <a:pt x="155" y="182"/>
                    <a:pt x="155" y="1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412214453" name="Freeform 36"/>
            <p:cNvSpPr/>
            <p:nvPr/>
          </p:nvSpPr>
          <p:spPr bwMode="auto">
            <a:xfrm>
              <a:off x="4783179" y="2507289"/>
              <a:ext cx="30" cy="38"/>
            </a:xfrm>
            <a:custGeom>
              <a:avLst/>
              <a:gdLst>
                <a:gd name="T0" fmla="*/ 169 w 169"/>
                <a:gd name="T1" fmla="*/ 0 h 206"/>
                <a:gd name="T2" fmla="*/ 155 w 169"/>
                <a:gd name="T3" fmla="*/ 68 h 206"/>
                <a:gd name="T4" fmla="*/ 147 w 169"/>
                <a:gd name="T5" fmla="*/ 68 h 206"/>
                <a:gd name="T6" fmla="*/ 135 w 169"/>
                <a:gd name="T7" fmla="*/ 25 h 206"/>
                <a:gd name="T8" fmla="*/ 106 w 169"/>
                <a:gd name="T9" fmla="*/ 12 h 206"/>
                <a:gd name="T10" fmla="*/ 84 w 169"/>
                <a:gd name="T11" fmla="*/ 19 h 206"/>
                <a:gd name="T12" fmla="*/ 76 w 169"/>
                <a:gd name="T13" fmla="*/ 37 h 206"/>
                <a:gd name="T14" fmla="*/ 79 w 169"/>
                <a:gd name="T15" fmla="*/ 51 h 206"/>
                <a:gd name="T16" fmla="*/ 93 w 169"/>
                <a:gd name="T17" fmla="*/ 70 h 206"/>
                <a:gd name="T18" fmla="*/ 131 w 169"/>
                <a:gd name="T19" fmla="*/ 117 h 206"/>
                <a:gd name="T20" fmla="*/ 139 w 169"/>
                <a:gd name="T21" fmla="*/ 147 h 206"/>
                <a:gd name="T22" fmla="*/ 120 w 169"/>
                <a:gd name="T23" fmla="*/ 188 h 206"/>
                <a:gd name="T24" fmla="*/ 72 w 169"/>
                <a:gd name="T25" fmla="*/ 206 h 206"/>
                <a:gd name="T26" fmla="*/ 35 w 169"/>
                <a:gd name="T27" fmla="*/ 198 h 206"/>
                <a:gd name="T28" fmla="*/ 23 w 169"/>
                <a:gd name="T29" fmla="*/ 196 h 206"/>
                <a:gd name="T30" fmla="*/ 8 w 169"/>
                <a:gd name="T31" fmla="*/ 206 h 206"/>
                <a:gd name="T32" fmla="*/ 0 w 169"/>
                <a:gd name="T33" fmla="*/ 206 h 206"/>
                <a:gd name="T34" fmla="*/ 14 w 169"/>
                <a:gd name="T35" fmla="*/ 134 h 206"/>
                <a:gd name="T36" fmla="*/ 22 w 169"/>
                <a:gd name="T37" fmla="*/ 134 h 206"/>
                <a:gd name="T38" fmla="*/ 36 w 169"/>
                <a:gd name="T39" fmla="*/ 182 h 206"/>
                <a:gd name="T40" fmla="*/ 70 w 169"/>
                <a:gd name="T41" fmla="*/ 196 h 206"/>
                <a:gd name="T42" fmla="*/ 97 w 169"/>
                <a:gd name="T43" fmla="*/ 186 h 206"/>
                <a:gd name="T44" fmla="*/ 107 w 169"/>
                <a:gd name="T45" fmla="*/ 163 h 206"/>
                <a:gd name="T46" fmla="*/ 103 w 169"/>
                <a:gd name="T47" fmla="*/ 147 h 206"/>
                <a:gd name="T48" fmla="*/ 77 w 169"/>
                <a:gd name="T49" fmla="*/ 110 h 206"/>
                <a:gd name="T50" fmla="*/ 52 w 169"/>
                <a:gd name="T51" fmla="*/ 75 h 206"/>
                <a:gd name="T52" fmla="*/ 46 w 169"/>
                <a:gd name="T53" fmla="*/ 51 h 206"/>
                <a:gd name="T54" fmla="*/ 62 w 169"/>
                <a:gd name="T55" fmla="*/ 15 h 206"/>
                <a:gd name="T56" fmla="*/ 102 w 169"/>
                <a:gd name="T57" fmla="*/ 0 h 206"/>
                <a:gd name="T58" fmla="*/ 115 w 169"/>
                <a:gd name="T59" fmla="*/ 1 h 206"/>
                <a:gd name="T60" fmla="*/ 129 w 169"/>
                <a:gd name="T61" fmla="*/ 6 h 206"/>
                <a:gd name="T62" fmla="*/ 145 w 169"/>
                <a:gd name="T63" fmla="*/ 11 h 206"/>
                <a:gd name="T64" fmla="*/ 161 w 169"/>
                <a:gd name="T65" fmla="*/ 0 h 206"/>
                <a:gd name="T66" fmla="*/ 169 w 169"/>
                <a:gd name="T67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206" fill="norm" stroke="1" extrusionOk="0">
                  <a:moveTo>
                    <a:pt x="169" y="0"/>
                  </a:moveTo>
                  <a:lnTo>
                    <a:pt x="155" y="68"/>
                  </a:lnTo>
                  <a:lnTo>
                    <a:pt x="147" y="68"/>
                  </a:lnTo>
                  <a:cubicBezTo>
                    <a:pt x="146" y="48"/>
                    <a:pt x="142" y="34"/>
                    <a:pt x="135" y="25"/>
                  </a:cubicBezTo>
                  <a:cubicBezTo>
                    <a:pt x="127" y="16"/>
                    <a:pt x="117" y="12"/>
                    <a:pt x="106" y="12"/>
                  </a:cubicBezTo>
                  <a:cubicBezTo>
                    <a:pt x="97" y="12"/>
                    <a:pt x="90" y="14"/>
                    <a:pt x="84" y="19"/>
                  </a:cubicBezTo>
                  <a:cubicBezTo>
                    <a:pt x="79" y="24"/>
                    <a:pt x="76" y="30"/>
                    <a:pt x="76" y="37"/>
                  </a:cubicBezTo>
                  <a:cubicBezTo>
                    <a:pt x="76" y="42"/>
                    <a:pt x="77" y="47"/>
                    <a:pt x="79" y="51"/>
                  </a:cubicBezTo>
                  <a:cubicBezTo>
                    <a:pt x="81" y="56"/>
                    <a:pt x="86" y="62"/>
                    <a:pt x="93" y="70"/>
                  </a:cubicBezTo>
                  <a:cubicBezTo>
                    <a:pt x="113" y="91"/>
                    <a:pt x="125" y="107"/>
                    <a:pt x="131" y="117"/>
                  </a:cubicBezTo>
                  <a:cubicBezTo>
                    <a:pt x="136" y="128"/>
                    <a:pt x="139" y="138"/>
                    <a:pt x="139" y="147"/>
                  </a:cubicBezTo>
                  <a:cubicBezTo>
                    <a:pt x="139" y="163"/>
                    <a:pt x="133" y="176"/>
                    <a:pt x="120" y="188"/>
                  </a:cubicBezTo>
                  <a:cubicBezTo>
                    <a:pt x="107" y="200"/>
                    <a:pt x="91" y="206"/>
                    <a:pt x="72" y="206"/>
                  </a:cubicBezTo>
                  <a:cubicBezTo>
                    <a:pt x="61" y="206"/>
                    <a:pt x="49" y="203"/>
                    <a:pt x="35" y="198"/>
                  </a:cubicBezTo>
                  <a:cubicBezTo>
                    <a:pt x="30" y="197"/>
                    <a:pt x="26" y="196"/>
                    <a:pt x="23" y="196"/>
                  </a:cubicBezTo>
                  <a:cubicBezTo>
                    <a:pt x="17" y="196"/>
                    <a:pt x="12" y="199"/>
                    <a:pt x="8" y="206"/>
                  </a:cubicBezTo>
                  <a:lnTo>
                    <a:pt x="0" y="206"/>
                  </a:lnTo>
                  <a:lnTo>
                    <a:pt x="14" y="134"/>
                  </a:lnTo>
                  <a:lnTo>
                    <a:pt x="22" y="134"/>
                  </a:lnTo>
                  <a:cubicBezTo>
                    <a:pt x="23" y="157"/>
                    <a:pt x="27" y="173"/>
                    <a:pt x="36" y="182"/>
                  </a:cubicBezTo>
                  <a:cubicBezTo>
                    <a:pt x="44" y="191"/>
                    <a:pt x="56" y="196"/>
                    <a:pt x="70" y="196"/>
                  </a:cubicBezTo>
                  <a:cubicBezTo>
                    <a:pt x="82" y="196"/>
                    <a:pt x="90" y="193"/>
                    <a:pt x="97" y="186"/>
                  </a:cubicBezTo>
                  <a:cubicBezTo>
                    <a:pt x="104" y="180"/>
                    <a:pt x="107" y="172"/>
                    <a:pt x="107" y="163"/>
                  </a:cubicBezTo>
                  <a:cubicBezTo>
                    <a:pt x="107" y="157"/>
                    <a:pt x="106" y="152"/>
                    <a:pt x="103" y="147"/>
                  </a:cubicBezTo>
                  <a:cubicBezTo>
                    <a:pt x="99" y="138"/>
                    <a:pt x="91" y="126"/>
                    <a:pt x="77" y="110"/>
                  </a:cubicBezTo>
                  <a:cubicBezTo>
                    <a:pt x="64" y="94"/>
                    <a:pt x="56" y="83"/>
                    <a:pt x="52" y="75"/>
                  </a:cubicBezTo>
                  <a:cubicBezTo>
                    <a:pt x="48" y="67"/>
                    <a:pt x="46" y="59"/>
                    <a:pt x="46" y="51"/>
                  </a:cubicBezTo>
                  <a:cubicBezTo>
                    <a:pt x="46" y="37"/>
                    <a:pt x="51" y="25"/>
                    <a:pt x="62" y="15"/>
                  </a:cubicBezTo>
                  <a:cubicBezTo>
                    <a:pt x="72" y="5"/>
                    <a:pt x="86" y="0"/>
                    <a:pt x="102" y="0"/>
                  </a:cubicBezTo>
                  <a:cubicBezTo>
                    <a:pt x="107" y="0"/>
                    <a:pt x="111" y="1"/>
                    <a:pt x="115" y="1"/>
                  </a:cubicBezTo>
                  <a:cubicBezTo>
                    <a:pt x="117" y="2"/>
                    <a:pt x="122" y="4"/>
                    <a:pt x="129" y="6"/>
                  </a:cubicBezTo>
                  <a:cubicBezTo>
                    <a:pt x="137" y="9"/>
                    <a:pt x="142" y="11"/>
                    <a:pt x="145" y="11"/>
                  </a:cubicBezTo>
                  <a:cubicBezTo>
                    <a:pt x="151" y="11"/>
                    <a:pt x="156" y="7"/>
                    <a:pt x="161" y="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948651384" name="Freeform 37"/>
            <p:cNvSpPr/>
            <p:nvPr/>
          </p:nvSpPr>
          <p:spPr bwMode="auto">
            <a:xfrm>
              <a:off x="4783239" y="2507289"/>
              <a:ext cx="32" cy="38"/>
            </a:xfrm>
            <a:custGeom>
              <a:avLst/>
              <a:gdLst>
                <a:gd name="T0" fmla="*/ 162 w 180"/>
                <a:gd name="T1" fmla="*/ 152 h 206"/>
                <a:gd name="T2" fmla="*/ 116 w 180"/>
                <a:gd name="T3" fmla="*/ 193 h 206"/>
                <a:gd name="T4" fmla="*/ 66 w 180"/>
                <a:gd name="T5" fmla="*/ 206 h 206"/>
                <a:gd name="T6" fmla="*/ 17 w 180"/>
                <a:gd name="T7" fmla="*/ 188 h 206"/>
                <a:gd name="T8" fmla="*/ 0 w 180"/>
                <a:gd name="T9" fmla="*/ 141 h 206"/>
                <a:gd name="T10" fmla="*/ 18 w 180"/>
                <a:gd name="T11" fmla="*/ 74 h 206"/>
                <a:gd name="T12" fmla="*/ 69 w 180"/>
                <a:gd name="T13" fmla="*/ 21 h 206"/>
                <a:gd name="T14" fmla="*/ 132 w 180"/>
                <a:gd name="T15" fmla="*/ 0 h 206"/>
                <a:gd name="T16" fmla="*/ 168 w 180"/>
                <a:gd name="T17" fmla="*/ 10 h 206"/>
                <a:gd name="T18" fmla="*/ 180 w 180"/>
                <a:gd name="T19" fmla="*/ 35 h 206"/>
                <a:gd name="T20" fmla="*/ 172 w 180"/>
                <a:gd name="T21" fmla="*/ 58 h 206"/>
                <a:gd name="T22" fmla="*/ 157 w 180"/>
                <a:gd name="T23" fmla="*/ 66 h 206"/>
                <a:gd name="T24" fmla="*/ 145 w 180"/>
                <a:gd name="T25" fmla="*/ 62 h 206"/>
                <a:gd name="T26" fmla="*/ 141 w 180"/>
                <a:gd name="T27" fmla="*/ 51 h 206"/>
                <a:gd name="T28" fmla="*/ 142 w 180"/>
                <a:gd name="T29" fmla="*/ 43 h 206"/>
                <a:gd name="T30" fmla="*/ 149 w 180"/>
                <a:gd name="T31" fmla="*/ 34 h 206"/>
                <a:gd name="T32" fmla="*/ 155 w 180"/>
                <a:gd name="T33" fmla="*/ 27 h 206"/>
                <a:gd name="T34" fmla="*/ 157 w 180"/>
                <a:gd name="T35" fmla="*/ 22 h 206"/>
                <a:gd name="T36" fmla="*/ 152 w 180"/>
                <a:gd name="T37" fmla="*/ 15 h 206"/>
                <a:gd name="T38" fmla="*/ 134 w 180"/>
                <a:gd name="T39" fmla="*/ 10 h 206"/>
                <a:gd name="T40" fmla="*/ 91 w 180"/>
                <a:gd name="T41" fmla="*/ 26 h 206"/>
                <a:gd name="T42" fmla="*/ 55 w 180"/>
                <a:gd name="T43" fmla="*/ 69 h 206"/>
                <a:gd name="T44" fmla="*/ 37 w 180"/>
                <a:gd name="T45" fmla="*/ 137 h 206"/>
                <a:gd name="T46" fmla="*/ 50 w 180"/>
                <a:gd name="T47" fmla="*/ 173 h 206"/>
                <a:gd name="T48" fmla="*/ 85 w 180"/>
                <a:gd name="T49" fmla="*/ 186 h 206"/>
                <a:gd name="T50" fmla="*/ 118 w 180"/>
                <a:gd name="T51" fmla="*/ 178 h 206"/>
                <a:gd name="T52" fmla="*/ 156 w 180"/>
                <a:gd name="T53" fmla="*/ 147 h 206"/>
                <a:gd name="T54" fmla="*/ 162 w 180"/>
                <a:gd name="T55" fmla="*/ 152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" h="206" fill="norm" stroke="1" extrusionOk="0">
                  <a:moveTo>
                    <a:pt x="162" y="152"/>
                  </a:moveTo>
                  <a:cubicBezTo>
                    <a:pt x="147" y="171"/>
                    <a:pt x="131" y="184"/>
                    <a:pt x="116" y="193"/>
                  </a:cubicBezTo>
                  <a:cubicBezTo>
                    <a:pt x="100" y="202"/>
                    <a:pt x="84" y="206"/>
                    <a:pt x="66" y="206"/>
                  </a:cubicBezTo>
                  <a:cubicBezTo>
                    <a:pt x="45" y="206"/>
                    <a:pt x="29" y="200"/>
                    <a:pt x="17" y="188"/>
                  </a:cubicBezTo>
                  <a:cubicBezTo>
                    <a:pt x="5" y="176"/>
                    <a:pt x="0" y="161"/>
                    <a:pt x="0" y="141"/>
                  </a:cubicBezTo>
                  <a:cubicBezTo>
                    <a:pt x="0" y="118"/>
                    <a:pt x="6" y="96"/>
                    <a:pt x="18" y="74"/>
                  </a:cubicBezTo>
                  <a:cubicBezTo>
                    <a:pt x="31" y="52"/>
                    <a:pt x="48" y="34"/>
                    <a:pt x="69" y="21"/>
                  </a:cubicBezTo>
                  <a:cubicBezTo>
                    <a:pt x="91" y="7"/>
                    <a:pt x="112" y="0"/>
                    <a:pt x="132" y="0"/>
                  </a:cubicBezTo>
                  <a:cubicBezTo>
                    <a:pt x="148" y="0"/>
                    <a:pt x="160" y="4"/>
                    <a:pt x="168" y="10"/>
                  </a:cubicBezTo>
                  <a:cubicBezTo>
                    <a:pt x="176" y="17"/>
                    <a:pt x="180" y="25"/>
                    <a:pt x="180" y="35"/>
                  </a:cubicBezTo>
                  <a:cubicBezTo>
                    <a:pt x="180" y="44"/>
                    <a:pt x="177" y="52"/>
                    <a:pt x="172" y="58"/>
                  </a:cubicBezTo>
                  <a:cubicBezTo>
                    <a:pt x="168" y="64"/>
                    <a:pt x="163" y="66"/>
                    <a:pt x="157" y="66"/>
                  </a:cubicBezTo>
                  <a:cubicBezTo>
                    <a:pt x="152" y="66"/>
                    <a:pt x="148" y="65"/>
                    <a:pt x="145" y="62"/>
                  </a:cubicBezTo>
                  <a:cubicBezTo>
                    <a:pt x="142" y="59"/>
                    <a:pt x="141" y="55"/>
                    <a:pt x="141" y="51"/>
                  </a:cubicBezTo>
                  <a:cubicBezTo>
                    <a:pt x="141" y="48"/>
                    <a:pt x="141" y="45"/>
                    <a:pt x="142" y="43"/>
                  </a:cubicBezTo>
                  <a:cubicBezTo>
                    <a:pt x="143" y="40"/>
                    <a:pt x="146" y="38"/>
                    <a:pt x="149" y="34"/>
                  </a:cubicBezTo>
                  <a:cubicBezTo>
                    <a:pt x="153" y="31"/>
                    <a:pt x="155" y="29"/>
                    <a:pt x="155" y="27"/>
                  </a:cubicBezTo>
                  <a:cubicBezTo>
                    <a:pt x="156" y="26"/>
                    <a:pt x="157" y="24"/>
                    <a:pt x="157" y="22"/>
                  </a:cubicBezTo>
                  <a:cubicBezTo>
                    <a:pt x="157" y="19"/>
                    <a:pt x="155" y="17"/>
                    <a:pt x="152" y="15"/>
                  </a:cubicBezTo>
                  <a:cubicBezTo>
                    <a:pt x="148" y="12"/>
                    <a:pt x="142" y="10"/>
                    <a:pt x="134" y="10"/>
                  </a:cubicBezTo>
                  <a:cubicBezTo>
                    <a:pt x="120" y="10"/>
                    <a:pt x="105" y="15"/>
                    <a:pt x="91" y="26"/>
                  </a:cubicBezTo>
                  <a:cubicBezTo>
                    <a:pt x="77" y="36"/>
                    <a:pt x="65" y="50"/>
                    <a:pt x="55" y="69"/>
                  </a:cubicBezTo>
                  <a:cubicBezTo>
                    <a:pt x="43" y="92"/>
                    <a:pt x="37" y="114"/>
                    <a:pt x="37" y="137"/>
                  </a:cubicBezTo>
                  <a:cubicBezTo>
                    <a:pt x="37" y="152"/>
                    <a:pt x="41" y="164"/>
                    <a:pt x="50" y="173"/>
                  </a:cubicBezTo>
                  <a:cubicBezTo>
                    <a:pt x="58" y="182"/>
                    <a:pt x="70" y="186"/>
                    <a:pt x="85" y="186"/>
                  </a:cubicBezTo>
                  <a:cubicBezTo>
                    <a:pt x="96" y="186"/>
                    <a:pt x="107" y="183"/>
                    <a:pt x="118" y="178"/>
                  </a:cubicBezTo>
                  <a:cubicBezTo>
                    <a:pt x="130" y="172"/>
                    <a:pt x="142" y="162"/>
                    <a:pt x="156" y="147"/>
                  </a:cubicBezTo>
                  <a:lnTo>
                    <a:pt x="162" y="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863300988" name="Freeform 38"/>
            <p:cNvSpPr/>
            <p:nvPr/>
          </p:nvSpPr>
          <p:spPr bwMode="auto">
            <a:xfrm>
              <a:off x="4783275" y="2507268"/>
              <a:ext cx="36" cy="59"/>
            </a:xfrm>
            <a:custGeom>
              <a:avLst/>
              <a:gdLst>
                <a:gd name="T0" fmla="*/ 124 w 199"/>
                <a:gd name="T1" fmla="*/ 0 h 320"/>
                <a:gd name="T2" fmla="*/ 61 w 199"/>
                <a:gd name="T3" fmla="*/ 215 h 320"/>
                <a:gd name="T4" fmla="*/ 124 w 199"/>
                <a:gd name="T5" fmla="*/ 134 h 320"/>
                <a:gd name="T6" fmla="*/ 167 w 199"/>
                <a:gd name="T7" fmla="*/ 114 h 320"/>
                <a:gd name="T8" fmla="*/ 185 w 199"/>
                <a:gd name="T9" fmla="*/ 122 h 320"/>
                <a:gd name="T10" fmla="*/ 192 w 199"/>
                <a:gd name="T11" fmla="*/ 141 h 320"/>
                <a:gd name="T12" fmla="*/ 186 w 199"/>
                <a:gd name="T13" fmla="*/ 176 h 320"/>
                <a:gd name="T14" fmla="*/ 159 w 199"/>
                <a:gd name="T15" fmla="*/ 269 h 320"/>
                <a:gd name="T16" fmla="*/ 154 w 199"/>
                <a:gd name="T17" fmla="*/ 288 h 320"/>
                <a:gd name="T18" fmla="*/ 156 w 199"/>
                <a:gd name="T19" fmla="*/ 293 h 320"/>
                <a:gd name="T20" fmla="*/ 160 w 199"/>
                <a:gd name="T21" fmla="*/ 295 h 320"/>
                <a:gd name="T22" fmla="*/ 167 w 199"/>
                <a:gd name="T23" fmla="*/ 292 h 320"/>
                <a:gd name="T24" fmla="*/ 192 w 199"/>
                <a:gd name="T25" fmla="*/ 265 h 320"/>
                <a:gd name="T26" fmla="*/ 199 w 199"/>
                <a:gd name="T27" fmla="*/ 269 h 320"/>
                <a:gd name="T28" fmla="*/ 178 w 199"/>
                <a:gd name="T29" fmla="*/ 295 h 320"/>
                <a:gd name="T30" fmla="*/ 155 w 199"/>
                <a:gd name="T31" fmla="*/ 315 h 320"/>
                <a:gd name="T32" fmla="*/ 137 w 199"/>
                <a:gd name="T33" fmla="*/ 320 h 320"/>
                <a:gd name="T34" fmla="*/ 124 w 199"/>
                <a:gd name="T35" fmla="*/ 315 h 320"/>
                <a:gd name="T36" fmla="*/ 119 w 199"/>
                <a:gd name="T37" fmla="*/ 301 h 320"/>
                <a:gd name="T38" fmla="*/ 127 w 199"/>
                <a:gd name="T39" fmla="*/ 265 h 320"/>
                <a:gd name="T40" fmla="*/ 152 w 199"/>
                <a:gd name="T41" fmla="*/ 176 h 320"/>
                <a:gd name="T42" fmla="*/ 157 w 199"/>
                <a:gd name="T43" fmla="*/ 150 h 320"/>
                <a:gd name="T44" fmla="*/ 154 w 199"/>
                <a:gd name="T45" fmla="*/ 143 h 320"/>
                <a:gd name="T46" fmla="*/ 147 w 199"/>
                <a:gd name="T47" fmla="*/ 141 h 320"/>
                <a:gd name="T48" fmla="*/ 132 w 199"/>
                <a:gd name="T49" fmla="*/ 145 h 320"/>
                <a:gd name="T50" fmla="*/ 98 w 199"/>
                <a:gd name="T51" fmla="*/ 180 h 320"/>
                <a:gd name="T52" fmla="*/ 62 w 199"/>
                <a:gd name="T53" fmla="*/ 235 h 320"/>
                <a:gd name="T54" fmla="*/ 47 w 199"/>
                <a:gd name="T55" fmla="*/ 269 h 320"/>
                <a:gd name="T56" fmla="*/ 33 w 199"/>
                <a:gd name="T57" fmla="*/ 315 h 320"/>
                <a:gd name="T58" fmla="*/ 0 w 199"/>
                <a:gd name="T59" fmla="*/ 315 h 320"/>
                <a:gd name="T60" fmla="*/ 72 w 199"/>
                <a:gd name="T61" fmla="*/ 61 h 320"/>
                <a:gd name="T62" fmla="*/ 80 w 199"/>
                <a:gd name="T63" fmla="*/ 34 h 320"/>
                <a:gd name="T64" fmla="*/ 75 w 199"/>
                <a:gd name="T65" fmla="*/ 24 h 320"/>
                <a:gd name="T66" fmla="*/ 64 w 199"/>
                <a:gd name="T67" fmla="*/ 19 h 320"/>
                <a:gd name="T68" fmla="*/ 52 w 199"/>
                <a:gd name="T69" fmla="*/ 21 h 320"/>
                <a:gd name="T70" fmla="*/ 47 w 199"/>
                <a:gd name="T71" fmla="*/ 21 h 320"/>
                <a:gd name="T72" fmla="*/ 47 w 199"/>
                <a:gd name="T73" fmla="*/ 13 h 320"/>
                <a:gd name="T74" fmla="*/ 124 w 199"/>
                <a:gd name="T7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9" h="320" fill="norm" stroke="1" extrusionOk="0">
                  <a:moveTo>
                    <a:pt x="124" y="0"/>
                  </a:moveTo>
                  <a:lnTo>
                    <a:pt x="61" y="215"/>
                  </a:lnTo>
                  <a:cubicBezTo>
                    <a:pt x="88" y="174"/>
                    <a:pt x="109" y="147"/>
                    <a:pt x="124" y="134"/>
                  </a:cubicBezTo>
                  <a:cubicBezTo>
                    <a:pt x="139" y="121"/>
                    <a:pt x="154" y="114"/>
                    <a:pt x="167" y="114"/>
                  </a:cubicBezTo>
                  <a:cubicBezTo>
                    <a:pt x="174" y="114"/>
                    <a:pt x="180" y="117"/>
                    <a:pt x="185" y="122"/>
                  </a:cubicBezTo>
                  <a:cubicBezTo>
                    <a:pt x="190" y="126"/>
                    <a:pt x="192" y="133"/>
                    <a:pt x="192" y="141"/>
                  </a:cubicBezTo>
                  <a:cubicBezTo>
                    <a:pt x="192" y="151"/>
                    <a:pt x="190" y="163"/>
                    <a:pt x="186" y="176"/>
                  </a:cubicBezTo>
                  <a:lnTo>
                    <a:pt x="159" y="269"/>
                  </a:lnTo>
                  <a:cubicBezTo>
                    <a:pt x="156" y="280"/>
                    <a:pt x="154" y="287"/>
                    <a:pt x="154" y="288"/>
                  </a:cubicBezTo>
                  <a:cubicBezTo>
                    <a:pt x="154" y="290"/>
                    <a:pt x="154" y="292"/>
                    <a:pt x="156" y="293"/>
                  </a:cubicBezTo>
                  <a:cubicBezTo>
                    <a:pt x="157" y="294"/>
                    <a:pt x="158" y="295"/>
                    <a:pt x="160" y="295"/>
                  </a:cubicBezTo>
                  <a:cubicBezTo>
                    <a:pt x="162" y="295"/>
                    <a:pt x="164" y="294"/>
                    <a:pt x="167" y="292"/>
                  </a:cubicBezTo>
                  <a:cubicBezTo>
                    <a:pt x="175" y="286"/>
                    <a:pt x="183" y="277"/>
                    <a:pt x="192" y="265"/>
                  </a:cubicBezTo>
                  <a:lnTo>
                    <a:pt x="199" y="269"/>
                  </a:lnTo>
                  <a:cubicBezTo>
                    <a:pt x="194" y="277"/>
                    <a:pt x="187" y="286"/>
                    <a:pt x="178" y="295"/>
                  </a:cubicBezTo>
                  <a:cubicBezTo>
                    <a:pt x="169" y="304"/>
                    <a:pt x="161" y="311"/>
                    <a:pt x="155" y="315"/>
                  </a:cubicBezTo>
                  <a:cubicBezTo>
                    <a:pt x="148" y="318"/>
                    <a:pt x="142" y="320"/>
                    <a:pt x="137" y="320"/>
                  </a:cubicBezTo>
                  <a:cubicBezTo>
                    <a:pt x="132" y="320"/>
                    <a:pt x="128" y="318"/>
                    <a:pt x="124" y="315"/>
                  </a:cubicBezTo>
                  <a:cubicBezTo>
                    <a:pt x="121" y="311"/>
                    <a:pt x="119" y="307"/>
                    <a:pt x="119" y="301"/>
                  </a:cubicBezTo>
                  <a:cubicBezTo>
                    <a:pt x="119" y="295"/>
                    <a:pt x="121" y="283"/>
                    <a:pt x="127" y="265"/>
                  </a:cubicBezTo>
                  <a:lnTo>
                    <a:pt x="152" y="176"/>
                  </a:lnTo>
                  <a:cubicBezTo>
                    <a:pt x="155" y="165"/>
                    <a:pt x="157" y="157"/>
                    <a:pt x="157" y="150"/>
                  </a:cubicBezTo>
                  <a:cubicBezTo>
                    <a:pt x="157" y="147"/>
                    <a:pt x="156" y="145"/>
                    <a:pt x="154" y="143"/>
                  </a:cubicBezTo>
                  <a:cubicBezTo>
                    <a:pt x="152" y="141"/>
                    <a:pt x="150" y="141"/>
                    <a:pt x="147" y="141"/>
                  </a:cubicBezTo>
                  <a:cubicBezTo>
                    <a:pt x="143" y="141"/>
                    <a:pt x="138" y="142"/>
                    <a:pt x="132" y="145"/>
                  </a:cubicBezTo>
                  <a:cubicBezTo>
                    <a:pt x="122" y="152"/>
                    <a:pt x="111" y="163"/>
                    <a:pt x="98" y="180"/>
                  </a:cubicBezTo>
                  <a:cubicBezTo>
                    <a:pt x="94" y="185"/>
                    <a:pt x="82" y="203"/>
                    <a:pt x="62" y="235"/>
                  </a:cubicBezTo>
                  <a:cubicBezTo>
                    <a:pt x="56" y="246"/>
                    <a:pt x="51" y="257"/>
                    <a:pt x="47" y="269"/>
                  </a:cubicBezTo>
                  <a:lnTo>
                    <a:pt x="33" y="315"/>
                  </a:lnTo>
                  <a:lnTo>
                    <a:pt x="0" y="315"/>
                  </a:lnTo>
                  <a:lnTo>
                    <a:pt x="72" y="61"/>
                  </a:lnTo>
                  <a:lnTo>
                    <a:pt x="80" y="34"/>
                  </a:lnTo>
                  <a:cubicBezTo>
                    <a:pt x="80" y="30"/>
                    <a:pt x="79" y="27"/>
                    <a:pt x="75" y="24"/>
                  </a:cubicBezTo>
                  <a:cubicBezTo>
                    <a:pt x="72" y="21"/>
                    <a:pt x="68" y="19"/>
                    <a:pt x="64" y="19"/>
                  </a:cubicBezTo>
                  <a:cubicBezTo>
                    <a:pt x="61" y="19"/>
                    <a:pt x="57" y="20"/>
                    <a:pt x="52" y="21"/>
                  </a:cubicBezTo>
                  <a:lnTo>
                    <a:pt x="47" y="21"/>
                  </a:lnTo>
                  <a:lnTo>
                    <a:pt x="47" y="1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223043930" name="Freeform 39"/>
            <p:cNvSpPr>
              <a:spLocks noEditPoints="1"/>
            </p:cNvSpPr>
            <p:nvPr/>
          </p:nvSpPr>
          <p:spPr bwMode="auto">
            <a:xfrm>
              <a:off x="4783320" y="2507274"/>
              <a:ext cx="18" cy="55"/>
            </a:xfrm>
            <a:custGeom>
              <a:avLst/>
              <a:gdLst>
                <a:gd name="T0" fmla="*/ 82 w 104"/>
                <a:gd name="T1" fmla="*/ 0 h 294"/>
                <a:gd name="T2" fmla="*/ 97 w 104"/>
                <a:gd name="T3" fmla="*/ 7 h 294"/>
                <a:gd name="T4" fmla="*/ 104 w 104"/>
                <a:gd name="T5" fmla="*/ 23 h 294"/>
                <a:gd name="T6" fmla="*/ 97 w 104"/>
                <a:gd name="T7" fmla="*/ 38 h 294"/>
                <a:gd name="T8" fmla="*/ 82 w 104"/>
                <a:gd name="T9" fmla="*/ 45 h 294"/>
                <a:gd name="T10" fmla="*/ 66 w 104"/>
                <a:gd name="T11" fmla="*/ 38 h 294"/>
                <a:gd name="T12" fmla="*/ 59 w 104"/>
                <a:gd name="T13" fmla="*/ 23 h 294"/>
                <a:gd name="T14" fmla="*/ 66 w 104"/>
                <a:gd name="T15" fmla="*/ 7 h 294"/>
                <a:gd name="T16" fmla="*/ 82 w 104"/>
                <a:gd name="T17" fmla="*/ 0 h 294"/>
                <a:gd name="T18" fmla="*/ 84 w 104"/>
                <a:gd name="T19" fmla="*/ 88 h 294"/>
                <a:gd name="T20" fmla="*/ 41 w 104"/>
                <a:gd name="T21" fmla="*/ 243 h 294"/>
                <a:gd name="T22" fmla="*/ 36 w 104"/>
                <a:gd name="T23" fmla="*/ 262 h 294"/>
                <a:gd name="T24" fmla="*/ 38 w 104"/>
                <a:gd name="T25" fmla="*/ 268 h 294"/>
                <a:gd name="T26" fmla="*/ 43 w 104"/>
                <a:gd name="T27" fmla="*/ 270 h 294"/>
                <a:gd name="T28" fmla="*/ 51 w 104"/>
                <a:gd name="T29" fmla="*/ 267 h 294"/>
                <a:gd name="T30" fmla="*/ 77 w 104"/>
                <a:gd name="T31" fmla="*/ 238 h 294"/>
                <a:gd name="T32" fmla="*/ 84 w 104"/>
                <a:gd name="T33" fmla="*/ 243 h 294"/>
                <a:gd name="T34" fmla="*/ 49 w 104"/>
                <a:gd name="T35" fmla="*/ 282 h 294"/>
                <a:gd name="T36" fmla="*/ 20 w 104"/>
                <a:gd name="T37" fmla="*/ 294 h 294"/>
                <a:gd name="T38" fmla="*/ 5 w 104"/>
                <a:gd name="T39" fmla="*/ 289 h 294"/>
                <a:gd name="T40" fmla="*/ 0 w 104"/>
                <a:gd name="T41" fmla="*/ 275 h 294"/>
                <a:gd name="T42" fmla="*/ 5 w 104"/>
                <a:gd name="T43" fmla="*/ 248 h 294"/>
                <a:gd name="T44" fmla="*/ 34 w 104"/>
                <a:gd name="T45" fmla="*/ 148 h 294"/>
                <a:gd name="T46" fmla="*/ 41 w 104"/>
                <a:gd name="T47" fmla="*/ 118 h 294"/>
                <a:gd name="T48" fmla="*/ 38 w 104"/>
                <a:gd name="T49" fmla="*/ 110 h 294"/>
                <a:gd name="T50" fmla="*/ 28 w 104"/>
                <a:gd name="T51" fmla="*/ 107 h 294"/>
                <a:gd name="T52" fmla="*/ 8 w 104"/>
                <a:gd name="T53" fmla="*/ 109 h 294"/>
                <a:gd name="T54" fmla="*/ 8 w 104"/>
                <a:gd name="T55" fmla="*/ 101 h 294"/>
                <a:gd name="T56" fmla="*/ 84 w 104"/>
                <a:gd name="T57" fmla="*/ 88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4" h="294" fill="norm" stroke="1" extrusionOk="0">
                  <a:moveTo>
                    <a:pt x="82" y="0"/>
                  </a:moveTo>
                  <a:cubicBezTo>
                    <a:pt x="88" y="0"/>
                    <a:pt x="93" y="3"/>
                    <a:pt x="97" y="7"/>
                  </a:cubicBezTo>
                  <a:cubicBezTo>
                    <a:pt x="102" y="11"/>
                    <a:pt x="104" y="16"/>
                    <a:pt x="104" y="23"/>
                  </a:cubicBezTo>
                  <a:cubicBezTo>
                    <a:pt x="104" y="29"/>
                    <a:pt x="101" y="34"/>
                    <a:pt x="97" y="38"/>
                  </a:cubicBezTo>
                  <a:cubicBezTo>
                    <a:pt x="93" y="43"/>
                    <a:pt x="88" y="45"/>
                    <a:pt x="82" y="45"/>
                  </a:cubicBezTo>
                  <a:cubicBezTo>
                    <a:pt x="76" y="45"/>
                    <a:pt x="70" y="43"/>
                    <a:pt x="66" y="38"/>
                  </a:cubicBezTo>
                  <a:cubicBezTo>
                    <a:pt x="62" y="34"/>
                    <a:pt x="59" y="29"/>
                    <a:pt x="59" y="23"/>
                  </a:cubicBezTo>
                  <a:cubicBezTo>
                    <a:pt x="59" y="16"/>
                    <a:pt x="62" y="11"/>
                    <a:pt x="66" y="7"/>
                  </a:cubicBezTo>
                  <a:cubicBezTo>
                    <a:pt x="70" y="3"/>
                    <a:pt x="75" y="0"/>
                    <a:pt x="82" y="0"/>
                  </a:cubicBezTo>
                  <a:close/>
                  <a:moveTo>
                    <a:pt x="84" y="88"/>
                  </a:moveTo>
                  <a:lnTo>
                    <a:pt x="41" y="243"/>
                  </a:lnTo>
                  <a:cubicBezTo>
                    <a:pt x="38" y="254"/>
                    <a:pt x="36" y="260"/>
                    <a:pt x="36" y="262"/>
                  </a:cubicBezTo>
                  <a:cubicBezTo>
                    <a:pt x="36" y="265"/>
                    <a:pt x="37" y="267"/>
                    <a:pt x="38" y="268"/>
                  </a:cubicBezTo>
                  <a:cubicBezTo>
                    <a:pt x="40" y="270"/>
                    <a:pt x="41" y="270"/>
                    <a:pt x="43" y="270"/>
                  </a:cubicBezTo>
                  <a:cubicBezTo>
                    <a:pt x="45" y="270"/>
                    <a:pt x="48" y="269"/>
                    <a:pt x="51" y="267"/>
                  </a:cubicBezTo>
                  <a:cubicBezTo>
                    <a:pt x="60" y="260"/>
                    <a:pt x="68" y="251"/>
                    <a:pt x="77" y="238"/>
                  </a:cubicBezTo>
                  <a:lnTo>
                    <a:pt x="84" y="243"/>
                  </a:lnTo>
                  <a:cubicBezTo>
                    <a:pt x="74" y="259"/>
                    <a:pt x="63" y="272"/>
                    <a:pt x="49" y="282"/>
                  </a:cubicBezTo>
                  <a:cubicBezTo>
                    <a:pt x="39" y="290"/>
                    <a:pt x="29" y="294"/>
                    <a:pt x="20" y="294"/>
                  </a:cubicBezTo>
                  <a:cubicBezTo>
                    <a:pt x="14" y="294"/>
                    <a:pt x="9" y="292"/>
                    <a:pt x="5" y="289"/>
                  </a:cubicBezTo>
                  <a:cubicBezTo>
                    <a:pt x="2" y="285"/>
                    <a:pt x="0" y="280"/>
                    <a:pt x="0" y="275"/>
                  </a:cubicBezTo>
                  <a:cubicBezTo>
                    <a:pt x="0" y="269"/>
                    <a:pt x="2" y="260"/>
                    <a:pt x="5" y="248"/>
                  </a:cubicBezTo>
                  <a:lnTo>
                    <a:pt x="34" y="148"/>
                  </a:lnTo>
                  <a:cubicBezTo>
                    <a:pt x="39" y="132"/>
                    <a:pt x="41" y="122"/>
                    <a:pt x="41" y="118"/>
                  </a:cubicBezTo>
                  <a:cubicBezTo>
                    <a:pt x="41" y="115"/>
                    <a:pt x="40" y="112"/>
                    <a:pt x="38" y="110"/>
                  </a:cubicBezTo>
                  <a:cubicBezTo>
                    <a:pt x="35" y="108"/>
                    <a:pt x="32" y="107"/>
                    <a:pt x="28" y="107"/>
                  </a:cubicBezTo>
                  <a:cubicBezTo>
                    <a:pt x="25" y="107"/>
                    <a:pt x="18" y="108"/>
                    <a:pt x="8" y="109"/>
                  </a:cubicBezTo>
                  <a:lnTo>
                    <a:pt x="8" y="101"/>
                  </a:lnTo>
                  <a:lnTo>
                    <a:pt x="84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924944705" name="Freeform 40"/>
            <p:cNvSpPr/>
            <p:nvPr/>
          </p:nvSpPr>
          <p:spPr bwMode="auto">
            <a:xfrm>
              <a:off x="4783342" y="2507289"/>
              <a:ext cx="31" cy="37"/>
            </a:xfrm>
            <a:custGeom>
              <a:avLst/>
              <a:gdLst>
                <a:gd name="T0" fmla="*/ 15 w 175"/>
                <a:gd name="T1" fmla="*/ 13 h 201"/>
                <a:gd name="T2" fmla="*/ 91 w 175"/>
                <a:gd name="T3" fmla="*/ 0 h 201"/>
                <a:gd name="T4" fmla="*/ 59 w 175"/>
                <a:gd name="T5" fmla="*/ 108 h 201"/>
                <a:gd name="T6" fmla="*/ 130 w 175"/>
                <a:gd name="T7" fmla="*/ 15 h 201"/>
                <a:gd name="T8" fmla="*/ 159 w 175"/>
                <a:gd name="T9" fmla="*/ 0 h 201"/>
                <a:gd name="T10" fmla="*/ 170 w 175"/>
                <a:gd name="T11" fmla="*/ 5 h 201"/>
                <a:gd name="T12" fmla="*/ 175 w 175"/>
                <a:gd name="T13" fmla="*/ 17 h 201"/>
                <a:gd name="T14" fmla="*/ 167 w 175"/>
                <a:gd name="T15" fmla="*/ 45 h 201"/>
                <a:gd name="T16" fmla="*/ 152 w 175"/>
                <a:gd name="T17" fmla="*/ 55 h 201"/>
                <a:gd name="T18" fmla="*/ 143 w 175"/>
                <a:gd name="T19" fmla="*/ 52 h 201"/>
                <a:gd name="T20" fmla="*/ 139 w 175"/>
                <a:gd name="T21" fmla="*/ 41 h 201"/>
                <a:gd name="T22" fmla="*/ 137 w 175"/>
                <a:gd name="T23" fmla="*/ 36 h 201"/>
                <a:gd name="T24" fmla="*/ 132 w 175"/>
                <a:gd name="T25" fmla="*/ 34 h 201"/>
                <a:gd name="T26" fmla="*/ 125 w 175"/>
                <a:gd name="T27" fmla="*/ 36 h 201"/>
                <a:gd name="T28" fmla="*/ 108 w 175"/>
                <a:gd name="T29" fmla="*/ 53 h 201"/>
                <a:gd name="T30" fmla="*/ 68 w 175"/>
                <a:gd name="T31" fmla="*/ 109 h 201"/>
                <a:gd name="T32" fmla="*/ 52 w 175"/>
                <a:gd name="T33" fmla="*/ 142 h 201"/>
                <a:gd name="T34" fmla="*/ 41 w 175"/>
                <a:gd name="T35" fmla="*/ 173 h 201"/>
                <a:gd name="T36" fmla="*/ 34 w 175"/>
                <a:gd name="T37" fmla="*/ 201 h 201"/>
                <a:gd name="T38" fmla="*/ 0 w 175"/>
                <a:gd name="T39" fmla="*/ 201 h 201"/>
                <a:gd name="T40" fmla="*/ 41 w 175"/>
                <a:gd name="T41" fmla="*/ 63 h 201"/>
                <a:gd name="T42" fmla="*/ 48 w 175"/>
                <a:gd name="T43" fmla="*/ 29 h 201"/>
                <a:gd name="T44" fmla="*/ 45 w 175"/>
                <a:gd name="T45" fmla="*/ 22 h 201"/>
                <a:gd name="T46" fmla="*/ 33 w 175"/>
                <a:gd name="T47" fmla="*/ 19 h 201"/>
                <a:gd name="T48" fmla="*/ 16 w 175"/>
                <a:gd name="T49" fmla="*/ 21 h 201"/>
                <a:gd name="T50" fmla="*/ 15 w 175"/>
                <a:gd name="T51" fmla="*/ 1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5" h="201" fill="norm" stroke="1" extrusionOk="0">
                  <a:moveTo>
                    <a:pt x="15" y="13"/>
                  </a:moveTo>
                  <a:lnTo>
                    <a:pt x="91" y="0"/>
                  </a:lnTo>
                  <a:lnTo>
                    <a:pt x="59" y="108"/>
                  </a:lnTo>
                  <a:cubicBezTo>
                    <a:pt x="85" y="64"/>
                    <a:pt x="109" y="33"/>
                    <a:pt x="130" y="15"/>
                  </a:cubicBezTo>
                  <a:cubicBezTo>
                    <a:pt x="142" y="5"/>
                    <a:pt x="151" y="0"/>
                    <a:pt x="159" y="0"/>
                  </a:cubicBezTo>
                  <a:cubicBezTo>
                    <a:pt x="164" y="0"/>
                    <a:pt x="168" y="2"/>
                    <a:pt x="170" y="5"/>
                  </a:cubicBezTo>
                  <a:cubicBezTo>
                    <a:pt x="173" y="7"/>
                    <a:pt x="175" y="12"/>
                    <a:pt x="175" y="17"/>
                  </a:cubicBezTo>
                  <a:cubicBezTo>
                    <a:pt x="175" y="27"/>
                    <a:pt x="172" y="36"/>
                    <a:pt x="167" y="45"/>
                  </a:cubicBezTo>
                  <a:cubicBezTo>
                    <a:pt x="164" y="52"/>
                    <a:pt x="159" y="55"/>
                    <a:pt x="152" y="55"/>
                  </a:cubicBezTo>
                  <a:cubicBezTo>
                    <a:pt x="148" y="55"/>
                    <a:pt x="146" y="54"/>
                    <a:pt x="143" y="52"/>
                  </a:cubicBezTo>
                  <a:cubicBezTo>
                    <a:pt x="141" y="49"/>
                    <a:pt x="139" y="46"/>
                    <a:pt x="139" y="41"/>
                  </a:cubicBezTo>
                  <a:cubicBezTo>
                    <a:pt x="138" y="39"/>
                    <a:pt x="138" y="37"/>
                    <a:pt x="137" y="36"/>
                  </a:cubicBezTo>
                  <a:cubicBezTo>
                    <a:pt x="135" y="35"/>
                    <a:pt x="134" y="34"/>
                    <a:pt x="132" y="34"/>
                  </a:cubicBezTo>
                  <a:cubicBezTo>
                    <a:pt x="130" y="34"/>
                    <a:pt x="128" y="35"/>
                    <a:pt x="125" y="36"/>
                  </a:cubicBezTo>
                  <a:cubicBezTo>
                    <a:pt x="121" y="38"/>
                    <a:pt x="116" y="44"/>
                    <a:pt x="108" y="53"/>
                  </a:cubicBezTo>
                  <a:cubicBezTo>
                    <a:pt x="96" y="68"/>
                    <a:pt x="82" y="86"/>
                    <a:pt x="68" y="109"/>
                  </a:cubicBezTo>
                  <a:cubicBezTo>
                    <a:pt x="62" y="119"/>
                    <a:pt x="56" y="130"/>
                    <a:pt x="52" y="142"/>
                  </a:cubicBezTo>
                  <a:cubicBezTo>
                    <a:pt x="46" y="159"/>
                    <a:pt x="42" y="169"/>
                    <a:pt x="41" y="173"/>
                  </a:cubicBezTo>
                  <a:lnTo>
                    <a:pt x="34" y="201"/>
                  </a:lnTo>
                  <a:lnTo>
                    <a:pt x="0" y="201"/>
                  </a:lnTo>
                  <a:lnTo>
                    <a:pt x="41" y="63"/>
                  </a:lnTo>
                  <a:cubicBezTo>
                    <a:pt x="46" y="47"/>
                    <a:pt x="48" y="36"/>
                    <a:pt x="48" y="29"/>
                  </a:cubicBezTo>
                  <a:cubicBezTo>
                    <a:pt x="48" y="26"/>
                    <a:pt x="47" y="24"/>
                    <a:pt x="45" y="22"/>
                  </a:cubicBezTo>
                  <a:cubicBezTo>
                    <a:pt x="42" y="20"/>
                    <a:pt x="38" y="19"/>
                    <a:pt x="33" y="19"/>
                  </a:cubicBezTo>
                  <a:cubicBezTo>
                    <a:pt x="30" y="19"/>
                    <a:pt x="25" y="20"/>
                    <a:pt x="16" y="21"/>
                  </a:cubicBezTo>
                  <a:lnTo>
                    <a:pt x="15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855040579" name="Freeform 41"/>
            <p:cNvSpPr>
              <a:spLocks noEditPoints="1"/>
            </p:cNvSpPr>
            <p:nvPr/>
          </p:nvSpPr>
          <p:spPr bwMode="auto">
            <a:xfrm>
              <a:off x="4783365" y="2507289"/>
              <a:ext cx="48" cy="55"/>
            </a:xfrm>
            <a:custGeom>
              <a:avLst/>
              <a:gdLst>
                <a:gd name="T0" fmla="*/ 150 w 264"/>
                <a:gd name="T1" fmla="*/ 0 h 298"/>
                <a:gd name="T2" fmla="*/ 135 w 264"/>
                <a:gd name="T3" fmla="*/ 51 h 298"/>
                <a:gd name="T4" fmla="*/ 178 w 264"/>
                <a:gd name="T5" fmla="*/ 12 h 298"/>
                <a:gd name="T6" fmla="*/ 216 w 264"/>
                <a:gd name="T7" fmla="*/ 0 h 298"/>
                <a:gd name="T8" fmla="*/ 250 w 264"/>
                <a:gd name="T9" fmla="*/ 16 h 298"/>
                <a:gd name="T10" fmla="*/ 264 w 264"/>
                <a:gd name="T11" fmla="*/ 56 h 298"/>
                <a:gd name="T12" fmla="*/ 224 w 264"/>
                <a:gd name="T13" fmla="*/ 156 h 298"/>
                <a:gd name="T14" fmla="*/ 132 w 264"/>
                <a:gd name="T15" fmla="*/ 206 h 298"/>
                <a:gd name="T16" fmla="*/ 112 w 264"/>
                <a:gd name="T17" fmla="*/ 204 h 298"/>
                <a:gd name="T18" fmla="*/ 93 w 264"/>
                <a:gd name="T19" fmla="*/ 195 h 298"/>
                <a:gd name="T20" fmla="*/ 77 w 264"/>
                <a:gd name="T21" fmla="*/ 252 h 298"/>
                <a:gd name="T22" fmla="*/ 72 w 264"/>
                <a:gd name="T23" fmla="*/ 274 h 298"/>
                <a:gd name="T24" fmla="*/ 75 w 264"/>
                <a:gd name="T25" fmla="*/ 282 h 298"/>
                <a:gd name="T26" fmla="*/ 83 w 264"/>
                <a:gd name="T27" fmla="*/ 287 h 298"/>
                <a:gd name="T28" fmla="*/ 106 w 264"/>
                <a:gd name="T29" fmla="*/ 289 h 298"/>
                <a:gd name="T30" fmla="*/ 104 w 264"/>
                <a:gd name="T31" fmla="*/ 298 h 298"/>
                <a:gd name="T32" fmla="*/ 0 w 264"/>
                <a:gd name="T33" fmla="*/ 298 h 298"/>
                <a:gd name="T34" fmla="*/ 2 w 264"/>
                <a:gd name="T35" fmla="*/ 289 h 298"/>
                <a:gd name="T36" fmla="*/ 30 w 264"/>
                <a:gd name="T37" fmla="*/ 282 h 298"/>
                <a:gd name="T38" fmla="*/ 45 w 264"/>
                <a:gd name="T39" fmla="*/ 248 h 298"/>
                <a:gd name="T40" fmla="*/ 101 w 264"/>
                <a:gd name="T41" fmla="*/ 54 h 298"/>
                <a:gd name="T42" fmla="*/ 106 w 264"/>
                <a:gd name="T43" fmla="*/ 31 h 298"/>
                <a:gd name="T44" fmla="*/ 102 w 264"/>
                <a:gd name="T45" fmla="*/ 22 h 298"/>
                <a:gd name="T46" fmla="*/ 92 w 264"/>
                <a:gd name="T47" fmla="*/ 19 h 298"/>
                <a:gd name="T48" fmla="*/ 74 w 264"/>
                <a:gd name="T49" fmla="*/ 20 h 298"/>
                <a:gd name="T50" fmla="*/ 74 w 264"/>
                <a:gd name="T51" fmla="*/ 12 h 298"/>
                <a:gd name="T52" fmla="*/ 150 w 264"/>
                <a:gd name="T53" fmla="*/ 0 h 298"/>
                <a:gd name="T54" fmla="*/ 98 w 264"/>
                <a:gd name="T55" fmla="*/ 177 h 298"/>
                <a:gd name="T56" fmla="*/ 135 w 264"/>
                <a:gd name="T57" fmla="*/ 194 h 298"/>
                <a:gd name="T58" fmla="*/ 159 w 264"/>
                <a:gd name="T59" fmla="*/ 187 h 298"/>
                <a:gd name="T60" fmla="*/ 182 w 264"/>
                <a:gd name="T61" fmla="*/ 168 h 298"/>
                <a:gd name="T62" fmla="*/ 203 w 264"/>
                <a:gd name="T63" fmla="*/ 139 h 298"/>
                <a:gd name="T64" fmla="*/ 219 w 264"/>
                <a:gd name="T65" fmla="*/ 100 h 298"/>
                <a:gd name="T66" fmla="*/ 226 w 264"/>
                <a:gd name="T67" fmla="*/ 56 h 298"/>
                <a:gd name="T68" fmla="*/ 218 w 264"/>
                <a:gd name="T69" fmla="*/ 29 h 298"/>
                <a:gd name="T70" fmla="*/ 199 w 264"/>
                <a:gd name="T71" fmla="*/ 20 h 298"/>
                <a:gd name="T72" fmla="*/ 152 w 264"/>
                <a:gd name="T73" fmla="*/ 47 h 298"/>
                <a:gd name="T74" fmla="*/ 118 w 264"/>
                <a:gd name="T75" fmla="*/ 111 h 298"/>
                <a:gd name="T76" fmla="*/ 98 w 264"/>
                <a:gd name="T77" fmla="*/ 177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298" fill="norm" stroke="1" extrusionOk="0">
                  <a:moveTo>
                    <a:pt x="150" y="0"/>
                  </a:moveTo>
                  <a:lnTo>
                    <a:pt x="135" y="51"/>
                  </a:lnTo>
                  <a:cubicBezTo>
                    <a:pt x="151" y="32"/>
                    <a:pt x="165" y="19"/>
                    <a:pt x="178" y="12"/>
                  </a:cubicBezTo>
                  <a:cubicBezTo>
                    <a:pt x="190" y="4"/>
                    <a:pt x="203" y="0"/>
                    <a:pt x="216" y="0"/>
                  </a:cubicBezTo>
                  <a:cubicBezTo>
                    <a:pt x="229" y="0"/>
                    <a:pt x="241" y="6"/>
                    <a:pt x="250" y="16"/>
                  </a:cubicBezTo>
                  <a:cubicBezTo>
                    <a:pt x="259" y="26"/>
                    <a:pt x="264" y="40"/>
                    <a:pt x="264" y="56"/>
                  </a:cubicBezTo>
                  <a:cubicBezTo>
                    <a:pt x="264" y="89"/>
                    <a:pt x="251" y="122"/>
                    <a:pt x="224" y="156"/>
                  </a:cubicBezTo>
                  <a:cubicBezTo>
                    <a:pt x="198" y="189"/>
                    <a:pt x="167" y="206"/>
                    <a:pt x="132" y="206"/>
                  </a:cubicBezTo>
                  <a:cubicBezTo>
                    <a:pt x="125" y="206"/>
                    <a:pt x="118" y="205"/>
                    <a:pt x="112" y="204"/>
                  </a:cubicBezTo>
                  <a:cubicBezTo>
                    <a:pt x="107" y="202"/>
                    <a:pt x="100" y="199"/>
                    <a:pt x="93" y="195"/>
                  </a:cubicBezTo>
                  <a:lnTo>
                    <a:pt x="77" y="252"/>
                  </a:lnTo>
                  <a:cubicBezTo>
                    <a:pt x="74" y="263"/>
                    <a:pt x="72" y="271"/>
                    <a:pt x="72" y="274"/>
                  </a:cubicBezTo>
                  <a:cubicBezTo>
                    <a:pt x="72" y="277"/>
                    <a:pt x="73" y="280"/>
                    <a:pt x="75" y="282"/>
                  </a:cubicBezTo>
                  <a:cubicBezTo>
                    <a:pt x="76" y="284"/>
                    <a:pt x="79" y="286"/>
                    <a:pt x="83" y="287"/>
                  </a:cubicBezTo>
                  <a:cubicBezTo>
                    <a:pt x="87" y="289"/>
                    <a:pt x="94" y="289"/>
                    <a:pt x="106" y="289"/>
                  </a:cubicBezTo>
                  <a:lnTo>
                    <a:pt x="104" y="298"/>
                  </a:lnTo>
                  <a:lnTo>
                    <a:pt x="0" y="298"/>
                  </a:lnTo>
                  <a:lnTo>
                    <a:pt x="2" y="289"/>
                  </a:lnTo>
                  <a:cubicBezTo>
                    <a:pt x="15" y="289"/>
                    <a:pt x="25" y="286"/>
                    <a:pt x="30" y="282"/>
                  </a:cubicBezTo>
                  <a:cubicBezTo>
                    <a:pt x="34" y="278"/>
                    <a:pt x="39" y="267"/>
                    <a:pt x="45" y="248"/>
                  </a:cubicBezTo>
                  <a:lnTo>
                    <a:pt x="101" y="54"/>
                  </a:lnTo>
                  <a:cubicBezTo>
                    <a:pt x="104" y="42"/>
                    <a:pt x="106" y="34"/>
                    <a:pt x="106" y="31"/>
                  </a:cubicBezTo>
                  <a:cubicBezTo>
                    <a:pt x="106" y="27"/>
                    <a:pt x="105" y="24"/>
                    <a:pt x="102" y="22"/>
                  </a:cubicBezTo>
                  <a:cubicBezTo>
                    <a:pt x="100" y="20"/>
                    <a:pt x="97" y="19"/>
                    <a:pt x="92" y="19"/>
                  </a:cubicBezTo>
                  <a:cubicBezTo>
                    <a:pt x="88" y="19"/>
                    <a:pt x="82" y="19"/>
                    <a:pt x="74" y="20"/>
                  </a:cubicBezTo>
                  <a:lnTo>
                    <a:pt x="74" y="12"/>
                  </a:lnTo>
                  <a:lnTo>
                    <a:pt x="150" y="0"/>
                  </a:lnTo>
                  <a:close/>
                  <a:moveTo>
                    <a:pt x="98" y="177"/>
                  </a:moveTo>
                  <a:cubicBezTo>
                    <a:pt x="107" y="188"/>
                    <a:pt x="120" y="194"/>
                    <a:pt x="135" y="194"/>
                  </a:cubicBezTo>
                  <a:cubicBezTo>
                    <a:pt x="143" y="194"/>
                    <a:pt x="151" y="192"/>
                    <a:pt x="159" y="187"/>
                  </a:cubicBezTo>
                  <a:cubicBezTo>
                    <a:pt x="167" y="183"/>
                    <a:pt x="174" y="177"/>
                    <a:pt x="182" y="168"/>
                  </a:cubicBezTo>
                  <a:cubicBezTo>
                    <a:pt x="190" y="160"/>
                    <a:pt x="197" y="150"/>
                    <a:pt x="203" y="139"/>
                  </a:cubicBezTo>
                  <a:cubicBezTo>
                    <a:pt x="209" y="128"/>
                    <a:pt x="214" y="115"/>
                    <a:pt x="219" y="100"/>
                  </a:cubicBezTo>
                  <a:cubicBezTo>
                    <a:pt x="224" y="85"/>
                    <a:pt x="226" y="71"/>
                    <a:pt x="226" y="56"/>
                  </a:cubicBezTo>
                  <a:cubicBezTo>
                    <a:pt x="226" y="44"/>
                    <a:pt x="223" y="35"/>
                    <a:pt x="218" y="29"/>
                  </a:cubicBezTo>
                  <a:cubicBezTo>
                    <a:pt x="213" y="23"/>
                    <a:pt x="206" y="20"/>
                    <a:pt x="199" y="20"/>
                  </a:cubicBezTo>
                  <a:cubicBezTo>
                    <a:pt x="183" y="20"/>
                    <a:pt x="167" y="29"/>
                    <a:pt x="152" y="47"/>
                  </a:cubicBezTo>
                  <a:cubicBezTo>
                    <a:pt x="136" y="65"/>
                    <a:pt x="125" y="87"/>
                    <a:pt x="118" y="111"/>
                  </a:cubicBezTo>
                  <a:lnTo>
                    <a:pt x="98" y="1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348202822" name="Freeform 42"/>
            <p:cNvSpPr>
              <a:spLocks noEditPoints="1"/>
            </p:cNvSpPr>
            <p:nvPr/>
          </p:nvSpPr>
          <p:spPr bwMode="auto">
            <a:xfrm>
              <a:off x="4783421" y="2507274"/>
              <a:ext cx="18" cy="55"/>
            </a:xfrm>
            <a:custGeom>
              <a:avLst/>
              <a:gdLst>
                <a:gd name="T0" fmla="*/ 82 w 104"/>
                <a:gd name="T1" fmla="*/ 0 h 294"/>
                <a:gd name="T2" fmla="*/ 97 w 104"/>
                <a:gd name="T3" fmla="*/ 7 h 294"/>
                <a:gd name="T4" fmla="*/ 104 w 104"/>
                <a:gd name="T5" fmla="*/ 23 h 294"/>
                <a:gd name="T6" fmla="*/ 97 w 104"/>
                <a:gd name="T7" fmla="*/ 38 h 294"/>
                <a:gd name="T8" fmla="*/ 82 w 104"/>
                <a:gd name="T9" fmla="*/ 45 h 294"/>
                <a:gd name="T10" fmla="*/ 66 w 104"/>
                <a:gd name="T11" fmla="*/ 38 h 294"/>
                <a:gd name="T12" fmla="*/ 60 w 104"/>
                <a:gd name="T13" fmla="*/ 23 h 294"/>
                <a:gd name="T14" fmla="*/ 66 w 104"/>
                <a:gd name="T15" fmla="*/ 7 h 294"/>
                <a:gd name="T16" fmla="*/ 82 w 104"/>
                <a:gd name="T17" fmla="*/ 0 h 294"/>
                <a:gd name="T18" fmla="*/ 85 w 104"/>
                <a:gd name="T19" fmla="*/ 88 h 294"/>
                <a:gd name="T20" fmla="*/ 41 w 104"/>
                <a:gd name="T21" fmla="*/ 243 h 294"/>
                <a:gd name="T22" fmla="*/ 36 w 104"/>
                <a:gd name="T23" fmla="*/ 262 h 294"/>
                <a:gd name="T24" fmla="*/ 38 w 104"/>
                <a:gd name="T25" fmla="*/ 268 h 294"/>
                <a:gd name="T26" fmla="*/ 43 w 104"/>
                <a:gd name="T27" fmla="*/ 270 h 294"/>
                <a:gd name="T28" fmla="*/ 51 w 104"/>
                <a:gd name="T29" fmla="*/ 267 h 294"/>
                <a:gd name="T30" fmla="*/ 77 w 104"/>
                <a:gd name="T31" fmla="*/ 238 h 294"/>
                <a:gd name="T32" fmla="*/ 85 w 104"/>
                <a:gd name="T33" fmla="*/ 243 h 294"/>
                <a:gd name="T34" fmla="*/ 49 w 104"/>
                <a:gd name="T35" fmla="*/ 282 h 294"/>
                <a:gd name="T36" fmla="*/ 20 w 104"/>
                <a:gd name="T37" fmla="*/ 294 h 294"/>
                <a:gd name="T38" fmla="*/ 6 w 104"/>
                <a:gd name="T39" fmla="*/ 289 h 294"/>
                <a:gd name="T40" fmla="*/ 0 w 104"/>
                <a:gd name="T41" fmla="*/ 275 h 294"/>
                <a:gd name="T42" fmla="*/ 5 w 104"/>
                <a:gd name="T43" fmla="*/ 248 h 294"/>
                <a:gd name="T44" fmla="*/ 34 w 104"/>
                <a:gd name="T45" fmla="*/ 148 h 294"/>
                <a:gd name="T46" fmla="*/ 41 w 104"/>
                <a:gd name="T47" fmla="*/ 118 h 294"/>
                <a:gd name="T48" fmla="*/ 38 w 104"/>
                <a:gd name="T49" fmla="*/ 110 h 294"/>
                <a:gd name="T50" fmla="*/ 28 w 104"/>
                <a:gd name="T51" fmla="*/ 107 h 294"/>
                <a:gd name="T52" fmla="*/ 8 w 104"/>
                <a:gd name="T53" fmla="*/ 109 h 294"/>
                <a:gd name="T54" fmla="*/ 8 w 104"/>
                <a:gd name="T55" fmla="*/ 101 h 294"/>
                <a:gd name="T56" fmla="*/ 85 w 104"/>
                <a:gd name="T57" fmla="*/ 88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4" h="294" fill="norm" stroke="1" extrusionOk="0">
                  <a:moveTo>
                    <a:pt x="82" y="0"/>
                  </a:moveTo>
                  <a:cubicBezTo>
                    <a:pt x="88" y="0"/>
                    <a:pt x="93" y="3"/>
                    <a:pt x="97" y="7"/>
                  </a:cubicBezTo>
                  <a:cubicBezTo>
                    <a:pt x="102" y="11"/>
                    <a:pt x="104" y="16"/>
                    <a:pt x="104" y="23"/>
                  </a:cubicBezTo>
                  <a:cubicBezTo>
                    <a:pt x="104" y="29"/>
                    <a:pt x="102" y="34"/>
                    <a:pt x="97" y="38"/>
                  </a:cubicBezTo>
                  <a:cubicBezTo>
                    <a:pt x="93" y="43"/>
                    <a:pt x="88" y="45"/>
                    <a:pt x="82" y="45"/>
                  </a:cubicBezTo>
                  <a:cubicBezTo>
                    <a:pt x="76" y="45"/>
                    <a:pt x="70" y="43"/>
                    <a:pt x="66" y="38"/>
                  </a:cubicBezTo>
                  <a:cubicBezTo>
                    <a:pt x="62" y="34"/>
                    <a:pt x="60" y="29"/>
                    <a:pt x="60" y="23"/>
                  </a:cubicBezTo>
                  <a:cubicBezTo>
                    <a:pt x="60" y="16"/>
                    <a:pt x="62" y="11"/>
                    <a:pt x="66" y="7"/>
                  </a:cubicBezTo>
                  <a:cubicBezTo>
                    <a:pt x="70" y="3"/>
                    <a:pt x="75" y="0"/>
                    <a:pt x="82" y="0"/>
                  </a:cubicBezTo>
                  <a:close/>
                  <a:moveTo>
                    <a:pt x="85" y="88"/>
                  </a:moveTo>
                  <a:lnTo>
                    <a:pt x="41" y="243"/>
                  </a:lnTo>
                  <a:cubicBezTo>
                    <a:pt x="38" y="254"/>
                    <a:pt x="36" y="260"/>
                    <a:pt x="36" y="262"/>
                  </a:cubicBezTo>
                  <a:cubicBezTo>
                    <a:pt x="36" y="265"/>
                    <a:pt x="37" y="267"/>
                    <a:pt x="38" y="268"/>
                  </a:cubicBezTo>
                  <a:cubicBezTo>
                    <a:pt x="40" y="270"/>
                    <a:pt x="41" y="270"/>
                    <a:pt x="43" y="270"/>
                  </a:cubicBezTo>
                  <a:cubicBezTo>
                    <a:pt x="46" y="270"/>
                    <a:pt x="48" y="269"/>
                    <a:pt x="51" y="267"/>
                  </a:cubicBezTo>
                  <a:cubicBezTo>
                    <a:pt x="60" y="260"/>
                    <a:pt x="68" y="251"/>
                    <a:pt x="77" y="238"/>
                  </a:cubicBezTo>
                  <a:lnTo>
                    <a:pt x="85" y="243"/>
                  </a:lnTo>
                  <a:cubicBezTo>
                    <a:pt x="75" y="259"/>
                    <a:pt x="63" y="272"/>
                    <a:pt x="49" y="282"/>
                  </a:cubicBezTo>
                  <a:cubicBezTo>
                    <a:pt x="39" y="290"/>
                    <a:pt x="30" y="294"/>
                    <a:pt x="20" y="294"/>
                  </a:cubicBezTo>
                  <a:cubicBezTo>
                    <a:pt x="14" y="294"/>
                    <a:pt x="9" y="292"/>
                    <a:pt x="6" y="289"/>
                  </a:cubicBezTo>
                  <a:cubicBezTo>
                    <a:pt x="2" y="285"/>
                    <a:pt x="0" y="280"/>
                    <a:pt x="0" y="275"/>
                  </a:cubicBezTo>
                  <a:cubicBezTo>
                    <a:pt x="0" y="269"/>
                    <a:pt x="2" y="260"/>
                    <a:pt x="5" y="248"/>
                  </a:cubicBezTo>
                  <a:lnTo>
                    <a:pt x="34" y="148"/>
                  </a:lnTo>
                  <a:cubicBezTo>
                    <a:pt x="39" y="132"/>
                    <a:pt x="41" y="122"/>
                    <a:pt x="41" y="118"/>
                  </a:cubicBezTo>
                  <a:cubicBezTo>
                    <a:pt x="41" y="115"/>
                    <a:pt x="40" y="112"/>
                    <a:pt x="38" y="110"/>
                  </a:cubicBezTo>
                  <a:cubicBezTo>
                    <a:pt x="35" y="108"/>
                    <a:pt x="32" y="107"/>
                    <a:pt x="28" y="107"/>
                  </a:cubicBezTo>
                  <a:cubicBezTo>
                    <a:pt x="25" y="107"/>
                    <a:pt x="18" y="108"/>
                    <a:pt x="8" y="109"/>
                  </a:cubicBezTo>
                  <a:lnTo>
                    <a:pt x="8" y="101"/>
                  </a:lnTo>
                  <a:lnTo>
                    <a:pt x="85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327787406" name="Freeform 43"/>
            <p:cNvSpPr/>
            <p:nvPr/>
          </p:nvSpPr>
          <p:spPr bwMode="auto">
            <a:xfrm>
              <a:off x="4783442" y="2507289"/>
              <a:ext cx="36" cy="38"/>
            </a:xfrm>
            <a:custGeom>
              <a:avLst/>
              <a:gdLst>
                <a:gd name="T0" fmla="*/ 91 w 200"/>
                <a:gd name="T1" fmla="*/ 0 h 206"/>
                <a:gd name="T2" fmla="*/ 62 w 200"/>
                <a:gd name="T3" fmla="*/ 101 h 206"/>
                <a:gd name="T4" fmla="*/ 125 w 200"/>
                <a:gd name="T5" fmla="*/ 20 h 206"/>
                <a:gd name="T6" fmla="*/ 168 w 200"/>
                <a:gd name="T7" fmla="*/ 0 h 206"/>
                <a:gd name="T8" fmla="*/ 186 w 200"/>
                <a:gd name="T9" fmla="*/ 8 h 206"/>
                <a:gd name="T10" fmla="*/ 193 w 200"/>
                <a:gd name="T11" fmla="*/ 27 h 206"/>
                <a:gd name="T12" fmla="*/ 187 w 200"/>
                <a:gd name="T13" fmla="*/ 62 h 206"/>
                <a:gd name="T14" fmla="*/ 160 w 200"/>
                <a:gd name="T15" fmla="*/ 155 h 206"/>
                <a:gd name="T16" fmla="*/ 155 w 200"/>
                <a:gd name="T17" fmla="*/ 175 h 206"/>
                <a:gd name="T18" fmla="*/ 157 w 200"/>
                <a:gd name="T19" fmla="*/ 180 h 206"/>
                <a:gd name="T20" fmla="*/ 161 w 200"/>
                <a:gd name="T21" fmla="*/ 182 h 206"/>
                <a:gd name="T22" fmla="*/ 167 w 200"/>
                <a:gd name="T23" fmla="*/ 179 h 206"/>
                <a:gd name="T24" fmla="*/ 193 w 200"/>
                <a:gd name="T25" fmla="*/ 151 h 206"/>
                <a:gd name="T26" fmla="*/ 200 w 200"/>
                <a:gd name="T27" fmla="*/ 155 h 206"/>
                <a:gd name="T28" fmla="*/ 161 w 200"/>
                <a:gd name="T29" fmla="*/ 197 h 206"/>
                <a:gd name="T30" fmla="*/ 138 w 200"/>
                <a:gd name="T31" fmla="*/ 206 h 206"/>
                <a:gd name="T32" fmla="*/ 125 w 200"/>
                <a:gd name="T33" fmla="*/ 201 h 206"/>
                <a:gd name="T34" fmla="*/ 120 w 200"/>
                <a:gd name="T35" fmla="*/ 188 h 206"/>
                <a:gd name="T36" fmla="*/ 127 w 200"/>
                <a:gd name="T37" fmla="*/ 151 h 206"/>
                <a:gd name="T38" fmla="*/ 153 w 200"/>
                <a:gd name="T39" fmla="*/ 62 h 206"/>
                <a:gd name="T40" fmla="*/ 158 w 200"/>
                <a:gd name="T41" fmla="*/ 36 h 206"/>
                <a:gd name="T42" fmla="*/ 155 w 200"/>
                <a:gd name="T43" fmla="*/ 29 h 206"/>
                <a:gd name="T44" fmla="*/ 148 w 200"/>
                <a:gd name="T45" fmla="*/ 26 h 206"/>
                <a:gd name="T46" fmla="*/ 133 w 200"/>
                <a:gd name="T47" fmla="*/ 31 h 206"/>
                <a:gd name="T48" fmla="*/ 99 w 200"/>
                <a:gd name="T49" fmla="*/ 64 h 206"/>
                <a:gd name="T50" fmla="*/ 61 w 200"/>
                <a:gd name="T51" fmla="*/ 123 h 206"/>
                <a:gd name="T52" fmla="*/ 44 w 200"/>
                <a:gd name="T53" fmla="*/ 164 h 206"/>
                <a:gd name="T54" fmla="*/ 33 w 200"/>
                <a:gd name="T55" fmla="*/ 201 h 206"/>
                <a:gd name="T56" fmla="*/ 0 w 200"/>
                <a:gd name="T57" fmla="*/ 201 h 206"/>
                <a:gd name="T58" fmla="*/ 40 w 200"/>
                <a:gd name="T59" fmla="*/ 62 h 206"/>
                <a:gd name="T60" fmla="*/ 47 w 200"/>
                <a:gd name="T61" fmla="*/ 32 h 206"/>
                <a:gd name="T62" fmla="*/ 43 w 200"/>
                <a:gd name="T63" fmla="*/ 24 h 206"/>
                <a:gd name="T64" fmla="*/ 34 w 200"/>
                <a:gd name="T65" fmla="*/ 20 h 206"/>
                <a:gd name="T66" fmla="*/ 24 w 200"/>
                <a:gd name="T67" fmla="*/ 21 h 206"/>
                <a:gd name="T68" fmla="*/ 16 w 200"/>
                <a:gd name="T69" fmla="*/ 22 h 206"/>
                <a:gd name="T70" fmla="*/ 15 w 200"/>
                <a:gd name="T71" fmla="*/ 14 h 206"/>
                <a:gd name="T72" fmla="*/ 91 w 200"/>
                <a:gd name="T73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0" h="206" fill="norm" stroke="1" extrusionOk="0">
                  <a:moveTo>
                    <a:pt x="91" y="0"/>
                  </a:moveTo>
                  <a:lnTo>
                    <a:pt x="62" y="101"/>
                  </a:lnTo>
                  <a:cubicBezTo>
                    <a:pt x="89" y="60"/>
                    <a:pt x="111" y="33"/>
                    <a:pt x="125" y="20"/>
                  </a:cubicBezTo>
                  <a:cubicBezTo>
                    <a:pt x="140" y="7"/>
                    <a:pt x="154" y="0"/>
                    <a:pt x="168" y="0"/>
                  </a:cubicBezTo>
                  <a:cubicBezTo>
                    <a:pt x="175" y="0"/>
                    <a:pt x="181" y="3"/>
                    <a:pt x="186" y="8"/>
                  </a:cubicBezTo>
                  <a:cubicBezTo>
                    <a:pt x="191" y="12"/>
                    <a:pt x="193" y="19"/>
                    <a:pt x="193" y="27"/>
                  </a:cubicBezTo>
                  <a:cubicBezTo>
                    <a:pt x="193" y="35"/>
                    <a:pt x="191" y="47"/>
                    <a:pt x="187" y="62"/>
                  </a:cubicBezTo>
                  <a:lnTo>
                    <a:pt x="160" y="155"/>
                  </a:lnTo>
                  <a:cubicBezTo>
                    <a:pt x="157" y="166"/>
                    <a:pt x="155" y="173"/>
                    <a:pt x="155" y="175"/>
                  </a:cubicBezTo>
                  <a:cubicBezTo>
                    <a:pt x="155" y="177"/>
                    <a:pt x="156" y="179"/>
                    <a:pt x="157" y="180"/>
                  </a:cubicBezTo>
                  <a:cubicBezTo>
                    <a:pt x="158" y="182"/>
                    <a:pt x="159" y="182"/>
                    <a:pt x="161" y="182"/>
                  </a:cubicBezTo>
                  <a:cubicBezTo>
                    <a:pt x="162" y="182"/>
                    <a:pt x="165" y="181"/>
                    <a:pt x="167" y="179"/>
                  </a:cubicBezTo>
                  <a:cubicBezTo>
                    <a:pt x="175" y="173"/>
                    <a:pt x="183" y="164"/>
                    <a:pt x="193" y="151"/>
                  </a:cubicBezTo>
                  <a:lnTo>
                    <a:pt x="200" y="155"/>
                  </a:lnTo>
                  <a:cubicBezTo>
                    <a:pt x="186" y="175"/>
                    <a:pt x="173" y="189"/>
                    <a:pt x="161" y="197"/>
                  </a:cubicBezTo>
                  <a:cubicBezTo>
                    <a:pt x="152" y="203"/>
                    <a:pt x="144" y="206"/>
                    <a:pt x="138" y="206"/>
                  </a:cubicBezTo>
                  <a:cubicBezTo>
                    <a:pt x="132" y="206"/>
                    <a:pt x="128" y="204"/>
                    <a:pt x="125" y="201"/>
                  </a:cubicBezTo>
                  <a:cubicBezTo>
                    <a:pt x="121" y="198"/>
                    <a:pt x="120" y="193"/>
                    <a:pt x="120" y="188"/>
                  </a:cubicBezTo>
                  <a:cubicBezTo>
                    <a:pt x="120" y="180"/>
                    <a:pt x="122" y="168"/>
                    <a:pt x="127" y="151"/>
                  </a:cubicBezTo>
                  <a:lnTo>
                    <a:pt x="153" y="62"/>
                  </a:lnTo>
                  <a:cubicBezTo>
                    <a:pt x="156" y="51"/>
                    <a:pt x="158" y="42"/>
                    <a:pt x="158" y="36"/>
                  </a:cubicBezTo>
                  <a:cubicBezTo>
                    <a:pt x="158" y="33"/>
                    <a:pt x="157" y="31"/>
                    <a:pt x="155" y="29"/>
                  </a:cubicBezTo>
                  <a:cubicBezTo>
                    <a:pt x="153" y="27"/>
                    <a:pt x="151" y="26"/>
                    <a:pt x="148" y="26"/>
                  </a:cubicBezTo>
                  <a:cubicBezTo>
                    <a:pt x="144" y="26"/>
                    <a:pt x="139" y="28"/>
                    <a:pt x="133" y="31"/>
                  </a:cubicBezTo>
                  <a:cubicBezTo>
                    <a:pt x="122" y="38"/>
                    <a:pt x="111" y="49"/>
                    <a:pt x="99" y="64"/>
                  </a:cubicBezTo>
                  <a:cubicBezTo>
                    <a:pt x="87" y="80"/>
                    <a:pt x="75" y="99"/>
                    <a:pt x="61" y="123"/>
                  </a:cubicBezTo>
                  <a:cubicBezTo>
                    <a:pt x="55" y="135"/>
                    <a:pt x="49" y="149"/>
                    <a:pt x="44" y="164"/>
                  </a:cubicBezTo>
                  <a:lnTo>
                    <a:pt x="33" y="201"/>
                  </a:lnTo>
                  <a:lnTo>
                    <a:pt x="0" y="201"/>
                  </a:lnTo>
                  <a:lnTo>
                    <a:pt x="40" y="62"/>
                  </a:lnTo>
                  <a:cubicBezTo>
                    <a:pt x="45" y="45"/>
                    <a:pt x="47" y="35"/>
                    <a:pt x="47" y="32"/>
                  </a:cubicBezTo>
                  <a:cubicBezTo>
                    <a:pt x="47" y="29"/>
                    <a:pt x="46" y="26"/>
                    <a:pt x="43" y="24"/>
                  </a:cubicBezTo>
                  <a:cubicBezTo>
                    <a:pt x="41" y="21"/>
                    <a:pt x="38" y="20"/>
                    <a:pt x="34" y="20"/>
                  </a:cubicBezTo>
                  <a:cubicBezTo>
                    <a:pt x="32" y="20"/>
                    <a:pt x="29" y="20"/>
                    <a:pt x="24" y="21"/>
                  </a:cubicBezTo>
                  <a:lnTo>
                    <a:pt x="16" y="22"/>
                  </a:lnTo>
                  <a:lnTo>
                    <a:pt x="15" y="14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  <p:sp>
          <p:nvSpPr>
            <p:cNvPr id="1520874514" name="Freeform 44"/>
            <p:cNvSpPr>
              <a:spLocks noEditPoints="1"/>
            </p:cNvSpPr>
            <p:nvPr/>
          </p:nvSpPr>
          <p:spPr bwMode="auto">
            <a:xfrm>
              <a:off x="4783482" y="2507289"/>
              <a:ext cx="45" cy="55"/>
            </a:xfrm>
            <a:custGeom>
              <a:avLst/>
              <a:gdLst>
                <a:gd name="T0" fmla="*/ 248 w 248"/>
                <a:gd name="T1" fmla="*/ 14 h 298"/>
                <a:gd name="T2" fmla="*/ 242 w 248"/>
                <a:gd name="T3" fmla="*/ 37 h 298"/>
                <a:gd name="T4" fmla="*/ 205 w 248"/>
                <a:gd name="T5" fmla="*/ 37 h 298"/>
                <a:gd name="T6" fmla="*/ 209 w 248"/>
                <a:gd name="T7" fmla="*/ 59 h 298"/>
                <a:gd name="T8" fmla="*/ 184 w 248"/>
                <a:gd name="T9" fmla="*/ 111 h 298"/>
                <a:gd name="T10" fmla="*/ 116 w 248"/>
                <a:gd name="T11" fmla="*/ 137 h 298"/>
                <a:gd name="T12" fmla="*/ 80 w 248"/>
                <a:gd name="T13" fmla="*/ 153 h 298"/>
                <a:gd name="T14" fmla="*/ 76 w 248"/>
                <a:gd name="T15" fmla="*/ 161 h 298"/>
                <a:gd name="T16" fmla="*/ 80 w 248"/>
                <a:gd name="T17" fmla="*/ 169 h 298"/>
                <a:gd name="T18" fmla="*/ 100 w 248"/>
                <a:gd name="T19" fmla="*/ 176 h 298"/>
                <a:gd name="T20" fmla="*/ 143 w 248"/>
                <a:gd name="T21" fmla="*/ 186 h 298"/>
                <a:gd name="T22" fmla="*/ 190 w 248"/>
                <a:gd name="T23" fmla="*/ 206 h 298"/>
                <a:gd name="T24" fmla="*/ 201 w 248"/>
                <a:gd name="T25" fmla="*/ 233 h 298"/>
                <a:gd name="T26" fmla="*/ 188 w 248"/>
                <a:gd name="T27" fmla="*/ 266 h 298"/>
                <a:gd name="T28" fmla="*/ 149 w 248"/>
                <a:gd name="T29" fmla="*/ 290 h 298"/>
                <a:gd name="T30" fmla="*/ 92 w 248"/>
                <a:gd name="T31" fmla="*/ 298 h 298"/>
                <a:gd name="T32" fmla="*/ 42 w 248"/>
                <a:gd name="T33" fmla="*/ 292 h 298"/>
                <a:gd name="T34" fmla="*/ 10 w 248"/>
                <a:gd name="T35" fmla="*/ 274 h 298"/>
                <a:gd name="T36" fmla="*/ 0 w 248"/>
                <a:gd name="T37" fmla="*/ 252 h 298"/>
                <a:gd name="T38" fmla="*/ 6 w 248"/>
                <a:gd name="T39" fmla="*/ 232 h 298"/>
                <a:gd name="T40" fmla="*/ 22 w 248"/>
                <a:gd name="T41" fmla="*/ 215 h 298"/>
                <a:gd name="T42" fmla="*/ 56 w 248"/>
                <a:gd name="T43" fmla="*/ 195 h 298"/>
                <a:gd name="T44" fmla="*/ 46 w 248"/>
                <a:gd name="T45" fmla="*/ 177 h 298"/>
                <a:gd name="T46" fmla="*/ 54 w 248"/>
                <a:gd name="T47" fmla="*/ 159 h 298"/>
                <a:gd name="T48" fmla="*/ 93 w 248"/>
                <a:gd name="T49" fmla="*/ 137 h 298"/>
                <a:gd name="T50" fmla="*/ 54 w 248"/>
                <a:gd name="T51" fmla="*/ 116 h 298"/>
                <a:gd name="T52" fmla="*/ 40 w 248"/>
                <a:gd name="T53" fmla="*/ 81 h 298"/>
                <a:gd name="T54" fmla="*/ 67 w 248"/>
                <a:gd name="T55" fmla="*/ 25 h 298"/>
                <a:gd name="T56" fmla="*/ 141 w 248"/>
                <a:gd name="T57" fmla="*/ 0 h 298"/>
                <a:gd name="T58" fmla="*/ 168 w 248"/>
                <a:gd name="T59" fmla="*/ 4 h 298"/>
                <a:gd name="T60" fmla="*/ 188 w 248"/>
                <a:gd name="T61" fmla="*/ 14 h 298"/>
                <a:gd name="T62" fmla="*/ 248 w 248"/>
                <a:gd name="T63" fmla="*/ 14 h 298"/>
                <a:gd name="T64" fmla="*/ 171 w 248"/>
                <a:gd name="T65" fmla="*/ 49 h 298"/>
                <a:gd name="T66" fmla="*/ 161 w 248"/>
                <a:gd name="T67" fmla="*/ 21 h 298"/>
                <a:gd name="T68" fmla="*/ 136 w 248"/>
                <a:gd name="T69" fmla="*/ 11 h 298"/>
                <a:gd name="T70" fmla="*/ 94 w 248"/>
                <a:gd name="T71" fmla="*/ 36 h 298"/>
                <a:gd name="T72" fmla="*/ 78 w 248"/>
                <a:gd name="T73" fmla="*/ 88 h 298"/>
                <a:gd name="T74" fmla="*/ 89 w 248"/>
                <a:gd name="T75" fmla="*/ 116 h 298"/>
                <a:gd name="T76" fmla="*/ 114 w 248"/>
                <a:gd name="T77" fmla="*/ 127 h 298"/>
                <a:gd name="T78" fmla="*/ 136 w 248"/>
                <a:gd name="T79" fmla="*/ 120 h 298"/>
                <a:gd name="T80" fmla="*/ 155 w 248"/>
                <a:gd name="T81" fmla="*/ 103 h 298"/>
                <a:gd name="T82" fmla="*/ 167 w 248"/>
                <a:gd name="T83" fmla="*/ 74 h 298"/>
                <a:gd name="T84" fmla="*/ 171 w 248"/>
                <a:gd name="T85" fmla="*/ 49 h 298"/>
                <a:gd name="T86" fmla="*/ 65 w 248"/>
                <a:gd name="T87" fmla="*/ 201 h 298"/>
                <a:gd name="T88" fmla="*/ 38 w 248"/>
                <a:gd name="T89" fmla="*/ 222 h 298"/>
                <a:gd name="T90" fmla="*/ 29 w 248"/>
                <a:gd name="T91" fmla="*/ 247 h 298"/>
                <a:gd name="T92" fmla="*/ 42 w 248"/>
                <a:gd name="T93" fmla="*/ 271 h 298"/>
                <a:gd name="T94" fmla="*/ 98 w 248"/>
                <a:gd name="T95" fmla="*/ 285 h 298"/>
                <a:gd name="T96" fmla="*/ 152 w 248"/>
                <a:gd name="T97" fmla="*/ 274 h 298"/>
                <a:gd name="T98" fmla="*/ 175 w 248"/>
                <a:gd name="T99" fmla="*/ 246 h 298"/>
                <a:gd name="T100" fmla="*/ 166 w 248"/>
                <a:gd name="T101" fmla="*/ 230 h 298"/>
                <a:gd name="T102" fmla="*/ 134 w 248"/>
                <a:gd name="T103" fmla="*/ 217 h 298"/>
                <a:gd name="T104" fmla="*/ 65 w 248"/>
                <a:gd name="T105" fmla="*/ 201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48" h="298" fill="norm" stroke="1" extrusionOk="0">
                  <a:moveTo>
                    <a:pt x="248" y="14"/>
                  </a:moveTo>
                  <a:lnTo>
                    <a:pt x="242" y="37"/>
                  </a:lnTo>
                  <a:lnTo>
                    <a:pt x="205" y="37"/>
                  </a:lnTo>
                  <a:cubicBezTo>
                    <a:pt x="208" y="45"/>
                    <a:pt x="209" y="52"/>
                    <a:pt x="209" y="59"/>
                  </a:cubicBezTo>
                  <a:cubicBezTo>
                    <a:pt x="209" y="79"/>
                    <a:pt x="201" y="96"/>
                    <a:pt x="184" y="111"/>
                  </a:cubicBezTo>
                  <a:cubicBezTo>
                    <a:pt x="168" y="127"/>
                    <a:pt x="145" y="135"/>
                    <a:pt x="116" y="137"/>
                  </a:cubicBezTo>
                  <a:cubicBezTo>
                    <a:pt x="100" y="141"/>
                    <a:pt x="88" y="147"/>
                    <a:pt x="80" y="153"/>
                  </a:cubicBezTo>
                  <a:cubicBezTo>
                    <a:pt x="77" y="156"/>
                    <a:pt x="76" y="158"/>
                    <a:pt x="76" y="161"/>
                  </a:cubicBezTo>
                  <a:cubicBezTo>
                    <a:pt x="76" y="164"/>
                    <a:pt x="77" y="166"/>
                    <a:pt x="80" y="169"/>
                  </a:cubicBezTo>
                  <a:cubicBezTo>
                    <a:pt x="83" y="171"/>
                    <a:pt x="89" y="174"/>
                    <a:pt x="100" y="176"/>
                  </a:cubicBezTo>
                  <a:lnTo>
                    <a:pt x="143" y="186"/>
                  </a:lnTo>
                  <a:cubicBezTo>
                    <a:pt x="167" y="192"/>
                    <a:pt x="183" y="198"/>
                    <a:pt x="190" y="206"/>
                  </a:cubicBezTo>
                  <a:cubicBezTo>
                    <a:pt x="198" y="214"/>
                    <a:pt x="201" y="223"/>
                    <a:pt x="201" y="233"/>
                  </a:cubicBezTo>
                  <a:cubicBezTo>
                    <a:pt x="201" y="245"/>
                    <a:pt x="197" y="256"/>
                    <a:pt x="188" y="266"/>
                  </a:cubicBezTo>
                  <a:cubicBezTo>
                    <a:pt x="179" y="276"/>
                    <a:pt x="166" y="284"/>
                    <a:pt x="149" y="290"/>
                  </a:cubicBezTo>
                  <a:cubicBezTo>
                    <a:pt x="132" y="296"/>
                    <a:pt x="113" y="298"/>
                    <a:pt x="92" y="298"/>
                  </a:cubicBezTo>
                  <a:cubicBezTo>
                    <a:pt x="74" y="298"/>
                    <a:pt x="57" y="296"/>
                    <a:pt x="42" y="292"/>
                  </a:cubicBezTo>
                  <a:cubicBezTo>
                    <a:pt x="27" y="288"/>
                    <a:pt x="16" y="282"/>
                    <a:pt x="10" y="274"/>
                  </a:cubicBezTo>
                  <a:cubicBezTo>
                    <a:pt x="3" y="267"/>
                    <a:pt x="0" y="259"/>
                    <a:pt x="0" y="252"/>
                  </a:cubicBezTo>
                  <a:cubicBezTo>
                    <a:pt x="0" y="245"/>
                    <a:pt x="2" y="239"/>
                    <a:pt x="6" y="232"/>
                  </a:cubicBezTo>
                  <a:cubicBezTo>
                    <a:pt x="10" y="225"/>
                    <a:pt x="16" y="219"/>
                    <a:pt x="22" y="215"/>
                  </a:cubicBezTo>
                  <a:cubicBezTo>
                    <a:pt x="26" y="212"/>
                    <a:pt x="37" y="205"/>
                    <a:pt x="56" y="195"/>
                  </a:cubicBezTo>
                  <a:cubicBezTo>
                    <a:pt x="49" y="190"/>
                    <a:pt x="46" y="184"/>
                    <a:pt x="46" y="177"/>
                  </a:cubicBezTo>
                  <a:cubicBezTo>
                    <a:pt x="46" y="171"/>
                    <a:pt x="49" y="165"/>
                    <a:pt x="54" y="159"/>
                  </a:cubicBezTo>
                  <a:cubicBezTo>
                    <a:pt x="61" y="152"/>
                    <a:pt x="73" y="145"/>
                    <a:pt x="93" y="137"/>
                  </a:cubicBezTo>
                  <a:cubicBezTo>
                    <a:pt x="76" y="134"/>
                    <a:pt x="63" y="127"/>
                    <a:pt x="54" y="116"/>
                  </a:cubicBezTo>
                  <a:cubicBezTo>
                    <a:pt x="44" y="106"/>
                    <a:pt x="40" y="94"/>
                    <a:pt x="40" y="81"/>
                  </a:cubicBezTo>
                  <a:cubicBezTo>
                    <a:pt x="40" y="60"/>
                    <a:pt x="49" y="42"/>
                    <a:pt x="67" y="25"/>
                  </a:cubicBezTo>
                  <a:cubicBezTo>
                    <a:pt x="86" y="9"/>
                    <a:pt x="110" y="0"/>
                    <a:pt x="141" y="0"/>
                  </a:cubicBezTo>
                  <a:cubicBezTo>
                    <a:pt x="152" y="0"/>
                    <a:pt x="161" y="1"/>
                    <a:pt x="168" y="4"/>
                  </a:cubicBezTo>
                  <a:cubicBezTo>
                    <a:pt x="175" y="6"/>
                    <a:pt x="182" y="9"/>
                    <a:pt x="188" y="14"/>
                  </a:cubicBezTo>
                  <a:lnTo>
                    <a:pt x="248" y="14"/>
                  </a:lnTo>
                  <a:close/>
                  <a:moveTo>
                    <a:pt x="171" y="49"/>
                  </a:moveTo>
                  <a:cubicBezTo>
                    <a:pt x="171" y="37"/>
                    <a:pt x="168" y="28"/>
                    <a:pt x="161" y="21"/>
                  </a:cubicBezTo>
                  <a:cubicBezTo>
                    <a:pt x="155" y="14"/>
                    <a:pt x="146" y="11"/>
                    <a:pt x="136" y="11"/>
                  </a:cubicBezTo>
                  <a:cubicBezTo>
                    <a:pt x="119" y="11"/>
                    <a:pt x="105" y="19"/>
                    <a:pt x="94" y="36"/>
                  </a:cubicBezTo>
                  <a:cubicBezTo>
                    <a:pt x="84" y="53"/>
                    <a:pt x="78" y="70"/>
                    <a:pt x="78" y="88"/>
                  </a:cubicBezTo>
                  <a:cubicBezTo>
                    <a:pt x="78" y="100"/>
                    <a:pt x="82" y="109"/>
                    <a:pt x="89" y="116"/>
                  </a:cubicBezTo>
                  <a:cubicBezTo>
                    <a:pt x="96" y="123"/>
                    <a:pt x="104" y="127"/>
                    <a:pt x="114" y="127"/>
                  </a:cubicBezTo>
                  <a:cubicBezTo>
                    <a:pt x="122" y="127"/>
                    <a:pt x="129" y="125"/>
                    <a:pt x="136" y="120"/>
                  </a:cubicBezTo>
                  <a:cubicBezTo>
                    <a:pt x="144" y="116"/>
                    <a:pt x="150" y="110"/>
                    <a:pt x="155" y="103"/>
                  </a:cubicBezTo>
                  <a:cubicBezTo>
                    <a:pt x="160" y="95"/>
                    <a:pt x="164" y="86"/>
                    <a:pt x="167" y="74"/>
                  </a:cubicBezTo>
                  <a:cubicBezTo>
                    <a:pt x="170" y="62"/>
                    <a:pt x="171" y="54"/>
                    <a:pt x="171" y="49"/>
                  </a:cubicBezTo>
                  <a:close/>
                  <a:moveTo>
                    <a:pt x="65" y="201"/>
                  </a:moveTo>
                  <a:cubicBezTo>
                    <a:pt x="53" y="206"/>
                    <a:pt x="44" y="213"/>
                    <a:pt x="38" y="222"/>
                  </a:cubicBezTo>
                  <a:cubicBezTo>
                    <a:pt x="32" y="230"/>
                    <a:pt x="29" y="239"/>
                    <a:pt x="29" y="247"/>
                  </a:cubicBezTo>
                  <a:cubicBezTo>
                    <a:pt x="29" y="257"/>
                    <a:pt x="33" y="265"/>
                    <a:pt x="42" y="271"/>
                  </a:cubicBezTo>
                  <a:cubicBezTo>
                    <a:pt x="55" y="280"/>
                    <a:pt x="74" y="285"/>
                    <a:pt x="98" y="285"/>
                  </a:cubicBezTo>
                  <a:cubicBezTo>
                    <a:pt x="119" y="285"/>
                    <a:pt x="137" y="281"/>
                    <a:pt x="152" y="274"/>
                  </a:cubicBezTo>
                  <a:cubicBezTo>
                    <a:pt x="167" y="267"/>
                    <a:pt x="175" y="258"/>
                    <a:pt x="175" y="246"/>
                  </a:cubicBezTo>
                  <a:cubicBezTo>
                    <a:pt x="175" y="240"/>
                    <a:pt x="172" y="235"/>
                    <a:pt x="166" y="230"/>
                  </a:cubicBezTo>
                  <a:cubicBezTo>
                    <a:pt x="161" y="225"/>
                    <a:pt x="150" y="220"/>
                    <a:pt x="134" y="217"/>
                  </a:cubicBezTo>
                  <a:cubicBezTo>
                    <a:pt x="125" y="215"/>
                    <a:pt x="103" y="210"/>
                    <a:pt x="65" y="20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>
              <a:defPPr>
                <a:defRPr lang="en-US"/>
              </a:defPPr>
              <a:lvl1pPr marL="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>
                <a:defRPr sz="135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NZ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Causal Inference for Software Engineering</dc:title>
  <dc:subject>PptxGenJS Presentation</dc:subject>
  <dc:creator>Tutorial authors</dc:creator>
  <cp:lastModifiedBy/>
  <cp:revision>5</cp:revision>
  <dcterms:created xsi:type="dcterms:W3CDTF">2026-06-18T12:50:28Z</dcterms:created>
  <dcterms:modified xsi:type="dcterms:W3CDTF">2026-06-18T14:43:13Z</dcterms:modified>
</cp:coreProperties>
</file>