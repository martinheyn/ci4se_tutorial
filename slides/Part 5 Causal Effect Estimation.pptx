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67" y="8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GB" sz="2600" b="1" u="none" strike="noStrike">
                <a:solidFill>
                  <a:srgbClr val="1E3A5F"/>
                </a:solidFill>
                <a:effectLst/>
                <a:uFillTx/>
                <a:latin typeface="Cambria"/>
              </a:rPr>
              <a:t>Click to move the slide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46" name="PlaceHolder 4"/>
          <p:cNvSpPr>
            <a:spLocks noGrp="1"/>
          </p:cNvSpPr>
          <p:nvPr>
            <p:ph type="dt" idx="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47" name="PlaceHolder 5"/>
          <p:cNvSpPr>
            <a:spLocks noGrp="1"/>
          </p:cNvSpPr>
          <p:nvPr>
            <p:ph type="ftr" idx="1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8" name="PlaceHolder 6"/>
          <p:cNvSpPr>
            <a:spLocks noGrp="1"/>
          </p:cNvSpPr>
          <p:nvPr>
            <p:ph type="sldNum" idx="1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A81C5BF-3759-4780-A09A-9C52D56FECE9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9F45481-06C9-407E-AECF-4F104CBC9F8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705F17B-578E-4C0F-99E2-96D89DD52F5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indent="0" algn="r">
              <a:buNone/>
            </a:pPr>
            <a:fld id="{BA81C5BF-3759-4780-A09A-9C52D56FECE9}" type="slidenum">
              <a:rPr lang="en-GB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00500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ubrik och innehå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ftr" idx="1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Causal Effect Estimation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Klicka här för att ändra mall för rubrikformat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286560" y="1483200"/>
            <a:ext cx="8694720" cy="317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Klicka här för att ändra format på bakgrundstexten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två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tre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fyra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D9A8F4-0134-48DD-8F5F-FB22182A82F8}" type="slidenum">
              <a: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ast rubri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ftr" idx="3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Causal Effect Estimation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Klicka här för att ändra mall för rubrikformat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4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FE13D4-48E6-486D-A8BB-A32F9E6BAA63}" type="slidenum">
              <a: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vå del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body"/>
          </p:nvPr>
        </p:nvSpPr>
        <p:spPr>
          <a:xfrm>
            <a:off x="286560" y="1524600"/>
            <a:ext cx="4285080" cy="3107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Klicka här för att ändra format på bakgrundstexten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två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tre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fyra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648320" y="1524600"/>
            <a:ext cx="4332960" cy="3107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v-SE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Klicka här för att ändra format på bakgrundstexten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två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tre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fyra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v-SE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Nivå fem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5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Causal Effect Estimation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sv-SE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Klicka här för att ändra mall för rubrikformat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6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3B8FBA-702C-4067-BB0D-12CA681785D6}" type="slidenum">
              <a: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ubrikbil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ftr" idx="7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Causal Effect Estimation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sldNum" idx="8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SE" sz="9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E3513E-E2C2-4D54-AA81-DB3550C0E71F}" type="slidenum">
              <a:rPr lang="en-SE" sz="9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0" descr="fraunhofer.png"/>
          <p:cNvPicPr/>
          <p:nvPr/>
        </p:nvPicPr>
        <p:blipFill>
          <a:blip r:embed="rId2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Image 1" descr="chalmers.png"/>
          <p:cNvPicPr/>
          <p:nvPr/>
        </p:nvPicPr>
        <p:blipFill>
          <a:blip r:embed="rId3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Image 2" descr="goteborg.png"/>
          <p:cNvPicPr/>
          <p:nvPr/>
        </p:nvPicPr>
        <p:blipFill>
          <a:blip r:embed="rId4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Image 3" descr="napoli.png"/>
          <p:cNvPicPr/>
          <p:nvPr/>
        </p:nvPicPr>
        <p:blipFill>
          <a:blip r:embed="rId5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2"/>
          <p:cNvSpPr/>
          <p:nvPr/>
        </p:nvSpPr>
        <p:spPr>
          <a:xfrm>
            <a:off x="365760" y="4736520"/>
            <a:ext cx="2057040" cy="30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FSE 2026  ·  Montréal  ·  5–9 July 2026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600" b="1" u="none" strike="noStrike">
                <a:solidFill>
                  <a:srgbClr val="1E3A5F"/>
                </a:solidFill>
                <a:effectLst/>
                <a:uFillTx/>
                <a:latin typeface="Cambria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600" b="1" u="none" strike="noStrike">
                <a:solidFill>
                  <a:srgbClr val="1E3A5F"/>
                </a:solidFill>
                <a:effectLst/>
                <a:uFillTx/>
                <a:latin typeface="Cambria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theeffectbook.net/index.html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heeffectbook.net/index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youtu.be/YQDMlNIQSA8?si=1Gyzc5HFUkcAmLKv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why.org/EconML/spec/estimation.html" TargetMode="External"/><Relationship Id="rId2" Type="http://schemas.openxmlformats.org/officeDocument/2006/relationships/hyperlink" Target="https://www.bradyneal.com/slides/6%20-%20Estimation.pdf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ubleml.org/stable/index.html" TargetMode="External"/><Relationship Id="rId2" Type="http://schemas.openxmlformats.org/officeDocument/2006/relationships/hyperlink" Target="https://www.pywhy.org/EconML/inde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jtuenner/pymatchit" TargetMode="External"/><Relationship Id="rId4" Type="http://schemas.openxmlformats.org/officeDocument/2006/relationships/hyperlink" Target="https://cran.r-project.org/web/packages/MatchIt/vignettes/MatchI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 0" descr="fraunhofer.png"/>
          <p:cNvPicPr/>
          <p:nvPr/>
        </p:nvPicPr>
        <p:blipFill>
          <a:blip r:embed="rId3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Image 1" descr="chalmers.png"/>
          <p:cNvPicPr/>
          <p:nvPr/>
        </p:nvPicPr>
        <p:blipFill>
          <a:blip r:embed="rId4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Image 2" descr="goteborg.png"/>
          <p:cNvPicPr/>
          <p:nvPr/>
        </p:nvPicPr>
        <p:blipFill>
          <a:blip r:embed="rId5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Image 3" descr="napoli.png"/>
          <p:cNvPicPr/>
          <p:nvPr/>
        </p:nvPicPr>
        <p:blipFill>
          <a:blip r:embed="rId6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0"/>
          <p:cNvSpPr/>
          <p:nvPr/>
        </p:nvSpPr>
        <p:spPr>
          <a:xfrm>
            <a:off x="914400" y="1691640"/>
            <a:ext cx="731484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Introduction to Causal Inference for Software Engineering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914400" y="306324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A 90-minute hands-on tutorial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548640" y="361188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Julien Siebert  ·  Julian Frattini  ·  Hans-Martin Heyn  ·  Roberto Pietrantuono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3200400" y="473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9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 0" descr="fraunhofer.png"/>
          <p:cNvPicPr/>
          <p:nvPr/>
        </p:nvPicPr>
        <p:blipFill>
          <a:blip r:embed="rId3"/>
          <a:stretch/>
        </p:blipFill>
        <p:spPr>
          <a:xfrm>
            <a:off x="679680" y="237600"/>
            <a:ext cx="147456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Image 1" descr="chalmers.png"/>
          <p:cNvPicPr/>
          <p:nvPr/>
        </p:nvPicPr>
        <p:blipFill>
          <a:blip r:embed="rId4"/>
          <a:stretch/>
        </p:blipFill>
        <p:spPr>
          <a:xfrm>
            <a:off x="2843640" y="237600"/>
            <a:ext cx="1353600" cy="4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Image 2" descr="goteborg.png"/>
          <p:cNvPicPr/>
          <p:nvPr/>
        </p:nvPicPr>
        <p:blipFill>
          <a:blip r:embed="rId5"/>
          <a:stretch/>
        </p:blipFill>
        <p:spPr>
          <a:xfrm>
            <a:off x="4881240" y="195840"/>
            <a:ext cx="148428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Image 3" descr="napoli.png"/>
          <p:cNvPicPr/>
          <p:nvPr/>
        </p:nvPicPr>
        <p:blipFill>
          <a:blip r:embed="rId6"/>
          <a:stretch/>
        </p:blipFill>
        <p:spPr>
          <a:xfrm>
            <a:off x="7077960" y="237600"/>
            <a:ext cx="12970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0"/>
          <p:cNvSpPr/>
          <p:nvPr/>
        </p:nvSpPr>
        <p:spPr>
          <a:xfrm>
            <a:off x="914400" y="18745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201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Section 5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914400" y="2240280"/>
            <a:ext cx="73148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Causal Effect Estimation</a:t>
            </a:r>
            <a:endParaRPr lang="en-GB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"/>
          <p:cNvSpPr/>
          <p:nvPr/>
        </p:nvSpPr>
        <p:spPr>
          <a:xfrm>
            <a:off x="3200400" y="473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794"/>
                </a:solidFill>
                <a:effectLst/>
                <a:uFillTx/>
                <a:latin typeface="Calibri"/>
                <a:ea typeface="Calibri"/>
              </a:rPr>
              <a:t>Section title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tshållare för bildnummer 3"/>
          <p:cNvSpPr/>
          <p:nvPr/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fld id="{A10DF6C0-CD76-4B00-B352-7C99295BA3E1}" type="slidenum">
              <a:rPr lang="en-SE" sz="900" b="0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2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en-GB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What is the goal of estimation?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ldNum" idx="12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F2FFCC-7759-421E-96B0-11ECC549C8A1}" type="slidenum">
              <a: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3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7" name="Table 18"/>
          <p:cNvGraphicFramePr/>
          <p:nvPr/>
        </p:nvGraphicFramePr>
        <p:xfrm>
          <a:off x="490680" y="2221560"/>
          <a:ext cx="8193600" cy="2482560"/>
        </p:xfrm>
        <a:graphic>
          <a:graphicData uri="http://schemas.openxmlformats.org/drawingml/2006/table">
            <a:tbl>
              <a:tblPr/>
              <a:tblGrid>
                <a:gridCol w="15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Estimate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Question answered 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Output 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Example (SE)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Average Treatment Effect (ATE)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What is the average effect of the treatment across the whole population? 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Single value + Confidence Interval (CI) + p-value 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If all developers practiced pair programming, what would be the average improvement in code quality? 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Average Treatment effect on the Treated (ATT)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What is the average effect among those who actually received the treatment? 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Single value + Confidence Interval (CI) + p-value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Among developers who currently practice pair programming, how much does it help them? 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Conditional Treatment Effect (CATE)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How does the effect vary across individuals or subgroups? 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 function of covariates, one estimate per subgroup/individual 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Does the effect vary by developer experience or task complexity? 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8" name="textruta 8"/>
          <p:cNvSpPr/>
          <p:nvPr/>
        </p:nvSpPr>
        <p:spPr>
          <a:xfrm>
            <a:off x="459000" y="1283760"/>
            <a:ext cx="8226000" cy="92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goal is to compute a causal estimate — a precise quantity that answers our causal question — along with a measure of uncertainty from an estimand (the output of the identification phase).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Causal Effect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en-GB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What to take into account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286560" y="1483200"/>
            <a:ext cx="8694720" cy="317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Before choosing a method, practical questions must be answered</a:t>
            </a:r>
            <a:endParaRPr lang="en-GB" sz="2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GB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1. What is the form of the effect?</a:t>
            </a:r>
            <a:endParaRPr lang="en-GB" sz="2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Is the relationship between treatment and outcome linear or non-linear? Assuming a linear model when reality is not, will lead to poor estimation quality.</a:t>
            </a:r>
            <a:endParaRPr lang="en-GB" sz="1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br>
              <a:rPr lang="en-GB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</a:br>
            <a:r>
              <a:rPr lang="en-GB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2. What type of data do you have? </a:t>
            </a:r>
            <a:endParaRPr lang="en-GB" sz="2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Treatment, Outcome, Covariates (continuous, binary, ordinal…). Some estimation methods work only for specific types of data.</a:t>
            </a:r>
            <a:endParaRPr lang="en-GB" sz="1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13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7478D9-B65B-4E49-98EC-F26611FD842B}" type="slidenum">
              <a: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4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Causal Effect Estimation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en-GB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What to take into account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286560" y="1483200"/>
            <a:ext cx="8694720" cy="317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Before choosing a method, practical questions must be answered</a:t>
            </a:r>
            <a:endParaRPr lang="en-GB" sz="2000" b="0" dirty="0">
              <a:solidFill>
                <a:schemeClr val="dk1"/>
              </a:solidFill>
              <a:latin typeface="Calibri"/>
            </a:endParaRPr>
          </a:p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GB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3. Do you need to transform the data?</a:t>
            </a:r>
            <a:endParaRPr lang="en-GB" sz="2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No single answer here. Avoid transformations that change the identification results (e.g., feature engineering and dimensionality reduction). Can you interpret the results after transformation (e.g., what is the effect of a log(T) on Y)?</a:t>
            </a:r>
            <a:endParaRPr lang="en-GB" dirty="0">
              <a:solidFill>
                <a:schemeClr val="dk1"/>
              </a:solidFill>
              <a:latin typeface="Calibri"/>
              <a:ea typeface="Cambria"/>
            </a:endParaRPr>
          </a:p>
          <a:p>
            <a: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</a:pPr>
            <a:br>
              <a:rPr lang="en-GB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</a:br>
            <a:r>
              <a:rPr lang="en-GB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4. How large is the adjustment set?</a:t>
            </a:r>
            <a:endParaRPr lang="en-GB" sz="2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Few confounders: classical regression works well.</a:t>
            </a:r>
            <a:endParaRPr lang="en-GB" sz="1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Many covariates (high-dimensional setting): use methods that separate the estimation of confounding from the estimation of the treatment effect (e.g., </a:t>
            </a:r>
            <a:r>
              <a:rPr lang="en-GB" sz="18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DoubleML</a:t>
            </a:r>
            <a:r>
              <a:rPr lang="en-GB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).</a:t>
            </a:r>
            <a:endParaRPr lang="en-GB" sz="1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GB" sz="2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14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5A9236-8924-4AC9-ADAD-74A725185083}" type="slidenum">
              <a: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5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Causal Effect Estimation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en-GB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Estimation techniques (1): Regression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286560" y="1293480"/>
            <a:ext cx="8694720" cy="317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Problem it solves: </a:t>
            </a:r>
            <a:r>
              <a:rPr lang="en-GB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How do I estimate the effect of the treatment on the outcome while controlling for confounders?</a:t>
            </a:r>
            <a:endParaRPr lang="en-GB" sz="1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Key intuition: </a:t>
            </a:r>
            <a:r>
              <a:rPr lang="en-GB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Model the outcome as a function of both the treatment and the covariates. The treatment coefficient (or marginal effect) is your Average Treatment Effect (ATE).</a:t>
            </a:r>
            <a:endParaRPr lang="en-GB" sz="1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Outcome = f(Treatment, Covariates) → read off the treatment coefficient</a:t>
            </a:r>
            <a:endParaRPr lang="en-GB" sz="16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Main limitations:</a:t>
            </a:r>
            <a:endParaRPr lang="en-GB" sz="1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600" b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Model misspecification: </a:t>
            </a:r>
            <a:r>
              <a:rPr lang="en-GB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You must correctly specify the model form. If the true relationship is non-linear and you use a linear model, the effect estimate is biased.</a:t>
            </a:r>
            <a:endParaRPr lang="en-GB" sz="16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600" b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Large adjustment sets: </a:t>
            </a:r>
            <a:r>
              <a:rPr lang="en-GB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When you have many covariates, classical regression struggles</a:t>
            </a:r>
            <a:endParaRPr lang="en-GB" sz="16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15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58CC57-8719-407A-8F3C-C00B462426D1}" type="slidenum">
              <a: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6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Causal Effect Estimation</a:t>
            </a:r>
          </a:p>
        </p:txBody>
      </p:sp>
      <p:sp>
        <p:nvSpPr>
          <p:cNvPr id="3" name="TextBox 23">
            <a:extLst>
              <a:ext uri="{FF2B5EF4-FFF2-40B4-BE49-F238E27FC236}">
                <a16:creationId xmlns:a16="http://schemas.microsoft.com/office/drawing/2014/main" id="{3DE5C64B-AA54-BCFD-6D70-CDD2F007BAB9}"/>
              </a:ext>
            </a:extLst>
          </p:cNvPr>
          <p:cNvSpPr txBox="1"/>
          <p:nvPr/>
        </p:nvSpPr>
        <p:spPr>
          <a:xfrm>
            <a:off x="286560" y="4214576"/>
            <a:ext cx="5924111" cy="552544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Aptos" panose="020B0004020202020204" pitchFamily="34" charset="0"/>
              </a:rPr>
              <a:t> Chapter 13 - Regression. “The Effect: An Introduction to Research Design and Causality”. </a:t>
            </a:r>
            <a:b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Aptos" panose="020B0004020202020204" pitchFamily="34" charset="0"/>
              </a:rPr>
            </a:b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</a:rPr>
              <a:t>N</a:t>
            </a: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Aptos" panose="020B0004020202020204" pitchFamily="34" charset="0"/>
              </a:rPr>
              <a:t>ick Huntington-Klein. CRC Press </a:t>
            </a: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Aptos" panose="020B0004020202020204" pitchFamily="34" charset="0"/>
                <a:hlinkClick r:id="rId2"/>
              </a:rPr>
              <a:t>https://theeffectbook.net/index.html</a:t>
            </a: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Aptos" panose="020B0004020202020204" pitchFamily="34" charset="0"/>
              </a:rPr>
              <a:t> </a:t>
            </a:r>
          </a:p>
          <a:p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ubrik 1"/>
          <p:cNvSpPr txBox="1"/>
          <p:nvPr/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GB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Estimation techniques (2): Matching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rPr dirty="0"/>
              <a:t>Causal Effect Estimation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AC44EA8B-4A08-692D-8803-8DC57826F252}"/>
              </a:ext>
            </a:extLst>
          </p:cNvPr>
          <p:cNvSpPr txBox="1">
            <a:spLocks/>
          </p:cNvSpPr>
          <p:nvPr/>
        </p:nvSpPr>
        <p:spPr>
          <a:xfrm>
            <a:off x="286560" y="1293480"/>
            <a:ext cx="8694720" cy="317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sv-SE" sz="2600" b="1" u="none" strike="noStrike" kern="1200">
                <a:solidFill>
                  <a:srgbClr val="1E3A5F"/>
                </a:solidFill>
                <a:effectLst/>
                <a:uFillTx/>
                <a:latin typeface="Cambria"/>
                <a:ea typeface="Cambria"/>
                <a:cs typeface="+mj-cs"/>
              </a:defRPr>
            </a:lvl1pPr>
          </a:lstStyle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</a:rPr>
              <a:t>Problem it solves: </a:t>
            </a:r>
            <a:r>
              <a:rPr lang="en-GB" sz="1800" b="0" dirty="0">
                <a:solidFill>
                  <a:schemeClr val="dk1"/>
                </a:solidFill>
                <a:latin typeface="Calibri"/>
                <a:ea typeface="Calibri"/>
              </a:rPr>
              <a:t>Given treated and untreated units that differ in their covariates (selection bias), how do I construct a comparable control group so that the outcome difference can be attributed to the treatment?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</a:rPr>
              <a:t>Key intuition: </a:t>
            </a:r>
            <a:r>
              <a:rPr lang="en-GB" sz="1800" b="0" dirty="0">
                <a:solidFill>
                  <a:schemeClr val="dk1"/>
                </a:solidFill>
                <a:latin typeface="Calibri"/>
                <a:ea typeface="Calibri"/>
              </a:rPr>
              <a:t>Instead of </a:t>
            </a:r>
            <a:r>
              <a:rPr lang="en-GB" sz="1800" b="0" dirty="0" err="1">
                <a:solidFill>
                  <a:schemeClr val="dk1"/>
                </a:solidFill>
                <a:latin typeface="Calibri"/>
                <a:ea typeface="Calibri"/>
              </a:rPr>
              <a:t>modeling</a:t>
            </a:r>
            <a:r>
              <a:rPr lang="en-GB" sz="1800" b="0" dirty="0">
                <a:solidFill>
                  <a:schemeClr val="dk1"/>
                </a:solidFill>
                <a:latin typeface="Calibri"/>
                <a:ea typeface="Calibri"/>
              </a:rPr>
              <a:t> the outcome directly, matching “restructures” the data: each treated unit is paired with a similar untreated unit. After matching, the two groups are balanced and we can simply compare outcomes.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</a:rPr>
              <a:t>Main limitations:</a:t>
            </a:r>
            <a:endParaRPr lang="en-GB" sz="1800" b="0" dirty="0">
              <a:solidFill>
                <a:schemeClr val="dk1"/>
              </a:solidFill>
              <a:latin typeface="Calibri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600" b="1" kern="0" dirty="0">
                <a:solidFill>
                  <a:schemeClr val="dk1"/>
                </a:solidFill>
                <a:latin typeface="Calibri"/>
                <a:ea typeface="Calibri"/>
              </a:rPr>
              <a:t>Curse of dimensionality: </a:t>
            </a:r>
            <a:r>
              <a:rPr lang="en-GB" sz="1600" kern="0" dirty="0">
                <a:solidFill>
                  <a:schemeClr val="dk1"/>
                </a:solidFill>
                <a:latin typeface="Calibri"/>
                <a:ea typeface="Calibri"/>
              </a:rPr>
              <a:t>Exact matches become rare with many covariates</a:t>
            </a: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600" b="1" kern="0" dirty="0">
                <a:solidFill>
                  <a:schemeClr val="dk1"/>
                </a:solidFill>
                <a:latin typeface="Calibri"/>
                <a:ea typeface="Calibri"/>
              </a:rPr>
              <a:t>Model dependence</a:t>
            </a:r>
            <a:r>
              <a:rPr lang="en-GB" sz="1600" kern="0" dirty="0">
                <a:solidFill>
                  <a:schemeClr val="dk1"/>
                </a:solidFill>
                <a:latin typeface="Calibri"/>
                <a:ea typeface="Calibri"/>
              </a:rPr>
              <a:t>: quality depends on how well the matching is estimated (e.g., propensity score needs to be estimated)</a:t>
            </a: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600" b="1" kern="0" dirty="0">
                <a:solidFill>
                  <a:schemeClr val="dk1"/>
                </a:solidFill>
                <a:latin typeface="Calibri"/>
                <a:ea typeface="Calibri"/>
              </a:rPr>
              <a:t>Data loss: </a:t>
            </a:r>
            <a:r>
              <a:rPr lang="en-GB" sz="1600" kern="0" dirty="0">
                <a:solidFill>
                  <a:schemeClr val="dk1"/>
                </a:solidFill>
                <a:latin typeface="Calibri"/>
                <a:ea typeface="Calibri"/>
              </a:rPr>
              <a:t>Unmatched units are discarded → smaller effective sample</a:t>
            </a:r>
            <a:endParaRPr lang="en-GB" sz="1600" kern="0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77E15B34-B810-1D64-3927-DCCF349A3544}"/>
              </a:ext>
            </a:extLst>
          </p:cNvPr>
          <p:cNvSpPr txBox="1"/>
          <p:nvPr/>
        </p:nvSpPr>
        <p:spPr>
          <a:xfrm>
            <a:off x="162720" y="4294980"/>
            <a:ext cx="8447809" cy="506377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r>
              <a:rPr lang="en-US" sz="9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Stuart, Elizabeth A. "Matching methods for causal inference: A review and a look forward." (2010)</a:t>
            </a:r>
            <a:r>
              <a:rPr lang="en-US" sz="900" dirty="0">
                <a:solidFill>
                  <a:srgbClr val="000000"/>
                </a:solidFill>
                <a:latin typeface="Arial"/>
              </a:rPr>
              <a:t>.</a:t>
            </a:r>
            <a:br>
              <a:rPr lang="en-US" sz="9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</a:br>
            <a:r>
              <a:rPr lang="en-US" sz="9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Chapter 14 - Matching. “The Effect: An Introduction to Research Design and Causality”. Nick Huntington-Klein. CRC Press </a:t>
            </a:r>
            <a:r>
              <a:rPr lang="en-US" sz="900" b="0" u="none" strike="noStrike" dirty="0">
                <a:solidFill>
                  <a:srgbClr val="000000"/>
                </a:solidFill>
                <a:effectLst/>
                <a:uFillTx/>
                <a:latin typeface="Arial"/>
                <a:hlinkClick r:id="rId3"/>
              </a:rPr>
              <a:t>https://theeffectbook.net/index.html</a:t>
            </a:r>
            <a:r>
              <a:rPr lang="en-US" sz="9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lang="en-US" sz="900" dirty="0">
                <a:solidFill>
                  <a:srgbClr val="000000"/>
                </a:solidFill>
              </a:rPr>
            </a:br>
            <a:r>
              <a:rPr lang="en-US" sz="900" dirty="0">
                <a:solidFill>
                  <a:srgbClr val="000000"/>
                </a:solidFill>
              </a:rPr>
              <a:t>6.4 - Propensity Scores and Inverse Probability Weighting (IPW). Introduction to Causal Inference. Brady Neals </a:t>
            </a:r>
            <a:r>
              <a:rPr lang="en-US" sz="900" dirty="0">
                <a:solidFill>
                  <a:srgbClr val="000000"/>
                </a:solidFill>
                <a:hlinkClick r:id="rId4"/>
              </a:rPr>
              <a:t>https://youtu.be/YQDMlNIQSA8?si=1Gyzc5HFUkcAmLKv</a:t>
            </a:r>
            <a:r>
              <a:rPr lang="en-US" sz="900" dirty="0">
                <a:solidFill>
                  <a:srgbClr val="000000"/>
                </a:solidFill>
              </a:rPr>
              <a:t> 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en-GB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Estimation techniques (3): Causal Machine Learning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286560" y="1293480"/>
            <a:ext cx="8694720" cy="317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1600" b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Problem it solves: </a:t>
            </a:r>
            <a:r>
              <a:rPr lang="en-GB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How do I estimate treatment effects when the data is high-dimensional or the covariate–outcome relationship is complex and non-linear?</a:t>
            </a:r>
            <a:endParaRPr lang="en-GB" sz="16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1600" b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Key intuition: </a:t>
            </a:r>
            <a:r>
              <a:rPr lang="en-GB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Use flexible ML models to learn how covariates relate to treatment and outcome (nuisance functions), then isolate the treatment effect. Combining the flexibility of ML with valid causal inference.</a:t>
            </a:r>
            <a:endParaRPr lang="en-GB" sz="16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1600" b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Families of techniques: </a:t>
            </a:r>
            <a:r>
              <a:rPr lang="en-GB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Meta-Learners (S/T/X-Learner), Double ML, Causal Forests</a:t>
            </a:r>
            <a:endParaRPr lang="en-GB" sz="16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1600" b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Double ML in 3 steps:</a:t>
            </a:r>
            <a:endParaRPr lang="en-GB" sz="16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0028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lang="en-GB" sz="1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Predict T from X → residuals T~ (with a ML model)</a:t>
            </a:r>
            <a:endParaRPr lang="en-GB" sz="1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0028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lang="en-GB" sz="1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Predict Y from X → residuals Y~ (with a ML model)</a:t>
            </a:r>
            <a:endParaRPr lang="en-GB" sz="1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0028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lang="en-GB" sz="1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Regress Y~ on T~ → treatment effect (with a linear regression)</a:t>
            </a:r>
            <a:endParaRPr lang="en-GB" sz="1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1600" b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Main limitations:</a:t>
            </a:r>
            <a:r>
              <a:rPr lang="en-GB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Needs larger samples than regression; requires cross-fitting.</a:t>
            </a:r>
            <a:endParaRPr lang="en-GB" sz="16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16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823916-A6F8-4F98-8F79-BE404633E360}" type="slidenum">
              <a: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8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Causal Effect Estimation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7708AA68-490A-9FAD-EA8C-F4129BC89F56}"/>
              </a:ext>
            </a:extLst>
          </p:cNvPr>
          <p:cNvSpPr txBox="1"/>
          <p:nvPr/>
        </p:nvSpPr>
        <p:spPr>
          <a:xfrm>
            <a:off x="391320" y="4214576"/>
            <a:ext cx="7090135" cy="552544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br>
              <a:rPr lang="en-US" sz="1000" dirty="0">
                <a:solidFill>
                  <a:srgbClr val="000000"/>
                </a:solidFill>
              </a:rPr>
            </a:br>
            <a:r>
              <a:rPr lang="en-US" sz="1000" dirty="0">
                <a:solidFill>
                  <a:srgbClr val="000000"/>
                </a:solidFill>
              </a:rPr>
              <a:t>Chapter 6. Introduction to Causal Inference. Brady Neals. </a:t>
            </a:r>
            <a:r>
              <a:rPr lang="en-US" sz="1000" dirty="0">
                <a:solidFill>
                  <a:srgbClr val="000000"/>
                </a:solidFill>
                <a:hlinkClick r:id="rId2"/>
              </a:rPr>
              <a:t>https://www.bradyneal.com/slides/6%20-%20Estimation.pdf</a:t>
            </a:r>
            <a:br>
              <a:rPr lang="en-US" sz="1000" dirty="0">
                <a:solidFill>
                  <a:srgbClr val="000000"/>
                </a:solidFill>
              </a:rPr>
            </a:br>
            <a:r>
              <a:rPr lang="en-US" sz="1000" dirty="0" err="1">
                <a:solidFill>
                  <a:srgbClr val="000000"/>
                </a:solidFill>
              </a:rPr>
              <a:t>EconML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de-DE" sz="1000" dirty="0">
                <a:hlinkClick r:id="rId3"/>
              </a:rPr>
              <a:t>https://www.pywhy.org/EconML/spec/estimation.html</a:t>
            </a:r>
            <a:r>
              <a:rPr lang="de-DE" sz="1000" dirty="0"/>
              <a:t> </a:t>
            </a:r>
            <a:r>
              <a:rPr lang="en-US" sz="1000" dirty="0">
                <a:solidFill>
                  <a:srgbClr val="000000"/>
                </a:solidFill>
              </a:rPr>
              <a:t>  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17"/>
          </p:nvPr>
        </p:nvSpPr>
        <p:spPr>
          <a:xfrm>
            <a:off x="2981520" y="4767120"/>
            <a:ext cx="308592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GB" sz="9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GB" sz="9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Calibri"/>
                <a:ea typeface="Calibri"/>
              </a:rPr>
              <a:t>Causal Effect Estimation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286560" y="848520"/>
            <a:ext cx="8694720" cy="54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en-GB" sz="2600" b="1" u="none" strike="noStrike">
                <a:solidFill>
                  <a:srgbClr val="1E3A5F"/>
                </a:solidFill>
                <a:effectLst/>
                <a:uFillTx/>
                <a:latin typeface="Cambria"/>
                <a:ea typeface="Cambria"/>
              </a:rPr>
              <a:t>Libraries and Reading Material</a:t>
            </a:r>
            <a:endParaRPr lang="en-GB" sz="2600" b="1" u="none" strike="noStrike">
              <a:solidFill>
                <a:srgbClr val="1E3A5F"/>
              </a:solidFill>
              <a:effectLst/>
              <a:uFillTx/>
              <a:latin typeface="Cambri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18"/>
          </p:nvPr>
        </p:nvSpPr>
        <p:spPr>
          <a:xfrm>
            <a:off x="6150240" y="4767120"/>
            <a:ext cx="2831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0DBEF8-FBF0-4D08-AE6E-2DC65E05EF98}" type="slidenum">
              <a:rPr lang="en-SE" sz="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9</a:t>
            </a:fld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26433B7E-5246-F688-2852-B1C1E4E52149}"/>
              </a:ext>
            </a:extLst>
          </p:cNvPr>
          <p:cNvSpPr txBox="1">
            <a:spLocks/>
          </p:cNvSpPr>
          <p:nvPr/>
        </p:nvSpPr>
        <p:spPr>
          <a:xfrm>
            <a:off x="286560" y="1293480"/>
            <a:ext cx="8694720" cy="317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sv-SE" sz="2600" b="1" u="none" strike="noStrike" kern="1200">
                <a:solidFill>
                  <a:srgbClr val="1E3A5F"/>
                </a:solidFill>
                <a:effectLst/>
                <a:uFillTx/>
                <a:latin typeface="Cambria"/>
                <a:ea typeface="Cambria"/>
                <a:cs typeface="+mj-cs"/>
              </a:defRPr>
            </a:lvl1pPr>
          </a:lstStyle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dirty="0" err="1">
                <a:solidFill>
                  <a:schemeClr val="dk1"/>
                </a:solidFill>
                <a:latin typeface="Calibri"/>
                <a:ea typeface="Calibri"/>
              </a:rPr>
              <a:t>EconML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</a:rPr>
              <a:t> (python) 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hlinkClick r:id="rId2"/>
              </a:rPr>
              <a:t>https://www.pywhy.org/EconML/index.html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</a:rPr>
              <a:t> 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dirty="0" err="1">
                <a:solidFill>
                  <a:schemeClr val="dk1"/>
                </a:solidFill>
                <a:latin typeface="Calibri"/>
                <a:ea typeface="Calibri"/>
              </a:rPr>
              <a:t>DoubleML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</a:rPr>
              <a:t> (python/R) 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hlinkClick r:id="rId3"/>
              </a:rPr>
              <a:t>https://docs.doubleml.org/stable/index.html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</a:rPr>
              <a:t> 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dirty="0" err="1">
                <a:solidFill>
                  <a:schemeClr val="dk1"/>
                </a:solidFill>
                <a:latin typeface="Calibri"/>
                <a:ea typeface="Calibri"/>
              </a:rPr>
              <a:t>CausalML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</a:rPr>
              <a:t> (python) https://causalml.readthedocs.io/en/latest/about.html  </a:t>
            </a: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dirty="0" err="1">
                <a:solidFill>
                  <a:schemeClr val="dk1"/>
                </a:solidFill>
                <a:latin typeface="Calibri"/>
                <a:ea typeface="Calibri"/>
              </a:rPr>
              <a:t>Matchit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</a:rPr>
              <a:t> (R) 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hlinkClick r:id="rId4"/>
              </a:rPr>
              <a:t>https://cran.r-project.org/web/packages/MatchIt/vignettes/MatchIt.html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</a:rPr>
              <a:t>  (Python: 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hlinkClick r:id="rId5"/>
              </a:rPr>
              <a:t>https://github.com/jtuenner/pymatchit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</a:rPr>
              <a:t> 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passad formgivning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1106</Words>
  <Application>Microsoft Office PowerPoint</Application>
  <PresentationFormat>Bildspel på skärmen (16:9)</PresentationFormat>
  <Paragraphs>85</Paragraphs>
  <Slides>9</Slides>
  <Notes>3</Notes>
  <HiddenSlides>0</HiddenSlides>
  <MMClips>0</MMClips>
  <ScaleCrop>false</ScaleCrop>
  <HeadingPairs>
    <vt:vector size="6" baseType="variant">
      <vt:variant>
        <vt:lpstr>Använt teckensnitt</vt:lpstr>
      </vt:variant>
      <vt:variant>
        <vt:i4>8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9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Cambria</vt:lpstr>
      <vt:lpstr>Symbol</vt:lpstr>
      <vt:lpstr>Times New Roman</vt:lpstr>
      <vt:lpstr>Wingdings</vt:lpstr>
      <vt:lpstr>Anpassad formgivning</vt:lpstr>
      <vt:lpstr>PowerPoint-presentation</vt:lpstr>
      <vt:lpstr>PowerPoint-presentation</vt:lpstr>
      <vt:lpstr>What is the goal of estimation?</vt:lpstr>
      <vt:lpstr>What to take into account</vt:lpstr>
      <vt:lpstr>What to take into account</vt:lpstr>
      <vt:lpstr>Estimation techniques (1): Regression</vt:lpstr>
      <vt:lpstr>PowerPoint-presentation</vt:lpstr>
      <vt:lpstr>Estimation techniques (3): Causal Machine Learning</vt:lpstr>
      <vt:lpstr>Libraries and Reading Material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Causal Inference for Software Engineering</dc:title>
  <dc:subject>PptxGenJS Presentation</dc:subject>
  <dc:creator>Tutorial authors</dc:creator>
  <dc:description/>
  <cp:lastModifiedBy>Hans-Martin Heyn</cp:lastModifiedBy>
  <cp:revision>39</cp:revision>
  <dcterms:created xsi:type="dcterms:W3CDTF">2026-06-18T12:50:28Z</dcterms:created>
  <dcterms:modified xsi:type="dcterms:W3CDTF">2026-06-26T10:29:18Z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Bildspel på skärmen (16:9)</vt:lpwstr>
  </property>
  <property fmtid="{D5CDD505-2E9C-101B-9397-08002B2CF9AE}" pid="4" name="Slides">
    <vt:i4>8</vt:i4>
  </property>
</Properties>
</file>