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move the slide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A81C5BF-3759-4780-A09A-9C52D56FECE9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F45481-06C9-407E-AECF-4F104CBC9F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05F17B-578E-4C0F-99E2-96D89DD52F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 och innehå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</a:t>
            </a: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Causal Effect Estimation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D9A8F4-0134-48DD-8F5F-FB22182A82F8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dast rubri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Causal Effect Estimation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här för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att ändra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mall för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rubrikfo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FE13D4-48E6-486D-A8BB-A32F9E6BAA63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vå dela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Causal Effect Estimation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3B8FBA-702C-4067-BB0D-12CA681785D6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ftr" idx="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Causal Effect Estimation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E3513E-E2C2-4D54-AA81-DB3550C0E71F}" type="slidenum">
              <a: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0"/>
          <p:cNvSpPr/>
          <p:nvPr/>
        </p:nvSpPr>
        <p:spPr>
          <a:xfrm>
            <a:off x="914400" y="1691640"/>
            <a:ext cx="7314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Introduction to </a:t>
            </a: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</a:t>
            </a: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Inference for </a:t>
            </a: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Software </a:t>
            </a: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Engineering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914400" y="30632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 90-minute hands-on tutorial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548640" y="36118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Julien Siebert  ·  Julian Frattini  ·  Hans-Martin Heyn  ·  Roberto Pietrantuono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9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0"/>
          <p:cNvSpPr/>
          <p:nvPr/>
        </p:nvSpPr>
        <p:spPr>
          <a:xfrm>
            <a:off x="914400" y="18745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pc="201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Section 5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914400" y="224028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Effect Estimation</a:t>
            </a:r>
            <a:endParaRPr lang="en-GB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Section title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tshållare för bildnummer 3"/>
          <p:cNvSpPr/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</a:pPr>
            <a:fld id="{A10DF6C0-CD76-4B00-B352-7C99295BA3E1}" type="slidenum">
              <a: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What is </a:t>
            </a: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the goal </a:t>
            </a: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of </a:t>
            </a: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estimatio</a:t>
            </a: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n?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ldNum" idx="1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F2FFCC-7759-421E-96B0-11ECC549C8A1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67" name="Table 18"/>
          <p:cNvGraphicFramePr/>
          <p:nvPr/>
        </p:nvGraphicFramePr>
        <p:xfrm>
          <a:off x="490680" y="2221560"/>
          <a:ext cx="8194320" cy="2484000"/>
        </p:xfrm>
        <a:graphic>
          <a:graphicData uri="http://schemas.openxmlformats.org/drawingml/2006/table">
            <a:tbl>
              <a:tblPr/>
              <a:tblGrid>
                <a:gridCol w="1519200"/>
                <a:gridCol w="2512440"/>
                <a:gridCol w="2079360"/>
                <a:gridCol w="2082600"/>
              </a:tblGrid>
              <a:tr h="21996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Estimate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Question answered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Output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Example (SE)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048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Average Treatment Effect (ATE)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What is the average effect of the treatment across the whole population?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Single value + Confidence Interval (CI) + p-value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If all developers practiced pair programming, what would be the average improvement in code quality?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048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Average Treatment effect on the Treated (ATT)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What is the average effect among those who actually received the treatment?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Single value + Confidence Interval (CI) + p-value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Among developers who currently practice pair programming, how much does it help them?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604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Conditional Treatment Effect (CATE)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 does the effect vary across individuals or subgroups?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 function of covariates, one estimate per subgroup/individual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Does the effect vary by developer experience or task complexity? 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textruta 8"/>
          <p:cNvSpPr/>
          <p:nvPr/>
        </p:nvSpPr>
        <p:spPr>
          <a:xfrm>
            <a:off x="459000" y="1283760"/>
            <a:ext cx="822600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to compute a causal estimate — a precise quantity that answers our causal question — along with a measure of uncertainty from an estimand (the output of the identification phase).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What to take into account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Before choosing a method, practical questions must be answered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What is the form of the effect?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 the relationship between treatment and outcome linear or non-linear? Assuming a linear model when reality is not, will lead to poor estimation quality.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What type of data do you have?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Treatment, Outcome, Covariates (continuous, binary, ordinal…). Some estimation methods work only for specific types of data.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1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7478D9-B65B-4E49-98EC-F26611FD842B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What to take into account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Before choosing a method, practical questions must be answered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3. Do you need to transform the data?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No single answer here. Avoid transformations that change the identification results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(e.g., feature engineering and dimensionality reduction). Can you interpret the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results after transformation (e.g., what is the effect of a log(T) on Y)?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4.  How large is the adjustment set?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Few confounders: classical regression works well.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Many covariates (high-dimensional setting): use methods that separate the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estimation of confounding from the estimation of the treatment effect (e.g.,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DoubleML).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1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5A9236-8924-4AC9-ADAD-74A725185083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Estimation techniques (1): Regression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286560" y="129348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Problem it solves: 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do I estimate the effect of the treatment on the outcome while controlling for confounders?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Key intuition: 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 the outcome as a function of both the treatment and the covariates. The treatment coefficient (or marginal effect) is your Average Treatment Effect (ATE).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Outcome = f(Treatment, Covariates) → read off the treatment coefficient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Main limitations: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 misspecification: 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You must correctly specify the model form. If the true relationship is non-linear and you use a linear model, the effect estimate is biased.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Large adjustment sets: 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When you have many covariates, classical regression struggles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15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58CC57-8719-407A-8F3C-C00B462426D1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ubrik 1"/>
          <p:cNvSpPr txBox="1"/>
          <p:nvPr/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Estimation techniques (2): Matching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Estimation techniques (3): Causal Machine Learning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286560" y="129348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Problem it solves: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do I estimate treatment effects when the data is high-dimensional or the covariate–outcome relationship is complex and non-linear?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Key intuition: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Use flexible ML models to learn how covariates relate to treatment and outcome (nuisance functions), then isolate the treatment effect. Combining the flexibility of ML with valid causal inference.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Families of techniques: 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Meta-Learners (S/T/X-Learner), Double ML, Causal Forests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Double ML in 3 steps: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Predict T from X → residuals T~ (with a ML model)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Predict Y from X → residuals Y~ (with a ML model)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ptos Display"/>
              <a:buAutoNum type="arabicPeriod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Regress Y~ on T~ → treatment effect (with a linear regression)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Main limitations: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Needs larger samples than regression; requires cross-fitting.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sldNum" idx="1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823916-A6F8-4F98-8F79-BE404633E360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Causal Effect Estimation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1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GB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rPr>
              <a:t>Causal Effect Estimation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Libraries and Reading Material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1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0DBEF8-FBF0-4D08-AE6E-2DC65E05EF98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LibreOffice/26.2.4.2$Linux_X86_64 LibreOffice_project/0229ac93fcf0d7cbc6376066c6f35021cef002dc</Application>
  <AppVersion>15.0000</AppVersion>
  <Words>704</Words>
  <Paragraphs>69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2026-06-18T12:50:28Z</dcterms:created>
  <dc:creator>Tutorial authors</dc:creator>
  <dc:description/>
  <dc:language>en-GB</dc:language>
  <cp:lastModifiedBy/>
  <dcterms:modified xsi:type="dcterms:W3CDTF">2026-06-26T09:43:02Z</dcterms:modified>
  <cp:revision>35</cp:revision>
  <dc:subject>PptxGenJS Presentation</dc:subject>
  <dc:title>Introduction to Causal Inference for Software Engineering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Bildspel på skärmen (16:9)</vt:lpwstr>
  </property>
  <property fmtid="{D5CDD505-2E9C-101B-9397-08002B2CF9AE}" pid="4" name="Slides">
    <vt:i4>8</vt:i4>
  </property>
</Properties>
</file>