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21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83112"/>
            <a:ext cx="8694913" cy="317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524447"/>
            <a:ext cx="4285339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524448"/>
            <a:ext cx="4333373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sz="900" dirty="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  <p:sldLayoutId id="2147483662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20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91440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Causal Effect Estimation</a:t>
            </a:r>
            <a:endParaRPr lang="en-US" sz="3400" dirty="0"/>
          </a:p>
        </p:txBody>
      </p:sp>
      <p:sp>
        <p:nvSpPr>
          <p:cNvPr id="9" name="Text 3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900" dirty="0"/>
          </a:p>
        </p:txBody>
      </p:sp>
      <p:sp>
        <p:nvSpPr>
          <p:cNvPr id="11" name="Platshållare för bildnummer 3">
            <a:extLst>
              <a:ext uri="{FF2B5EF4-FFF2-40B4-BE49-F238E27FC236}">
                <a16:creationId xmlns:a16="http://schemas.microsoft.com/office/drawing/2014/main" id="{68F2C0D3-8C44-0F80-B696-C3F5B6BCA0FA}"/>
              </a:ext>
            </a:extLst>
          </p:cNvPr>
          <p:cNvSpPr txBox="1">
            <a:spLocks/>
          </p:cNvSpPr>
          <p:nvPr/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C53FA84E-D7EA-43A2-AD8F-825F36F0800C}" type="slidenum">
              <a:rPr lang="en-SE" sz="900" smtClean="0">
                <a:solidFill>
                  <a:srgbClr val="1E3A5F"/>
                </a:solidFill>
              </a:rPr>
              <a:pPr algn="r"/>
              <a:t>2</a:t>
            </a:fld>
            <a:endParaRPr lang="en-SE" sz="900" dirty="0">
              <a:solidFill>
                <a:srgbClr val="1E3A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4DEF97BE-8B67-0521-CBEB-1AFCA1B07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Causal Effect Estimation</a:t>
            </a:r>
            <a:endParaRPr lang="en-SE" dirty="0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6DA55BB8-9511-69EF-E121-8EEDF2F0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goal of estimation?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49EC334-F418-CC89-F4D6-7649A6BB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3</a:t>
            </a:fld>
            <a:endParaRPr lang="en-SE" dirty="0"/>
          </a:p>
        </p:txBody>
      </p:sp>
      <p:graphicFrame>
        <p:nvGraphicFramePr>
          <p:cNvPr id="7" name="Table 18">
            <a:extLst>
              <a:ext uri="{FF2B5EF4-FFF2-40B4-BE49-F238E27FC236}">
                <a16:creationId xmlns:a16="http://schemas.microsoft.com/office/drawing/2014/main" id="{78040FE6-4FFA-2D24-C1F0-8969945F62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12680007"/>
              </p:ext>
            </p:extLst>
          </p:nvPr>
        </p:nvGraphicFramePr>
        <p:xfrm>
          <a:off x="490654" y="2221389"/>
          <a:ext cx="8194506" cy="2482560"/>
        </p:xfrm>
        <a:graphic>
          <a:graphicData uri="http://schemas.openxmlformats.org/drawingml/2006/table">
            <a:tbl>
              <a:tblPr/>
              <a:tblGrid>
                <a:gridCol w="1519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0148">
                <a:tc>
                  <a:txBody>
                    <a:bodyPr/>
                    <a:lstStyle/>
                    <a:p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Estimate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Question answered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Output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 (SE)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0687">
                <a:tc>
                  <a:txBody>
                    <a:bodyPr/>
                    <a:lstStyle/>
                    <a:p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Treatment Effect (ATE)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 is the average effect of the treatment across the whole population?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Single value + Confidence Interval (CI) + p-value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If all developers practiced pair programming, what would be the average improvement in code quality?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0687"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Treatment effect on the Treated (ATT)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 is the average effect among those who actually received the treatment?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Single value + Confidence Interval (CI) + p-value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Among developers who currently practice pair programming, how much does it help them?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068"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Conditional Treatment Effect (CATE)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How does the effect vary across individuals or subgroups?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 function of covariates, one estimate per subgroup/individual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Does the effect vary by developer experience or task complexity? 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ruta 8">
            <a:extLst>
              <a:ext uri="{FF2B5EF4-FFF2-40B4-BE49-F238E27FC236}">
                <a16:creationId xmlns:a16="http://schemas.microsoft.com/office/drawing/2014/main" id="{559DF4A9-273E-C3B9-40AF-1160C9752D9F}"/>
              </a:ext>
            </a:extLst>
          </p:cNvPr>
          <p:cNvSpPr txBox="1"/>
          <p:nvPr/>
        </p:nvSpPr>
        <p:spPr>
          <a:xfrm>
            <a:off x="458840" y="1283803"/>
            <a:ext cx="82263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 goal is to compute a causal estimate — a precise quantity that answers our causal question — along with a measure of uncertainty from an </a:t>
            </a:r>
            <a:r>
              <a:rPr lang="en-US" sz="18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estimand</a:t>
            </a: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(the output of the identification phase).</a:t>
            </a:r>
          </a:p>
        </p:txBody>
      </p:sp>
    </p:spTree>
    <p:extLst>
      <p:ext uri="{BB962C8B-B14F-4D97-AF65-F5344CB8AC3E}">
        <p14:creationId xmlns:p14="http://schemas.microsoft.com/office/powerpoint/2010/main" val="143870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BAA16380-2913-16E6-E99B-03343F0F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Causal Effect Estimation</a:t>
            </a:r>
            <a:endParaRPr lang="en-SE" dirty="0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C23B58D0-051E-2482-438B-1AE415AB7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to take into account</a:t>
            </a:r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F30E64B8-9BE7-F02B-B2E2-85FDFD24E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Before choosing a method, practical questions must be answered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What is the form of the effect?</a:t>
            </a:r>
          </a:p>
          <a:p>
            <a:pPr lvl="1"/>
            <a:r>
              <a:rPr lang="en-GB" dirty="0"/>
              <a:t>Is the relationship between treatment and outcome linear or non-linear? Assuming a linear model when reality is not, will lead to poor estimation quality.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What type of data do you have? </a:t>
            </a:r>
          </a:p>
          <a:p>
            <a:pPr lvl="1"/>
            <a:r>
              <a:rPr lang="en-GB" dirty="0"/>
              <a:t>Treatment, Outcome, Covariates (continuous, binary, ordinal…). Some estimation methods work only for specific types of data.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E8F431AC-6C26-6E42-61AE-9A620B60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4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094594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BAA16380-2913-16E6-E99B-03343F0F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Causal Effect Estimation</a:t>
            </a:r>
            <a:endParaRPr lang="en-SE" dirty="0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C23B58D0-051E-2482-438B-1AE415AB7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to take into account</a:t>
            </a:r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F30E64B8-9BE7-F02B-B2E2-85FDFD24E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Before choosing a method, practical questions must be answered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GB" dirty="0"/>
              <a:t>Do you need to transform the data?</a:t>
            </a:r>
          </a:p>
          <a:p>
            <a:pPr lvl="1"/>
            <a:r>
              <a:rPr lang="en-GB" dirty="0"/>
              <a:t>No single answer here. Avoid transformations that change the identification results (e.g., feature engineering and dimensionality reduction). Can you interpret the results after transformation (e.g., what is the effect of a log(T) on Y)?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GB" dirty="0"/>
              <a:t>  How large is the adjustment set?</a:t>
            </a:r>
          </a:p>
          <a:p>
            <a:pPr lvl="1"/>
            <a:r>
              <a:rPr lang="en-GB" dirty="0"/>
              <a:t>Few confounders: classical regression works well.</a:t>
            </a:r>
          </a:p>
          <a:p>
            <a:pPr lvl="1"/>
            <a:r>
              <a:rPr lang="en-GB" dirty="0"/>
              <a:t>Many covariates (high-dimensional setting): use methods that separate the estimation of confounding from the estimation of the treatment effect (</a:t>
            </a:r>
            <a:r>
              <a:rPr lang="en-GB" dirty="0" err="1"/>
              <a:t>e.g</a:t>
            </a:r>
            <a:r>
              <a:rPr lang="en-GB" dirty="0"/>
              <a:t> </a:t>
            </a:r>
            <a:r>
              <a:rPr lang="en-GB" dirty="0" err="1"/>
              <a:t>DoubleML</a:t>
            </a:r>
            <a:r>
              <a:rPr lang="en-GB" dirty="0"/>
              <a:t>).</a:t>
            </a:r>
          </a:p>
          <a:p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E8F431AC-6C26-6E42-61AE-9A620B60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5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856697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6BD9D6E0-46A1-CCB8-F438-902403E8B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Causal Effect Estimation</a:t>
            </a:r>
            <a:endParaRPr lang="en-SE" dirty="0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FD15C176-66E9-9728-CAE6-BEA523FBC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Estimation techniques (1): Regression</a:t>
            </a:r>
            <a:endParaRPr lang="en-SE" dirty="0"/>
          </a:p>
        </p:txBody>
      </p:sp>
      <p:sp>
        <p:nvSpPr>
          <p:cNvPr id="5" name="Platshållare för innehåll 4">
            <a:extLst>
              <a:ext uri="{FF2B5EF4-FFF2-40B4-BE49-F238E27FC236}">
                <a16:creationId xmlns:a16="http://schemas.microsoft.com/office/drawing/2014/main" id="{E3C37420-9712-35DF-CBBC-04C251229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293545"/>
            <a:ext cx="8694913" cy="3179125"/>
          </a:xfrm>
        </p:spPr>
        <p:txBody>
          <a:bodyPr/>
          <a:lstStyle/>
          <a:p>
            <a:r>
              <a:rPr lang="en-GB" b="1" dirty="0"/>
              <a:t>Problem it solves: </a:t>
            </a:r>
            <a:r>
              <a:rPr lang="en-GB" dirty="0"/>
              <a:t>How do I estimate the effect of the treatment on the outcome while controlling for confounders?</a:t>
            </a:r>
          </a:p>
          <a:p>
            <a:r>
              <a:rPr lang="en-GB" b="1" dirty="0"/>
              <a:t>Key intuition: </a:t>
            </a:r>
            <a:r>
              <a:rPr lang="en-GB" dirty="0"/>
              <a:t>Model the outcome as a function of both the treatment and the covariates. The treatment coefficient (or marginal effect) is your Average Treatment Effect (ATE).</a:t>
            </a:r>
          </a:p>
          <a:p>
            <a:pPr lvl="1"/>
            <a:r>
              <a:rPr lang="en-GB" dirty="0"/>
              <a:t>Outcome = f(Treatment, Covariates) → read off the treatment coefficient</a:t>
            </a:r>
          </a:p>
          <a:p>
            <a:r>
              <a:rPr lang="en-GB" b="1" dirty="0"/>
              <a:t>Main limitations:</a:t>
            </a:r>
          </a:p>
          <a:p>
            <a:pPr lvl="1"/>
            <a:r>
              <a:rPr lang="en-GB" b="1" dirty="0"/>
              <a:t>Model misspecification: </a:t>
            </a:r>
            <a:r>
              <a:rPr lang="en-GB" dirty="0"/>
              <a:t>You must correctly specify the model form. If the true relationship is non-linear and you use a linear model, the effect estimate is biased.</a:t>
            </a:r>
          </a:p>
          <a:p>
            <a:pPr lvl="1"/>
            <a:r>
              <a:rPr lang="en-GB" b="1" dirty="0"/>
              <a:t>Large adjustment sets: </a:t>
            </a:r>
            <a:r>
              <a:rPr lang="en-GB" dirty="0"/>
              <a:t>When you have many covariates, classical regression struggles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D15C6322-2976-30B4-9085-94B0F800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6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092624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6BD9D6E0-46A1-CCB8-F438-902403E8B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Causal Effect Estimation</a:t>
            </a:r>
            <a:endParaRPr lang="en-SE" dirty="0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FD15C176-66E9-9728-CAE6-BEA523FBC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Estimation techniques (2): Causal Machine Learning</a:t>
            </a:r>
            <a:endParaRPr lang="en-SE" dirty="0"/>
          </a:p>
        </p:txBody>
      </p:sp>
      <p:sp>
        <p:nvSpPr>
          <p:cNvPr id="5" name="Platshållare för innehåll 4">
            <a:extLst>
              <a:ext uri="{FF2B5EF4-FFF2-40B4-BE49-F238E27FC236}">
                <a16:creationId xmlns:a16="http://schemas.microsoft.com/office/drawing/2014/main" id="{E3C37420-9712-35DF-CBBC-04C251229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293545"/>
            <a:ext cx="8694913" cy="3179125"/>
          </a:xfrm>
        </p:spPr>
        <p:txBody>
          <a:bodyPr/>
          <a:lstStyle/>
          <a:p>
            <a:r>
              <a:rPr lang="en-GB" sz="1800" b="1" dirty="0"/>
              <a:t>Problem it solves: </a:t>
            </a:r>
            <a:r>
              <a:rPr lang="en-GB" sz="1800" dirty="0"/>
              <a:t>How do I estimate treatment effects when the data is high-dimensional or the covariate–outcome relationship is complex and non-linear?</a:t>
            </a:r>
          </a:p>
          <a:p>
            <a:r>
              <a:rPr lang="en-GB" sz="1800" b="1" dirty="0"/>
              <a:t>Key intuition: </a:t>
            </a:r>
            <a:r>
              <a:rPr lang="en-GB" sz="1800" dirty="0"/>
              <a:t>Use flexible ML models to learn how covariates relate to treatment and outcome (nuisance functions), then isolate the treatment effect. Combining the flexibility of ML with valid causal inference.</a:t>
            </a:r>
          </a:p>
          <a:p>
            <a:r>
              <a:rPr lang="en-GB" sz="1800" b="1" dirty="0"/>
              <a:t>Families of techniques: </a:t>
            </a:r>
            <a:r>
              <a:rPr lang="en-GB" sz="1800" dirty="0"/>
              <a:t>Meta-Learners (S/T/X-Learner), Double ML, Causal Forests</a:t>
            </a:r>
          </a:p>
          <a:p>
            <a:r>
              <a:rPr lang="en-GB" sz="1800" b="1" dirty="0"/>
              <a:t>Double ML in 3 steps: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/>
              <a:t>Predict T from X → residuals T~ (with a ML model)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/>
              <a:t>Predict Y from X → residuals Y~ (with a ML model)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/>
              <a:t>Regress Y~ on T~ → treatment effect (with a linear regression)</a:t>
            </a:r>
            <a:endParaRPr lang="en-GB" dirty="0"/>
          </a:p>
          <a:p>
            <a:r>
              <a:rPr lang="en-GB" sz="1800" b="1" dirty="0"/>
              <a:t>Main limitations:</a:t>
            </a:r>
            <a:r>
              <a:rPr lang="en-GB" sz="1800" dirty="0"/>
              <a:t> Needs larger samples than regression; requires cross-fitting.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D15C6322-2976-30B4-9085-94B0F800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7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603532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D86F1A0E-C341-BA23-55C0-7E0158966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Causal </a:t>
            </a:r>
            <a:r>
              <a:rPr lang="en-GB"/>
              <a:t>Effect Estimation</a:t>
            </a:r>
            <a:endParaRPr lang="en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DFE03904-D628-A70E-2B47-707146AC2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Libraries and Reading Material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3E0BA220-0879-AB01-562C-1D667A1B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8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869352326"/>
      </p:ext>
    </p:extLst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704</Words>
  <Application>Microsoft Office PowerPoint</Application>
  <PresentationFormat>Bildspel på skärmen (16:9)</PresentationFormat>
  <Paragraphs>69</Paragraphs>
  <Slides>8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Cambria</vt:lpstr>
      <vt:lpstr>Anpassad formgivning</vt:lpstr>
      <vt:lpstr>PowerPoint-presentation</vt:lpstr>
      <vt:lpstr>PowerPoint-presentation</vt:lpstr>
      <vt:lpstr>What is the goal of estimation?</vt:lpstr>
      <vt:lpstr>What to take into account</vt:lpstr>
      <vt:lpstr>What to take into account</vt:lpstr>
      <vt:lpstr>Estimation techniques (1): Regression</vt:lpstr>
      <vt:lpstr>Estimation techniques (2): Causal Machine Learning</vt:lpstr>
      <vt:lpstr>Libraries and Reading Material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Hans-Martin Heyn</cp:lastModifiedBy>
  <cp:revision>31</cp:revision>
  <dcterms:created xsi:type="dcterms:W3CDTF">2026-06-18T12:50:28Z</dcterms:created>
  <dcterms:modified xsi:type="dcterms:W3CDTF">2026-06-25T08:03:36Z</dcterms:modified>
</cp:coreProperties>
</file>