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8"/>
  </p:notesMasterIdLst>
  <p:sldIdLst>
    <p:sldId id="256" r:id="rId2"/>
    <p:sldId id="257" r:id="rId3"/>
    <p:sldId id="261" r:id="rId4"/>
    <p:sldId id="264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62" r:id="rId14"/>
    <p:sldId id="273" r:id="rId15"/>
    <p:sldId id="277" r:id="rId16"/>
    <p:sldId id="276" r:id="rId17"/>
    <p:sldId id="280" r:id="rId18"/>
    <p:sldId id="283" r:id="rId19"/>
    <p:sldId id="282" r:id="rId20"/>
    <p:sldId id="281" r:id="rId21"/>
    <p:sldId id="285" r:id="rId22"/>
    <p:sldId id="286" r:id="rId23"/>
    <p:sldId id="287" r:id="rId24"/>
    <p:sldId id="288" r:id="rId25"/>
    <p:sldId id="289" r:id="rId26"/>
    <p:sldId id="290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ECC"/>
    <a:srgbClr val="FFC000"/>
    <a:srgbClr val="00BFC4"/>
    <a:srgbClr val="BFBFBF"/>
    <a:srgbClr val="F8766D"/>
    <a:srgbClr val="46B1E1"/>
    <a:srgbClr val="1C7D80"/>
    <a:srgbClr val="09F9FF"/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21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086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620E0-CB75-5AE8-A7A2-F86D2229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93AE8-86D6-221F-0C7D-20A4C8CC5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9045D5-CBBF-1ACA-4B0E-81DA87177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13F77-E43B-BE61-CE90-676BB2A075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5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rubrik 1">
            <a:extLst>
              <a:ext uri="{FF2B5EF4-FFF2-40B4-BE49-F238E27FC236}">
                <a16:creationId xmlns:a16="http://schemas.microsoft.com/office/drawing/2014/main" id="{016BA05B-35C2-AB12-AEC4-0B5AE82CC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0" y="837309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  <a:endParaRPr lang="en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7801BEB2-EFE8-CA19-1392-F614122C4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60810"/>
            <a:ext cx="8694913" cy="3201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SE" dirty="0"/>
          </a:p>
        </p:txBody>
      </p:sp>
      <p:sp>
        <p:nvSpPr>
          <p:cNvPr id="3" name="Platshållare för bildnummer 3">
            <a:extLst>
              <a:ext uri="{FF2B5EF4-FFF2-40B4-BE49-F238E27FC236}">
                <a16:creationId xmlns:a16="http://schemas.microsoft.com/office/drawing/2014/main" id="{AE0ACF74-82A6-F22F-F543-8D4761B7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dirty="0"/>
          </a:p>
        </p:txBody>
      </p:sp>
      <p:sp>
        <p:nvSpPr>
          <p:cNvPr id="2" name="Platshållare för sidfot 4">
            <a:extLst>
              <a:ext uri="{FF2B5EF4-FFF2-40B4-BE49-F238E27FC236}">
                <a16:creationId xmlns:a16="http://schemas.microsoft.com/office/drawing/2014/main" id="{848D5609-41DF-4769-1613-9E919EF1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SE" sz="9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6AA9388E-EECF-ACC4-D00F-A5C3B4142F28}"/>
              </a:ext>
            </a:extLst>
          </p:cNvPr>
          <p:cNvSpPr/>
          <p:nvPr userDrawn="1"/>
        </p:nvSpPr>
        <p:spPr>
          <a:xfrm>
            <a:off x="365760" y="4736592"/>
            <a:ext cx="20574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2026  ·  Montréal  ·  5–9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5769905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65B41C35-209F-1C39-6425-D83DBBAD2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0" y="848460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  <a:endParaRPr lang="en-SE" dirty="0"/>
          </a:p>
        </p:txBody>
      </p:sp>
      <p:sp>
        <p:nvSpPr>
          <p:cNvPr id="2" name="Platshållare för bildnummer 3">
            <a:extLst>
              <a:ext uri="{FF2B5EF4-FFF2-40B4-BE49-F238E27FC236}">
                <a16:creationId xmlns:a16="http://schemas.microsoft.com/office/drawing/2014/main" id="{178C76C8-7DA8-3EB4-7968-0F0E3848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dirty="0"/>
          </a:p>
        </p:txBody>
      </p:sp>
      <p:sp>
        <p:nvSpPr>
          <p:cNvPr id="3" name="Platshållare för sidfot 4">
            <a:extLst>
              <a:ext uri="{FF2B5EF4-FFF2-40B4-BE49-F238E27FC236}">
                <a16:creationId xmlns:a16="http://schemas.microsoft.com/office/drawing/2014/main" id="{15AB6B25-CEB7-F518-99FE-B7D461BB7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SE" sz="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701F793-6AD2-875C-FC52-D58D40000E02}"/>
              </a:ext>
            </a:extLst>
          </p:cNvPr>
          <p:cNvSpPr/>
          <p:nvPr userDrawn="1"/>
        </p:nvSpPr>
        <p:spPr>
          <a:xfrm>
            <a:off x="365760" y="4736592"/>
            <a:ext cx="20574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2026  ·  Montréal  ·  5–9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04796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76B0E7B-7161-7CA2-0230-2A345F7CE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660" y="1524447"/>
            <a:ext cx="4285339" cy="310787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E6577D3-FE7D-29C8-96EA-738EBBBAC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524448"/>
            <a:ext cx="4333373" cy="310787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SE" dirty="0"/>
          </a:p>
        </p:txBody>
      </p:sp>
      <p:sp>
        <p:nvSpPr>
          <p:cNvPr id="8" name="Platshållare för rubrik 1">
            <a:extLst>
              <a:ext uri="{FF2B5EF4-FFF2-40B4-BE49-F238E27FC236}">
                <a16:creationId xmlns:a16="http://schemas.microsoft.com/office/drawing/2014/main" id="{5533356E-B98E-C815-0AC4-A7E5D9595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0" y="848460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  <a:endParaRPr lang="en-SE" dirty="0"/>
          </a:p>
        </p:txBody>
      </p:sp>
      <p:sp>
        <p:nvSpPr>
          <p:cNvPr id="2" name="Platshållare för bildnummer 3">
            <a:extLst>
              <a:ext uri="{FF2B5EF4-FFF2-40B4-BE49-F238E27FC236}">
                <a16:creationId xmlns:a16="http://schemas.microsoft.com/office/drawing/2014/main" id="{71D68C3C-F026-3686-675F-5E2E1FD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0902710-53D5-7794-4AA7-5747C4412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SE" sz="9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14F4C0C-353B-8B77-70F6-FBA029C9130A}"/>
              </a:ext>
            </a:extLst>
          </p:cNvPr>
          <p:cNvSpPr/>
          <p:nvPr userDrawn="1"/>
        </p:nvSpPr>
        <p:spPr>
          <a:xfrm>
            <a:off x="365760" y="4736592"/>
            <a:ext cx="20574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2026  ·  Montréal  ·  5–9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8089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nummer 3">
            <a:extLst>
              <a:ext uri="{FF2B5EF4-FFF2-40B4-BE49-F238E27FC236}">
                <a16:creationId xmlns:a16="http://schemas.microsoft.com/office/drawing/2014/main" id="{44F172C3-9839-5757-A5F6-51833DBF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dirty="0"/>
          </a:p>
        </p:txBody>
      </p:sp>
      <p:sp>
        <p:nvSpPr>
          <p:cNvPr id="3" name="Platshållare för sidfot 4">
            <a:extLst>
              <a:ext uri="{FF2B5EF4-FFF2-40B4-BE49-F238E27FC236}">
                <a16:creationId xmlns:a16="http://schemas.microsoft.com/office/drawing/2014/main" id="{F1B35B6C-D84B-E24D-B6C3-7B812968A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SE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8ADA26-128B-4434-7601-5AD881AF1ECA}"/>
              </a:ext>
            </a:extLst>
          </p:cNvPr>
          <p:cNvSpPr/>
          <p:nvPr userDrawn="1"/>
        </p:nvSpPr>
        <p:spPr>
          <a:xfrm>
            <a:off x="365760" y="4736592"/>
            <a:ext cx="20574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2026  ·  Montréal  ·  5–9 July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46124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75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passa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08E7238-DEB3-590E-4E76-70EFAE12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SE"/>
          </a:p>
        </p:txBody>
      </p:sp>
      <p:sp>
        <p:nvSpPr>
          <p:cNvPr id="7" name="Platshållare för bildnummer 3">
            <a:extLst>
              <a:ext uri="{FF2B5EF4-FFF2-40B4-BE49-F238E27FC236}">
                <a16:creationId xmlns:a16="http://schemas.microsoft.com/office/drawing/2014/main" id="{36BB21D2-6D2F-EC18-6E12-BCC803B9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00959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848A7E77-8A88-0DD3-9503-B94D1CFE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0" y="848460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  <a:endParaRPr lang="en-SE" dirty="0"/>
          </a:p>
        </p:txBody>
      </p:sp>
      <p:pic>
        <p:nvPicPr>
          <p:cNvPr id="8" name="Image 0" descr="fraunhofer.png">
            <a:extLst>
              <a:ext uri="{FF2B5EF4-FFF2-40B4-BE49-F238E27FC236}">
                <a16:creationId xmlns:a16="http://schemas.microsoft.com/office/drawing/2014/main" id="{207F2430-F5D4-B12A-88BB-2083BF9EDB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10" name="Image 1" descr="chalmers.png">
            <a:extLst>
              <a:ext uri="{FF2B5EF4-FFF2-40B4-BE49-F238E27FC236}">
                <a16:creationId xmlns:a16="http://schemas.microsoft.com/office/drawing/2014/main" id="{E74BDE26-B585-CB92-1234-39C4706E6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12" name="Image 2" descr="goteborg.png">
            <a:extLst>
              <a:ext uri="{FF2B5EF4-FFF2-40B4-BE49-F238E27FC236}">
                <a16:creationId xmlns:a16="http://schemas.microsoft.com/office/drawing/2014/main" id="{CB9F34A3-66D5-7251-13A9-2E3A253303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14" name="Image 3" descr="napoli.png">
            <a:extLst>
              <a:ext uri="{FF2B5EF4-FFF2-40B4-BE49-F238E27FC236}">
                <a16:creationId xmlns:a16="http://schemas.microsoft.com/office/drawing/2014/main" id="{55D7377C-6439-5536-D98D-54E9EA994B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7" name="Platshållare för bildnummer 3">
            <a:extLst>
              <a:ext uri="{FF2B5EF4-FFF2-40B4-BE49-F238E27FC236}">
                <a16:creationId xmlns:a16="http://schemas.microsoft.com/office/drawing/2014/main" id="{766E9B07-F5C6-58A6-B9DE-FF54E3556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sz="900" dirty="0"/>
          </a:p>
        </p:txBody>
      </p:sp>
    </p:spTree>
    <p:extLst>
      <p:ext uri="{BB962C8B-B14F-4D97-AF65-F5344CB8AC3E}">
        <p14:creationId xmlns:p14="http://schemas.microsoft.com/office/powerpoint/2010/main" val="264754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6" r:id="rId2"/>
    <p:sldLayoutId id="2147483654" r:id="rId3"/>
    <p:sldLayoutId id="2147483651" r:id="rId4"/>
    <p:sldLayoutId id="2147483662" r:id="rId5"/>
    <p:sldLayoutId id="214748366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1E3A5F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11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11.sv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3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5.svg"/><Relationship Id="rId7" Type="http://schemas.openxmlformats.org/officeDocument/2006/relationships/image" Target="../media/image33.pn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41.png"/><Relationship Id="rId4" Type="http://schemas.openxmlformats.org/officeDocument/2006/relationships/image" Target="../media/image3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38.svg"/><Relationship Id="rId4" Type="http://schemas.openxmlformats.org/officeDocument/2006/relationships/image" Target="../media/image3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8.svg"/><Relationship Id="rId4" Type="http://schemas.openxmlformats.org/officeDocument/2006/relationships/image" Target="../media/image35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unho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3" name="Image 1" descr="chalm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4" name="Image 2" descr="gotebo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5" name="Image 3" descr="napol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691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Causal Inference for Software Engineering</a:t>
            </a:r>
            <a:endParaRPr lang="en-US" sz="3200" dirty="0"/>
          </a:p>
        </p:txBody>
      </p:sp>
      <p:sp>
        <p:nvSpPr>
          <p:cNvPr id="7" name="Text 1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90-minute hands-on tutorial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Julien Siebert  ·  Julian Frattini  ·  Hans-Martin Heyn  ·  Roberto Pietrantuono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unhof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3" name="Image 1" descr="chalm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4" name="Image 2" descr="gotebor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5" name="Image 3" descr="napol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9654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3a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914400" y="1331176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Causal Structures</a:t>
            </a:r>
            <a:endParaRPr lang="en-US" sz="3400" dirty="0"/>
          </a:p>
        </p:txBody>
      </p:sp>
      <p:sp>
        <p:nvSpPr>
          <p:cNvPr id="9" name="Text 3"/>
          <p:cNvSpPr/>
          <p:nvPr/>
        </p:nvSpPr>
        <p:spPr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900" dirty="0"/>
          </a:p>
        </p:txBody>
      </p:sp>
      <p:sp>
        <p:nvSpPr>
          <p:cNvPr id="11" name="Platshållare för bildnummer 3">
            <a:extLst>
              <a:ext uri="{FF2B5EF4-FFF2-40B4-BE49-F238E27FC236}">
                <a16:creationId xmlns:a16="http://schemas.microsoft.com/office/drawing/2014/main" id="{68F2C0D3-8C44-0F80-B696-C3F5B6BCA0FA}"/>
              </a:ext>
            </a:extLst>
          </p:cNvPr>
          <p:cNvSpPr txBox="1">
            <a:spLocks/>
          </p:cNvSpPr>
          <p:nvPr/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53FA84E-D7EA-43A2-AD8F-825F36F0800C}" type="slidenum">
              <a:rPr lang="en-SE" sz="900" smtClean="0">
                <a:solidFill>
                  <a:srgbClr val="1E3A5F"/>
                </a:solidFill>
              </a:rPr>
              <a:pPr algn="r"/>
              <a:t>2</a:t>
            </a:fld>
            <a:endParaRPr lang="en-SE" sz="900" dirty="0">
              <a:solidFill>
                <a:srgbClr val="1E3A5F"/>
              </a:solidFill>
            </a:endParaRPr>
          </a:p>
        </p:txBody>
      </p:sp>
      <p:pic>
        <p:nvPicPr>
          <p:cNvPr id="8" name="Bildobjekt 7" descr="https://imgs.xkcd.com/comics/cell_phones.png">
            <a:extLst>
              <a:ext uri="{FF2B5EF4-FFF2-40B4-BE49-F238E27FC236}">
                <a16:creationId xmlns:a16="http://schemas.microsoft.com/office/drawing/2014/main" id="{0E17DC20-B2AB-21F0-9D8B-A1DB6E224D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235190"/>
            <a:ext cx="7258083" cy="2363782"/>
          </a:xfrm>
          <a:prstGeom prst="rect">
            <a:avLst/>
          </a:prstGeom>
        </p:spPr>
      </p:pic>
      <p:sp>
        <p:nvSpPr>
          <p:cNvPr id="12" name="textruta 11">
            <a:extLst>
              <a:ext uri="{FF2B5EF4-FFF2-40B4-BE49-F238E27FC236}">
                <a16:creationId xmlns:a16="http://schemas.microsoft.com/office/drawing/2014/main" id="{2AD626EE-47CD-E16F-B3F6-C83781BBE2D1}"/>
              </a:ext>
            </a:extLst>
          </p:cNvPr>
          <p:cNvSpPr txBox="1"/>
          <p:nvPr/>
        </p:nvSpPr>
        <p:spPr>
          <a:xfrm>
            <a:off x="6736754" y="4636457"/>
            <a:ext cx="19798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https://xkcd.com/925/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4DEF97BE-8B67-0521-CBEB-1AFCA1B07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6DA55BB8-9511-69EF-E121-8EEDF2F0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“building blocks” of causal models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49EC334-F418-CC89-F4D6-7649A6BB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3</a:t>
            </a:fld>
            <a:endParaRPr lang="en-SE" dirty="0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D2B7EAB9-DD2A-66D1-BA15-16D507A3EA1E}"/>
              </a:ext>
            </a:extLst>
          </p:cNvPr>
          <p:cNvGrpSpPr/>
          <p:nvPr/>
        </p:nvGrpSpPr>
        <p:grpSpPr>
          <a:xfrm>
            <a:off x="616518" y="2622485"/>
            <a:ext cx="1876697" cy="956965"/>
            <a:chOff x="1704703" y="3311892"/>
            <a:chExt cx="1876697" cy="956965"/>
          </a:xfrm>
        </p:grpSpPr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5BAD7E4A-9AB2-310E-2F2F-986341456308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Oval 10">
              <a:extLst>
                <a:ext uri="{FF2B5EF4-FFF2-40B4-BE49-F238E27FC236}">
                  <a16:creationId xmlns:a16="http://schemas.microsoft.com/office/drawing/2014/main" id="{192672ED-4ADB-BA8F-7858-A1FC5BD2E8BA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Arrow Connector 11">
              <a:extLst>
                <a:ext uri="{FF2B5EF4-FFF2-40B4-BE49-F238E27FC236}">
                  <a16:creationId xmlns:a16="http://schemas.microsoft.com/office/drawing/2014/main" id="{E4CD464D-D87E-1C51-DF5B-0C152225EFDD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3DDC23AB-B859-8214-E296-94BBB95A23D0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3">
              <a:extLst>
                <a:ext uri="{FF2B5EF4-FFF2-40B4-BE49-F238E27FC236}">
                  <a16:creationId xmlns:a16="http://schemas.microsoft.com/office/drawing/2014/main" id="{D3021E22-D783-11F0-129E-75A6FDA0F50E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4">
              <a:extLst>
                <a:ext uri="{FF2B5EF4-FFF2-40B4-BE49-F238E27FC236}">
                  <a16:creationId xmlns:a16="http://schemas.microsoft.com/office/drawing/2014/main" id="{3DDEFFE3-4677-F825-B431-08406FE270E9}"/>
                </a:ext>
              </a:extLst>
            </p:cNvPr>
            <p:cNvCxnSpPr>
              <a:cxnSpLocks/>
              <a:stCxn id="10" idx="7"/>
              <a:endCxn id="8" idx="3"/>
            </p:cNvCxnSpPr>
            <p:nvPr/>
          </p:nvCxnSpPr>
          <p:spPr>
            <a:xfrm flipV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TextBox 15">
            <a:extLst>
              <a:ext uri="{FF2B5EF4-FFF2-40B4-BE49-F238E27FC236}">
                <a16:creationId xmlns:a16="http://schemas.microsoft.com/office/drawing/2014/main" id="{56164E71-28D9-3328-5E87-CDDADF635EE5}"/>
              </a:ext>
            </a:extLst>
          </p:cNvPr>
          <p:cNvSpPr txBox="1"/>
          <p:nvPr/>
        </p:nvSpPr>
        <p:spPr>
          <a:xfrm>
            <a:off x="132699" y="1235416"/>
            <a:ext cx="28443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Confounder</a:t>
            </a:r>
          </a:p>
          <a:p>
            <a:pPr algn="ctr"/>
            <a:r>
              <a:rPr lang="en-S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(or: fork)</a:t>
            </a:r>
          </a:p>
          <a:p>
            <a:pPr algn="ctr"/>
            <a:r>
              <a:rPr lang="en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is a common cause of both exposure x and the outcome y</a:t>
            </a:r>
            <a:endParaRPr lang="en-S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4C70A7A8-6A73-1278-E6E6-2EF39A7677E6}"/>
              </a:ext>
            </a:extLst>
          </p:cNvPr>
          <p:cNvGrpSpPr/>
          <p:nvPr/>
        </p:nvGrpSpPr>
        <p:grpSpPr>
          <a:xfrm>
            <a:off x="3627747" y="2663560"/>
            <a:ext cx="1876697" cy="956965"/>
            <a:chOff x="1704703" y="3311892"/>
            <a:chExt cx="1876697" cy="956965"/>
          </a:xfrm>
        </p:grpSpPr>
        <p:sp>
          <p:nvSpPr>
            <p:cNvPr id="16" name="Oval 18">
              <a:extLst>
                <a:ext uri="{FF2B5EF4-FFF2-40B4-BE49-F238E27FC236}">
                  <a16:creationId xmlns:a16="http://schemas.microsoft.com/office/drawing/2014/main" id="{49E4D138-C6FC-CD99-D7A3-5F747648A8E3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Oval 19">
              <a:extLst>
                <a:ext uri="{FF2B5EF4-FFF2-40B4-BE49-F238E27FC236}">
                  <a16:creationId xmlns:a16="http://schemas.microsoft.com/office/drawing/2014/main" id="{56824725-C234-BD14-06AF-D6409A2337B3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8" name="Straight Arrow Connector 20">
              <a:extLst>
                <a:ext uri="{FF2B5EF4-FFF2-40B4-BE49-F238E27FC236}">
                  <a16:creationId xmlns:a16="http://schemas.microsoft.com/office/drawing/2014/main" id="{1115CBAE-1079-4D03-2F9A-3F17A597A1B3}"/>
                </a:ext>
              </a:extLst>
            </p:cNvPr>
            <p:cNvCxnSpPr>
              <a:cxnSpLocks/>
              <a:stCxn id="16" idx="6"/>
              <a:endCxn id="17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B3B68FE7-1B22-BB5E-DD90-0E4152E43012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" name="Straight Arrow Connector 22">
              <a:extLst>
                <a:ext uri="{FF2B5EF4-FFF2-40B4-BE49-F238E27FC236}">
                  <a16:creationId xmlns:a16="http://schemas.microsoft.com/office/drawing/2014/main" id="{6764EEB3-8C32-3EEE-5BA6-8B52D36393B3}"/>
                </a:ext>
              </a:extLst>
            </p:cNvPr>
            <p:cNvCxnSpPr>
              <a:cxnSpLocks/>
              <a:stCxn id="16" idx="5"/>
              <a:endCxn id="19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3">
              <a:extLst>
                <a:ext uri="{FF2B5EF4-FFF2-40B4-BE49-F238E27FC236}">
                  <a16:creationId xmlns:a16="http://schemas.microsoft.com/office/drawing/2014/main" id="{93040724-E7AF-825E-F03F-2F15FDD8EBD5}"/>
                </a:ext>
              </a:extLst>
            </p:cNvPr>
            <p:cNvCxnSpPr>
              <a:cxnSpLocks/>
              <a:stCxn id="19" idx="7"/>
              <a:endCxn id="17" idx="3"/>
            </p:cNvCxnSpPr>
            <p:nvPr/>
          </p:nvCxnSpPr>
          <p:spPr>
            <a:xfrm flipV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TextBox 24">
            <a:extLst>
              <a:ext uri="{FF2B5EF4-FFF2-40B4-BE49-F238E27FC236}">
                <a16:creationId xmlns:a16="http://schemas.microsoft.com/office/drawing/2014/main" id="{FC432128-971F-AC05-5AFD-EC82B92282B6}"/>
              </a:ext>
            </a:extLst>
          </p:cNvPr>
          <p:cNvSpPr txBox="1"/>
          <p:nvPr/>
        </p:nvSpPr>
        <p:spPr>
          <a:xfrm>
            <a:off x="3143928" y="1276491"/>
            <a:ext cx="28443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Mediator</a:t>
            </a:r>
          </a:p>
          <a:p>
            <a:pPr algn="ctr"/>
            <a:r>
              <a:rPr lang="en-S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(or: pipe)</a:t>
            </a:r>
          </a:p>
          <a:p>
            <a:pPr algn="ctr"/>
            <a:r>
              <a:rPr lang="en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is an effect of exposure x and a cause the outcome y</a:t>
            </a:r>
            <a:endParaRPr lang="en-S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" name="Group 27">
            <a:extLst>
              <a:ext uri="{FF2B5EF4-FFF2-40B4-BE49-F238E27FC236}">
                <a16:creationId xmlns:a16="http://schemas.microsoft.com/office/drawing/2014/main" id="{35D28DB2-059F-0F02-AA08-67A837C81C68}"/>
              </a:ext>
            </a:extLst>
          </p:cNvPr>
          <p:cNvGrpSpPr/>
          <p:nvPr/>
        </p:nvGrpSpPr>
        <p:grpSpPr>
          <a:xfrm>
            <a:off x="6638979" y="2620019"/>
            <a:ext cx="1876697" cy="956965"/>
            <a:chOff x="1704703" y="3311892"/>
            <a:chExt cx="1876697" cy="956965"/>
          </a:xfrm>
        </p:grpSpPr>
        <p:sp>
          <p:nvSpPr>
            <p:cNvPr id="27" name="Oval 29">
              <a:extLst>
                <a:ext uri="{FF2B5EF4-FFF2-40B4-BE49-F238E27FC236}">
                  <a16:creationId xmlns:a16="http://schemas.microsoft.com/office/drawing/2014/main" id="{F5AE5D02-86F1-6C60-114D-15753C1F837C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Oval 30">
              <a:extLst>
                <a:ext uri="{FF2B5EF4-FFF2-40B4-BE49-F238E27FC236}">
                  <a16:creationId xmlns:a16="http://schemas.microsoft.com/office/drawing/2014/main" id="{375F3C42-148E-B84B-4E7D-06B664FDB159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9" name="Straight Arrow Connector 31">
              <a:extLst>
                <a:ext uri="{FF2B5EF4-FFF2-40B4-BE49-F238E27FC236}">
                  <a16:creationId xmlns:a16="http://schemas.microsoft.com/office/drawing/2014/main" id="{5B4E45EB-6053-3E13-75AD-29F9898A09FD}"/>
                </a:ext>
              </a:extLst>
            </p:cNvPr>
            <p:cNvCxnSpPr>
              <a:cxnSpLocks/>
              <a:stCxn id="27" idx="6"/>
              <a:endCxn id="28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Oval 32">
              <a:extLst>
                <a:ext uri="{FF2B5EF4-FFF2-40B4-BE49-F238E27FC236}">
                  <a16:creationId xmlns:a16="http://schemas.microsoft.com/office/drawing/2014/main" id="{6824FFAC-93CA-69AF-CA34-BE192D71DE87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1" name="Straight Arrow Connector 33">
              <a:extLst>
                <a:ext uri="{FF2B5EF4-FFF2-40B4-BE49-F238E27FC236}">
                  <a16:creationId xmlns:a16="http://schemas.microsoft.com/office/drawing/2014/main" id="{1CCE09A8-493F-A423-A6AD-375DB2CEE9BE}"/>
                </a:ext>
              </a:extLst>
            </p:cNvPr>
            <p:cNvCxnSpPr>
              <a:cxnSpLocks/>
              <a:stCxn id="27" idx="5"/>
              <a:endCxn id="30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4">
              <a:extLst>
                <a:ext uri="{FF2B5EF4-FFF2-40B4-BE49-F238E27FC236}">
                  <a16:creationId xmlns:a16="http://schemas.microsoft.com/office/drawing/2014/main" id="{350B0502-5A7C-041A-A5D7-FA905845852A}"/>
                </a:ext>
              </a:extLst>
            </p:cNvPr>
            <p:cNvCxnSpPr>
              <a:cxnSpLocks/>
              <a:stCxn id="28" idx="3"/>
              <a:endCxn id="30" idx="7"/>
            </p:cNvCxnSpPr>
            <p:nvPr/>
          </p:nvCxnSpPr>
          <p:spPr>
            <a:xfrm flipH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8">
            <a:extLst>
              <a:ext uri="{FF2B5EF4-FFF2-40B4-BE49-F238E27FC236}">
                <a16:creationId xmlns:a16="http://schemas.microsoft.com/office/drawing/2014/main" id="{4770E0BE-8844-3982-C9F4-0E4281FE005B}"/>
              </a:ext>
            </a:extLst>
          </p:cNvPr>
          <p:cNvSpPr txBox="1"/>
          <p:nvPr/>
        </p:nvSpPr>
        <p:spPr>
          <a:xfrm>
            <a:off x="6155160" y="1232950"/>
            <a:ext cx="28443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Collider</a:t>
            </a:r>
          </a:p>
          <a:p>
            <a:pPr algn="ctr"/>
            <a:endParaRPr lang="en-SE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is a common effect of both exposure x and the outcome y</a:t>
            </a:r>
            <a:endParaRPr lang="en-S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707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26D9B652-9AF4-0A9B-2BB0-F6B839061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548305CB-F8D4-B6B8-5261-CCB3979F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Confounder</a:t>
            </a:r>
            <a:endParaRPr lang="en-SE" dirty="0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7CEA351E-1C8D-97B7-DB30-D3CDD1837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60810"/>
            <a:ext cx="8694913" cy="412595"/>
          </a:xfrm>
        </p:spPr>
        <p:txBody>
          <a:bodyPr/>
          <a:lstStyle/>
          <a:p>
            <a:r>
              <a:rPr lang="en-GB" dirty="0"/>
              <a:t>“Coverage Is Not Strongly Correlated with Test Suite Effectiveness”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07A5590-2793-4873-8CEE-692A33A1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4</a:t>
            </a:fld>
            <a:endParaRPr lang="en-SE" dirty="0"/>
          </a:p>
        </p:txBody>
      </p:sp>
      <p:pic>
        <p:nvPicPr>
          <p:cNvPr id="11" name="Picture 14">
            <a:extLst>
              <a:ext uri="{FF2B5EF4-FFF2-40B4-BE49-F238E27FC236}">
                <a16:creationId xmlns:a16="http://schemas.microsoft.com/office/drawing/2014/main" id="{85E79B7C-F41B-BCD8-BCA0-C958901FA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397" y="1896103"/>
            <a:ext cx="4442845" cy="571550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6F806BD7-9AB1-6E57-071F-F26F7992457D}"/>
              </a:ext>
            </a:extLst>
          </p:cNvPr>
          <p:cNvSpPr txBox="1"/>
          <p:nvPr/>
        </p:nvSpPr>
        <p:spPr>
          <a:xfrm>
            <a:off x="662053" y="4191480"/>
            <a:ext cx="400328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Inozemtseva, L., &amp; Holmes, R. (2014, May). Coverage is not strongly correlated with test suite effectiveness. In </a:t>
            </a:r>
            <a:r>
              <a:rPr lang="en-US" sz="1050" i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Proceedings of the 36th international conference on software engineering</a:t>
            </a:r>
            <a:r>
              <a:rPr lang="en-US" sz="105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(pp. 435-445).</a:t>
            </a:r>
          </a:p>
        </p:txBody>
      </p:sp>
      <p:sp>
        <p:nvSpPr>
          <p:cNvPr id="10" name="Rectangle: Rounded Corners 8">
            <a:extLst>
              <a:ext uri="{FF2B5EF4-FFF2-40B4-BE49-F238E27FC236}">
                <a16:creationId xmlns:a16="http://schemas.microsoft.com/office/drawing/2014/main" id="{41EFC3BD-44D6-95CB-5EAD-E3E906728E46}"/>
              </a:ext>
            </a:extLst>
          </p:cNvPr>
          <p:cNvSpPr/>
          <p:nvPr/>
        </p:nvSpPr>
        <p:spPr>
          <a:xfrm>
            <a:off x="4665341" y="4320484"/>
            <a:ext cx="3318933" cy="36512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Most Influential Paper at ICSE’24 </a:t>
            </a:r>
          </a:p>
        </p:txBody>
      </p:sp>
      <p:pic>
        <p:nvPicPr>
          <p:cNvPr id="27" name="Bildobjekt 26">
            <a:extLst>
              <a:ext uri="{FF2B5EF4-FFF2-40B4-BE49-F238E27FC236}">
                <a16:creationId xmlns:a16="http://schemas.microsoft.com/office/drawing/2014/main" id="{E87B1B70-2D14-F39C-76D6-BD0D493A3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60" y="2571750"/>
            <a:ext cx="3106854" cy="649193"/>
          </a:xfrm>
          <a:prstGeom prst="rect">
            <a:avLst/>
          </a:prstGeom>
        </p:spPr>
      </p:pic>
      <p:pic>
        <p:nvPicPr>
          <p:cNvPr id="39" name="Bildobjekt 38">
            <a:extLst>
              <a:ext uri="{FF2B5EF4-FFF2-40B4-BE49-F238E27FC236}">
                <a16:creationId xmlns:a16="http://schemas.microsoft.com/office/drawing/2014/main" id="{325CB7E7-67AE-6C29-B113-73A4C0618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410" y="2562456"/>
            <a:ext cx="3122559" cy="1614956"/>
          </a:xfrm>
          <a:prstGeom prst="rect">
            <a:avLst/>
          </a:prstGeom>
        </p:spPr>
      </p:pic>
      <p:sp>
        <p:nvSpPr>
          <p:cNvPr id="40" name="Arrow: Right 38">
            <a:extLst>
              <a:ext uri="{FF2B5EF4-FFF2-40B4-BE49-F238E27FC236}">
                <a16:creationId xmlns:a16="http://schemas.microsoft.com/office/drawing/2014/main" id="{A0B43AC3-7D9B-91D7-6B74-9808DE088A87}"/>
              </a:ext>
            </a:extLst>
          </p:cNvPr>
          <p:cNvSpPr/>
          <p:nvPr/>
        </p:nvSpPr>
        <p:spPr>
          <a:xfrm>
            <a:off x="3629493" y="3077043"/>
            <a:ext cx="879730" cy="970734"/>
          </a:xfrm>
          <a:prstGeom prst="rightArrow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4" name="Bildobjekt 43">
            <a:extLst>
              <a:ext uri="{FF2B5EF4-FFF2-40B4-BE49-F238E27FC236}">
                <a16:creationId xmlns:a16="http://schemas.microsoft.com/office/drawing/2014/main" id="{3F9F2E42-593D-93CF-4518-56A0775BD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4881" y="630634"/>
            <a:ext cx="1356692" cy="7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53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26D9B652-9AF4-0A9B-2BB0-F6B839061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548305CB-F8D4-B6B8-5261-CCB3979F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Confounder</a:t>
            </a:r>
            <a:endParaRPr lang="en-SE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A54104A5-6B1C-4872-D7BB-BDC592FDF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813" y="1378358"/>
            <a:ext cx="4890362" cy="2698257"/>
          </a:xfrm>
        </p:spPr>
        <p:txBody>
          <a:bodyPr>
            <a:noAutofit/>
          </a:bodyPr>
          <a:lstStyle/>
          <a:p>
            <a:r>
              <a:rPr lang="en-US" noProof="0" dirty="0"/>
              <a:t>A higher </a:t>
            </a:r>
            <a:r>
              <a:rPr lang="en-US" noProof="0" dirty="0">
                <a:solidFill>
                  <a:srgbClr val="D0180A"/>
                </a:solidFill>
              </a:rPr>
              <a:t>test suite coverage</a:t>
            </a:r>
            <a:r>
              <a:rPr lang="en-US" noProof="0" dirty="0"/>
              <a:t> </a:t>
            </a:r>
            <a:r>
              <a:rPr lang="en-US" u="sng" noProof="0" dirty="0"/>
              <a:t>is associated with</a:t>
            </a:r>
            <a:r>
              <a:rPr lang="en-US" noProof="0" dirty="0"/>
              <a:t> 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test suite size </a:t>
            </a:r>
            <a:r>
              <a:rPr lang="en-US" noProof="0" dirty="0"/>
              <a:t>which leads to higher effectiveness (</a:t>
            </a:r>
            <a:r>
              <a:rPr lang="en-US" noProof="0" dirty="0">
                <a:solidFill>
                  <a:srgbClr val="006D70"/>
                </a:solidFill>
              </a:rPr>
              <a:t>mutation score</a:t>
            </a:r>
            <a:r>
              <a:rPr lang="en-US" noProof="0" dirty="0"/>
              <a:t>).</a:t>
            </a:r>
          </a:p>
          <a:p>
            <a:pPr lvl="1"/>
            <a:r>
              <a:rPr lang="en-US" b="1" noProof="0" dirty="0"/>
              <a:t>A higher test suite coverage</a:t>
            </a:r>
            <a:r>
              <a:rPr lang="en-US" b="1" dirty="0"/>
              <a:t>, however, does not </a:t>
            </a:r>
            <a:r>
              <a:rPr lang="en-US" b="1" noProof="0" dirty="0"/>
              <a:t>cause a higher test suite size!</a:t>
            </a:r>
          </a:p>
          <a:p>
            <a:r>
              <a:rPr lang="en-US" dirty="0"/>
              <a:t>When </a:t>
            </a:r>
            <a:r>
              <a:rPr lang="en-US" i="1" dirty="0"/>
              <a:t>not</a:t>
            </a:r>
            <a:r>
              <a:rPr lang="en-US" dirty="0"/>
              <a:t> controlling the confounder, “information flows” from the cause through the confounder to the effect in a non-causal direction.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07A5590-2793-4873-8CEE-692A33A1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5</a:t>
            </a:fld>
            <a:endParaRPr lang="en-SE" dirty="0"/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FF8D23C5-CBC9-735B-DCD1-F297F30E2430}"/>
              </a:ext>
            </a:extLst>
          </p:cNvPr>
          <p:cNvSpPr/>
          <p:nvPr/>
        </p:nvSpPr>
        <p:spPr>
          <a:xfrm>
            <a:off x="803426" y="4056362"/>
            <a:ext cx="7758152" cy="668388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both treatment and outcome have a common cause, we need to statistically adjust for (i.e., control) the confounder to de-bias the effect of interest.</a:t>
            </a:r>
          </a:p>
        </p:txBody>
      </p:sp>
      <p:grpSp>
        <p:nvGrpSpPr>
          <p:cNvPr id="23" name="Group 28">
            <a:extLst>
              <a:ext uri="{FF2B5EF4-FFF2-40B4-BE49-F238E27FC236}">
                <a16:creationId xmlns:a16="http://schemas.microsoft.com/office/drawing/2014/main" id="{0726962E-BD39-44CC-161E-78B68AD97737}"/>
              </a:ext>
            </a:extLst>
          </p:cNvPr>
          <p:cNvGrpSpPr/>
          <p:nvPr/>
        </p:nvGrpSpPr>
        <p:grpSpPr>
          <a:xfrm>
            <a:off x="233687" y="1335710"/>
            <a:ext cx="4000313" cy="1987099"/>
            <a:chOff x="996244" y="3006817"/>
            <a:chExt cx="4000313" cy="1987099"/>
          </a:xfrm>
        </p:grpSpPr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50671EBC-0B98-6EC9-69DC-E8E666951E22}"/>
                </a:ext>
              </a:extLst>
            </p:cNvPr>
            <p:cNvSpPr/>
            <p:nvPr/>
          </p:nvSpPr>
          <p:spPr>
            <a:xfrm>
              <a:off x="1309033" y="3462285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5C692190-357B-6630-9AA0-69EFFF1F3415}"/>
                </a:ext>
              </a:extLst>
            </p:cNvPr>
            <p:cNvSpPr/>
            <p:nvPr/>
          </p:nvSpPr>
          <p:spPr>
            <a:xfrm>
              <a:off x="3800413" y="3462285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26" name="Straight Arrow Connector 31">
              <a:extLst>
                <a:ext uri="{FF2B5EF4-FFF2-40B4-BE49-F238E27FC236}">
                  <a16:creationId xmlns:a16="http://schemas.microsoft.com/office/drawing/2014/main" id="{E72F16F6-C0DD-D0EB-741B-B5DA857EE617}"/>
                </a:ext>
              </a:extLst>
            </p:cNvPr>
            <p:cNvCxnSpPr>
              <a:stCxn id="24" idx="6"/>
              <a:endCxn id="25" idx="2"/>
            </p:cNvCxnSpPr>
            <p:nvPr/>
          </p:nvCxnSpPr>
          <p:spPr>
            <a:xfrm>
              <a:off x="1669033" y="3642285"/>
              <a:ext cx="2131380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32">
              <a:extLst>
                <a:ext uri="{FF2B5EF4-FFF2-40B4-BE49-F238E27FC236}">
                  <a16:creationId xmlns:a16="http://schemas.microsoft.com/office/drawing/2014/main" id="{62AEE0A6-4732-846E-9A65-E948D178E125}"/>
                </a:ext>
              </a:extLst>
            </p:cNvPr>
            <p:cNvSpPr txBox="1"/>
            <p:nvPr/>
          </p:nvSpPr>
          <p:spPr>
            <a:xfrm>
              <a:off x="996244" y="3006817"/>
              <a:ext cx="20467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test suite coverage</a:t>
              </a:r>
            </a:p>
          </p:txBody>
        </p:sp>
        <p:sp>
          <p:nvSpPr>
            <p:cNvPr id="28" name="TextBox 33">
              <a:extLst>
                <a:ext uri="{FF2B5EF4-FFF2-40B4-BE49-F238E27FC236}">
                  <a16:creationId xmlns:a16="http://schemas.microsoft.com/office/drawing/2014/main" id="{CC2AF062-8F0D-7266-03DC-5834BC3FCD4A}"/>
                </a:ext>
              </a:extLst>
            </p:cNvPr>
            <p:cNvSpPr txBox="1"/>
            <p:nvPr/>
          </p:nvSpPr>
          <p:spPr>
            <a:xfrm>
              <a:off x="3304747" y="3036587"/>
              <a:ext cx="1691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>
                  <a:solidFill>
                    <a:srgbClr val="006D70"/>
                  </a:solidFill>
                </a:rPr>
                <a:t>mutation score</a:t>
              </a:r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529881D3-D386-B578-2F22-28D13FAC26E7}"/>
                </a:ext>
              </a:extLst>
            </p:cNvPr>
            <p:cNvSpPr/>
            <p:nvPr/>
          </p:nvSpPr>
          <p:spPr>
            <a:xfrm>
              <a:off x="2554723" y="4633916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TextBox 35">
              <a:extLst>
                <a:ext uri="{FF2B5EF4-FFF2-40B4-BE49-F238E27FC236}">
                  <a16:creationId xmlns:a16="http://schemas.microsoft.com/office/drawing/2014/main" id="{A66ED0D9-3638-8633-59E8-29546A9A3DC3}"/>
                </a:ext>
              </a:extLst>
            </p:cNvPr>
            <p:cNvSpPr txBox="1"/>
            <p:nvPr/>
          </p:nvSpPr>
          <p:spPr>
            <a:xfrm>
              <a:off x="2943104" y="4624584"/>
              <a:ext cx="1536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test suite size</a:t>
              </a:r>
            </a:p>
          </p:txBody>
        </p:sp>
        <p:cxnSp>
          <p:nvCxnSpPr>
            <p:cNvPr id="31" name="Straight Arrow Connector 36">
              <a:extLst>
                <a:ext uri="{FF2B5EF4-FFF2-40B4-BE49-F238E27FC236}">
                  <a16:creationId xmlns:a16="http://schemas.microsoft.com/office/drawing/2014/main" id="{3F572582-CB7F-FFDF-C793-30B6593A73C6}"/>
                </a:ext>
              </a:extLst>
            </p:cNvPr>
            <p:cNvCxnSpPr>
              <a:cxnSpLocks/>
              <a:stCxn id="29" idx="7"/>
              <a:endCxn id="25" idx="3"/>
            </p:cNvCxnSpPr>
            <p:nvPr/>
          </p:nvCxnSpPr>
          <p:spPr>
            <a:xfrm flipV="1">
              <a:off x="2862002" y="3769564"/>
              <a:ext cx="991132" cy="9170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7">
              <a:extLst>
                <a:ext uri="{FF2B5EF4-FFF2-40B4-BE49-F238E27FC236}">
                  <a16:creationId xmlns:a16="http://schemas.microsoft.com/office/drawing/2014/main" id="{55C2AEFC-8DE4-EE2A-35EB-EB589E315D50}"/>
                </a:ext>
              </a:extLst>
            </p:cNvPr>
            <p:cNvCxnSpPr>
              <a:cxnSpLocks/>
              <a:stCxn id="29" idx="1"/>
              <a:endCxn id="24" idx="5"/>
            </p:cNvCxnSpPr>
            <p:nvPr/>
          </p:nvCxnSpPr>
          <p:spPr>
            <a:xfrm flipH="1" flipV="1">
              <a:off x="1616312" y="3769564"/>
              <a:ext cx="991132" cy="9170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23">
            <a:extLst>
              <a:ext uri="{FF2B5EF4-FFF2-40B4-BE49-F238E27FC236}">
                <a16:creationId xmlns:a16="http://schemas.microsoft.com/office/drawing/2014/main" id="{42784DE7-58AF-5B8F-E8F2-8D0581063CFE}"/>
              </a:ext>
            </a:extLst>
          </p:cNvPr>
          <p:cNvGrpSpPr/>
          <p:nvPr/>
        </p:nvGrpSpPr>
        <p:grpSpPr>
          <a:xfrm rot="2700939">
            <a:off x="1026918" y="2143994"/>
            <a:ext cx="720000" cy="720000"/>
            <a:chOff x="5604304" y="3426506"/>
            <a:chExt cx="720000" cy="720000"/>
          </a:xfrm>
        </p:grpSpPr>
        <p:sp>
          <p:nvSpPr>
            <p:cNvPr id="17" name="Oval 24">
              <a:extLst>
                <a:ext uri="{FF2B5EF4-FFF2-40B4-BE49-F238E27FC236}">
                  <a16:creationId xmlns:a16="http://schemas.microsoft.com/office/drawing/2014/main" id="{7059BE12-E707-36BD-901D-320E338EF17D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8" name="Graphic 25" descr="Chevron arrows with solid fill">
              <a:extLst>
                <a:ext uri="{FF2B5EF4-FFF2-40B4-BE49-F238E27FC236}">
                  <a16:creationId xmlns:a16="http://schemas.microsoft.com/office/drawing/2014/main" id="{0B81CB11-3CC1-8024-81C6-274B434927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grpSp>
        <p:nvGrpSpPr>
          <p:cNvPr id="19" name="Group 27">
            <a:extLst>
              <a:ext uri="{FF2B5EF4-FFF2-40B4-BE49-F238E27FC236}">
                <a16:creationId xmlns:a16="http://schemas.microsoft.com/office/drawing/2014/main" id="{90A173EA-05F7-4FFD-711B-15B13B4F0A98}"/>
              </a:ext>
            </a:extLst>
          </p:cNvPr>
          <p:cNvGrpSpPr/>
          <p:nvPr/>
        </p:nvGrpSpPr>
        <p:grpSpPr>
          <a:xfrm rot="18884195">
            <a:off x="2112441" y="2216263"/>
            <a:ext cx="720000" cy="720000"/>
            <a:chOff x="5604304" y="3426506"/>
            <a:chExt cx="720000" cy="720000"/>
          </a:xfrm>
        </p:grpSpPr>
        <p:sp>
          <p:nvSpPr>
            <p:cNvPr id="20" name="Oval 28">
              <a:extLst>
                <a:ext uri="{FF2B5EF4-FFF2-40B4-BE49-F238E27FC236}">
                  <a16:creationId xmlns:a16="http://schemas.microsoft.com/office/drawing/2014/main" id="{68650BC5-91B8-5F72-70DC-BB62456A4029}"/>
                </a:ext>
              </a:extLst>
            </p:cNvPr>
            <p:cNvSpPr/>
            <p:nvPr/>
          </p:nvSpPr>
          <p:spPr>
            <a:xfrm>
              <a:off x="5604304" y="3426506"/>
              <a:ext cx="720000" cy="720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1" name="Graphic 29" descr="Chevron arrows with solid fill">
              <a:extLst>
                <a:ext uri="{FF2B5EF4-FFF2-40B4-BE49-F238E27FC236}">
                  <a16:creationId xmlns:a16="http://schemas.microsoft.com/office/drawing/2014/main" id="{09B566AE-59CD-2776-0CC6-FEE20F0BD4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61776" y="3489838"/>
              <a:ext cx="612000" cy="612000"/>
            </a:xfrm>
            <a:prstGeom prst="rect">
              <a:avLst/>
            </a:prstGeom>
          </p:spPr>
        </p:pic>
      </p:grpSp>
      <p:pic>
        <p:nvPicPr>
          <p:cNvPr id="40" name="Bildobjekt 39">
            <a:extLst>
              <a:ext uri="{FF2B5EF4-FFF2-40B4-BE49-F238E27FC236}">
                <a16:creationId xmlns:a16="http://schemas.microsoft.com/office/drawing/2014/main" id="{E64571BF-02C5-B1B1-FA8B-71C7013BF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881" y="630634"/>
            <a:ext cx="1356692" cy="776500"/>
          </a:xfrm>
          <a:prstGeom prst="rect">
            <a:avLst/>
          </a:prstGeom>
        </p:spPr>
      </p:pic>
      <p:pic>
        <p:nvPicPr>
          <p:cNvPr id="49" name="Bild 48" descr="Utropstecken med hel fyllning">
            <a:extLst>
              <a:ext uri="{FF2B5EF4-FFF2-40B4-BE49-F238E27FC236}">
                <a16:creationId xmlns:a16="http://schemas.microsoft.com/office/drawing/2014/main" id="{DA99A78D-D354-51EC-2770-FBD12DB5E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930" y="4142746"/>
            <a:ext cx="525573" cy="5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39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D0B1928-E42E-4F25-3B17-2C470280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148F9D9C-F10E-CB8C-3105-9697DBD0C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CDEAC9F7-88B6-CF2E-FC15-0C21E37D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sz="2800" dirty="0">
                <a:cs typeface="Calibri" panose="020F0502020204030204" pitchFamily="34" charset="0"/>
              </a:rPr>
              <a:t>Mediator</a:t>
            </a:r>
            <a:endParaRPr lang="en-SE" dirty="0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CDDAAA5C-33D9-C2C4-C986-ED99EEDB7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60810"/>
            <a:ext cx="8694913" cy="412595"/>
          </a:xfrm>
        </p:spPr>
        <p:txBody>
          <a:bodyPr/>
          <a:lstStyle/>
          <a:p>
            <a:r>
              <a:rPr lang="en-GB" dirty="0"/>
              <a:t>Company Y tested a </a:t>
            </a:r>
            <a:r>
              <a:rPr lang="en-GB" b="1" dirty="0">
                <a:solidFill>
                  <a:srgbClr val="FF0000"/>
                </a:solidFill>
              </a:rPr>
              <a:t>new technique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dirty="0"/>
              <a:t>in their requirements engineering phase that is enabled by a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prototype tool</a:t>
            </a:r>
            <a:r>
              <a:rPr lang="en-GB" dirty="0"/>
              <a:t>. We investigated whether this technique improved the </a:t>
            </a:r>
            <a:r>
              <a:rPr lang="en-GB" b="1" dirty="0">
                <a:solidFill>
                  <a:srgbClr val="1C7D80"/>
                </a:solidFill>
              </a:rPr>
              <a:t>engineers’ productivity</a:t>
            </a:r>
            <a:r>
              <a:rPr lang="en-GB" dirty="0"/>
              <a:t>.”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701EDC3-1620-CFB4-40AC-59A4D4E6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6</a:t>
            </a:fld>
            <a:endParaRPr lang="en-SE" dirty="0"/>
          </a:p>
        </p:txBody>
      </p:sp>
      <p:grpSp>
        <p:nvGrpSpPr>
          <p:cNvPr id="16" name="Group 17">
            <a:extLst>
              <a:ext uri="{FF2B5EF4-FFF2-40B4-BE49-F238E27FC236}">
                <a16:creationId xmlns:a16="http://schemas.microsoft.com/office/drawing/2014/main" id="{1C0054C9-72A9-35EB-7743-DB59600F02B2}"/>
              </a:ext>
            </a:extLst>
          </p:cNvPr>
          <p:cNvGrpSpPr/>
          <p:nvPr/>
        </p:nvGrpSpPr>
        <p:grpSpPr>
          <a:xfrm>
            <a:off x="7624881" y="640795"/>
            <a:ext cx="1409665" cy="718816"/>
            <a:chOff x="1704703" y="3311892"/>
            <a:chExt cx="1876697" cy="956965"/>
          </a:xfrm>
        </p:grpSpPr>
        <p:sp>
          <p:nvSpPr>
            <p:cNvPr id="17" name="Oval 18">
              <a:extLst>
                <a:ext uri="{FF2B5EF4-FFF2-40B4-BE49-F238E27FC236}">
                  <a16:creationId xmlns:a16="http://schemas.microsoft.com/office/drawing/2014/main" id="{6EFA3D3E-4FFE-33BC-EAF3-B2046F059C03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Oval 19">
              <a:extLst>
                <a:ext uri="{FF2B5EF4-FFF2-40B4-BE49-F238E27FC236}">
                  <a16:creationId xmlns:a16="http://schemas.microsoft.com/office/drawing/2014/main" id="{7813760C-42EB-0FAC-8F74-DBB2D22B26B0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9" name="Straight Arrow Connector 20">
              <a:extLst>
                <a:ext uri="{FF2B5EF4-FFF2-40B4-BE49-F238E27FC236}">
                  <a16:creationId xmlns:a16="http://schemas.microsoft.com/office/drawing/2014/main" id="{0483F41D-6B70-7F24-CF66-17A96932476C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3071ACAF-9FA7-8014-229D-88765A0BD200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1" name="Straight Arrow Connector 22">
              <a:extLst>
                <a:ext uri="{FF2B5EF4-FFF2-40B4-BE49-F238E27FC236}">
                  <a16:creationId xmlns:a16="http://schemas.microsoft.com/office/drawing/2014/main" id="{399E2A76-BFF9-94C9-0D5E-48A8A006F658}"/>
                </a:ext>
              </a:extLst>
            </p:cNvPr>
            <p:cNvCxnSpPr>
              <a:cxnSpLocks/>
              <a:stCxn id="17" idx="5"/>
              <a:endCxn id="20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3">
              <a:extLst>
                <a:ext uri="{FF2B5EF4-FFF2-40B4-BE49-F238E27FC236}">
                  <a16:creationId xmlns:a16="http://schemas.microsoft.com/office/drawing/2014/main" id="{5A1A16CF-743A-9DA8-9EB8-34BD6ECC6FCE}"/>
                </a:ext>
              </a:extLst>
            </p:cNvPr>
            <p:cNvCxnSpPr>
              <a:cxnSpLocks/>
              <a:stCxn id="20" idx="7"/>
              <a:endCxn id="18" idx="3"/>
            </p:cNvCxnSpPr>
            <p:nvPr/>
          </p:nvCxnSpPr>
          <p:spPr>
            <a:xfrm flipV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Oval 21">
            <a:extLst>
              <a:ext uri="{FF2B5EF4-FFF2-40B4-BE49-F238E27FC236}">
                <a16:creationId xmlns:a16="http://schemas.microsoft.com/office/drawing/2014/main" id="{C55EBF7E-F542-92A4-0EF6-56E290807E14}"/>
              </a:ext>
            </a:extLst>
          </p:cNvPr>
          <p:cNvSpPr/>
          <p:nvPr/>
        </p:nvSpPr>
        <p:spPr>
          <a:xfrm>
            <a:off x="1003909" y="29788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48C8BF0D-3421-75BD-0D72-DE5F47933D2E}"/>
              </a:ext>
            </a:extLst>
          </p:cNvPr>
          <p:cNvSpPr/>
          <p:nvPr/>
        </p:nvSpPr>
        <p:spPr>
          <a:xfrm>
            <a:off x="3495289" y="29788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5" name="Straight Arrow Connector 23">
            <a:extLst>
              <a:ext uri="{FF2B5EF4-FFF2-40B4-BE49-F238E27FC236}">
                <a16:creationId xmlns:a16="http://schemas.microsoft.com/office/drawing/2014/main" id="{486B698A-0D31-FD2C-B90A-4473A7650DCF}"/>
              </a:ext>
            </a:extLst>
          </p:cNvPr>
          <p:cNvCxnSpPr>
            <a:stCxn id="23" idx="6"/>
            <a:endCxn id="24" idx="2"/>
          </p:cNvCxnSpPr>
          <p:nvPr/>
        </p:nvCxnSpPr>
        <p:spPr>
          <a:xfrm>
            <a:off x="1363909" y="31588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4">
            <a:extLst>
              <a:ext uri="{FF2B5EF4-FFF2-40B4-BE49-F238E27FC236}">
                <a16:creationId xmlns:a16="http://schemas.microsoft.com/office/drawing/2014/main" id="{B197460C-FB09-7B5E-9245-37195D222212}"/>
              </a:ext>
            </a:extLst>
          </p:cNvPr>
          <p:cNvSpPr txBox="1"/>
          <p:nvPr/>
        </p:nvSpPr>
        <p:spPr>
          <a:xfrm>
            <a:off x="588810" y="2509244"/>
            <a:ext cx="119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technique</a:t>
            </a: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A3787A9D-251F-A1A9-6625-1CD8BA44052F}"/>
              </a:ext>
            </a:extLst>
          </p:cNvPr>
          <p:cNvSpPr txBox="1"/>
          <p:nvPr/>
        </p:nvSpPr>
        <p:spPr>
          <a:xfrm>
            <a:off x="2646581" y="2543759"/>
            <a:ext cx="136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productivity</a:t>
            </a:r>
          </a:p>
        </p:txBody>
      </p:sp>
      <p:sp>
        <p:nvSpPr>
          <p:cNvPr id="29" name="Oval 26">
            <a:extLst>
              <a:ext uri="{FF2B5EF4-FFF2-40B4-BE49-F238E27FC236}">
                <a16:creationId xmlns:a16="http://schemas.microsoft.com/office/drawing/2014/main" id="{4BD39D97-523F-5512-1455-CEFF8DEE71F5}"/>
              </a:ext>
            </a:extLst>
          </p:cNvPr>
          <p:cNvSpPr/>
          <p:nvPr/>
        </p:nvSpPr>
        <p:spPr>
          <a:xfrm>
            <a:off x="2249599" y="415045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5B168F25-C4A3-E1AE-50DD-E780D5EC1CCD}"/>
              </a:ext>
            </a:extLst>
          </p:cNvPr>
          <p:cNvSpPr txBox="1"/>
          <p:nvPr/>
        </p:nvSpPr>
        <p:spPr>
          <a:xfrm>
            <a:off x="2637980" y="4141126"/>
            <a:ext cx="1305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tool appeal</a:t>
            </a:r>
          </a:p>
        </p:txBody>
      </p:sp>
      <p:cxnSp>
        <p:nvCxnSpPr>
          <p:cNvPr id="31" name="Straight Arrow Connector 28">
            <a:extLst>
              <a:ext uri="{FF2B5EF4-FFF2-40B4-BE49-F238E27FC236}">
                <a16:creationId xmlns:a16="http://schemas.microsoft.com/office/drawing/2014/main" id="{7979F772-F2B9-184C-BE10-6E8C2696398C}"/>
              </a:ext>
            </a:extLst>
          </p:cNvPr>
          <p:cNvCxnSpPr>
            <a:cxnSpLocks/>
            <a:stCxn id="29" idx="7"/>
            <a:endCxn id="24" idx="3"/>
          </p:cNvCxnSpPr>
          <p:nvPr/>
        </p:nvCxnSpPr>
        <p:spPr>
          <a:xfrm flipV="1">
            <a:off x="2556878" y="3286106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29">
            <a:extLst>
              <a:ext uri="{FF2B5EF4-FFF2-40B4-BE49-F238E27FC236}">
                <a16:creationId xmlns:a16="http://schemas.microsoft.com/office/drawing/2014/main" id="{DE1F10A7-9A60-10FF-9883-E5FE2B7AC89E}"/>
              </a:ext>
            </a:extLst>
          </p:cNvPr>
          <p:cNvCxnSpPr>
            <a:cxnSpLocks/>
            <a:stCxn id="23" idx="5"/>
            <a:endCxn id="29" idx="1"/>
          </p:cNvCxnSpPr>
          <p:nvPr/>
        </p:nvCxnSpPr>
        <p:spPr>
          <a:xfrm>
            <a:off x="1311188" y="3286106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Platshållare för innehåll 5">
            <a:extLst>
              <a:ext uri="{FF2B5EF4-FFF2-40B4-BE49-F238E27FC236}">
                <a16:creationId xmlns:a16="http://schemas.microsoft.com/office/drawing/2014/main" id="{D0123A8B-D037-7413-9DAD-4E52EB9DD1A7}"/>
              </a:ext>
            </a:extLst>
          </p:cNvPr>
          <p:cNvSpPr txBox="1">
            <a:spLocks/>
          </p:cNvSpPr>
          <p:nvPr/>
        </p:nvSpPr>
        <p:spPr>
          <a:xfrm>
            <a:off x="4901629" y="2159565"/>
            <a:ext cx="3954500" cy="1557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On its own, </a:t>
            </a:r>
            <a:r>
              <a:rPr lang="en-GB" sz="1800" b="1" dirty="0"/>
              <a:t>the new technique lifts productivity.</a:t>
            </a:r>
            <a:r>
              <a:rPr lang="en-GB" sz="1800" dirty="0"/>
              <a:t> </a:t>
            </a:r>
          </a:p>
          <a:p>
            <a:r>
              <a:rPr lang="en-GB" sz="1800" dirty="0"/>
              <a:t>To enforce the technique, a rigid, form-heavy tool is introduced. Engineers dislike the tool. </a:t>
            </a:r>
          </a:p>
          <a:p>
            <a:r>
              <a:rPr lang="en-GB" sz="1800" dirty="0"/>
              <a:t>A strong tool appeal increases productivity. </a:t>
            </a:r>
          </a:p>
          <a:p>
            <a:r>
              <a:rPr lang="en-GB" sz="1800" dirty="0"/>
              <a:t>Overall, </a:t>
            </a:r>
            <a:r>
              <a:rPr lang="en-GB" sz="1800" b="1" dirty="0"/>
              <a:t>the new technique leads to less productivity. </a:t>
            </a:r>
          </a:p>
        </p:txBody>
      </p:sp>
    </p:spTree>
    <p:extLst>
      <p:ext uri="{BB962C8B-B14F-4D97-AF65-F5344CB8AC3E}">
        <p14:creationId xmlns:p14="http://schemas.microsoft.com/office/powerpoint/2010/main" val="4076033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2BB1AF4-FFCF-E4B2-72A3-A3C6D0E5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58996E25-659F-FC6C-7981-7F3685374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E9B3809E-84A4-6A2B-4C1E-DB62B835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Mediator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A0976EA-3247-664E-FA18-A2C82338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7</a:t>
            </a:fld>
            <a:endParaRPr lang="en-SE" dirty="0"/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FCA1591E-A0E2-4B2E-4571-4F05513D4A21}"/>
              </a:ext>
            </a:extLst>
          </p:cNvPr>
          <p:cNvSpPr/>
          <p:nvPr/>
        </p:nvSpPr>
        <p:spPr>
          <a:xfrm>
            <a:off x="785501" y="4035243"/>
            <a:ext cx="7758152" cy="668388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need to statistically control for a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mediator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if we want to distinguish between the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indirect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 of a </a:t>
            </a:r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an </a:t>
            </a:r>
            <a:r>
              <a:rPr lang="en-US" sz="1600" b="1" dirty="0">
                <a:solidFill>
                  <a:srgbClr val="09F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8ACC140B-B56A-9AFC-A42A-3D0E928CB60E}"/>
              </a:ext>
            </a:extLst>
          </p:cNvPr>
          <p:cNvGrpSpPr/>
          <p:nvPr/>
        </p:nvGrpSpPr>
        <p:grpSpPr>
          <a:xfrm>
            <a:off x="7624881" y="630635"/>
            <a:ext cx="1409665" cy="718816"/>
            <a:chOff x="1704703" y="3311892"/>
            <a:chExt cx="1876697" cy="956965"/>
          </a:xfrm>
        </p:grpSpPr>
        <p:sp>
          <p:nvSpPr>
            <p:cNvPr id="6" name="Oval 18">
              <a:extLst>
                <a:ext uri="{FF2B5EF4-FFF2-40B4-BE49-F238E27FC236}">
                  <a16:creationId xmlns:a16="http://schemas.microsoft.com/office/drawing/2014/main" id="{409526F9-6C2B-2D12-FF2D-2178B4A754A2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l 19">
              <a:extLst>
                <a:ext uri="{FF2B5EF4-FFF2-40B4-BE49-F238E27FC236}">
                  <a16:creationId xmlns:a16="http://schemas.microsoft.com/office/drawing/2014/main" id="{451F4EF7-6F5A-52CD-42EB-E7D2B3E2CAEC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20">
              <a:extLst>
                <a:ext uri="{FF2B5EF4-FFF2-40B4-BE49-F238E27FC236}">
                  <a16:creationId xmlns:a16="http://schemas.microsoft.com/office/drawing/2014/main" id="{AC3B3CC9-C752-CD39-53DF-07C243513117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21">
              <a:extLst>
                <a:ext uri="{FF2B5EF4-FFF2-40B4-BE49-F238E27FC236}">
                  <a16:creationId xmlns:a16="http://schemas.microsoft.com/office/drawing/2014/main" id="{969EB11D-620D-CD0D-8B99-E14D5D88EAD0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Straight Arrow Connector 22">
              <a:extLst>
                <a:ext uri="{FF2B5EF4-FFF2-40B4-BE49-F238E27FC236}">
                  <a16:creationId xmlns:a16="http://schemas.microsoft.com/office/drawing/2014/main" id="{AF6663F1-55A9-4E5E-AF36-197DFA8331E2}"/>
                </a:ext>
              </a:extLst>
            </p:cNvPr>
            <p:cNvCxnSpPr>
              <a:cxnSpLocks/>
              <a:stCxn id="6" idx="5"/>
              <a:endCxn id="12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23">
              <a:extLst>
                <a:ext uri="{FF2B5EF4-FFF2-40B4-BE49-F238E27FC236}">
                  <a16:creationId xmlns:a16="http://schemas.microsoft.com/office/drawing/2014/main" id="{5828734D-5CB4-6F9D-8200-B5C6D5F302A3}"/>
                </a:ext>
              </a:extLst>
            </p:cNvPr>
            <p:cNvCxnSpPr>
              <a:cxnSpLocks/>
              <a:stCxn id="12" idx="7"/>
              <a:endCxn id="10" idx="3"/>
            </p:cNvCxnSpPr>
            <p:nvPr/>
          </p:nvCxnSpPr>
          <p:spPr>
            <a:xfrm flipV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33">
                <a:extLst>
                  <a:ext uri="{FF2B5EF4-FFF2-40B4-BE49-F238E27FC236}">
                    <a16:creationId xmlns:a16="http://schemas.microsoft.com/office/drawing/2014/main" id="{C6E6325A-05EC-2235-A10C-2EC1B7C2D1D8}"/>
                  </a:ext>
                </a:extLst>
              </p:cNvPr>
              <p:cNvSpPr txBox="1"/>
              <p:nvPr/>
            </p:nvSpPr>
            <p:spPr>
              <a:xfrm>
                <a:off x="3060413" y="1529846"/>
                <a:ext cx="31054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GB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6" name="TextBox 33">
                <a:extLst>
                  <a:ext uri="{FF2B5EF4-FFF2-40B4-BE49-F238E27FC236}">
                    <a16:creationId xmlns:a16="http://schemas.microsoft.com/office/drawing/2014/main" id="{C6E6325A-05EC-2235-A10C-2EC1B7C2D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413" y="1529846"/>
                <a:ext cx="3105466" cy="276999"/>
              </a:xfrm>
              <a:prstGeom prst="rect">
                <a:avLst/>
              </a:prstGeom>
              <a:blipFill>
                <a:blip r:embed="rId3"/>
                <a:stretch>
                  <a:fillRect t="-2222" r="-1572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34">
                <a:extLst>
                  <a:ext uri="{FF2B5EF4-FFF2-40B4-BE49-F238E27FC236}">
                    <a16:creationId xmlns:a16="http://schemas.microsoft.com/office/drawing/2014/main" id="{A9E02CF7-D6EE-007B-75A8-0F2B452FADD9}"/>
                  </a:ext>
                </a:extLst>
              </p:cNvPr>
              <p:cNvSpPr txBox="1"/>
              <p:nvPr/>
            </p:nvSpPr>
            <p:spPr>
              <a:xfrm>
                <a:off x="3060413" y="1994020"/>
                <a:ext cx="4118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𝑝𝑟𝑜𝑑𝑢𝑐𝑡𝑖𝑣𝑖𝑡𝑦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𝑡𝑒𝑐h𝑛𝑖𝑞𝑢𝑒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𝑎𝑝𝑝𝑒𝑎𝑙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7" name="TextBox 34">
                <a:extLst>
                  <a:ext uri="{FF2B5EF4-FFF2-40B4-BE49-F238E27FC236}">
                    <a16:creationId xmlns:a16="http://schemas.microsoft.com/office/drawing/2014/main" id="{A9E02CF7-D6EE-007B-75A8-0F2B452FA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413" y="1994020"/>
                <a:ext cx="4118371" cy="276999"/>
              </a:xfrm>
              <a:prstGeom prst="rect">
                <a:avLst/>
              </a:prstGeom>
              <a:blipFill>
                <a:blip r:embed="rId4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11">
                <a:extLst>
                  <a:ext uri="{FF2B5EF4-FFF2-40B4-BE49-F238E27FC236}">
                    <a16:creationId xmlns:a16="http://schemas.microsoft.com/office/drawing/2014/main" id="{B33D2AB1-E3D1-81ED-08FF-E8C4A0EB5A6D}"/>
                  </a:ext>
                </a:extLst>
              </p:cNvPr>
              <p:cNvSpPr txBox="1"/>
              <p:nvPr/>
            </p:nvSpPr>
            <p:spPr>
              <a:xfrm>
                <a:off x="1365918" y="2516247"/>
                <a:ext cx="672057" cy="307777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50" name="TextBox 11">
                <a:extLst>
                  <a:ext uri="{FF2B5EF4-FFF2-40B4-BE49-F238E27FC236}">
                    <a16:creationId xmlns:a16="http://schemas.microsoft.com/office/drawing/2014/main" id="{B33D2AB1-E3D1-81ED-08FF-E8C4A0EB5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918" y="2516247"/>
                <a:ext cx="672057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  <a:prstDash val="solid"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11">
                <a:extLst>
                  <a:ext uri="{FF2B5EF4-FFF2-40B4-BE49-F238E27FC236}">
                    <a16:creationId xmlns:a16="http://schemas.microsoft.com/office/drawing/2014/main" id="{7EEC90A4-0CE2-6D0B-D771-288D7249AE2B}"/>
                  </a:ext>
                </a:extLst>
              </p:cNvPr>
              <p:cNvSpPr txBox="1"/>
              <p:nvPr/>
            </p:nvSpPr>
            <p:spPr>
              <a:xfrm>
                <a:off x="662568" y="3201527"/>
                <a:ext cx="672057" cy="307777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52" name="TextBox 11">
                <a:extLst>
                  <a:ext uri="{FF2B5EF4-FFF2-40B4-BE49-F238E27FC236}">
                    <a16:creationId xmlns:a16="http://schemas.microsoft.com/office/drawing/2014/main" id="{7EEC90A4-0CE2-6D0B-D771-288D7249A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68" y="3201527"/>
                <a:ext cx="67205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  <a:prstDash val="solid"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11">
                <a:extLst>
                  <a:ext uri="{FF2B5EF4-FFF2-40B4-BE49-F238E27FC236}">
                    <a16:creationId xmlns:a16="http://schemas.microsoft.com/office/drawing/2014/main" id="{2C0C280C-9334-937C-AFA7-C2D5D0CD9EDB}"/>
                  </a:ext>
                </a:extLst>
              </p:cNvPr>
              <p:cNvSpPr txBox="1"/>
              <p:nvPr/>
            </p:nvSpPr>
            <p:spPr>
              <a:xfrm>
                <a:off x="2103284" y="3231220"/>
                <a:ext cx="672057" cy="307777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noProof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54" name="TextBox 11">
                <a:extLst>
                  <a:ext uri="{FF2B5EF4-FFF2-40B4-BE49-F238E27FC236}">
                    <a16:creationId xmlns:a16="http://schemas.microsoft.com/office/drawing/2014/main" id="{2C0C280C-9334-937C-AFA7-C2D5D0CD9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284" y="3231220"/>
                <a:ext cx="672057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  <a:prstDash val="solid"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32">
                <a:extLst>
                  <a:ext uri="{FF2B5EF4-FFF2-40B4-BE49-F238E27FC236}">
                    <a16:creationId xmlns:a16="http://schemas.microsoft.com/office/drawing/2014/main" id="{00E3AF42-1827-E118-EC49-26DBAE1089A8}"/>
                  </a:ext>
                </a:extLst>
              </p:cNvPr>
              <p:cNvSpPr txBox="1"/>
              <p:nvPr/>
            </p:nvSpPr>
            <p:spPr>
              <a:xfrm>
                <a:off x="3327229" y="2395355"/>
                <a:ext cx="560147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noProof="0" dirty="0">
                    <a:solidFill>
                      <a:srgbClr val="FFC000"/>
                    </a:solidFill>
                  </a:rPr>
                  <a:t>Direct effect </a:t>
                </a:r>
                <a:r>
                  <a:rPr lang="en-US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(of </a:t>
                </a:r>
                <a:r>
                  <a:rPr lang="en-US" noProof="0" dirty="0">
                    <a:solidFill>
                      <a:srgbClr val="C00000"/>
                    </a:solidFill>
                  </a:rPr>
                  <a:t>new technique</a:t>
                </a:r>
                <a:r>
                  <a:rPr lang="en-US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</a:t>
                </a:r>
                <a:r>
                  <a:rPr lang="en-US" noProof="0" dirty="0"/>
                  <a:t>: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noProof="0" dirty="0"/>
              </a:p>
              <a:p>
                <a:r>
                  <a:rPr lang="en-US" b="1" noProof="0" dirty="0">
                    <a:solidFill>
                      <a:srgbClr val="46B1E1"/>
                    </a:solidFill>
                  </a:rPr>
                  <a:t>Indirect effect</a:t>
                </a:r>
                <a:r>
                  <a:rPr lang="en-US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(mediated by </a:t>
                </a:r>
                <a:r>
                  <a:rPr lang="en-US" noProof="0" dirty="0">
                    <a:solidFill>
                      <a:schemeClr val="bg1">
                        <a:lumMod val="65000"/>
                      </a:schemeClr>
                    </a:solidFill>
                  </a:rPr>
                  <a:t>tool appeal</a:t>
                </a:r>
                <a:r>
                  <a:rPr lang="en-US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</a:t>
                </a:r>
                <a:r>
                  <a:rPr lang="en-US" noProof="0" dirty="0"/>
                  <a:t>: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−1∗2=−2</m:t>
                    </m:r>
                  </m:oMath>
                </a14:m>
                <a:endParaRPr lang="en-US" b="0" noProof="0" dirty="0"/>
              </a:p>
              <a:p>
                <a:br>
                  <a:rPr lang="en-US" b="1" noProof="0" dirty="0">
                    <a:solidFill>
                      <a:srgbClr val="1C7D80"/>
                    </a:solidFill>
                  </a:rPr>
                </a:br>
                <a:r>
                  <a:rPr lang="en-US" b="1" noProof="0" dirty="0">
                    <a:solidFill>
                      <a:srgbClr val="46B1E1"/>
                    </a:solidFill>
                  </a:rPr>
                  <a:t>T</a:t>
                </a:r>
                <a:r>
                  <a:rPr lang="en-US" b="1" noProof="0" dirty="0">
                    <a:solidFill>
                      <a:srgbClr val="FFC000"/>
                    </a:solidFill>
                  </a:rPr>
                  <a:t>o</a:t>
                </a:r>
                <a:r>
                  <a:rPr lang="en-US" b="1" noProof="0" dirty="0">
                    <a:solidFill>
                      <a:srgbClr val="46B1E1"/>
                    </a:solidFill>
                  </a:rPr>
                  <a:t>t</a:t>
                </a:r>
                <a:r>
                  <a:rPr lang="en-US" b="1" noProof="0" dirty="0">
                    <a:solidFill>
                      <a:srgbClr val="FFC000"/>
                    </a:solidFill>
                  </a:rPr>
                  <a:t>a</a:t>
                </a:r>
                <a:r>
                  <a:rPr lang="en-US" b="1" noProof="0" dirty="0">
                    <a:solidFill>
                      <a:srgbClr val="46B1E1"/>
                    </a:solidFill>
                  </a:rPr>
                  <a:t>l </a:t>
                </a:r>
                <a:r>
                  <a:rPr lang="en-US" b="1" dirty="0">
                    <a:solidFill>
                      <a:srgbClr val="FFC000"/>
                    </a:solidFill>
                  </a:rPr>
                  <a:t>e</a:t>
                </a:r>
                <a:r>
                  <a:rPr lang="en-US" b="1" dirty="0">
                    <a:solidFill>
                      <a:srgbClr val="46B1E1"/>
                    </a:solidFill>
                  </a:rPr>
                  <a:t>f</a:t>
                </a:r>
                <a:r>
                  <a:rPr lang="en-US" b="1" dirty="0">
                    <a:solidFill>
                      <a:srgbClr val="FFC000"/>
                    </a:solidFill>
                  </a:rPr>
                  <a:t>f</a:t>
                </a:r>
                <a:r>
                  <a:rPr lang="en-US" b="1" dirty="0">
                    <a:solidFill>
                      <a:srgbClr val="46B1E1"/>
                    </a:solidFill>
                  </a:rPr>
                  <a:t>e</a:t>
                </a:r>
                <a:r>
                  <a:rPr lang="en-US" b="1" dirty="0">
                    <a:solidFill>
                      <a:srgbClr val="FFC000"/>
                    </a:solidFill>
                  </a:rPr>
                  <a:t>c</a:t>
                </a:r>
                <a:r>
                  <a:rPr lang="en-US" b="1" dirty="0">
                    <a:solidFill>
                      <a:srgbClr val="46B1E1"/>
                    </a:solidFill>
                  </a:rPr>
                  <a:t>t</a:t>
                </a:r>
                <a:r>
                  <a:rPr lang="en-US" noProof="0" dirty="0">
                    <a:solidFill>
                      <a:srgbClr val="46B1E1"/>
                    </a:solidFill>
                  </a:rPr>
                  <a:t> </a:t>
                </a:r>
                <a:r>
                  <a:rPr lang="en-US" dirty="0"/>
                  <a:t>= </a:t>
                </a:r>
                <a:r>
                  <a:rPr lang="en-US" b="1" dirty="0">
                    <a:solidFill>
                      <a:srgbClr val="FFC000"/>
                    </a:solidFill>
                  </a:rPr>
                  <a:t>Direct effect </a:t>
                </a: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+</a:t>
                </a:r>
                <a:r>
                  <a:rPr lang="en-US" b="1" dirty="0">
                    <a:solidFill>
                      <a:srgbClr val="FFC000"/>
                    </a:solidFill>
                  </a:rPr>
                  <a:t> </a:t>
                </a:r>
                <a:r>
                  <a:rPr lang="en-US" b="1" dirty="0">
                    <a:solidFill>
                      <a:srgbClr val="46B1E1"/>
                    </a:solidFill>
                  </a:rPr>
                  <a:t>Indirect effect</a:t>
                </a: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</a:t>
                </a:r>
              </a:p>
              <a:p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0.5−2=−1.5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55" name="TextBox 32">
                <a:extLst>
                  <a:ext uri="{FF2B5EF4-FFF2-40B4-BE49-F238E27FC236}">
                    <a16:creationId xmlns:a16="http://schemas.microsoft.com/office/drawing/2014/main" id="{00E3AF42-1827-E118-EC49-26DBAE108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229" y="2395355"/>
                <a:ext cx="5601470" cy="1477328"/>
              </a:xfrm>
              <a:prstGeom prst="rect">
                <a:avLst/>
              </a:prstGeom>
              <a:blipFill>
                <a:blip r:embed="rId8"/>
                <a:stretch>
                  <a:fillRect l="-979" t="-2066" b="-619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upp 73">
            <a:extLst>
              <a:ext uri="{FF2B5EF4-FFF2-40B4-BE49-F238E27FC236}">
                <a16:creationId xmlns:a16="http://schemas.microsoft.com/office/drawing/2014/main" id="{6EB4618A-532C-47D7-C6DD-9A1447BCE7D0}"/>
              </a:ext>
            </a:extLst>
          </p:cNvPr>
          <p:cNvGrpSpPr/>
          <p:nvPr/>
        </p:nvGrpSpPr>
        <p:grpSpPr>
          <a:xfrm>
            <a:off x="215301" y="2276891"/>
            <a:ext cx="2948065" cy="1554352"/>
            <a:chOff x="493867" y="2442357"/>
            <a:chExt cx="3922467" cy="2068101"/>
          </a:xfrm>
        </p:grpSpPr>
        <p:sp>
          <p:nvSpPr>
            <p:cNvPr id="65" name="Oval 21">
              <a:extLst>
                <a:ext uri="{FF2B5EF4-FFF2-40B4-BE49-F238E27FC236}">
                  <a16:creationId xmlns:a16="http://schemas.microsoft.com/office/drawing/2014/main" id="{50DE2981-A962-743A-52E0-D86D3CA91308}"/>
                </a:ext>
              </a:extLst>
            </p:cNvPr>
            <p:cNvSpPr/>
            <p:nvPr/>
          </p:nvSpPr>
          <p:spPr>
            <a:xfrm>
              <a:off x="1003909" y="297882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6" name="Oval 22">
              <a:extLst>
                <a:ext uri="{FF2B5EF4-FFF2-40B4-BE49-F238E27FC236}">
                  <a16:creationId xmlns:a16="http://schemas.microsoft.com/office/drawing/2014/main" id="{9F800E6D-8FA9-B433-A1F3-34BA821F3866}"/>
                </a:ext>
              </a:extLst>
            </p:cNvPr>
            <p:cNvSpPr/>
            <p:nvPr/>
          </p:nvSpPr>
          <p:spPr>
            <a:xfrm>
              <a:off x="3495289" y="297882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67" name="Straight Arrow Connector 23">
              <a:extLst>
                <a:ext uri="{FF2B5EF4-FFF2-40B4-BE49-F238E27FC236}">
                  <a16:creationId xmlns:a16="http://schemas.microsoft.com/office/drawing/2014/main" id="{92328E2F-63CF-798E-B2A8-AF372DF85427}"/>
                </a:ext>
              </a:extLst>
            </p:cNvPr>
            <p:cNvCxnSpPr>
              <a:stCxn id="65" idx="6"/>
              <a:endCxn id="66" idx="2"/>
            </p:cNvCxnSpPr>
            <p:nvPr/>
          </p:nvCxnSpPr>
          <p:spPr>
            <a:xfrm>
              <a:off x="1363909" y="3158827"/>
              <a:ext cx="2131380" cy="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24">
              <a:extLst>
                <a:ext uri="{FF2B5EF4-FFF2-40B4-BE49-F238E27FC236}">
                  <a16:creationId xmlns:a16="http://schemas.microsoft.com/office/drawing/2014/main" id="{D2510700-D5DD-B752-DF14-4C51C843FB17}"/>
                </a:ext>
              </a:extLst>
            </p:cNvPr>
            <p:cNvSpPr txBox="1"/>
            <p:nvPr/>
          </p:nvSpPr>
          <p:spPr>
            <a:xfrm>
              <a:off x="493867" y="2442357"/>
              <a:ext cx="1190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technique</a:t>
              </a:r>
            </a:p>
          </p:txBody>
        </p:sp>
        <p:sp>
          <p:nvSpPr>
            <p:cNvPr id="69" name="TextBox 25">
              <a:extLst>
                <a:ext uri="{FF2B5EF4-FFF2-40B4-BE49-F238E27FC236}">
                  <a16:creationId xmlns:a16="http://schemas.microsoft.com/office/drawing/2014/main" id="{587DD4D9-320A-8815-6BDC-198ABE10AA11}"/>
                </a:ext>
              </a:extLst>
            </p:cNvPr>
            <p:cNvSpPr txBox="1"/>
            <p:nvPr/>
          </p:nvSpPr>
          <p:spPr>
            <a:xfrm>
              <a:off x="2574244" y="2475604"/>
              <a:ext cx="1842090" cy="49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productivity</a:t>
              </a:r>
            </a:p>
          </p:txBody>
        </p:sp>
        <p:sp>
          <p:nvSpPr>
            <p:cNvPr id="70" name="Oval 26">
              <a:extLst>
                <a:ext uri="{FF2B5EF4-FFF2-40B4-BE49-F238E27FC236}">
                  <a16:creationId xmlns:a16="http://schemas.microsoft.com/office/drawing/2014/main" id="{EB47168D-54AF-EC1C-F7B2-1920778CC034}"/>
                </a:ext>
              </a:extLst>
            </p:cNvPr>
            <p:cNvSpPr/>
            <p:nvPr/>
          </p:nvSpPr>
          <p:spPr>
            <a:xfrm>
              <a:off x="2249599" y="4150458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1" name="TextBox 27">
              <a:extLst>
                <a:ext uri="{FF2B5EF4-FFF2-40B4-BE49-F238E27FC236}">
                  <a16:creationId xmlns:a16="http://schemas.microsoft.com/office/drawing/2014/main" id="{73E5A531-D83D-903A-ED23-B544E59AB80C}"/>
                </a:ext>
              </a:extLst>
            </p:cNvPr>
            <p:cNvSpPr txBox="1"/>
            <p:nvPr/>
          </p:nvSpPr>
          <p:spPr>
            <a:xfrm>
              <a:off x="2637980" y="4141126"/>
              <a:ext cx="1305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tool appeal</a:t>
              </a:r>
            </a:p>
          </p:txBody>
        </p:sp>
        <p:cxnSp>
          <p:nvCxnSpPr>
            <p:cNvPr id="72" name="Straight Arrow Connector 28">
              <a:extLst>
                <a:ext uri="{FF2B5EF4-FFF2-40B4-BE49-F238E27FC236}">
                  <a16:creationId xmlns:a16="http://schemas.microsoft.com/office/drawing/2014/main" id="{D0B9CDDA-CDBD-8132-9B79-C0B29AB11917}"/>
                </a:ext>
              </a:extLst>
            </p:cNvPr>
            <p:cNvCxnSpPr>
              <a:cxnSpLocks/>
              <a:stCxn id="70" idx="7"/>
              <a:endCxn id="66" idx="3"/>
            </p:cNvCxnSpPr>
            <p:nvPr/>
          </p:nvCxnSpPr>
          <p:spPr>
            <a:xfrm flipV="1">
              <a:off x="2556878" y="3286106"/>
              <a:ext cx="991132" cy="917073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29">
              <a:extLst>
                <a:ext uri="{FF2B5EF4-FFF2-40B4-BE49-F238E27FC236}">
                  <a16:creationId xmlns:a16="http://schemas.microsoft.com/office/drawing/2014/main" id="{3C3A87DA-ACCE-A539-A33E-D3F6A39C7123}"/>
                </a:ext>
              </a:extLst>
            </p:cNvPr>
            <p:cNvCxnSpPr>
              <a:cxnSpLocks/>
              <a:stCxn id="65" idx="5"/>
              <a:endCxn id="70" idx="1"/>
            </p:cNvCxnSpPr>
            <p:nvPr/>
          </p:nvCxnSpPr>
          <p:spPr>
            <a:xfrm>
              <a:off x="1311188" y="3286106"/>
              <a:ext cx="991132" cy="917073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upp 74">
            <a:extLst>
              <a:ext uri="{FF2B5EF4-FFF2-40B4-BE49-F238E27FC236}">
                <a16:creationId xmlns:a16="http://schemas.microsoft.com/office/drawing/2014/main" id="{3F48E68E-1F0A-6F85-ECE4-EEDB87FE4FA0}"/>
              </a:ext>
            </a:extLst>
          </p:cNvPr>
          <p:cNvGrpSpPr/>
          <p:nvPr/>
        </p:nvGrpSpPr>
        <p:grpSpPr>
          <a:xfrm>
            <a:off x="146928" y="1225341"/>
            <a:ext cx="2682675" cy="727523"/>
            <a:chOff x="320721" y="2370842"/>
            <a:chExt cx="3569361" cy="967985"/>
          </a:xfrm>
        </p:grpSpPr>
        <p:sp>
          <p:nvSpPr>
            <p:cNvPr id="76" name="Oval 21">
              <a:extLst>
                <a:ext uri="{FF2B5EF4-FFF2-40B4-BE49-F238E27FC236}">
                  <a16:creationId xmlns:a16="http://schemas.microsoft.com/office/drawing/2014/main" id="{3342085A-26A4-350A-86F7-AA6A7495DB0C}"/>
                </a:ext>
              </a:extLst>
            </p:cNvPr>
            <p:cNvSpPr/>
            <p:nvPr/>
          </p:nvSpPr>
          <p:spPr>
            <a:xfrm>
              <a:off x="1003909" y="297882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7" name="Oval 22">
              <a:extLst>
                <a:ext uri="{FF2B5EF4-FFF2-40B4-BE49-F238E27FC236}">
                  <a16:creationId xmlns:a16="http://schemas.microsoft.com/office/drawing/2014/main" id="{CBC5ADD0-A759-C868-3D03-31A0B195B5FE}"/>
                </a:ext>
              </a:extLst>
            </p:cNvPr>
            <p:cNvSpPr/>
            <p:nvPr/>
          </p:nvSpPr>
          <p:spPr>
            <a:xfrm>
              <a:off x="3495289" y="297882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78" name="Straight Arrow Connector 23">
              <a:extLst>
                <a:ext uri="{FF2B5EF4-FFF2-40B4-BE49-F238E27FC236}">
                  <a16:creationId xmlns:a16="http://schemas.microsoft.com/office/drawing/2014/main" id="{825691AA-95D9-B773-8BDC-577F0D177C66}"/>
                </a:ext>
              </a:extLst>
            </p:cNvPr>
            <p:cNvCxnSpPr>
              <a:cxnSpLocks/>
              <a:stCxn id="76" idx="6"/>
              <a:endCxn id="77" idx="2"/>
            </p:cNvCxnSpPr>
            <p:nvPr/>
          </p:nvCxnSpPr>
          <p:spPr>
            <a:xfrm>
              <a:off x="1363909" y="3158827"/>
              <a:ext cx="2131380" cy="0"/>
            </a:xfrm>
            <a:prstGeom prst="straightConnector1">
              <a:avLst/>
            </a:prstGeom>
            <a:ln cmpd="sng">
              <a:gradFill flip="none" rotWithShape="1">
                <a:gsLst>
                  <a:gs pos="0">
                    <a:srgbClr val="FFC000"/>
                  </a:gs>
                  <a:gs pos="100000">
                    <a:srgbClr val="46B1E1">
                      <a:lumMod val="97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Box 24">
              <a:extLst>
                <a:ext uri="{FF2B5EF4-FFF2-40B4-BE49-F238E27FC236}">
                  <a16:creationId xmlns:a16="http://schemas.microsoft.com/office/drawing/2014/main" id="{8F8ED3B3-9A8A-29D1-7C37-64183215646C}"/>
                </a:ext>
              </a:extLst>
            </p:cNvPr>
            <p:cNvSpPr txBox="1"/>
            <p:nvPr/>
          </p:nvSpPr>
          <p:spPr>
            <a:xfrm>
              <a:off x="320721" y="2416290"/>
              <a:ext cx="1190198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D0180A"/>
                  </a:solidFill>
                </a:rPr>
                <a:t>technique</a:t>
              </a:r>
            </a:p>
          </p:txBody>
        </p:sp>
        <p:sp>
          <p:nvSpPr>
            <p:cNvPr id="80" name="TextBox 25">
              <a:extLst>
                <a:ext uri="{FF2B5EF4-FFF2-40B4-BE49-F238E27FC236}">
                  <a16:creationId xmlns:a16="http://schemas.microsoft.com/office/drawing/2014/main" id="{61B80D90-E476-645F-6806-8110F285B08D}"/>
                </a:ext>
              </a:extLst>
            </p:cNvPr>
            <p:cNvSpPr txBox="1"/>
            <p:nvPr/>
          </p:nvSpPr>
          <p:spPr>
            <a:xfrm>
              <a:off x="2527145" y="2370842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productivity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ruta 85">
                <a:extLst>
                  <a:ext uri="{FF2B5EF4-FFF2-40B4-BE49-F238E27FC236}">
                    <a16:creationId xmlns:a16="http://schemas.microsoft.com/office/drawing/2014/main" id="{48C8DF70-2BB7-F04E-17BE-AE27169E8BF9}"/>
                  </a:ext>
                </a:extLst>
              </p:cNvPr>
              <p:cNvSpPr txBox="1"/>
              <p:nvPr/>
            </p:nvSpPr>
            <p:spPr>
              <a:xfrm>
                <a:off x="-91096" y="1624688"/>
                <a:ext cx="777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86" name="textruta 85">
                <a:extLst>
                  <a:ext uri="{FF2B5EF4-FFF2-40B4-BE49-F238E27FC236}">
                    <a16:creationId xmlns:a16="http://schemas.microsoft.com/office/drawing/2014/main" id="{48C8DF70-2BB7-F04E-17BE-AE27169E8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096" y="1624688"/>
                <a:ext cx="77739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ruta 87">
                <a:extLst>
                  <a:ext uri="{FF2B5EF4-FFF2-40B4-BE49-F238E27FC236}">
                    <a16:creationId xmlns:a16="http://schemas.microsoft.com/office/drawing/2014/main" id="{E0EB46B5-FA71-64B5-A138-AFB7B987C0E9}"/>
                  </a:ext>
                </a:extLst>
              </p:cNvPr>
              <p:cNvSpPr txBox="1"/>
              <p:nvPr/>
            </p:nvSpPr>
            <p:spPr>
              <a:xfrm>
                <a:off x="-31625" y="2659236"/>
                <a:ext cx="5906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88" name="textruta 87">
                <a:extLst>
                  <a:ext uri="{FF2B5EF4-FFF2-40B4-BE49-F238E27FC236}">
                    <a16:creationId xmlns:a16="http://schemas.microsoft.com/office/drawing/2014/main" id="{E0EB46B5-FA71-64B5-A138-AFB7B987C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25" y="2659236"/>
                <a:ext cx="59064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11">
                <a:extLst>
                  <a:ext uri="{FF2B5EF4-FFF2-40B4-BE49-F238E27FC236}">
                    <a16:creationId xmlns:a16="http://schemas.microsoft.com/office/drawing/2014/main" id="{AE05247B-1C42-2FE0-A751-678DA5BAB15A}"/>
                  </a:ext>
                </a:extLst>
              </p:cNvPr>
              <p:cNvSpPr txBox="1"/>
              <p:nvPr/>
            </p:nvSpPr>
            <p:spPr>
              <a:xfrm>
                <a:off x="1346439" y="1510852"/>
                <a:ext cx="672057" cy="307777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noProof="0" smtClean="0">
                          <a:latin typeface="Cambria Math" panose="02040503050406030204" pitchFamily="18" charset="0"/>
                        </a:rPr>
                        <m:t>−1.</m:t>
                      </m:r>
                      <m:r>
                        <a:rPr lang="en-US" sz="1400" b="0" i="1" noProof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90" name="TextBox 11">
                <a:extLst>
                  <a:ext uri="{FF2B5EF4-FFF2-40B4-BE49-F238E27FC236}">
                    <a16:creationId xmlns:a16="http://schemas.microsoft.com/office/drawing/2014/main" id="{AE05247B-1C42-2FE0-A751-678DA5BAB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439" y="1510852"/>
                <a:ext cx="672057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  <a:prstDash val="solid"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1" name="Bild 100" descr="Utropstecken med hel fyllning">
            <a:extLst>
              <a:ext uri="{FF2B5EF4-FFF2-40B4-BE49-F238E27FC236}">
                <a16:creationId xmlns:a16="http://schemas.microsoft.com/office/drawing/2014/main" id="{5FFB8F2D-18DF-68ED-DCAC-7DD7274DA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0866" y="4106650"/>
            <a:ext cx="525573" cy="5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90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91119-F0F4-BDA0-62C4-6C100A011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8EB734EF-2868-81EB-A45B-7AF176ED8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E2B0A449-B512-1439-F29D-37EF2EE2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Collider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C8BCD1BC-49CA-8D3D-07FD-155D9FDC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8</a:t>
            </a:fld>
            <a:endParaRPr lang="en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7FAFC216-8C4B-2714-63D3-2629D0936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60811"/>
            <a:ext cx="8694913" cy="804870"/>
          </a:xfrm>
        </p:spPr>
        <p:txBody>
          <a:bodyPr/>
          <a:lstStyle/>
          <a:p>
            <a:r>
              <a:rPr lang="en-GB" dirty="0"/>
              <a:t>Does the </a:t>
            </a:r>
            <a:r>
              <a:rPr lang="en-GB" b="1" dirty="0">
                <a:solidFill>
                  <a:srgbClr val="FF0000"/>
                </a:solidFill>
              </a:rPr>
              <a:t>length of a requirements specification</a:t>
            </a:r>
            <a:r>
              <a:rPr lang="en-GB" dirty="0"/>
              <a:t> affect its </a:t>
            </a:r>
            <a:r>
              <a:rPr lang="en-GB" b="1" dirty="0">
                <a:solidFill>
                  <a:srgbClr val="00BFC4"/>
                </a:solidFill>
              </a:rPr>
              <a:t>quality</a:t>
            </a:r>
            <a:r>
              <a:rPr lang="en-GB" dirty="0"/>
              <a:t>? Both factors do affect whether the specified feature is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implemented successfully</a:t>
            </a:r>
            <a:r>
              <a:rPr lang="en-GB" dirty="0"/>
              <a:t>.</a:t>
            </a:r>
            <a:endParaRPr lang="en-SE" dirty="0"/>
          </a:p>
        </p:txBody>
      </p:sp>
      <p:grpSp>
        <p:nvGrpSpPr>
          <p:cNvPr id="91" name="Group 27">
            <a:extLst>
              <a:ext uri="{FF2B5EF4-FFF2-40B4-BE49-F238E27FC236}">
                <a16:creationId xmlns:a16="http://schemas.microsoft.com/office/drawing/2014/main" id="{D3F8EF15-CEAA-88A8-0BFD-7CE34DA229E0}"/>
              </a:ext>
            </a:extLst>
          </p:cNvPr>
          <p:cNvGrpSpPr/>
          <p:nvPr/>
        </p:nvGrpSpPr>
        <p:grpSpPr>
          <a:xfrm>
            <a:off x="7626686" y="646722"/>
            <a:ext cx="1374713" cy="700994"/>
            <a:chOff x="1704703" y="3311892"/>
            <a:chExt cx="1876697" cy="956965"/>
          </a:xfrm>
        </p:grpSpPr>
        <p:sp>
          <p:nvSpPr>
            <p:cNvPr id="92" name="Oval 29">
              <a:extLst>
                <a:ext uri="{FF2B5EF4-FFF2-40B4-BE49-F238E27FC236}">
                  <a16:creationId xmlns:a16="http://schemas.microsoft.com/office/drawing/2014/main" id="{5517DA0C-C48E-DE83-C12B-A0EFDA89F882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l 30">
              <a:extLst>
                <a:ext uri="{FF2B5EF4-FFF2-40B4-BE49-F238E27FC236}">
                  <a16:creationId xmlns:a16="http://schemas.microsoft.com/office/drawing/2014/main" id="{86EEB4F4-9454-88C8-3F29-E7B90C1A6745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4" name="Straight Arrow Connector 31">
              <a:extLst>
                <a:ext uri="{FF2B5EF4-FFF2-40B4-BE49-F238E27FC236}">
                  <a16:creationId xmlns:a16="http://schemas.microsoft.com/office/drawing/2014/main" id="{5C598F86-9FE9-8C8A-36E4-B3FD9603884B}"/>
                </a:ext>
              </a:extLst>
            </p:cNvPr>
            <p:cNvCxnSpPr>
              <a:cxnSpLocks/>
              <a:stCxn id="92" idx="6"/>
              <a:endCxn id="93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Oval 32">
              <a:extLst>
                <a:ext uri="{FF2B5EF4-FFF2-40B4-BE49-F238E27FC236}">
                  <a16:creationId xmlns:a16="http://schemas.microsoft.com/office/drawing/2014/main" id="{C80960E9-6EFA-C44B-021D-827D9FB7334C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6" name="Straight Arrow Connector 33">
              <a:extLst>
                <a:ext uri="{FF2B5EF4-FFF2-40B4-BE49-F238E27FC236}">
                  <a16:creationId xmlns:a16="http://schemas.microsoft.com/office/drawing/2014/main" id="{78A03E18-4976-0726-DBCE-3C0FF16AD53B}"/>
                </a:ext>
              </a:extLst>
            </p:cNvPr>
            <p:cNvCxnSpPr>
              <a:cxnSpLocks/>
              <a:stCxn id="92" idx="5"/>
              <a:endCxn id="95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34">
              <a:extLst>
                <a:ext uri="{FF2B5EF4-FFF2-40B4-BE49-F238E27FC236}">
                  <a16:creationId xmlns:a16="http://schemas.microsoft.com/office/drawing/2014/main" id="{92EB2434-66EB-F328-B298-BFBABB16F217}"/>
                </a:ext>
              </a:extLst>
            </p:cNvPr>
            <p:cNvCxnSpPr>
              <a:cxnSpLocks/>
              <a:stCxn id="93" idx="3"/>
              <a:endCxn id="95" idx="7"/>
            </p:cNvCxnSpPr>
            <p:nvPr/>
          </p:nvCxnSpPr>
          <p:spPr>
            <a:xfrm flipH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Oval 1">
            <a:extLst>
              <a:ext uri="{FF2B5EF4-FFF2-40B4-BE49-F238E27FC236}">
                <a16:creationId xmlns:a16="http://schemas.microsoft.com/office/drawing/2014/main" id="{159A4E45-186C-9C9C-8EF5-ECF7BD879438}"/>
              </a:ext>
            </a:extLst>
          </p:cNvPr>
          <p:cNvSpPr/>
          <p:nvPr/>
        </p:nvSpPr>
        <p:spPr>
          <a:xfrm>
            <a:off x="5237564" y="2749665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Oval 8">
            <a:extLst>
              <a:ext uri="{FF2B5EF4-FFF2-40B4-BE49-F238E27FC236}">
                <a16:creationId xmlns:a16="http://schemas.microsoft.com/office/drawing/2014/main" id="{E5D62259-3A5C-2CE3-1ABC-C2956F70770C}"/>
              </a:ext>
            </a:extLst>
          </p:cNvPr>
          <p:cNvSpPr/>
          <p:nvPr/>
        </p:nvSpPr>
        <p:spPr>
          <a:xfrm>
            <a:off x="7728944" y="2749665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4" name="Straight Arrow Connector 10">
            <a:extLst>
              <a:ext uri="{FF2B5EF4-FFF2-40B4-BE49-F238E27FC236}">
                <a16:creationId xmlns:a16="http://schemas.microsoft.com/office/drawing/2014/main" id="{48A566CC-72DD-E84D-6458-5DD92308C7C2}"/>
              </a:ext>
            </a:extLst>
          </p:cNvPr>
          <p:cNvCxnSpPr>
            <a:stCxn id="15" idx="6"/>
            <a:endCxn id="27" idx="2"/>
          </p:cNvCxnSpPr>
          <p:nvPr/>
        </p:nvCxnSpPr>
        <p:spPr>
          <a:xfrm>
            <a:off x="5597564" y="2929665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18">
            <a:extLst>
              <a:ext uri="{FF2B5EF4-FFF2-40B4-BE49-F238E27FC236}">
                <a16:creationId xmlns:a16="http://schemas.microsoft.com/office/drawing/2014/main" id="{77586F1C-CDF0-9AFF-D6A4-BBBF7C642D47}"/>
              </a:ext>
            </a:extLst>
          </p:cNvPr>
          <p:cNvSpPr txBox="1"/>
          <p:nvPr/>
        </p:nvSpPr>
        <p:spPr>
          <a:xfrm>
            <a:off x="4746800" y="2290333"/>
            <a:ext cx="190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specification size</a:t>
            </a:r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B2AA9BCD-2183-E2AF-C35A-BDE491607532}"/>
              </a:ext>
            </a:extLst>
          </p:cNvPr>
          <p:cNvSpPr txBox="1"/>
          <p:nvPr/>
        </p:nvSpPr>
        <p:spPr>
          <a:xfrm>
            <a:off x="6871635" y="2293622"/>
            <a:ext cx="2194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specification quality</a:t>
            </a:r>
          </a:p>
        </p:txBody>
      </p:sp>
      <p:sp>
        <p:nvSpPr>
          <p:cNvPr id="37" name="Oval 20">
            <a:extLst>
              <a:ext uri="{FF2B5EF4-FFF2-40B4-BE49-F238E27FC236}">
                <a16:creationId xmlns:a16="http://schemas.microsoft.com/office/drawing/2014/main" id="{C055C39C-5FB7-F19C-C672-FDCC3B3E8A79}"/>
              </a:ext>
            </a:extLst>
          </p:cNvPr>
          <p:cNvSpPr/>
          <p:nvPr/>
        </p:nvSpPr>
        <p:spPr>
          <a:xfrm>
            <a:off x="6483254" y="392129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2C21FB09-8546-FF3B-E197-0EDC254A5622}"/>
              </a:ext>
            </a:extLst>
          </p:cNvPr>
          <p:cNvSpPr txBox="1"/>
          <p:nvPr/>
        </p:nvSpPr>
        <p:spPr>
          <a:xfrm>
            <a:off x="6871635" y="3911964"/>
            <a:ext cx="1769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feature success</a:t>
            </a:r>
          </a:p>
        </p:txBody>
      </p:sp>
      <p:cxnSp>
        <p:nvCxnSpPr>
          <p:cNvPr id="39" name="Straight Arrow Connector 22">
            <a:extLst>
              <a:ext uri="{FF2B5EF4-FFF2-40B4-BE49-F238E27FC236}">
                <a16:creationId xmlns:a16="http://schemas.microsoft.com/office/drawing/2014/main" id="{2DA46B51-0363-3A91-B124-3812FF54A03A}"/>
              </a:ext>
            </a:extLst>
          </p:cNvPr>
          <p:cNvCxnSpPr>
            <a:cxnSpLocks/>
            <a:stCxn id="27" idx="3"/>
            <a:endCxn id="37" idx="7"/>
          </p:cNvCxnSpPr>
          <p:nvPr/>
        </p:nvCxnSpPr>
        <p:spPr>
          <a:xfrm flipH="1">
            <a:off x="6790533" y="3056944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23">
            <a:extLst>
              <a:ext uri="{FF2B5EF4-FFF2-40B4-BE49-F238E27FC236}">
                <a16:creationId xmlns:a16="http://schemas.microsoft.com/office/drawing/2014/main" id="{2417D5BF-921E-1994-3829-459A7CE4123B}"/>
              </a:ext>
            </a:extLst>
          </p:cNvPr>
          <p:cNvCxnSpPr>
            <a:cxnSpLocks/>
            <a:stCxn id="15" idx="5"/>
            <a:endCxn id="37" idx="1"/>
          </p:cNvCxnSpPr>
          <p:nvPr/>
        </p:nvCxnSpPr>
        <p:spPr>
          <a:xfrm>
            <a:off x="5544843" y="3056944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29">
                <a:extLst>
                  <a:ext uri="{FF2B5EF4-FFF2-40B4-BE49-F238E27FC236}">
                    <a16:creationId xmlns:a16="http://schemas.microsoft.com/office/drawing/2014/main" id="{1F5A3EE5-8962-F3F7-FA0C-F35079346377}"/>
                  </a:ext>
                </a:extLst>
              </p:cNvPr>
              <p:cNvSpPr txBox="1"/>
              <p:nvPr/>
            </p:nvSpPr>
            <p:spPr>
              <a:xfrm>
                <a:off x="599817" y="2860891"/>
                <a:ext cx="18331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1" name="TextBox 29">
                <a:extLst>
                  <a:ext uri="{FF2B5EF4-FFF2-40B4-BE49-F238E27FC236}">
                    <a16:creationId xmlns:a16="http://schemas.microsoft.com/office/drawing/2014/main" id="{1F5A3EE5-8962-F3F7-FA0C-F35079346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7" y="2860891"/>
                <a:ext cx="1833194" cy="276999"/>
              </a:xfrm>
              <a:prstGeom prst="rect">
                <a:avLst/>
              </a:prstGeom>
              <a:blipFill>
                <a:blip r:embed="rId2"/>
                <a:stretch>
                  <a:fillRect l="-1661" t="-2174" r="-2658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30">
                <a:extLst>
                  <a:ext uri="{FF2B5EF4-FFF2-40B4-BE49-F238E27FC236}">
                    <a16:creationId xmlns:a16="http://schemas.microsoft.com/office/drawing/2014/main" id="{FC48F212-9A7F-A615-E9BD-76A7071A2672}"/>
                  </a:ext>
                </a:extLst>
              </p:cNvPr>
              <p:cNvSpPr txBox="1"/>
              <p:nvPr/>
            </p:nvSpPr>
            <p:spPr>
              <a:xfrm>
                <a:off x="599817" y="2362734"/>
                <a:ext cx="2888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𝑠𝑢𝑐𝑐𝑒𝑠𝑠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2" name="TextBox 30">
                <a:extLst>
                  <a:ext uri="{FF2B5EF4-FFF2-40B4-BE49-F238E27FC236}">
                    <a16:creationId xmlns:a16="http://schemas.microsoft.com/office/drawing/2014/main" id="{FC48F212-9A7F-A615-E9BD-76A7071A2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7" y="2362734"/>
                <a:ext cx="2888996" cy="276999"/>
              </a:xfrm>
              <a:prstGeom prst="rect">
                <a:avLst/>
              </a:prstGeom>
              <a:blipFill>
                <a:blip r:embed="rId3"/>
                <a:stretch>
                  <a:fillRect l="-844" t="-4444" r="-844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92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A671A-A0F4-626A-A54F-2BAE990D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C09641D4-C281-03F6-5E65-7F914ECC3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77AF8F79-512F-3B46-DA7C-25887263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Collider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A1A9051-32C7-497A-9D2B-A279BCA9E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9</a:t>
            </a:fld>
            <a:endParaRPr lang="en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31FC6D01-5799-67F4-AF6D-31F6DBCFE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60811"/>
            <a:ext cx="8694913" cy="804870"/>
          </a:xfrm>
        </p:spPr>
        <p:txBody>
          <a:bodyPr/>
          <a:lstStyle/>
          <a:p>
            <a:r>
              <a:rPr lang="en-GB" dirty="0"/>
              <a:t>Does the </a:t>
            </a:r>
            <a:r>
              <a:rPr lang="en-GB" b="1" dirty="0">
                <a:solidFill>
                  <a:srgbClr val="FF0000"/>
                </a:solidFill>
              </a:rPr>
              <a:t>length of a requirements specification</a:t>
            </a:r>
            <a:r>
              <a:rPr lang="en-GB" dirty="0"/>
              <a:t> affect its </a:t>
            </a:r>
            <a:r>
              <a:rPr lang="en-GB" b="1" dirty="0">
                <a:solidFill>
                  <a:srgbClr val="00BFC4"/>
                </a:solidFill>
              </a:rPr>
              <a:t>quality</a:t>
            </a:r>
            <a:r>
              <a:rPr lang="en-GB" dirty="0"/>
              <a:t>? Both factors do affect whether the specified feature is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implemented successfully</a:t>
            </a:r>
            <a:r>
              <a:rPr lang="en-GB" dirty="0"/>
              <a:t>.</a:t>
            </a:r>
            <a:endParaRPr lang="en-SE" dirty="0"/>
          </a:p>
        </p:txBody>
      </p:sp>
      <p:grpSp>
        <p:nvGrpSpPr>
          <p:cNvPr id="91" name="Group 27">
            <a:extLst>
              <a:ext uri="{FF2B5EF4-FFF2-40B4-BE49-F238E27FC236}">
                <a16:creationId xmlns:a16="http://schemas.microsoft.com/office/drawing/2014/main" id="{F4057587-C51A-8E2C-84E8-CD90027B0DB1}"/>
              </a:ext>
            </a:extLst>
          </p:cNvPr>
          <p:cNvGrpSpPr/>
          <p:nvPr/>
        </p:nvGrpSpPr>
        <p:grpSpPr>
          <a:xfrm>
            <a:off x="7626686" y="646722"/>
            <a:ext cx="1374713" cy="700994"/>
            <a:chOff x="1704703" y="3311892"/>
            <a:chExt cx="1876697" cy="956965"/>
          </a:xfrm>
        </p:grpSpPr>
        <p:sp>
          <p:nvSpPr>
            <p:cNvPr id="92" name="Oval 29">
              <a:extLst>
                <a:ext uri="{FF2B5EF4-FFF2-40B4-BE49-F238E27FC236}">
                  <a16:creationId xmlns:a16="http://schemas.microsoft.com/office/drawing/2014/main" id="{BC0694D3-4718-E1FF-A8A6-57DFD0FB41BD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l 30">
              <a:extLst>
                <a:ext uri="{FF2B5EF4-FFF2-40B4-BE49-F238E27FC236}">
                  <a16:creationId xmlns:a16="http://schemas.microsoft.com/office/drawing/2014/main" id="{D29C6C42-C0B0-C178-85A5-A9EF4711D9FF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4" name="Straight Arrow Connector 31">
              <a:extLst>
                <a:ext uri="{FF2B5EF4-FFF2-40B4-BE49-F238E27FC236}">
                  <a16:creationId xmlns:a16="http://schemas.microsoft.com/office/drawing/2014/main" id="{CA23E612-2A60-3196-939D-5A28F51FA35E}"/>
                </a:ext>
              </a:extLst>
            </p:cNvPr>
            <p:cNvCxnSpPr>
              <a:cxnSpLocks/>
              <a:stCxn id="92" idx="6"/>
              <a:endCxn id="93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Oval 32">
              <a:extLst>
                <a:ext uri="{FF2B5EF4-FFF2-40B4-BE49-F238E27FC236}">
                  <a16:creationId xmlns:a16="http://schemas.microsoft.com/office/drawing/2014/main" id="{3C7C65E5-61B3-49D8-575E-3BD316388B9D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6" name="Straight Arrow Connector 33">
              <a:extLst>
                <a:ext uri="{FF2B5EF4-FFF2-40B4-BE49-F238E27FC236}">
                  <a16:creationId xmlns:a16="http://schemas.microsoft.com/office/drawing/2014/main" id="{3D076B57-1285-B4B7-DD35-B7A56C7EB275}"/>
                </a:ext>
              </a:extLst>
            </p:cNvPr>
            <p:cNvCxnSpPr>
              <a:cxnSpLocks/>
              <a:stCxn id="92" idx="5"/>
              <a:endCxn id="95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34">
              <a:extLst>
                <a:ext uri="{FF2B5EF4-FFF2-40B4-BE49-F238E27FC236}">
                  <a16:creationId xmlns:a16="http://schemas.microsoft.com/office/drawing/2014/main" id="{27C932F4-7CA8-6F4C-5BE5-69593BFBEB65}"/>
                </a:ext>
              </a:extLst>
            </p:cNvPr>
            <p:cNvCxnSpPr>
              <a:cxnSpLocks/>
              <a:stCxn id="93" idx="3"/>
              <a:endCxn id="95" idx="7"/>
            </p:cNvCxnSpPr>
            <p:nvPr/>
          </p:nvCxnSpPr>
          <p:spPr>
            <a:xfrm flipH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30">
                <a:extLst>
                  <a:ext uri="{FF2B5EF4-FFF2-40B4-BE49-F238E27FC236}">
                    <a16:creationId xmlns:a16="http://schemas.microsoft.com/office/drawing/2014/main" id="{FA95D1DB-A58A-3E64-F4B2-4E454F039145}"/>
                  </a:ext>
                </a:extLst>
              </p:cNvPr>
              <p:cNvSpPr txBox="1"/>
              <p:nvPr/>
            </p:nvSpPr>
            <p:spPr>
              <a:xfrm>
                <a:off x="599817" y="2362734"/>
                <a:ext cx="2888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𝑠𝑢𝑐𝑐𝑒𝑠𝑠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2" name="TextBox 30">
                <a:extLst>
                  <a:ext uri="{FF2B5EF4-FFF2-40B4-BE49-F238E27FC236}">
                    <a16:creationId xmlns:a16="http://schemas.microsoft.com/office/drawing/2014/main" id="{FA95D1DB-A58A-3E64-F4B2-4E454F039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7" y="2362734"/>
                <a:ext cx="2888996" cy="276999"/>
              </a:xfrm>
              <a:prstGeom prst="rect">
                <a:avLst/>
              </a:prstGeom>
              <a:blipFill>
                <a:blip r:embed="rId2"/>
                <a:stretch>
                  <a:fillRect l="-844" t="-4444" r="-844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0">
            <a:extLst>
              <a:ext uri="{FF2B5EF4-FFF2-40B4-BE49-F238E27FC236}">
                <a16:creationId xmlns:a16="http://schemas.microsoft.com/office/drawing/2014/main" id="{D361C87C-B6E4-EEC6-1F22-6789E82A6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576" y="2124522"/>
            <a:ext cx="4379241" cy="2701447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3AA0C908-289E-401A-85D7-61775E712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7" y="2752203"/>
            <a:ext cx="4462877" cy="97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9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5A80-B72B-3915-D8E9-2F898D37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91009E01-E977-7667-1E91-B0AC4F575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FB04ACAF-7AD6-203F-FF68-2AFC8FE3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Collider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9A920C5-0A03-ED77-BA24-7FCDAB9BC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10</a:t>
            </a:fld>
            <a:endParaRPr lang="en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E70455D8-58EC-04BF-B9BF-5F2B2ECD4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60811"/>
            <a:ext cx="8694913" cy="804870"/>
          </a:xfrm>
        </p:spPr>
        <p:txBody>
          <a:bodyPr/>
          <a:lstStyle/>
          <a:p>
            <a:r>
              <a:rPr lang="en-GB" dirty="0"/>
              <a:t>Does the </a:t>
            </a:r>
            <a:r>
              <a:rPr lang="en-GB" b="1" dirty="0">
                <a:solidFill>
                  <a:srgbClr val="FF0000"/>
                </a:solidFill>
              </a:rPr>
              <a:t>length of a requirements specification</a:t>
            </a:r>
            <a:r>
              <a:rPr lang="en-GB" dirty="0"/>
              <a:t> affect its </a:t>
            </a:r>
            <a:r>
              <a:rPr lang="en-GB" b="1" dirty="0">
                <a:solidFill>
                  <a:srgbClr val="00BFC4"/>
                </a:solidFill>
              </a:rPr>
              <a:t>quality</a:t>
            </a:r>
            <a:r>
              <a:rPr lang="en-GB" dirty="0"/>
              <a:t>? Both factors do affect whether the specified feature is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implemented successfully</a:t>
            </a:r>
            <a:r>
              <a:rPr lang="en-GB" dirty="0"/>
              <a:t>.</a:t>
            </a:r>
            <a:endParaRPr lang="en-SE" dirty="0"/>
          </a:p>
        </p:txBody>
      </p:sp>
      <p:grpSp>
        <p:nvGrpSpPr>
          <p:cNvPr id="91" name="Group 27">
            <a:extLst>
              <a:ext uri="{FF2B5EF4-FFF2-40B4-BE49-F238E27FC236}">
                <a16:creationId xmlns:a16="http://schemas.microsoft.com/office/drawing/2014/main" id="{8EC4C251-58B4-C19D-B8D4-C97427A96810}"/>
              </a:ext>
            </a:extLst>
          </p:cNvPr>
          <p:cNvGrpSpPr/>
          <p:nvPr/>
        </p:nvGrpSpPr>
        <p:grpSpPr>
          <a:xfrm>
            <a:off x="7626686" y="646722"/>
            <a:ext cx="1374713" cy="700994"/>
            <a:chOff x="1704703" y="3311892"/>
            <a:chExt cx="1876697" cy="956965"/>
          </a:xfrm>
        </p:grpSpPr>
        <p:sp>
          <p:nvSpPr>
            <p:cNvPr id="92" name="Oval 29">
              <a:extLst>
                <a:ext uri="{FF2B5EF4-FFF2-40B4-BE49-F238E27FC236}">
                  <a16:creationId xmlns:a16="http://schemas.microsoft.com/office/drawing/2014/main" id="{BEB07A53-9553-0713-721B-FCCE0605F9E9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l 30">
              <a:extLst>
                <a:ext uri="{FF2B5EF4-FFF2-40B4-BE49-F238E27FC236}">
                  <a16:creationId xmlns:a16="http://schemas.microsoft.com/office/drawing/2014/main" id="{82D308A5-39CC-74A7-324F-BBE0414A2D52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4" name="Straight Arrow Connector 31">
              <a:extLst>
                <a:ext uri="{FF2B5EF4-FFF2-40B4-BE49-F238E27FC236}">
                  <a16:creationId xmlns:a16="http://schemas.microsoft.com/office/drawing/2014/main" id="{15259FC8-663C-C113-EC36-854920D1B5C1}"/>
                </a:ext>
              </a:extLst>
            </p:cNvPr>
            <p:cNvCxnSpPr>
              <a:cxnSpLocks/>
              <a:stCxn id="92" idx="6"/>
              <a:endCxn id="93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Oval 32">
              <a:extLst>
                <a:ext uri="{FF2B5EF4-FFF2-40B4-BE49-F238E27FC236}">
                  <a16:creationId xmlns:a16="http://schemas.microsoft.com/office/drawing/2014/main" id="{6887C7B8-44CC-7D96-810B-267A146511E0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6" name="Straight Arrow Connector 33">
              <a:extLst>
                <a:ext uri="{FF2B5EF4-FFF2-40B4-BE49-F238E27FC236}">
                  <a16:creationId xmlns:a16="http://schemas.microsoft.com/office/drawing/2014/main" id="{1703315E-666C-F65F-0EBC-12A0E1430ED9}"/>
                </a:ext>
              </a:extLst>
            </p:cNvPr>
            <p:cNvCxnSpPr>
              <a:cxnSpLocks/>
              <a:stCxn id="92" idx="5"/>
              <a:endCxn id="95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34">
              <a:extLst>
                <a:ext uri="{FF2B5EF4-FFF2-40B4-BE49-F238E27FC236}">
                  <a16:creationId xmlns:a16="http://schemas.microsoft.com/office/drawing/2014/main" id="{E042981A-A8D7-8415-818D-821647132981}"/>
                </a:ext>
              </a:extLst>
            </p:cNvPr>
            <p:cNvCxnSpPr>
              <a:cxnSpLocks/>
              <a:stCxn id="93" idx="3"/>
              <a:endCxn id="95" idx="7"/>
            </p:cNvCxnSpPr>
            <p:nvPr/>
          </p:nvCxnSpPr>
          <p:spPr>
            <a:xfrm flipH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10">
            <a:extLst>
              <a:ext uri="{FF2B5EF4-FFF2-40B4-BE49-F238E27FC236}">
                <a16:creationId xmlns:a16="http://schemas.microsoft.com/office/drawing/2014/main" id="{D0672498-B306-287A-0446-46CF7D4D2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576" y="2124522"/>
            <a:ext cx="4379241" cy="2701447"/>
          </a:xfrm>
          <a:prstGeom prst="rect">
            <a:avLst/>
          </a:prstGeom>
        </p:spPr>
      </p:pic>
      <p:sp>
        <p:nvSpPr>
          <p:cNvPr id="3" name="TextBox 24">
            <a:extLst>
              <a:ext uri="{FF2B5EF4-FFF2-40B4-BE49-F238E27FC236}">
                <a16:creationId xmlns:a16="http://schemas.microsoft.com/office/drawing/2014/main" id="{69582689-8954-2F87-33FE-80FC9D760F1F}"/>
              </a:ext>
            </a:extLst>
          </p:cNvPr>
          <p:cNvSpPr txBox="1"/>
          <p:nvPr/>
        </p:nvSpPr>
        <p:spPr>
          <a:xfrm>
            <a:off x="425844" y="2169182"/>
            <a:ext cx="4217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any high </a:t>
            </a:r>
            <a:r>
              <a:rPr lang="en-US" sz="1600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value, if </a:t>
            </a:r>
            <a:r>
              <a:rPr lang="en-US" sz="1600" noProof="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success 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z="1600" i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then it is more likely that the </a:t>
            </a:r>
            <a:r>
              <a:rPr lang="en-US" sz="1600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specification size 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 small.</a:t>
            </a: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63344C52-5178-67E4-2347-9A077C3B40DB}"/>
              </a:ext>
            </a:extLst>
          </p:cNvPr>
          <p:cNvSpPr txBox="1"/>
          <p:nvPr/>
        </p:nvSpPr>
        <p:spPr>
          <a:xfrm>
            <a:off x="425844" y="3764071"/>
            <a:ext cx="41461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any low </a:t>
            </a:r>
            <a:r>
              <a:rPr lang="en-US" sz="1600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value, if </a:t>
            </a:r>
            <a:r>
              <a:rPr lang="en-US" sz="1600" noProof="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success 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z="1600" i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then it is more likely that the </a:t>
            </a:r>
            <a:r>
              <a:rPr lang="en-US" sz="1600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specification size 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 large.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7085932F-D3E2-CBC7-CDE9-2E58671981AE}"/>
              </a:ext>
            </a:extLst>
          </p:cNvPr>
          <p:cNvSpPr/>
          <p:nvPr/>
        </p:nvSpPr>
        <p:spPr>
          <a:xfrm>
            <a:off x="425844" y="2199662"/>
            <a:ext cx="7760317" cy="760209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2E9A907-664A-0326-48B3-0B6D3DA7FA10}"/>
              </a:ext>
            </a:extLst>
          </p:cNvPr>
          <p:cNvSpPr/>
          <p:nvPr/>
        </p:nvSpPr>
        <p:spPr>
          <a:xfrm>
            <a:off x="423045" y="3764071"/>
            <a:ext cx="7760317" cy="80487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162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43C00-8540-3360-F6DE-23450E06F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02439EF1-F1DF-A801-93C2-1C34379CC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D2585483-458B-35F9-70F2-FEC7FF8D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Collider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D330E58-D77C-1899-C2A9-F64DD7ED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11</a:t>
            </a:fld>
            <a:endParaRPr lang="en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A2974D4A-A2F6-FABD-D89B-6B9F08D3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60811"/>
            <a:ext cx="8694913" cy="804870"/>
          </a:xfrm>
        </p:spPr>
        <p:txBody>
          <a:bodyPr/>
          <a:lstStyle/>
          <a:p>
            <a:r>
              <a:rPr lang="en-GB" dirty="0"/>
              <a:t>Does the </a:t>
            </a:r>
            <a:r>
              <a:rPr lang="en-GB" b="1" dirty="0">
                <a:solidFill>
                  <a:srgbClr val="FF0000"/>
                </a:solidFill>
              </a:rPr>
              <a:t>length of a requirements specification</a:t>
            </a:r>
            <a:r>
              <a:rPr lang="en-GB" dirty="0"/>
              <a:t> affect its </a:t>
            </a:r>
            <a:r>
              <a:rPr lang="en-GB" b="1" dirty="0">
                <a:solidFill>
                  <a:srgbClr val="00BFC4"/>
                </a:solidFill>
              </a:rPr>
              <a:t>quality</a:t>
            </a:r>
            <a:r>
              <a:rPr lang="en-GB" dirty="0"/>
              <a:t>? Both factors do affect whether the specified feature is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implemented successfully</a:t>
            </a:r>
            <a:r>
              <a:rPr lang="en-GB" dirty="0"/>
              <a:t>.</a:t>
            </a:r>
            <a:endParaRPr lang="en-SE" dirty="0"/>
          </a:p>
        </p:txBody>
      </p:sp>
      <p:grpSp>
        <p:nvGrpSpPr>
          <p:cNvPr id="91" name="Group 27">
            <a:extLst>
              <a:ext uri="{FF2B5EF4-FFF2-40B4-BE49-F238E27FC236}">
                <a16:creationId xmlns:a16="http://schemas.microsoft.com/office/drawing/2014/main" id="{F213115D-CA77-9F9C-8D83-0E6AF268471D}"/>
              </a:ext>
            </a:extLst>
          </p:cNvPr>
          <p:cNvGrpSpPr/>
          <p:nvPr/>
        </p:nvGrpSpPr>
        <p:grpSpPr>
          <a:xfrm>
            <a:off x="7626686" y="646722"/>
            <a:ext cx="1374713" cy="700994"/>
            <a:chOff x="1704703" y="3311892"/>
            <a:chExt cx="1876697" cy="956965"/>
          </a:xfrm>
        </p:grpSpPr>
        <p:sp>
          <p:nvSpPr>
            <p:cNvPr id="92" name="Oval 29">
              <a:extLst>
                <a:ext uri="{FF2B5EF4-FFF2-40B4-BE49-F238E27FC236}">
                  <a16:creationId xmlns:a16="http://schemas.microsoft.com/office/drawing/2014/main" id="{BEBD8408-532F-2137-682A-7FCD760F1D36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l 30">
              <a:extLst>
                <a:ext uri="{FF2B5EF4-FFF2-40B4-BE49-F238E27FC236}">
                  <a16:creationId xmlns:a16="http://schemas.microsoft.com/office/drawing/2014/main" id="{E1B2A7B8-745D-A025-0664-0A1D133D708C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4" name="Straight Arrow Connector 31">
              <a:extLst>
                <a:ext uri="{FF2B5EF4-FFF2-40B4-BE49-F238E27FC236}">
                  <a16:creationId xmlns:a16="http://schemas.microsoft.com/office/drawing/2014/main" id="{9BDF437E-1713-810E-CB10-0E8C970C56EF}"/>
                </a:ext>
              </a:extLst>
            </p:cNvPr>
            <p:cNvCxnSpPr>
              <a:cxnSpLocks/>
              <a:stCxn id="92" idx="6"/>
              <a:endCxn id="93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Oval 32">
              <a:extLst>
                <a:ext uri="{FF2B5EF4-FFF2-40B4-BE49-F238E27FC236}">
                  <a16:creationId xmlns:a16="http://schemas.microsoft.com/office/drawing/2014/main" id="{D16DDFA9-C5F8-1978-A070-5CA72FAFFD2C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6" name="Straight Arrow Connector 33">
              <a:extLst>
                <a:ext uri="{FF2B5EF4-FFF2-40B4-BE49-F238E27FC236}">
                  <a16:creationId xmlns:a16="http://schemas.microsoft.com/office/drawing/2014/main" id="{D41B3D3A-4282-C198-FB61-13D295572C53}"/>
                </a:ext>
              </a:extLst>
            </p:cNvPr>
            <p:cNvCxnSpPr>
              <a:cxnSpLocks/>
              <a:stCxn id="92" idx="5"/>
              <a:endCxn id="95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34">
              <a:extLst>
                <a:ext uri="{FF2B5EF4-FFF2-40B4-BE49-F238E27FC236}">
                  <a16:creationId xmlns:a16="http://schemas.microsoft.com/office/drawing/2014/main" id="{3CCFE200-AADB-A66A-B5CD-A59F5B44E2F3}"/>
                </a:ext>
              </a:extLst>
            </p:cNvPr>
            <p:cNvCxnSpPr>
              <a:cxnSpLocks/>
              <a:stCxn id="93" idx="3"/>
              <a:endCxn id="95" idx="7"/>
            </p:cNvCxnSpPr>
            <p:nvPr/>
          </p:nvCxnSpPr>
          <p:spPr>
            <a:xfrm flipH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Oval 1">
            <a:extLst>
              <a:ext uri="{FF2B5EF4-FFF2-40B4-BE49-F238E27FC236}">
                <a16:creationId xmlns:a16="http://schemas.microsoft.com/office/drawing/2014/main" id="{874CAB87-D4B9-9CD8-F955-F8F328B92D9D}"/>
              </a:ext>
            </a:extLst>
          </p:cNvPr>
          <p:cNvSpPr/>
          <p:nvPr/>
        </p:nvSpPr>
        <p:spPr>
          <a:xfrm>
            <a:off x="490764" y="3260049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Oval 8">
            <a:extLst>
              <a:ext uri="{FF2B5EF4-FFF2-40B4-BE49-F238E27FC236}">
                <a16:creationId xmlns:a16="http://schemas.microsoft.com/office/drawing/2014/main" id="{479B655D-6E6D-4259-1B0E-9EB3EB18BD0C}"/>
              </a:ext>
            </a:extLst>
          </p:cNvPr>
          <p:cNvSpPr/>
          <p:nvPr/>
        </p:nvSpPr>
        <p:spPr>
          <a:xfrm>
            <a:off x="2982144" y="3260049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4" name="Straight Arrow Connector 10">
            <a:extLst>
              <a:ext uri="{FF2B5EF4-FFF2-40B4-BE49-F238E27FC236}">
                <a16:creationId xmlns:a16="http://schemas.microsoft.com/office/drawing/2014/main" id="{A48226E4-36E1-84F8-9ECA-2A475CB25E84}"/>
              </a:ext>
            </a:extLst>
          </p:cNvPr>
          <p:cNvCxnSpPr>
            <a:stCxn id="15" idx="6"/>
            <a:endCxn id="27" idx="2"/>
          </p:cNvCxnSpPr>
          <p:nvPr/>
        </p:nvCxnSpPr>
        <p:spPr>
          <a:xfrm>
            <a:off x="850764" y="3440049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18">
            <a:extLst>
              <a:ext uri="{FF2B5EF4-FFF2-40B4-BE49-F238E27FC236}">
                <a16:creationId xmlns:a16="http://schemas.microsoft.com/office/drawing/2014/main" id="{F4691D3D-64F4-620B-25E8-113EC201C179}"/>
              </a:ext>
            </a:extLst>
          </p:cNvPr>
          <p:cNvSpPr txBox="1"/>
          <p:nvPr/>
        </p:nvSpPr>
        <p:spPr>
          <a:xfrm>
            <a:off x="0" y="2800717"/>
            <a:ext cx="190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specification size</a:t>
            </a:r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B40A1E86-C3CB-EBFB-570D-FD950CC34662}"/>
              </a:ext>
            </a:extLst>
          </p:cNvPr>
          <p:cNvSpPr txBox="1"/>
          <p:nvPr/>
        </p:nvSpPr>
        <p:spPr>
          <a:xfrm>
            <a:off x="2124835" y="2804006"/>
            <a:ext cx="2194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specification quality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29">
                <a:extLst>
                  <a:ext uri="{FF2B5EF4-FFF2-40B4-BE49-F238E27FC236}">
                    <a16:creationId xmlns:a16="http://schemas.microsoft.com/office/drawing/2014/main" id="{8D6EDB46-39C8-6FDE-F7B9-6DA12896CBD3}"/>
                  </a:ext>
                </a:extLst>
              </p:cNvPr>
              <p:cNvSpPr txBox="1"/>
              <p:nvPr/>
            </p:nvSpPr>
            <p:spPr>
              <a:xfrm>
                <a:off x="599817" y="2377485"/>
                <a:ext cx="18331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1" name="TextBox 29">
                <a:extLst>
                  <a:ext uri="{FF2B5EF4-FFF2-40B4-BE49-F238E27FC236}">
                    <a16:creationId xmlns:a16="http://schemas.microsoft.com/office/drawing/2014/main" id="{8D6EDB46-39C8-6FDE-F7B9-6DA12896C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7" y="2377485"/>
                <a:ext cx="1833194" cy="276999"/>
              </a:xfrm>
              <a:prstGeom prst="rect">
                <a:avLst/>
              </a:prstGeom>
              <a:blipFill>
                <a:blip r:embed="rId2"/>
                <a:stretch>
                  <a:fillRect l="-1661" t="-2222" r="-2658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8">
            <a:extLst>
              <a:ext uri="{FF2B5EF4-FFF2-40B4-BE49-F238E27FC236}">
                <a16:creationId xmlns:a16="http://schemas.microsoft.com/office/drawing/2014/main" id="{72F4CC76-FDE9-343B-2CC8-BC179D953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107" y="1999136"/>
            <a:ext cx="4702467" cy="2825745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676CC08-ED3D-8E21-D8E7-55388987DE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6" t="43037" b="2"/>
          <a:stretch>
            <a:fillRect/>
          </a:stretch>
        </p:blipFill>
        <p:spPr>
          <a:xfrm>
            <a:off x="0" y="3790827"/>
            <a:ext cx="4439921" cy="96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1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6CA38-0D5D-1AE1-92FF-776C63215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9CC6B770-8F1A-F411-FC38-571F1615C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9AC8AE47-9B3D-F38F-A305-E4971908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Collider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B2E3567-3EA9-5CE6-5C79-0029D3ED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12</a:t>
            </a:fld>
            <a:endParaRPr lang="en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4767D627-649A-5F98-D004-1122BDB3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60811"/>
            <a:ext cx="8694913" cy="804870"/>
          </a:xfrm>
        </p:spPr>
        <p:txBody>
          <a:bodyPr/>
          <a:lstStyle/>
          <a:p>
            <a:r>
              <a:rPr lang="en-GB" dirty="0"/>
              <a:t>Does the </a:t>
            </a:r>
            <a:r>
              <a:rPr lang="en-GB" b="1" dirty="0">
                <a:solidFill>
                  <a:srgbClr val="FF0000"/>
                </a:solidFill>
              </a:rPr>
              <a:t>length of a requirements specification</a:t>
            </a:r>
            <a:r>
              <a:rPr lang="en-GB" dirty="0"/>
              <a:t> affect its </a:t>
            </a:r>
            <a:r>
              <a:rPr lang="en-GB" b="1" dirty="0">
                <a:solidFill>
                  <a:srgbClr val="00BFC4"/>
                </a:solidFill>
              </a:rPr>
              <a:t>quality</a:t>
            </a:r>
            <a:r>
              <a:rPr lang="en-GB" dirty="0"/>
              <a:t>? Both factors do affect whether the specified feature is 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implemented successfully</a:t>
            </a:r>
            <a:r>
              <a:rPr lang="en-GB" dirty="0"/>
              <a:t>.</a:t>
            </a:r>
            <a:endParaRPr lang="en-SE" dirty="0"/>
          </a:p>
        </p:txBody>
      </p:sp>
      <p:grpSp>
        <p:nvGrpSpPr>
          <p:cNvPr id="91" name="Group 27">
            <a:extLst>
              <a:ext uri="{FF2B5EF4-FFF2-40B4-BE49-F238E27FC236}">
                <a16:creationId xmlns:a16="http://schemas.microsoft.com/office/drawing/2014/main" id="{D80E82CB-EBDB-DAAE-2CEA-B9660157CB02}"/>
              </a:ext>
            </a:extLst>
          </p:cNvPr>
          <p:cNvGrpSpPr/>
          <p:nvPr/>
        </p:nvGrpSpPr>
        <p:grpSpPr>
          <a:xfrm>
            <a:off x="7626686" y="646722"/>
            <a:ext cx="1374713" cy="700994"/>
            <a:chOff x="1704703" y="3311892"/>
            <a:chExt cx="1876697" cy="956965"/>
          </a:xfrm>
        </p:grpSpPr>
        <p:sp>
          <p:nvSpPr>
            <p:cNvPr id="92" name="Oval 29">
              <a:extLst>
                <a:ext uri="{FF2B5EF4-FFF2-40B4-BE49-F238E27FC236}">
                  <a16:creationId xmlns:a16="http://schemas.microsoft.com/office/drawing/2014/main" id="{9A03DF7D-3D03-E2E2-9764-9FB8D11B7484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l 30">
              <a:extLst>
                <a:ext uri="{FF2B5EF4-FFF2-40B4-BE49-F238E27FC236}">
                  <a16:creationId xmlns:a16="http://schemas.microsoft.com/office/drawing/2014/main" id="{85937D75-F76D-9AAA-9257-ACB1D9EDE1A5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4" name="Straight Arrow Connector 31">
              <a:extLst>
                <a:ext uri="{FF2B5EF4-FFF2-40B4-BE49-F238E27FC236}">
                  <a16:creationId xmlns:a16="http://schemas.microsoft.com/office/drawing/2014/main" id="{E18AD58E-7808-4C81-8BE8-17FA25733FFE}"/>
                </a:ext>
              </a:extLst>
            </p:cNvPr>
            <p:cNvCxnSpPr>
              <a:cxnSpLocks/>
              <a:stCxn id="92" idx="6"/>
              <a:endCxn id="93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Oval 32">
              <a:extLst>
                <a:ext uri="{FF2B5EF4-FFF2-40B4-BE49-F238E27FC236}">
                  <a16:creationId xmlns:a16="http://schemas.microsoft.com/office/drawing/2014/main" id="{95DB9A78-63D1-B6C6-C1EE-0AC72E50F385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6" name="Straight Arrow Connector 33">
              <a:extLst>
                <a:ext uri="{FF2B5EF4-FFF2-40B4-BE49-F238E27FC236}">
                  <a16:creationId xmlns:a16="http://schemas.microsoft.com/office/drawing/2014/main" id="{4963E711-5A7D-AF5C-A2F1-2B5650C267FE}"/>
                </a:ext>
              </a:extLst>
            </p:cNvPr>
            <p:cNvCxnSpPr>
              <a:cxnSpLocks/>
              <a:stCxn id="92" idx="5"/>
              <a:endCxn id="95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34">
              <a:extLst>
                <a:ext uri="{FF2B5EF4-FFF2-40B4-BE49-F238E27FC236}">
                  <a16:creationId xmlns:a16="http://schemas.microsoft.com/office/drawing/2014/main" id="{EDD19C13-16D9-C625-EB08-4E25791348E6}"/>
                </a:ext>
              </a:extLst>
            </p:cNvPr>
            <p:cNvCxnSpPr>
              <a:cxnSpLocks/>
              <a:stCxn id="93" idx="3"/>
              <a:endCxn id="95" idx="7"/>
            </p:cNvCxnSpPr>
            <p:nvPr/>
          </p:nvCxnSpPr>
          <p:spPr>
            <a:xfrm flipH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Oval 1">
            <a:extLst>
              <a:ext uri="{FF2B5EF4-FFF2-40B4-BE49-F238E27FC236}">
                <a16:creationId xmlns:a16="http://schemas.microsoft.com/office/drawing/2014/main" id="{F81A41CF-9C93-0EE1-D933-24C0698B9E7B}"/>
              </a:ext>
            </a:extLst>
          </p:cNvPr>
          <p:cNvSpPr/>
          <p:nvPr/>
        </p:nvSpPr>
        <p:spPr>
          <a:xfrm>
            <a:off x="5237564" y="2749665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Oval 8">
            <a:extLst>
              <a:ext uri="{FF2B5EF4-FFF2-40B4-BE49-F238E27FC236}">
                <a16:creationId xmlns:a16="http://schemas.microsoft.com/office/drawing/2014/main" id="{E9688C3C-ABC7-C5CA-0F55-8A53C18240CC}"/>
              </a:ext>
            </a:extLst>
          </p:cNvPr>
          <p:cNvSpPr/>
          <p:nvPr/>
        </p:nvSpPr>
        <p:spPr>
          <a:xfrm>
            <a:off x="7728944" y="2749665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4" name="Straight Arrow Connector 10">
            <a:extLst>
              <a:ext uri="{FF2B5EF4-FFF2-40B4-BE49-F238E27FC236}">
                <a16:creationId xmlns:a16="http://schemas.microsoft.com/office/drawing/2014/main" id="{E4E490FE-3D3E-5973-4945-3BCCE17C25D6}"/>
              </a:ext>
            </a:extLst>
          </p:cNvPr>
          <p:cNvCxnSpPr>
            <a:stCxn id="15" idx="6"/>
            <a:endCxn id="27" idx="2"/>
          </p:cNvCxnSpPr>
          <p:nvPr/>
        </p:nvCxnSpPr>
        <p:spPr>
          <a:xfrm>
            <a:off x="5597564" y="2929665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18">
            <a:extLst>
              <a:ext uri="{FF2B5EF4-FFF2-40B4-BE49-F238E27FC236}">
                <a16:creationId xmlns:a16="http://schemas.microsoft.com/office/drawing/2014/main" id="{CE127F32-CB55-05E3-ED3F-72FE3974ECFB}"/>
              </a:ext>
            </a:extLst>
          </p:cNvPr>
          <p:cNvSpPr txBox="1"/>
          <p:nvPr/>
        </p:nvSpPr>
        <p:spPr>
          <a:xfrm>
            <a:off x="4746800" y="2290333"/>
            <a:ext cx="190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D0180A"/>
                </a:solidFill>
              </a:rPr>
              <a:t>specification size</a:t>
            </a:r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F4BAD3E4-C8CE-0DE6-FB9A-7AB97A4D78CD}"/>
              </a:ext>
            </a:extLst>
          </p:cNvPr>
          <p:cNvSpPr txBox="1"/>
          <p:nvPr/>
        </p:nvSpPr>
        <p:spPr>
          <a:xfrm>
            <a:off x="6871635" y="2293622"/>
            <a:ext cx="2194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specification quality</a:t>
            </a:r>
          </a:p>
        </p:txBody>
      </p:sp>
      <p:sp>
        <p:nvSpPr>
          <p:cNvPr id="37" name="Oval 20">
            <a:extLst>
              <a:ext uri="{FF2B5EF4-FFF2-40B4-BE49-F238E27FC236}">
                <a16:creationId xmlns:a16="http://schemas.microsoft.com/office/drawing/2014/main" id="{000E4EFA-81E0-6C38-40D1-D7FCDE04C5AF}"/>
              </a:ext>
            </a:extLst>
          </p:cNvPr>
          <p:cNvSpPr/>
          <p:nvPr/>
        </p:nvSpPr>
        <p:spPr>
          <a:xfrm>
            <a:off x="6483254" y="392129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30F0AD9C-C2DD-1221-57C6-BD5EB18C92AE}"/>
              </a:ext>
            </a:extLst>
          </p:cNvPr>
          <p:cNvSpPr txBox="1"/>
          <p:nvPr/>
        </p:nvSpPr>
        <p:spPr>
          <a:xfrm>
            <a:off x="6871635" y="3911964"/>
            <a:ext cx="1769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feature success</a:t>
            </a:r>
          </a:p>
        </p:txBody>
      </p:sp>
      <p:cxnSp>
        <p:nvCxnSpPr>
          <p:cNvPr id="39" name="Straight Arrow Connector 22">
            <a:extLst>
              <a:ext uri="{FF2B5EF4-FFF2-40B4-BE49-F238E27FC236}">
                <a16:creationId xmlns:a16="http://schemas.microsoft.com/office/drawing/2014/main" id="{CDD52E81-FB02-2007-23CC-5589C41A409C}"/>
              </a:ext>
            </a:extLst>
          </p:cNvPr>
          <p:cNvCxnSpPr>
            <a:cxnSpLocks/>
            <a:stCxn id="27" idx="3"/>
            <a:endCxn id="37" idx="7"/>
          </p:cNvCxnSpPr>
          <p:nvPr/>
        </p:nvCxnSpPr>
        <p:spPr>
          <a:xfrm flipH="1">
            <a:off x="6790533" y="3056944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23">
            <a:extLst>
              <a:ext uri="{FF2B5EF4-FFF2-40B4-BE49-F238E27FC236}">
                <a16:creationId xmlns:a16="http://schemas.microsoft.com/office/drawing/2014/main" id="{7DCCDA64-14AE-E6E5-EA91-663636E83DFB}"/>
              </a:ext>
            </a:extLst>
          </p:cNvPr>
          <p:cNvCxnSpPr>
            <a:cxnSpLocks/>
            <a:stCxn id="15" idx="5"/>
            <a:endCxn id="37" idx="1"/>
          </p:cNvCxnSpPr>
          <p:nvPr/>
        </p:nvCxnSpPr>
        <p:spPr>
          <a:xfrm>
            <a:off x="5544843" y="3056944"/>
            <a:ext cx="991132" cy="917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29">
                <a:extLst>
                  <a:ext uri="{FF2B5EF4-FFF2-40B4-BE49-F238E27FC236}">
                    <a16:creationId xmlns:a16="http://schemas.microsoft.com/office/drawing/2014/main" id="{D1C4949B-E452-9EA4-DD4A-62D1DC07AA0F}"/>
                  </a:ext>
                </a:extLst>
              </p:cNvPr>
              <p:cNvSpPr txBox="1"/>
              <p:nvPr/>
            </p:nvSpPr>
            <p:spPr>
              <a:xfrm>
                <a:off x="599817" y="2860891"/>
                <a:ext cx="18331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1" name="TextBox 29">
                <a:extLst>
                  <a:ext uri="{FF2B5EF4-FFF2-40B4-BE49-F238E27FC236}">
                    <a16:creationId xmlns:a16="http://schemas.microsoft.com/office/drawing/2014/main" id="{D1C4949B-E452-9EA4-DD4A-62D1DC07A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7" y="2860891"/>
                <a:ext cx="1833194" cy="276999"/>
              </a:xfrm>
              <a:prstGeom prst="rect">
                <a:avLst/>
              </a:prstGeom>
              <a:blipFill>
                <a:blip r:embed="rId2"/>
                <a:stretch>
                  <a:fillRect l="-1661" t="-2174" r="-2658" b="-326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30">
                <a:extLst>
                  <a:ext uri="{FF2B5EF4-FFF2-40B4-BE49-F238E27FC236}">
                    <a16:creationId xmlns:a16="http://schemas.microsoft.com/office/drawing/2014/main" id="{733F7858-687E-0386-19E0-6FEFF1B0D710}"/>
                  </a:ext>
                </a:extLst>
              </p:cNvPr>
              <p:cNvSpPr txBox="1"/>
              <p:nvPr/>
            </p:nvSpPr>
            <p:spPr>
              <a:xfrm>
                <a:off x="599817" y="2362734"/>
                <a:ext cx="2888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trike="sngStrike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trike="sngStrike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trike="sngStrike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trike="sngStrike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trike="sngStrike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𝑞𝑢𝑎𝑙𝑖𝑡𝑦</m:t>
                      </m:r>
                      <m:r>
                        <a:rPr lang="en-US" b="0" i="1" strike="sngStrike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b="0" i="1" strike="sngStrike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trike="sngStrike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b="0" i="1" strike="sngStrike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trike="sngStrike" noProof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𝑠𝑢𝑐𝑐𝑒𝑠𝑠</m:t>
                      </m:r>
                    </m:oMath>
                  </m:oMathPara>
                </a14:m>
                <a:endParaRPr lang="en-US" strike="sngStrike" noProof="0" dirty="0"/>
              </a:p>
            </p:txBody>
          </p:sp>
        </mc:Choice>
        <mc:Fallback xmlns="">
          <p:sp>
            <p:nvSpPr>
              <p:cNvPr id="42" name="TextBox 30">
                <a:extLst>
                  <a:ext uri="{FF2B5EF4-FFF2-40B4-BE49-F238E27FC236}">
                    <a16:creationId xmlns:a16="http://schemas.microsoft.com/office/drawing/2014/main" id="{733F7858-687E-0386-19E0-6FEFF1B0D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7" y="2362734"/>
                <a:ext cx="2888996" cy="276999"/>
              </a:xfrm>
              <a:prstGeom prst="rect">
                <a:avLst/>
              </a:prstGeom>
              <a:blipFill>
                <a:blip r:embed="rId3"/>
                <a:stretch>
                  <a:fillRect l="-844" t="-4444" r="-844" b="-3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11">
            <a:extLst>
              <a:ext uri="{FF2B5EF4-FFF2-40B4-BE49-F238E27FC236}">
                <a16:creationId xmlns:a16="http://schemas.microsoft.com/office/drawing/2014/main" id="{9E26F299-FAF8-F5D9-5BC1-631B3B80D41E}"/>
              </a:ext>
            </a:extLst>
          </p:cNvPr>
          <p:cNvSpPr/>
          <p:nvPr/>
        </p:nvSpPr>
        <p:spPr>
          <a:xfrm>
            <a:off x="314170" y="3755313"/>
            <a:ext cx="5726239" cy="831951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both </a:t>
            </a:r>
            <a:r>
              <a:rPr lang="en-GB" sz="1600" b="1" dirty="0">
                <a:solidFill>
                  <a:srgbClr val="F8766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600" b="1" dirty="0">
                <a:solidFill>
                  <a:srgbClr val="00BFC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a </a:t>
            </a:r>
            <a:r>
              <a:rPr lang="en-GB" sz="1600" b="1" dirty="0">
                <a:solidFill>
                  <a:srgbClr val="BFBFB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effect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must not condition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this common effect. Consequently, we cannot simply add all relevant variables as predictors.</a:t>
            </a:r>
          </a:p>
        </p:txBody>
      </p:sp>
      <p:pic>
        <p:nvPicPr>
          <p:cNvPr id="13" name="Bild 12" descr="Utropstecken med hel fyllning">
            <a:extLst>
              <a:ext uri="{FF2B5EF4-FFF2-40B4-BE49-F238E27FC236}">
                <a16:creationId xmlns:a16="http://schemas.microsoft.com/office/drawing/2014/main" id="{5D4F7E7F-A4A1-442A-7D2E-ABDD85E68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293" y="3911964"/>
            <a:ext cx="525573" cy="5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2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77CD427-76F5-E629-0CBD-200DF16E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FB4D575B-5959-3B04-5241-4C3148A38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Basic Causal Structures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9A233180-FDB3-E2DF-7148-0C65A28C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“building blocks” of causal models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9D432E2-2086-A7C0-DE14-29A48247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13</a:t>
            </a:fld>
            <a:endParaRPr lang="en-SE" dirty="0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59CE36AC-76A9-33B5-089B-B314014AFF6A}"/>
              </a:ext>
            </a:extLst>
          </p:cNvPr>
          <p:cNvGrpSpPr/>
          <p:nvPr/>
        </p:nvGrpSpPr>
        <p:grpSpPr>
          <a:xfrm>
            <a:off x="616518" y="2622485"/>
            <a:ext cx="1876697" cy="956965"/>
            <a:chOff x="1704703" y="3311892"/>
            <a:chExt cx="1876697" cy="956965"/>
          </a:xfrm>
        </p:grpSpPr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8080E731-47F5-F0D7-025F-982D09979DD3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Oval 10">
              <a:extLst>
                <a:ext uri="{FF2B5EF4-FFF2-40B4-BE49-F238E27FC236}">
                  <a16:creationId xmlns:a16="http://schemas.microsoft.com/office/drawing/2014/main" id="{34AAA5DE-DAA4-349D-8994-89B68BE38FA1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Arrow Connector 11">
              <a:extLst>
                <a:ext uri="{FF2B5EF4-FFF2-40B4-BE49-F238E27FC236}">
                  <a16:creationId xmlns:a16="http://schemas.microsoft.com/office/drawing/2014/main" id="{376A6A18-20CD-F6A3-083A-BBF167A1548D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50275849-9CD7-C8DA-A4AB-7BA5D79DAD38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3">
              <a:extLst>
                <a:ext uri="{FF2B5EF4-FFF2-40B4-BE49-F238E27FC236}">
                  <a16:creationId xmlns:a16="http://schemas.microsoft.com/office/drawing/2014/main" id="{EC9C42BA-7374-07A9-0FA4-A666157690F0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4">
              <a:extLst>
                <a:ext uri="{FF2B5EF4-FFF2-40B4-BE49-F238E27FC236}">
                  <a16:creationId xmlns:a16="http://schemas.microsoft.com/office/drawing/2014/main" id="{DC7B3C58-D0CA-E8FE-2B0D-910DBAD65305}"/>
                </a:ext>
              </a:extLst>
            </p:cNvPr>
            <p:cNvCxnSpPr>
              <a:cxnSpLocks/>
              <a:stCxn id="10" idx="7"/>
              <a:endCxn id="8" idx="3"/>
            </p:cNvCxnSpPr>
            <p:nvPr/>
          </p:nvCxnSpPr>
          <p:spPr>
            <a:xfrm flipV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TextBox 15">
            <a:extLst>
              <a:ext uri="{FF2B5EF4-FFF2-40B4-BE49-F238E27FC236}">
                <a16:creationId xmlns:a16="http://schemas.microsoft.com/office/drawing/2014/main" id="{A7044679-F6F0-5D90-5DDF-1CC4E6EACD78}"/>
              </a:ext>
            </a:extLst>
          </p:cNvPr>
          <p:cNvSpPr txBox="1"/>
          <p:nvPr/>
        </p:nvSpPr>
        <p:spPr>
          <a:xfrm>
            <a:off x="132699" y="1235416"/>
            <a:ext cx="28443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Confounder</a:t>
            </a:r>
          </a:p>
          <a:p>
            <a:pPr algn="ctr"/>
            <a:r>
              <a:rPr lang="en-S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(or: fork)</a:t>
            </a:r>
          </a:p>
          <a:p>
            <a:pPr algn="ctr"/>
            <a:r>
              <a:rPr lang="en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is a common cause of both exposure x and the outcome y</a:t>
            </a:r>
            <a:endParaRPr lang="en-S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E5F69000-F2EA-9A43-09D7-32162483D620}"/>
              </a:ext>
            </a:extLst>
          </p:cNvPr>
          <p:cNvSpPr txBox="1"/>
          <p:nvPr/>
        </p:nvSpPr>
        <p:spPr>
          <a:xfrm>
            <a:off x="132698" y="3796968"/>
            <a:ext cx="2844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get an unbiased estimation of the effect x → y we must control z.</a:t>
            </a:r>
            <a:endParaRPr lang="en-S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5B496F19-22F9-CAE7-77DA-BEA2B9D4536E}"/>
              </a:ext>
            </a:extLst>
          </p:cNvPr>
          <p:cNvGrpSpPr/>
          <p:nvPr/>
        </p:nvGrpSpPr>
        <p:grpSpPr>
          <a:xfrm>
            <a:off x="3627747" y="2663560"/>
            <a:ext cx="1876697" cy="956965"/>
            <a:chOff x="1704703" y="3311892"/>
            <a:chExt cx="1876697" cy="956965"/>
          </a:xfrm>
        </p:grpSpPr>
        <p:sp>
          <p:nvSpPr>
            <p:cNvPr id="16" name="Oval 18">
              <a:extLst>
                <a:ext uri="{FF2B5EF4-FFF2-40B4-BE49-F238E27FC236}">
                  <a16:creationId xmlns:a16="http://schemas.microsoft.com/office/drawing/2014/main" id="{30815C93-39EE-3FD7-B6AB-24643AF39DD6}"/>
                </a:ext>
              </a:extLst>
            </p:cNvPr>
            <p:cNvSpPr/>
            <p:nvPr/>
          </p:nvSpPr>
          <p:spPr>
            <a:xfrm>
              <a:off x="1704703" y="331189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noProof="0" dirty="0">
                <a:solidFill>
                  <a:srgbClr val="D0180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Oval 19">
              <a:extLst>
                <a:ext uri="{FF2B5EF4-FFF2-40B4-BE49-F238E27FC236}">
                  <a16:creationId xmlns:a16="http://schemas.microsoft.com/office/drawing/2014/main" id="{10D51BCD-6FCD-2281-1826-211272E1B351}"/>
                </a:ext>
              </a:extLst>
            </p:cNvPr>
            <p:cNvSpPr/>
            <p:nvPr/>
          </p:nvSpPr>
          <p:spPr>
            <a:xfrm>
              <a:off x="3221400" y="331189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  <a:endParaRPr lang="en-US" noProof="0" dirty="0">
                <a:solidFill>
                  <a:srgbClr val="006D7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8" name="Straight Arrow Connector 20">
              <a:extLst>
                <a:ext uri="{FF2B5EF4-FFF2-40B4-BE49-F238E27FC236}">
                  <a16:creationId xmlns:a16="http://schemas.microsoft.com/office/drawing/2014/main" id="{DC12915E-22C2-E4CE-F23F-CE30D00BB6F3}"/>
                </a:ext>
              </a:extLst>
            </p:cNvPr>
            <p:cNvCxnSpPr>
              <a:cxnSpLocks/>
              <a:stCxn id="16" idx="6"/>
              <a:endCxn id="17" idx="2"/>
            </p:cNvCxnSpPr>
            <p:nvPr/>
          </p:nvCxnSpPr>
          <p:spPr>
            <a:xfrm>
              <a:off x="2064703" y="3491892"/>
              <a:ext cx="11566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04B0D59B-2DBD-7DF2-B2D1-4269EEDCFC41}"/>
                </a:ext>
              </a:extLst>
            </p:cNvPr>
            <p:cNvSpPr/>
            <p:nvPr/>
          </p:nvSpPr>
          <p:spPr>
            <a:xfrm>
              <a:off x="2468474" y="390885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" name="Straight Arrow Connector 22">
              <a:extLst>
                <a:ext uri="{FF2B5EF4-FFF2-40B4-BE49-F238E27FC236}">
                  <a16:creationId xmlns:a16="http://schemas.microsoft.com/office/drawing/2014/main" id="{B6A8F56E-D575-043B-1BDB-F3AA39BCAD4D}"/>
                </a:ext>
              </a:extLst>
            </p:cNvPr>
            <p:cNvCxnSpPr>
              <a:cxnSpLocks/>
              <a:stCxn id="16" idx="5"/>
              <a:endCxn id="19" idx="1"/>
            </p:cNvCxnSpPr>
            <p:nvPr/>
          </p:nvCxnSpPr>
          <p:spPr>
            <a:xfrm>
              <a:off x="2011982" y="3619171"/>
              <a:ext cx="509213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3">
              <a:extLst>
                <a:ext uri="{FF2B5EF4-FFF2-40B4-BE49-F238E27FC236}">
                  <a16:creationId xmlns:a16="http://schemas.microsoft.com/office/drawing/2014/main" id="{66B8E4E7-41D8-6926-B3A2-30EAB301E874}"/>
                </a:ext>
              </a:extLst>
            </p:cNvPr>
            <p:cNvCxnSpPr>
              <a:cxnSpLocks/>
              <a:stCxn id="19" idx="7"/>
              <a:endCxn id="17" idx="3"/>
            </p:cNvCxnSpPr>
            <p:nvPr/>
          </p:nvCxnSpPr>
          <p:spPr>
            <a:xfrm flipV="1">
              <a:off x="2775753" y="3619171"/>
              <a:ext cx="498368" cy="3424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TextBox 24">
            <a:extLst>
              <a:ext uri="{FF2B5EF4-FFF2-40B4-BE49-F238E27FC236}">
                <a16:creationId xmlns:a16="http://schemas.microsoft.com/office/drawing/2014/main" id="{7F68DBC3-F9E1-AC37-4B45-6FEE86B849C2}"/>
              </a:ext>
            </a:extLst>
          </p:cNvPr>
          <p:cNvSpPr txBox="1"/>
          <p:nvPr/>
        </p:nvSpPr>
        <p:spPr>
          <a:xfrm>
            <a:off x="3143928" y="1276491"/>
            <a:ext cx="28443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Mediator</a:t>
            </a:r>
          </a:p>
          <a:p>
            <a:pPr algn="ctr"/>
            <a:r>
              <a:rPr lang="en-S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(or: pipe)</a:t>
            </a:r>
          </a:p>
          <a:p>
            <a:pPr algn="ctr"/>
            <a:r>
              <a:rPr lang="en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is an effect of exposure x and a cause the outcome y</a:t>
            </a:r>
            <a:endParaRPr lang="en-S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7A435D8E-2CB1-3BED-D125-151BD5CE51CA}"/>
              </a:ext>
            </a:extLst>
          </p:cNvPr>
          <p:cNvSpPr txBox="1"/>
          <p:nvPr/>
        </p:nvSpPr>
        <p:spPr>
          <a:xfrm>
            <a:off x="3143927" y="3838043"/>
            <a:ext cx="2844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get the direct effect x → y we must control z. To get the total effect, we must not control z.</a:t>
            </a:r>
            <a:endParaRPr lang="en-SE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" name="Group 26">
            <a:extLst>
              <a:ext uri="{FF2B5EF4-FFF2-40B4-BE49-F238E27FC236}">
                <a16:creationId xmlns:a16="http://schemas.microsoft.com/office/drawing/2014/main" id="{F9321E42-7F1D-133E-5D59-A28B6E21F03F}"/>
              </a:ext>
            </a:extLst>
          </p:cNvPr>
          <p:cNvGrpSpPr/>
          <p:nvPr/>
        </p:nvGrpSpPr>
        <p:grpSpPr>
          <a:xfrm>
            <a:off x="6155160" y="1232950"/>
            <a:ext cx="2844339" cy="2344034"/>
            <a:chOff x="1220881" y="2068914"/>
            <a:chExt cx="2844339" cy="2344034"/>
          </a:xfrm>
        </p:grpSpPr>
        <p:grpSp>
          <p:nvGrpSpPr>
            <p:cNvPr id="25" name="Group 27">
              <a:extLst>
                <a:ext uri="{FF2B5EF4-FFF2-40B4-BE49-F238E27FC236}">
                  <a16:creationId xmlns:a16="http://schemas.microsoft.com/office/drawing/2014/main" id="{19325474-BE2E-712B-8480-33834C83CBA1}"/>
                </a:ext>
              </a:extLst>
            </p:cNvPr>
            <p:cNvGrpSpPr/>
            <p:nvPr/>
          </p:nvGrpSpPr>
          <p:grpSpPr>
            <a:xfrm>
              <a:off x="1704700" y="3455983"/>
              <a:ext cx="1876697" cy="956965"/>
              <a:chOff x="1704703" y="3311892"/>
              <a:chExt cx="1876697" cy="956965"/>
            </a:xfrm>
          </p:grpSpPr>
          <p:sp>
            <p:nvSpPr>
              <p:cNvPr id="27" name="Oval 29">
                <a:extLst>
                  <a:ext uri="{FF2B5EF4-FFF2-40B4-BE49-F238E27FC236}">
                    <a16:creationId xmlns:a16="http://schemas.microsoft.com/office/drawing/2014/main" id="{B8D1ED58-9E53-33B7-E428-AFDA32EC4133}"/>
                  </a:ext>
                </a:extLst>
              </p:cNvPr>
              <p:cNvSpPr/>
              <p:nvPr/>
            </p:nvSpPr>
            <p:spPr>
              <a:xfrm>
                <a:off x="1704703" y="3311892"/>
                <a:ext cx="360000" cy="360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D0180A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x</a:t>
                </a:r>
                <a:endParaRPr lang="en-US" noProof="0" dirty="0">
                  <a:solidFill>
                    <a:srgbClr val="D0180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Oval 30">
                <a:extLst>
                  <a:ext uri="{FF2B5EF4-FFF2-40B4-BE49-F238E27FC236}">
                    <a16:creationId xmlns:a16="http://schemas.microsoft.com/office/drawing/2014/main" id="{8883E75D-570A-D485-FA3B-D8C4AB45BA79}"/>
                  </a:ext>
                </a:extLst>
              </p:cNvPr>
              <p:cNvSpPr/>
              <p:nvPr/>
            </p:nvSpPr>
            <p:spPr>
              <a:xfrm>
                <a:off x="3221400" y="3311892"/>
                <a:ext cx="360000" cy="360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006D7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</a:t>
                </a:r>
                <a:endParaRPr lang="en-US" noProof="0" dirty="0">
                  <a:solidFill>
                    <a:srgbClr val="006D7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9" name="Straight Arrow Connector 31">
                <a:extLst>
                  <a:ext uri="{FF2B5EF4-FFF2-40B4-BE49-F238E27FC236}">
                    <a16:creationId xmlns:a16="http://schemas.microsoft.com/office/drawing/2014/main" id="{F4071EEA-A5F6-6439-9752-27AB7F836B0A}"/>
                  </a:ext>
                </a:extLst>
              </p:cNvPr>
              <p:cNvCxnSpPr>
                <a:cxnSpLocks/>
                <a:stCxn id="27" idx="6"/>
                <a:endCxn id="28" idx="2"/>
              </p:cNvCxnSpPr>
              <p:nvPr/>
            </p:nvCxnSpPr>
            <p:spPr>
              <a:xfrm>
                <a:off x="2064703" y="3491892"/>
                <a:ext cx="115669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Oval 32">
                <a:extLst>
                  <a:ext uri="{FF2B5EF4-FFF2-40B4-BE49-F238E27FC236}">
                    <a16:creationId xmlns:a16="http://schemas.microsoft.com/office/drawing/2014/main" id="{11FBA5A9-9741-B653-60B5-7D38B4D1DA19}"/>
                  </a:ext>
                </a:extLst>
              </p:cNvPr>
              <p:cNvSpPr/>
              <p:nvPr/>
            </p:nvSpPr>
            <p:spPr>
              <a:xfrm>
                <a:off x="2468474" y="3908857"/>
                <a:ext cx="360000" cy="36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</a:t>
                </a:r>
                <a:endPara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31" name="Straight Arrow Connector 33">
                <a:extLst>
                  <a:ext uri="{FF2B5EF4-FFF2-40B4-BE49-F238E27FC236}">
                    <a16:creationId xmlns:a16="http://schemas.microsoft.com/office/drawing/2014/main" id="{E32AAE1B-7C92-F04E-30C4-BE311F14F607}"/>
                  </a:ext>
                </a:extLst>
              </p:cNvPr>
              <p:cNvCxnSpPr>
                <a:cxnSpLocks/>
                <a:stCxn id="27" idx="5"/>
                <a:endCxn id="30" idx="1"/>
              </p:cNvCxnSpPr>
              <p:nvPr/>
            </p:nvCxnSpPr>
            <p:spPr>
              <a:xfrm>
                <a:off x="2011982" y="3619171"/>
                <a:ext cx="509213" cy="3424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4">
                <a:extLst>
                  <a:ext uri="{FF2B5EF4-FFF2-40B4-BE49-F238E27FC236}">
                    <a16:creationId xmlns:a16="http://schemas.microsoft.com/office/drawing/2014/main" id="{21B236F0-4E68-9AFE-8DD7-7EB103B56FBB}"/>
                  </a:ext>
                </a:extLst>
              </p:cNvPr>
              <p:cNvCxnSpPr>
                <a:cxnSpLocks/>
                <a:stCxn id="28" idx="3"/>
                <a:endCxn id="30" idx="7"/>
              </p:cNvCxnSpPr>
              <p:nvPr/>
            </p:nvCxnSpPr>
            <p:spPr>
              <a:xfrm flipH="1">
                <a:off x="2775753" y="3619171"/>
                <a:ext cx="498368" cy="3424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8">
              <a:extLst>
                <a:ext uri="{FF2B5EF4-FFF2-40B4-BE49-F238E27FC236}">
                  <a16:creationId xmlns:a16="http://schemas.microsoft.com/office/drawing/2014/main" id="{EF2B8435-F0C6-F609-102A-BE2E57A1DEB0}"/>
                </a:ext>
              </a:extLst>
            </p:cNvPr>
            <p:cNvSpPr txBox="1"/>
            <p:nvPr/>
          </p:nvSpPr>
          <p:spPr>
            <a:xfrm>
              <a:off x="1220881" y="2068914"/>
              <a:ext cx="2844339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sz="2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Collider</a:t>
              </a:r>
            </a:p>
            <a:p>
              <a:pPr algn="ctr"/>
              <a:endParaRPr lang="en-S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SE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 is a common effect of both exposure x and the outcome y</a:t>
              </a:r>
              <a:endParaRPr lang="en-S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3" name="TextBox 36">
            <a:extLst>
              <a:ext uri="{FF2B5EF4-FFF2-40B4-BE49-F238E27FC236}">
                <a16:creationId xmlns:a16="http://schemas.microsoft.com/office/drawing/2014/main" id="{B572A5BD-DD06-9418-F019-79869E7BD90E}"/>
              </a:ext>
            </a:extLst>
          </p:cNvPr>
          <p:cNvSpPr txBox="1"/>
          <p:nvPr/>
        </p:nvSpPr>
        <p:spPr>
          <a:xfrm>
            <a:off x="6052162" y="3866670"/>
            <a:ext cx="3050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get the direct effect x → y </a:t>
            </a:r>
            <a:br>
              <a:rPr lang="sv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NOT DO ANYTHING (</a:t>
            </a:r>
            <a:r>
              <a:rPr lang="sv-S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z)!</a:t>
            </a:r>
            <a:endParaRPr lang="en-SE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297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2" grpId="0"/>
      <p:bldP spid="23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1EACE-8BA1-8C59-932E-3E9079C4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unhofer.png">
            <a:extLst>
              <a:ext uri="{FF2B5EF4-FFF2-40B4-BE49-F238E27FC236}">
                <a16:creationId xmlns:a16="http://schemas.microsoft.com/office/drawing/2014/main" id="{0893DA88-5688-A9B3-1FD1-F83B74837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3" name="Image 1" descr="chalmers.png">
            <a:extLst>
              <a:ext uri="{FF2B5EF4-FFF2-40B4-BE49-F238E27FC236}">
                <a16:creationId xmlns:a16="http://schemas.microsoft.com/office/drawing/2014/main" id="{DEA8F010-ABA1-77C9-3A99-F4FCBF6C6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4" name="Image 2" descr="goteborg.png">
            <a:extLst>
              <a:ext uri="{FF2B5EF4-FFF2-40B4-BE49-F238E27FC236}">
                <a16:creationId xmlns:a16="http://schemas.microsoft.com/office/drawing/2014/main" id="{40F16D5F-49E2-77FC-7FF0-BC8CA0C6E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5" name="Image 3" descr="napoli.png">
            <a:extLst>
              <a:ext uri="{FF2B5EF4-FFF2-40B4-BE49-F238E27FC236}">
                <a16:creationId xmlns:a16="http://schemas.microsoft.com/office/drawing/2014/main" id="{9B9F522D-BD7F-8D59-A88A-D3CA1E904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ACB0139A-E55E-B246-E874-AF0FFA4257A2}"/>
              </a:ext>
            </a:extLst>
          </p:cNvPr>
          <p:cNvSpPr/>
          <p:nvPr/>
        </p:nvSpPr>
        <p:spPr>
          <a:xfrm>
            <a:off x="3420287" y="208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3b</a:t>
            </a:r>
            <a:endParaRPr lang="en-US" sz="1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744502F-5E0D-B73D-F614-11E52667AB59}"/>
              </a:ext>
            </a:extLst>
          </p:cNvPr>
          <p:cNvSpPr/>
          <p:nvPr/>
        </p:nvSpPr>
        <p:spPr>
          <a:xfrm>
            <a:off x="3420287" y="2449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</a:rPr>
              <a:t>d-separation</a:t>
            </a:r>
            <a:endParaRPr lang="en-US" sz="3400" dirty="0"/>
          </a:p>
        </p:txBody>
      </p:sp>
      <p:sp>
        <p:nvSpPr>
          <p:cNvPr id="11" name="Platshållare för bildnummer 3">
            <a:extLst>
              <a:ext uri="{FF2B5EF4-FFF2-40B4-BE49-F238E27FC236}">
                <a16:creationId xmlns:a16="http://schemas.microsoft.com/office/drawing/2014/main" id="{25C7875D-B502-5598-89E2-6FC187FCE10C}"/>
              </a:ext>
            </a:extLst>
          </p:cNvPr>
          <p:cNvSpPr txBox="1">
            <a:spLocks/>
          </p:cNvSpPr>
          <p:nvPr/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53FA84E-D7EA-43A2-AD8F-825F36F0800C}" type="slidenum">
              <a:rPr lang="en-SE" sz="900" smtClean="0">
                <a:solidFill>
                  <a:srgbClr val="1E3A5F"/>
                </a:solidFill>
              </a:rPr>
              <a:pPr algn="r"/>
              <a:t>14</a:t>
            </a:fld>
            <a:endParaRPr lang="en-SE" sz="900" dirty="0">
              <a:solidFill>
                <a:srgbClr val="1E3A5F"/>
              </a:solidFill>
            </a:endParaRPr>
          </a:p>
        </p:txBody>
      </p:sp>
      <p:pic>
        <p:nvPicPr>
          <p:cNvPr id="10" name="Picture 2" descr="Cognitive Biases: Three Common Types Illustrated | Funny quotes, Quotes ...">
            <a:extLst>
              <a:ext uri="{FF2B5EF4-FFF2-40B4-BE49-F238E27FC236}">
                <a16:creationId xmlns:a16="http://schemas.microsoft.com/office/drawing/2014/main" id="{4FC27663-154E-1CA8-C079-6C71D41BB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65" y="922168"/>
            <a:ext cx="4387617" cy="371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ruta 12">
            <a:extLst>
              <a:ext uri="{FF2B5EF4-FFF2-40B4-BE49-F238E27FC236}">
                <a16:creationId xmlns:a16="http://schemas.microsoft.com/office/drawing/2014/main" id="{6A0B0946-B5DE-BA51-3121-0462EB6F8CB5}"/>
              </a:ext>
            </a:extLst>
          </p:cNvPr>
          <p:cNvSpPr txBox="1"/>
          <p:nvPr/>
        </p:nvSpPr>
        <p:spPr>
          <a:xfrm>
            <a:off x="2377356" y="4607979"/>
            <a:ext cx="260719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https://sketchplanations.com/sampling-bias</a:t>
            </a:r>
          </a:p>
        </p:txBody>
      </p:sp>
    </p:spTree>
    <p:extLst>
      <p:ext uri="{BB962C8B-B14F-4D97-AF65-F5344CB8AC3E}">
        <p14:creationId xmlns:p14="http://schemas.microsoft.com/office/powerpoint/2010/main" val="4122750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733BA4E-9A9B-9B7F-6BC1-C372AFC6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Modelling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9FD84B2-EA68-5D25-4169-EE20149CC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60811"/>
            <a:ext cx="8694913" cy="738380"/>
          </a:xfrm>
        </p:spPr>
        <p:txBody>
          <a:bodyPr/>
          <a:lstStyle/>
          <a:p>
            <a:r>
              <a:rPr lang="en-GB" dirty="0"/>
              <a:t>Causal modelling is imperative for drawing the correct conclusions when conducting statistical causal inference.</a:t>
            </a:r>
          </a:p>
          <a:p>
            <a:endParaRPr lang="en-SE" dirty="0"/>
          </a:p>
        </p:txBody>
      </p:sp>
      <p:sp>
        <p:nvSpPr>
          <p:cNvPr id="4" name="Platshållare för sidfot 1">
            <a:extLst>
              <a:ext uri="{FF2B5EF4-FFF2-40B4-BE49-F238E27FC236}">
                <a16:creationId xmlns:a16="http://schemas.microsoft.com/office/drawing/2014/main" id="{C9EFD74A-038B-40E4-CAF5-B1A980BDB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d-separation</a:t>
            </a:r>
          </a:p>
        </p:txBody>
      </p:sp>
      <p:sp>
        <p:nvSpPr>
          <p:cNvPr id="8" name="Rectangle: Rounded Corners 2">
            <a:extLst>
              <a:ext uri="{FF2B5EF4-FFF2-40B4-BE49-F238E27FC236}">
                <a16:creationId xmlns:a16="http://schemas.microsoft.com/office/drawing/2014/main" id="{49F56C64-D425-3816-EEF5-2EF222F8D805}"/>
              </a:ext>
            </a:extLst>
          </p:cNvPr>
          <p:cNvSpPr/>
          <p:nvPr/>
        </p:nvSpPr>
        <p:spPr>
          <a:xfrm>
            <a:off x="177146" y="2209220"/>
            <a:ext cx="8694914" cy="453173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cannot infer causality from data alone – we must also know the process that created that data.</a:t>
            </a:r>
            <a:endParaRPr lang="en-US" sz="1600" baseline="300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CE544C-DB05-F6F3-FBCF-B6F8EE383548}"/>
              </a:ext>
            </a:extLst>
          </p:cNvPr>
          <p:cNvGrpSpPr/>
          <p:nvPr/>
        </p:nvGrpSpPr>
        <p:grpSpPr>
          <a:xfrm>
            <a:off x="481417" y="3113760"/>
            <a:ext cx="2862495" cy="728952"/>
            <a:chOff x="1104537" y="4314965"/>
            <a:chExt cx="3833740" cy="97628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3E87FDF-CF57-6F0B-329F-9D00A39969CC}"/>
                </a:ext>
              </a:extLst>
            </p:cNvPr>
            <p:cNvGrpSpPr/>
            <p:nvPr/>
          </p:nvGrpSpPr>
          <p:grpSpPr>
            <a:xfrm>
              <a:off x="1104537" y="4314965"/>
              <a:ext cx="1770943" cy="976286"/>
              <a:chOff x="1023258" y="2884714"/>
              <a:chExt cx="1770943" cy="976286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A33A362-D84D-D792-68FE-CB29E0953846}"/>
                  </a:ext>
                </a:extLst>
              </p:cNvPr>
              <p:cNvSpPr/>
              <p:nvPr/>
            </p:nvSpPr>
            <p:spPr>
              <a:xfrm>
                <a:off x="1023258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x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722A342-86F7-B9E8-112F-F454831E23F2}"/>
                  </a:ext>
                </a:extLst>
              </p:cNvPr>
              <p:cNvSpPr/>
              <p:nvPr/>
            </p:nvSpPr>
            <p:spPr>
              <a:xfrm>
                <a:off x="2362201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y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523B7FC-C27F-EE6A-ABAF-2B21EF7EE57F}"/>
                  </a:ext>
                </a:extLst>
              </p:cNvPr>
              <p:cNvSpPr/>
              <p:nvPr/>
            </p:nvSpPr>
            <p:spPr>
              <a:xfrm>
                <a:off x="1692729" y="2884714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z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EB492CD-A5F6-8B0B-6B1B-A6E235C093CB}"/>
                  </a:ext>
                </a:extLst>
              </p:cNvPr>
              <p:cNvCxnSpPr>
                <a:cxnSpLocks/>
                <a:stCxn id="13" idx="6"/>
                <a:endCxn id="14" idx="2"/>
              </p:cNvCxnSpPr>
              <p:nvPr/>
            </p:nvCxnSpPr>
            <p:spPr>
              <a:xfrm>
                <a:off x="1455258" y="3645000"/>
                <a:ext cx="9069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A910FB0-3FFC-0BCA-1240-C69415DB0CF4}"/>
                  </a:ext>
                </a:extLst>
              </p:cNvPr>
              <p:cNvCxnSpPr>
                <a:cxnSpLocks/>
                <a:stCxn id="15" idx="3"/>
                <a:endCxn id="13" idx="7"/>
              </p:cNvCxnSpPr>
              <p:nvPr/>
            </p:nvCxnSpPr>
            <p:spPr>
              <a:xfrm flipH="1">
                <a:off x="1391993" y="3253449"/>
                <a:ext cx="364001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F5489A6A-C97D-885B-C186-3BD0748BE2B1}"/>
                  </a:ext>
                </a:extLst>
              </p:cNvPr>
              <p:cNvCxnSpPr>
                <a:cxnSpLocks/>
                <a:stCxn id="15" idx="5"/>
                <a:endCxn id="14" idx="1"/>
              </p:cNvCxnSpPr>
              <p:nvPr/>
            </p:nvCxnSpPr>
            <p:spPr>
              <a:xfrm>
                <a:off x="2061464" y="3253449"/>
                <a:ext cx="364002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7B97DD-0541-9222-2630-3B887BAA1A62}"/>
                </a:ext>
              </a:extLst>
            </p:cNvPr>
            <p:cNvSpPr txBox="1"/>
            <p:nvPr/>
          </p:nvSpPr>
          <p:spPr>
            <a:xfrm>
              <a:off x="3012334" y="4674585"/>
              <a:ext cx="1925943" cy="494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noProof="0" dirty="0"/>
                <a:t>Confounder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804750-7258-E4E1-9E48-DF7E3ADF1601}"/>
              </a:ext>
            </a:extLst>
          </p:cNvPr>
          <p:cNvGrpSpPr/>
          <p:nvPr/>
        </p:nvGrpSpPr>
        <p:grpSpPr>
          <a:xfrm>
            <a:off x="497747" y="3982958"/>
            <a:ext cx="2061282" cy="646466"/>
            <a:chOff x="1104538" y="5314724"/>
            <a:chExt cx="2933830" cy="97628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2EEA644-D06F-6DD3-255D-EFDD754966BE}"/>
                </a:ext>
              </a:extLst>
            </p:cNvPr>
            <p:cNvGrpSpPr/>
            <p:nvPr/>
          </p:nvGrpSpPr>
          <p:grpSpPr>
            <a:xfrm>
              <a:off x="1104538" y="5314724"/>
              <a:ext cx="1770943" cy="976286"/>
              <a:chOff x="1023258" y="2884714"/>
              <a:chExt cx="1770943" cy="976286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701DE49-ACE6-EA16-17AE-BEA6A8DFD216}"/>
                  </a:ext>
                </a:extLst>
              </p:cNvPr>
              <p:cNvSpPr/>
              <p:nvPr/>
            </p:nvSpPr>
            <p:spPr>
              <a:xfrm>
                <a:off x="1023258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x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0FE54A7-F171-8980-4B3A-6224F86067BE}"/>
                  </a:ext>
                </a:extLst>
              </p:cNvPr>
              <p:cNvSpPr/>
              <p:nvPr/>
            </p:nvSpPr>
            <p:spPr>
              <a:xfrm>
                <a:off x="2362201" y="3429000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y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A9B04D2-D57C-CA53-D7FB-1210ECF55805}"/>
                  </a:ext>
                </a:extLst>
              </p:cNvPr>
              <p:cNvSpPr/>
              <p:nvPr/>
            </p:nvSpPr>
            <p:spPr>
              <a:xfrm>
                <a:off x="1692729" y="2884714"/>
                <a:ext cx="432000" cy="43200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0" dirty="0"/>
                  <a:t>z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6B1E6F5E-52B5-4BEE-08FE-26C56C4FAFBD}"/>
                  </a:ext>
                </a:extLst>
              </p:cNvPr>
              <p:cNvCxnSpPr>
                <a:cxnSpLocks/>
                <a:stCxn id="22" idx="6"/>
                <a:endCxn id="23" idx="2"/>
              </p:cNvCxnSpPr>
              <p:nvPr/>
            </p:nvCxnSpPr>
            <p:spPr>
              <a:xfrm>
                <a:off x="1455258" y="3645000"/>
                <a:ext cx="9069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49F0AE14-6683-1D37-9D77-D6025BA7F630}"/>
                  </a:ext>
                </a:extLst>
              </p:cNvPr>
              <p:cNvCxnSpPr>
                <a:cxnSpLocks/>
                <a:stCxn id="22" idx="7"/>
                <a:endCxn id="24" idx="3"/>
              </p:cNvCxnSpPr>
              <p:nvPr/>
            </p:nvCxnSpPr>
            <p:spPr>
              <a:xfrm flipV="1">
                <a:off x="1391993" y="3253449"/>
                <a:ext cx="364001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B72756E5-FFEF-5805-F5E4-45C3AF167335}"/>
                  </a:ext>
                </a:extLst>
              </p:cNvPr>
              <p:cNvCxnSpPr>
                <a:cxnSpLocks/>
                <a:stCxn id="23" idx="1"/>
                <a:endCxn id="24" idx="5"/>
              </p:cNvCxnSpPr>
              <p:nvPr/>
            </p:nvCxnSpPr>
            <p:spPr>
              <a:xfrm flipH="1" flipV="1">
                <a:off x="2061464" y="3253449"/>
                <a:ext cx="364002" cy="238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ECE3B5-1A58-FD8B-4893-8B0D128E709D}"/>
                </a:ext>
              </a:extLst>
            </p:cNvPr>
            <p:cNvSpPr txBox="1"/>
            <p:nvPr/>
          </p:nvSpPr>
          <p:spPr>
            <a:xfrm>
              <a:off x="3008919" y="5717350"/>
              <a:ext cx="102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noProof="0" dirty="0"/>
                <a:t>Collider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6558117-66DB-E7CD-5208-F582ED381E75}"/>
                  </a:ext>
                </a:extLst>
              </p:cNvPr>
              <p:cNvSpPr txBox="1"/>
              <p:nvPr/>
            </p:nvSpPr>
            <p:spPr>
              <a:xfrm>
                <a:off x="3989466" y="3420009"/>
                <a:ext cx="11650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6558117-66DB-E7CD-5208-F582ED381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466" y="3420009"/>
                <a:ext cx="1165063" cy="276999"/>
              </a:xfrm>
              <a:prstGeom prst="rect">
                <a:avLst/>
              </a:prstGeom>
              <a:blipFill>
                <a:blip r:embed="rId2"/>
                <a:stretch>
                  <a:fillRect l="-2604" r="-1562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BD85FD3-727C-B31A-60F5-519C1B8F2F4E}"/>
                  </a:ext>
                </a:extLst>
              </p:cNvPr>
              <p:cNvSpPr txBox="1"/>
              <p:nvPr/>
            </p:nvSpPr>
            <p:spPr>
              <a:xfrm>
                <a:off x="4012612" y="4337414"/>
                <a:ext cx="7731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BD85FD3-727C-B31A-60F5-519C1B8F2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612" y="4337414"/>
                <a:ext cx="773160" cy="276999"/>
              </a:xfrm>
              <a:prstGeom prst="rect">
                <a:avLst/>
              </a:prstGeom>
              <a:blipFill>
                <a:blip r:embed="rId3"/>
                <a:stretch>
                  <a:fillRect l="-4724" r="-3150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4A63BF8-CCBB-210E-02DB-A570BD2AA22B}"/>
              </a:ext>
            </a:extLst>
          </p:cNvPr>
          <p:cNvSpPr txBox="1"/>
          <p:nvPr/>
        </p:nvSpPr>
        <p:spPr>
          <a:xfrm>
            <a:off x="344061" y="2709310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noProof="0" dirty="0"/>
              <a:t>Causal 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1D5129-830A-D18A-52D5-FCE52DB56604}"/>
              </a:ext>
            </a:extLst>
          </p:cNvPr>
          <p:cNvSpPr txBox="1"/>
          <p:nvPr/>
        </p:nvSpPr>
        <p:spPr>
          <a:xfrm>
            <a:off x="3594424" y="2744428"/>
            <a:ext cx="1955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noProof="0" dirty="0"/>
              <a:t>Statistical Model</a:t>
            </a:r>
          </a:p>
        </p:txBody>
      </p:sp>
      <p:grpSp>
        <p:nvGrpSpPr>
          <p:cNvPr id="42" name="Group 35">
            <a:extLst>
              <a:ext uri="{FF2B5EF4-FFF2-40B4-BE49-F238E27FC236}">
                <a16:creationId xmlns:a16="http://schemas.microsoft.com/office/drawing/2014/main" id="{CC8660B0-CAD3-ABD1-385A-D711B1F3E9D2}"/>
              </a:ext>
            </a:extLst>
          </p:cNvPr>
          <p:cNvGrpSpPr/>
          <p:nvPr/>
        </p:nvGrpSpPr>
        <p:grpSpPr>
          <a:xfrm>
            <a:off x="5178952" y="3970838"/>
            <a:ext cx="3693108" cy="720000"/>
            <a:chOff x="775410" y="5230369"/>
            <a:chExt cx="4176525" cy="720000"/>
          </a:xfrm>
        </p:grpSpPr>
        <p:sp>
          <p:nvSpPr>
            <p:cNvPr id="43" name="Rectangle: Rounded Corners 36">
              <a:extLst>
                <a:ext uri="{FF2B5EF4-FFF2-40B4-BE49-F238E27FC236}">
                  <a16:creationId xmlns:a16="http://schemas.microsoft.com/office/drawing/2014/main" id="{38D79164-9472-E799-ACFF-80B5972FA139}"/>
                </a:ext>
              </a:extLst>
            </p:cNvPr>
            <p:cNvSpPr/>
            <p:nvPr/>
          </p:nvSpPr>
          <p:spPr>
            <a:xfrm>
              <a:off x="775412" y="5230369"/>
              <a:ext cx="4176523" cy="720000"/>
            </a:xfrm>
            <a:prstGeom prst="roundRect">
              <a:avLst/>
            </a:prstGeom>
            <a:solidFill>
              <a:srgbClr val="F15A22">
                <a:lumMod val="50000"/>
              </a:srgbClr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120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But how does this approach scale beyond three variables?</a:t>
              </a:r>
              <a:endParaRPr kumimoji="0" lang="en-US" sz="1800" b="0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4" name="Graphic 37" descr="Question Mark with solid fill">
              <a:extLst>
                <a:ext uri="{FF2B5EF4-FFF2-40B4-BE49-F238E27FC236}">
                  <a16:creationId xmlns:a16="http://schemas.microsoft.com/office/drawing/2014/main" id="{78080D58-E9AA-737F-FBEA-0BE05C86CB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75410" y="5230369"/>
              <a:ext cx="720000" cy="720000"/>
            </a:xfrm>
            <a:prstGeom prst="rect">
              <a:avLst/>
            </a:prstGeom>
          </p:spPr>
        </p:pic>
      </p:grpSp>
      <p:pic>
        <p:nvPicPr>
          <p:cNvPr id="48" name="Bild 47" descr="Utropstecken med hel fyllning">
            <a:extLst>
              <a:ext uri="{FF2B5EF4-FFF2-40B4-BE49-F238E27FC236}">
                <a16:creationId xmlns:a16="http://schemas.microsoft.com/office/drawing/2014/main" id="{1CD30E85-9755-016F-E835-56A7C2BC1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515" y="2217114"/>
            <a:ext cx="447655" cy="4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4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DFE59-D73C-0D30-373C-3945688C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B3420BB1-CCBC-D75B-6051-EC6A8EF0D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d-separation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193A84B3-4821-EDE1-53F0-20C3221A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d-separation</a:t>
            </a:r>
            <a:endParaRPr lang="en-SE" dirty="0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B6170E89-F048-1A15-9E37-E5574D826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264038"/>
            <a:ext cx="8694913" cy="3056895"/>
          </a:xfrm>
        </p:spPr>
        <p:txBody>
          <a:bodyPr/>
          <a:lstStyle/>
          <a:p>
            <a:r>
              <a:rPr lang="en-GB" dirty="0"/>
              <a:t>Given my DAG and my </a:t>
            </a:r>
            <a:r>
              <a:rPr lang="en-GB" b="1" dirty="0">
                <a:solidFill>
                  <a:srgbClr val="C00000"/>
                </a:solidFill>
              </a:rPr>
              <a:t>exposure</a:t>
            </a:r>
            <a:r>
              <a:rPr lang="en-GB" dirty="0"/>
              <a:t> and </a:t>
            </a:r>
            <a:r>
              <a:rPr lang="en-GB" b="1" dirty="0">
                <a:solidFill>
                  <a:srgbClr val="00BFC4"/>
                </a:solidFill>
              </a:rPr>
              <a:t>outcome</a:t>
            </a:r>
            <a:r>
              <a:rPr lang="en-GB" dirty="0"/>
              <a:t> of interest, d-separations answers which variables to include in a statistical / ML model to get an unbiased causal estimate.</a:t>
            </a:r>
          </a:p>
          <a:p>
            <a:r>
              <a:rPr lang="en-GB" dirty="0"/>
              <a:t>These variables that “block confounding backdoor paths of association” are called an </a:t>
            </a:r>
            <a:r>
              <a:rPr lang="en-GB" i="1" dirty="0"/>
              <a:t>adjustment set</a:t>
            </a:r>
            <a:r>
              <a:rPr lang="en-GB" dirty="0"/>
              <a:t>.</a:t>
            </a:r>
          </a:p>
          <a:p>
            <a:r>
              <a:rPr lang="en-GB" dirty="0"/>
              <a:t>Practical intuition:</a:t>
            </a:r>
          </a:p>
          <a:p>
            <a:pPr lvl="1"/>
            <a:r>
              <a:rPr lang="en-GB" dirty="0"/>
              <a:t>Include confounders (common causes of both exposure and outcome). </a:t>
            </a:r>
          </a:p>
          <a:p>
            <a:pPr lvl="1"/>
            <a:r>
              <a:rPr lang="en-GB" dirty="0"/>
              <a:t>Include mediators, if you are interested in the direct effect. </a:t>
            </a:r>
          </a:p>
          <a:p>
            <a:pPr lvl="1"/>
            <a:r>
              <a:rPr lang="en-GB" b="1" dirty="0"/>
              <a:t>Do not include colliders</a:t>
            </a:r>
            <a:r>
              <a:rPr lang="en-GB" dirty="0"/>
              <a:t> (common effects of both exposure and outcome). 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D48DD8C3-CBAD-06A0-CBBB-CC05BE981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16</a:t>
            </a:fld>
            <a:endParaRPr lang="en-SE" dirty="0"/>
          </a:p>
        </p:txBody>
      </p:sp>
      <p:pic>
        <p:nvPicPr>
          <p:cNvPr id="8" name="Graphic 8" descr="Open quotation mark with solid fill">
            <a:extLst>
              <a:ext uri="{FF2B5EF4-FFF2-40B4-BE49-F238E27FC236}">
                <a16:creationId xmlns:a16="http://schemas.microsoft.com/office/drawing/2014/main" id="{A53DE200-791D-A82A-CC8E-F1662F903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16150" y="4495771"/>
            <a:ext cx="358859" cy="273165"/>
          </a:xfrm>
          <a:prstGeom prst="rect">
            <a:avLst/>
          </a:prstGeom>
        </p:spPr>
      </p:pic>
      <p:sp>
        <p:nvSpPr>
          <p:cNvPr id="10" name="Rectangle: Rounded Corners 11">
            <a:extLst>
              <a:ext uri="{FF2B5EF4-FFF2-40B4-BE49-F238E27FC236}">
                <a16:creationId xmlns:a16="http://schemas.microsoft.com/office/drawing/2014/main" id="{D6703715-1A47-9156-EA9E-DDFD09219B9E}"/>
              </a:ext>
            </a:extLst>
          </p:cNvPr>
          <p:cNvSpPr/>
          <p:nvPr/>
        </p:nvSpPr>
        <p:spPr>
          <a:xfrm>
            <a:off x="271611" y="4164906"/>
            <a:ext cx="8197381" cy="551551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a backdoor path is closed, the flow of “anti-causal” association is blocked, and you won’t need to control for more confounding variables. </a:t>
            </a:r>
          </a:p>
        </p:txBody>
      </p:sp>
      <p:pic>
        <p:nvPicPr>
          <p:cNvPr id="13" name="Bild 12" descr="Utropstecken med hel fyllning">
            <a:extLst>
              <a:ext uri="{FF2B5EF4-FFF2-40B4-BE49-F238E27FC236}">
                <a16:creationId xmlns:a16="http://schemas.microsoft.com/office/drawing/2014/main" id="{E07B7006-7BCE-3F5C-D5D6-0BEB89F15F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707" y="4178852"/>
            <a:ext cx="525573" cy="5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15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1E04-623F-962A-3FCC-A81365B8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3F0073B1-3F9B-9897-0F90-C60054304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d-separation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AECD7E3C-EA45-4875-1F9B-48DE395DF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d-separation example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9BAB927-2AFA-F27F-EAC6-21D4E083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17</a:t>
            </a:fld>
            <a:endParaRPr lang="en-SE" dirty="0"/>
          </a:p>
        </p:txBody>
      </p:sp>
      <p:pic>
        <p:nvPicPr>
          <p:cNvPr id="13" name="Bild 12" descr="Utropstecken med hel fyllning">
            <a:extLst>
              <a:ext uri="{FF2B5EF4-FFF2-40B4-BE49-F238E27FC236}">
                <a16:creationId xmlns:a16="http://schemas.microsoft.com/office/drawing/2014/main" id="{E288FEA8-4599-30DF-AF59-AB7B0CEA5F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707" y="4178852"/>
            <a:ext cx="525573" cy="525573"/>
          </a:xfrm>
          <a:prstGeom prst="rect">
            <a:avLst/>
          </a:prstGeom>
        </p:spPr>
      </p:pic>
      <p:sp>
        <p:nvSpPr>
          <p:cNvPr id="9" name="Oval 5">
            <a:extLst>
              <a:ext uri="{FF2B5EF4-FFF2-40B4-BE49-F238E27FC236}">
                <a16:creationId xmlns:a16="http://schemas.microsoft.com/office/drawing/2014/main" id="{DCCBF4D3-1A6D-343A-F460-2275BFC4B758}"/>
              </a:ext>
            </a:extLst>
          </p:cNvPr>
          <p:cNvSpPr/>
          <p:nvPr/>
        </p:nvSpPr>
        <p:spPr>
          <a:xfrm>
            <a:off x="444568" y="2390201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77B2E816-BB63-8D63-12A1-B3DCD798EB3D}"/>
              </a:ext>
            </a:extLst>
          </p:cNvPr>
          <p:cNvSpPr/>
          <p:nvPr/>
        </p:nvSpPr>
        <p:spPr>
          <a:xfrm>
            <a:off x="2935948" y="2390201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2" name="Straight Arrow Connector 7">
            <a:extLst>
              <a:ext uri="{FF2B5EF4-FFF2-40B4-BE49-F238E27FC236}">
                <a16:creationId xmlns:a16="http://schemas.microsoft.com/office/drawing/2014/main" id="{AF460579-D5F4-5AA6-4879-283F94377486}"/>
              </a:ext>
            </a:extLst>
          </p:cNvPr>
          <p:cNvCxnSpPr>
            <a:stCxn id="9" idx="6"/>
            <a:endCxn id="11" idx="2"/>
          </p:cNvCxnSpPr>
          <p:nvPr/>
        </p:nvCxnSpPr>
        <p:spPr>
          <a:xfrm>
            <a:off x="804568" y="2570201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8">
            <a:extLst>
              <a:ext uri="{FF2B5EF4-FFF2-40B4-BE49-F238E27FC236}">
                <a16:creationId xmlns:a16="http://schemas.microsoft.com/office/drawing/2014/main" id="{4C840D68-7CE5-C19A-D0BC-5EE9293EB8CC}"/>
              </a:ext>
            </a:extLst>
          </p:cNvPr>
          <p:cNvSpPr/>
          <p:nvPr/>
        </p:nvSpPr>
        <p:spPr>
          <a:xfrm>
            <a:off x="1690258" y="3048351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5" name="Straight Arrow Connector 9">
            <a:extLst>
              <a:ext uri="{FF2B5EF4-FFF2-40B4-BE49-F238E27FC236}">
                <a16:creationId xmlns:a16="http://schemas.microsoft.com/office/drawing/2014/main" id="{C3CA93C3-1BB8-1BDB-3613-3B39A7B627FF}"/>
              </a:ext>
            </a:extLst>
          </p:cNvPr>
          <p:cNvCxnSpPr>
            <a:cxnSpLocks/>
            <a:stCxn id="14" idx="6"/>
            <a:endCxn id="11" idx="3"/>
          </p:cNvCxnSpPr>
          <p:nvPr/>
        </p:nvCxnSpPr>
        <p:spPr>
          <a:xfrm flipV="1">
            <a:off x="2050258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0">
            <a:extLst>
              <a:ext uri="{FF2B5EF4-FFF2-40B4-BE49-F238E27FC236}">
                <a16:creationId xmlns:a16="http://schemas.microsoft.com/office/drawing/2014/main" id="{CCBF7DAD-78FF-96F9-09E4-DF810EAACC9B}"/>
              </a:ext>
            </a:extLst>
          </p:cNvPr>
          <p:cNvCxnSpPr>
            <a:cxnSpLocks/>
            <a:stCxn id="9" idx="5"/>
            <a:endCxn id="14" idx="2"/>
          </p:cNvCxnSpPr>
          <p:nvPr/>
        </p:nvCxnSpPr>
        <p:spPr>
          <a:xfrm>
            <a:off x="751847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11">
            <a:extLst>
              <a:ext uri="{FF2B5EF4-FFF2-40B4-BE49-F238E27FC236}">
                <a16:creationId xmlns:a16="http://schemas.microsoft.com/office/drawing/2014/main" id="{B6AB2E0E-08D9-F2AB-8BB9-58630A92644E}"/>
              </a:ext>
            </a:extLst>
          </p:cNvPr>
          <p:cNvSpPr/>
          <p:nvPr/>
        </p:nvSpPr>
        <p:spPr>
          <a:xfrm>
            <a:off x="445862" y="1552052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0820D1AB-7AD3-3B30-D912-940986EA3647}"/>
              </a:ext>
            </a:extLst>
          </p:cNvPr>
          <p:cNvSpPr/>
          <p:nvPr/>
        </p:nvSpPr>
        <p:spPr>
          <a:xfrm>
            <a:off x="1690258" y="154748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F847383A-DA5B-BCA2-D967-FC8F465F2555}"/>
              </a:ext>
            </a:extLst>
          </p:cNvPr>
          <p:cNvCxnSpPr>
            <a:cxnSpLocks/>
            <a:stCxn id="24" idx="4"/>
            <a:endCxn id="9" idx="0"/>
          </p:cNvCxnSpPr>
          <p:nvPr/>
        </p:nvCxnSpPr>
        <p:spPr>
          <a:xfrm flipH="1">
            <a:off x="624568" y="1912052"/>
            <a:ext cx="1294" cy="47814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>
            <a:extLst>
              <a:ext uri="{FF2B5EF4-FFF2-40B4-BE49-F238E27FC236}">
                <a16:creationId xmlns:a16="http://schemas.microsoft.com/office/drawing/2014/main" id="{B66036CB-83A9-EAC0-4C1D-39DA835DBF4D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 flipV="1">
            <a:off x="805862" y="1727487"/>
            <a:ext cx="884396" cy="456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5">
            <a:extLst>
              <a:ext uri="{FF2B5EF4-FFF2-40B4-BE49-F238E27FC236}">
                <a16:creationId xmlns:a16="http://schemas.microsoft.com/office/drawing/2014/main" id="{B042CAEE-6433-6A0D-4275-3B3724785954}"/>
              </a:ext>
            </a:extLst>
          </p:cNvPr>
          <p:cNvCxnSpPr>
            <a:cxnSpLocks/>
            <a:stCxn id="11" idx="1"/>
            <a:endCxn id="25" idx="5"/>
          </p:cNvCxnSpPr>
          <p:nvPr/>
        </p:nvCxnSpPr>
        <p:spPr>
          <a:xfrm flipH="1" flipV="1">
            <a:off x="1997537" y="1854766"/>
            <a:ext cx="991132" cy="58815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16">
            <a:extLst>
              <a:ext uri="{FF2B5EF4-FFF2-40B4-BE49-F238E27FC236}">
                <a16:creationId xmlns:a16="http://schemas.microsoft.com/office/drawing/2014/main" id="{96B0A9C1-B70C-7F87-D8C8-4F1EFBE49A2A}"/>
              </a:ext>
            </a:extLst>
          </p:cNvPr>
          <p:cNvSpPr/>
          <p:nvPr/>
        </p:nvSpPr>
        <p:spPr>
          <a:xfrm>
            <a:off x="444568" y="358835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0" name="Oval 17">
            <a:extLst>
              <a:ext uri="{FF2B5EF4-FFF2-40B4-BE49-F238E27FC236}">
                <a16:creationId xmlns:a16="http://schemas.microsoft.com/office/drawing/2014/main" id="{9C6B352F-E671-EE8E-D861-47A60DB837C7}"/>
              </a:ext>
            </a:extLst>
          </p:cNvPr>
          <p:cNvSpPr/>
          <p:nvPr/>
        </p:nvSpPr>
        <p:spPr>
          <a:xfrm>
            <a:off x="2935948" y="358835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31" name="Straight Arrow Connector 18">
            <a:extLst>
              <a:ext uri="{FF2B5EF4-FFF2-40B4-BE49-F238E27FC236}">
                <a16:creationId xmlns:a16="http://schemas.microsoft.com/office/drawing/2014/main" id="{3512841D-599A-2C59-6ED8-26821E591CA4}"/>
              </a:ext>
            </a:extLst>
          </p:cNvPr>
          <p:cNvCxnSpPr>
            <a:cxnSpLocks/>
            <a:stCxn id="29" idx="0"/>
            <a:endCxn id="9" idx="4"/>
          </p:cNvCxnSpPr>
          <p:nvPr/>
        </p:nvCxnSpPr>
        <p:spPr>
          <a:xfrm flipV="1">
            <a:off x="624568" y="2750201"/>
            <a:ext cx="0" cy="83814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19">
            <a:extLst>
              <a:ext uri="{FF2B5EF4-FFF2-40B4-BE49-F238E27FC236}">
                <a16:creationId xmlns:a16="http://schemas.microsoft.com/office/drawing/2014/main" id="{68C0AA25-7365-DC7B-AD6E-2849D44FEDDA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804568" y="3768350"/>
            <a:ext cx="2131380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20">
            <a:extLst>
              <a:ext uri="{FF2B5EF4-FFF2-40B4-BE49-F238E27FC236}">
                <a16:creationId xmlns:a16="http://schemas.microsoft.com/office/drawing/2014/main" id="{16E1C3EC-1F11-B418-FFF1-04C25781C5BE}"/>
              </a:ext>
            </a:extLst>
          </p:cNvPr>
          <p:cNvCxnSpPr>
            <a:cxnSpLocks/>
            <a:stCxn id="30" idx="0"/>
            <a:endCxn id="11" idx="4"/>
          </p:cNvCxnSpPr>
          <p:nvPr/>
        </p:nvCxnSpPr>
        <p:spPr>
          <a:xfrm flipV="1">
            <a:off x="3115948" y="2750201"/>
            <a:ext cx="0" cy="83814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" name="Group 21">
            <a:extLst>
              <a:ext uri="{FF2B5EF4-FFF2-40B4-BE49-F238E27FC236}">
                <a16:creationId xmlns:a16="http://schemas.microsoft.com/office/drawing/2014/main" id="{936E13BE-D706-CF20-9BF7-6E378B5E0559}"/>
              </a:ext>
            </a:extLst>
          </p:cNvPr>
          <p:cNvGrpSpPr/>
          <p:nvPr/>
        </p:nvGrpSpPr>
        <p:grpSpPr>
          <a:xfrm>
            <a:off x="3644137" y="1416449"/>
            <a:ext cx="2563289" cy="432000"/>
            <a:chOff x="4604412" y="1893985"/>
            <a:chExt cx="2563289" cy="432000"/>
          </a:xfrm>
        </p:grpSpPr>
        <p:sp>
          <p:nvSpPr>
            <p:cNvPr id="35" name="Arrow: Pentagon 22">
              <a:extLst>
                <a:ext uri="{FF2B5EF4-FFF2-40B4-BE49-F238E27FC236}">
                  <a16:creationId xmlns:a16="http://schemas.microsoft.com/office/drawing/2014/main" id="{7BDDC64E-DBC9-9920-EBA6-C7F2BD0923C1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36" name="Graphic 23" descr="Connections with solid fill">
              <a:extLst>
                <a:ext uri="{FF2B5EF4-FFF2-40B4-BE49-F238E27FC236}">
                  <a16:creationId xmlns:a16="http://schemas.microsoft.com/office/drawing/2014/main" id="{4F9D7655-5649-B5F9-8A14-9B6F4EC1FF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BBE24949-96CA-9EDD-BEAC-35D9A1BA5199}"/>
                  </a:ext>
                </a:extLst>
              </p:cNvPr>
              <p:cNvSpPr txBox="1"/>
              <p:nvPr/>
            </p:nvSpPr>
            <p:spPr>
              <a:xfrm>
                <a:off x="6400312" y="1435629"/>
                <a:ext cx="10534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BBE24949-96CA-9EDD-BEAC-35D9A1BA5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312" y="1435629"/>
                <a:ext cx="1053430" cy="369332"/>
              </a:xfrm>
              <a:prstGeom prst="rect">
                <a:avLst/>
              </a:prstGeom>
              <a:blipFill>
                <a:blip r:embed="rId4"/>
                <a:stretch>
                  <a:fillRect l="-2890" r="-1734" b="-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01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0B08-6928-75FA-3471-0D23E8EF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10A98B1E-B6AC-EF17-EC7B-5EF22196D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d-separation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B2DF0BAA-67BD-17D3-A599-443B9FB6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d-separation example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2893D39-12A6-FBD8-06F5-662F4997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18</a:t>
            </a:fld>
            <a:endParaRPr lang="en-SE" dirty="0"/>
          </a:p>
        </p:txBody>
      </p:sp>
      <p:pic>
        <p:nvPicPr>
          <p:cNvPr id="13" name="Bild 12" descr="Utropstecken med hel fyllning">
            <a:extLst>
              <a:ext uri="{FF2B5EF4-FFF2-40B4-BE49-F238E27FC236}">
                <a16:creationId xmlns:a16="http://schemas.microsoft.com/office/drawing/2014/main" id="{12229C95-6A6C-6172-4F04-A4AEF32BD1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707" y="4178852"/>
            <a:ext cx="525573" cy="525573"/>
          </a:xfrm>
          <a:prstGeom prst="rect">
            <a:avLst/>
          </a:prstGeom>
        </p:spPr>
      </p:pic>
      <p:sp>
        <p:nvSpPr>
          <p:cNvPr id="9" name="Oval 5">
            <a:extLst>
              <a:ext uri="{FF2B5EF4-FFF2-40B4-BE49-F238E27FC236}">
                <a16:creationId xmlns:a16="http://schemas.microsoft.com/office/drawing/2014/main" id="{82FF4F52-8FC0-D224-3B0A-76698A609500}"/>
              </a:ext>
            </a:extLst>
          </p:cNvPr>
          <p:cNvSpPr/>
          <p:nvPr/>
        </p:nvSpPr>
        <p:spPr>
          <a:xfrm>
            <a:off x="444568" y="2390201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33F4AEDF-89B2-30C1-2E85-73139D00DAEA}"/>
              </a:ext>
            </a:extLst>
          </p:cNvPr>
          <p:cNvSpPr/>
          <p:nvPr/>
        </p:nvSpPr>
        <p:spPr>
          <a:xfrm>
            <a:off x="2935948" y="2390201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2" name="Straight Arrow Connector 7">
            <a:extLst>
              <a:ext uri="{FF2B5EF4-FFF2-40B4-BE49-F238E27FC236}">
                <a16:creationId xmlns:a16="http://schemas.microsoft.com/office/drawing/2014/main" id="{669BC6AB-C73B-5148-B60F-D91287FB293E}"/>
              </a:ext>
            </a:extLst>
          </p:cNvPr>
          <p:cNvCxnSpPr>
            <a:stCxn id="9" idx="6"/>
            <a:endCxn id="11" idx="2"/>
          </p:cNvCxnSpPr>
          <p:nvPr/>
        </p:nvCxnSpPr>
        <p:spPr>
          <a:xfrm>
            <a:off x="804568" y="2570201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8">
            <a:extLst>
              <a:ext uri="{FF2B5EF4-FFF2-40B4-BE49-F238E27FC236}">
                <a16:creationId xmlns:a16="http://schemas.microsoft.com/office/drawing/2014/main" id="{F66EED10-AA0F-8BE2-9549-DECE4F04D631}"/>
              </a:ext>
            </a:extLst>
          </p:cNvPr>
          <p:cNvSpPr/>
          <p:nvPr/>
        </p:nvSpPr>
        <p:spPr>
          <a:xfrm>
            <a:off x="1690258" y="3048351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5" name="Straight Arrow Connector 9">
            <a:extLst>
              <a:ext uri="{FF2B5EF4-FFF2-40B4-BE49-F238E27FC236}">
                <a16:creationId xmlns:a16="http://schemas.microsoft.com/office/drawing/2014/main" id="{B39376F7-2843-D619-96F5-D9D89F535147}"/>
              </a:ext>
            </a:extLst>
          </p:cNvPr>
          <p:cNvCxnSpPr>
            <a:cxnSpLocks/>
            <a:stCxn id="14" idx="6"/>
            <a:endCxn id="11" idx="3"/>
          </p:cNvCxnSpPr>
          <p:nvPr/>
        </p:nvCxnSpPr>
        <p:spPr>
          <a:xfrm flipV="1">
            <a:off x="2050258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0">
            <a:extLst>
              <a:ext uri="{FF2B5EF4-FFF2-40B4-BE49-F238E27FC236}">
                <a16:creationId xmlns:a16="http://schemas.microsoft.com/office/drawing/2014/main" id="{F2D260B1-4A3F-0E0B-8942-9C53B1E805A3}"/>
              </a:ext>
            </a:extLst>
          </p:cNvPr>
          <p:cNvCxnSpPr>
            <a:cxnSpLocks/>
            <a:stCxn id="9" idx="5"/>
            <a:endCxn id="14" idx="2"/>
          </p:cNvCxnSpPr>
          <p:nvPr/>
        </p:nvCxnSpPr>
        <p:spPr>
          <a:xfrm>
            <a:off x="751847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11">
            <a:extLst>
              <a:ext uri="{FF2B5EF4-FFF2-40B4-BE49-F238E27FC236}">
                <a16:creationId xmlns:a16="http://schemas.microsoft.com/office/drawing/2014/main" id="{5DC70D4F-1CAF-8A21-DFF1-2BFBB3E21328}"/>
              </a:ext>
            </a:extLst>
          </p:cNvPr>
          <p:cNvSpPr/>
          <p:nvPr/>
        </p:nvSpPr>
        <p:spPr>
          <a:xfrm>
            <a:off x="445862" y="1552052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2011A88A-B524-C231-05FC-C8CE45FDFEAA}"/>
              </a:ext>
            </a:extLst>
          </p:cNvPr>
          <p:cNvSpPr/>
          <p:nvPr/>
        </p:nvSpPr>
        <p:spPr>
          <a:xfrm>
            <a:off x="1690258" y="154748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E2D522E8-26DF-F6AD-6D0B-405D8C7F8F3A}"/>
              </a:ext>
            </a:extLst>
          </p:cNvPr>
          <p:cNvCxnSpPr>
            <a:cxnSpLocks/>
            <a:stCxn id="24" idx="4"/>
            <a:endCxn id="9" idx="0"/>
          </p:cNvCxnSpPr>
          <p:nvPr/>
        </p:nvCxnSpPr>
        <p:spPr>
          <a:xfrm flipH="1">
            <a:off x="624568" y="1912052"/>
            <a:ext cx="1294" cy="47814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>
            <a:extLst>
              <a:ext uri="{FF2B5EF4-FFF2-40B4-BE49-F238E27FC236}">
                <a16:creationId xmlns:a16="http://schemas.microsoft.com/office/drawing/2014/main" id="{60433030-365D-714B-4898-0B4BD46618D6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 flipV="1">
            <a:off x="805862" y="1727487"/>
            <a:ext cx="884396" cy="456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5">
            <a:extLst>
              <a:ext uri="{FF2B5EF4-FFF2-40B4-BE49-F238E27FC236}">
                <a16:creationId xmlns:a16="http://schemas.microsoft.com/office/drawing/2014/main" id="{A65CF05B-230B-ACAE-7A0A-425D955E4237}"/>
              </a:ext>
            </a:extLst>
          </p:cNvPr>
          <p:cNvCxnSpPr>
            <a:cxnSpLocks/>
            <a:stCxn id="11" idx="1"/>
            <a:endCxn id="25" idx="5"/>
          </p:cNvCxnSpPr>
          <p:nvPr/>
        </p:nvCxnSpPr>
        <p:spPr>
          <a:xfrm flipH="1" flipV="1">
            <a:off x="1997537" y="1854766"/>
            <a:ext cx="991132" cy="58815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16">
            <a:extLst>
              <a:ext uri="{FF2B5EF4-FFF2-40B4-BE49-F238E27FC236}">
                <a16:creationId xmlns:a16="http://schemas.microsoft.com/office/drawing/2014/main" id="{F768BCE5-6B42-EBA7-44C5-484697C46E28}"/>
              </a:ext>
            </a:extLst>
          </p:cNvPr>
          <p:cNvSpPr/>
          <p:nvPr/>
        </p:nvSpPr>
        <p:spPr>
          <a:xfrm>
            <a:off x="444568" y="358835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0" name="Oval 17">
            <a:extLst>
              <a:ext uri="{FF2B5EF4-FFF2-40B4-BE49-F238E27FC236}">
                <a16:creationId xmlns:a16="http://schemas.microsoft.com/office/drawing/2014/main" id="{4767B107-BB92-F26C-B2F2-A78E9A6735EE}"/>
              </a:ext>
            </a:extLst>
          </p:cNvPr>
          <p:cNvSpPr/>
          <p:nvPr/>
        </p:nvSpPr>
        <p:spPr>
          <a:xfrm>
            <a:off x="2935948" y="358835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31" name="Straight Arrow Connector 18">
            <a:extLst>
              <a:ext uri="{FF2B5EF4-FFF2-40B4-BE49-F238E27FC236}">
                <a16:creationId xmlns:a16="http://schemas.microsoft.com/office/drawing/2014/main" id="{A3411092-D53B-3E05-7578-EFF031DB9293}"/>
              </a:ext>
            </a:extLst>
          </p:cNvPr>
          <p:cNvCxnSpPr>
            <a:cxnSpLocks/>
            <a:stCxn id="29" idx="0"/>
            <a:endCxn id="9" idx="4"/>
          </p:cNvCxnSpPr>
          <p:nvPr/>
        </p:nvCxnSpPr>
        <p:spPr>
          <a:xfrm flipV="1">
            <a:off x="624568" y="2750201"/>
            <a:ext cx="0" cy="83814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19">
            <a:extLst>
              <a:ext uri="{FF2B5EF4-FFF2-40B4-BE49-F238E27FC236}">
                <a16:creationId xmlns:a16="http://schemas.microsoft.com/office/drawing/2014/main" id="{1E562966-1F70-51D3-9FEB-15D7D338A8B3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804568" y="3768350"/>
            <a:ext cx="213138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20">
            <a:extLst>
              <a:ext uri="{FF2B5EF4-FFF2-40B4-BE49-F238E27FC236}">
                <a16:creationId xmlns:a16="http://schemas.microsoft.com/office/drawing/2014/main" id="{7630425D-DAAC-91CC-055B-D3AFB0CA1C28}"/>
              </a:ext>
            </a:extLst>
          </p:cNvPr>
          <p:cNvCxnSpPr>
            <a:cxnSpLocks/>
            <a:stCxn id="30" idx="0"/>
            <a:endCxn id="11" idx="4"/>
          </p:cNvCxnSpPr>
          <p:nvPr/>
        </p:nvCxnSpPr>
        <p:spPr>
          <a:xfrm flipV="1">
            <a:off x="3115948" y="2750201"/>
            <a:ext cx="0" cy="83814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" name="Group 21">
            <a:extLst>
              <a:ext uri="{FF2B5EF4-FFF2-40B4-BE49-F238E27FC236}">
                <a16:creationId xmlns:a16="http://schemas.microsoft.com/office/drawing/2014/main" id="{B1B3F117-6823-3F22-3CF1-B21089A433CC}"/>
              </a:ext>
            </a:extLst>
          </p:cNvPr>
          <p:cNvGrpSpPr/>
          <p:nvPr/>
        </p:nvGrpSpPr>
        <p:grpSpPr>
          <a:xfrm>
            <a:off x="3644137" y="1416449"/>
            <a:ext cx="2563289" cy="432000"/>
            <a:chOff x="4604412" y="1893985"/>
            <a:chExt cx="2563289" cy="432000"/>
          </a:xfrm>
        </p:grpSpPr>
        <p:sp>
          <p:nvSpPr>
            <p:cNvPr id="35" name="Arrow: Pentagon 22">
              <a:extLst>
                <a:ext uri="{FF2B5EF4-FFF2-40B4-BE49-F238E27FC236}">
                  <a16:creationId xmlns:a16="http://schemas.microsoft.com/office/drawing/2014/main" id="{7165AB4D-BE7D-26BD-480B-D0F8222768AD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36" name="Graphic 23" descr="Connections with solid fill">
              <a:extLst>
                <a:ext uri="{FF2B5EF4-FFF2-40B4-BE49-F238E27FC236}">
                  <a16:creationId xmlns:a16="http://schemas.microsoft.com/office/drawing/2014/main" id="{66E4463C-1531-F53C-3270-F8FD10BC59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04623B9A-D096-410A-00CD-3F5C2DD4A4A5}"/>
                  </a:ext>
                </a:extLst>
              </p:cNvPr>
              <p:cNvSpPr txBox="1"/>
              <p:nvPr/>
            </p:nvSpPr>
            <p:spPr>
              <a:xfrm>
                <a:off x="6400312" y="1435629"/>
                <a:ext cx="10534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04623B9A-D096-410A-00CD-3F5C2DD4A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312" y="1435629"/>
                <a:ext cx="1053430" cy="369332"/>
              </a:xfrm>
              <a:prstGeom prst="rect">
                <a:avLst/>
              </a:prstGeom>
              <a:blipFill>
                <a:blip r:embed="rId4"/>
                <a:stretch>
                  <a:fillRect l="-2890" r="-1734" b="-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9291221-CA31-3563-B713-2A98044DA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138" y="1958199"/>
            <a:ext cx="5042662" cy="28090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Identify every backdoor path</a:t>
            </a: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4216CC38-EA50-9DD7-7B9A-ED0DEFD13AF9}"/>
              </a:ext>
            </a:extLst>
          </p:cNvPr>
          <p:cNvSpPr txBox="1"/>
          <p:nvPr/>
        </p:nvSpPr>
        <p:spPr>
          <a:xfrm>
            <a:off x="5569540" y="768093"/>
            <a:ext cx="2714974" cy="461665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sv-SE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Adjustment</a:t>
            </a:r>
            <a:r>
              <a:rPr lang="sv-SE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set = {}</a:t>
            </a:r>
          </a:p>
        </p:txBody>
      </p:sp>
    </p:spTree>
    <p:extLst>
      <p:ext uri="{BB962C8B-B14F-4D97-AF65-F5344CB8AC3E}">
        <p14:creationId xmlns:p14="http://schemas.microsoft.com/office/powerpoint/2010/main" val="1336670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79F70-8CF3-27BB-DBE6-1FF07B3F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73291019-4F9E-D056-34A2-117F22B0C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d-separation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71B4ED07-D63D-08C1-7826-32E14F43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d-separation example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DD6E5E4C-19DA-D0C7-7D75-8124CDB2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19</a:t>
            </a:fld>
            <a:endParaRPr lang="en-SE" dirty="0"/>
          </a:p>
        </p:txBody>
      </p:sp>
      <p:pic>
        <p:nvPicPr>
          <p:cNvPr id="13" name="Bild 12" descr="Utropstecken med hel fyllning">
            <a:extLst>
              <a:ext uri="{FF2B5EF4-FFF2-40B4-BE49-F238E27FC236}">
                <a16:creationId xmlns:a16="http://schemas.microsoft.com/office/drawing/2014/main" id="{4B83A672-2FAC-097A-FCE2-F5C837A926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707" y="4178852"/>
            <a:ext cx="525573" cy="525573"/>
          </a:xfrm>
          <a:prstGeom prst="rect">
            <a:avLst/>
          </a:prstGeom>
        </p:spPr>
      </p:pic>
      <p:sp>
        <p:nvSpPr>
          <p:cNvPr id="9" name="Oval 5">
            <a:extLst>
              <a:ext uri="{FF2B5EF4-FFF2-40B4-BE49-F238E27FC236}">
                <a16:creationId xmlns:a16="http://schemas.microsoft.com/office/drawing/2014/main" id="{601651A9-4A44-E8BE-1D48-082CE3E8001A}"/>
              </a:ext>
            </a:extLst>
          </p:cNvPr>
          <p:cNvSpPr/>
          <p:nvPr/>
        </p:nvSpPr>
        <p:spPr>
          <a:xfrm>
            <a:off x="444568" y="2390201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4DE87F45-2D19-B1B0-1D36-129319264737}"/>
              </a:ext>
            </a:extLst>
          </p:cNvPr>
          <p:cNvSpPr/>
          <p:nvPr/>
        </p:nvSpPr>
        <p:spPr>
          <a:xfrm>
            <a:off x="2935948" y="2390201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2" name="Straight Arrow Connector 7">
            <a:extLst>
              <a:ext uri="{FF2B5EF4-FFF2-40B4-BE49-F238E27FC236}">
                <a16:creationId xmlns:a16="http://schemas.microsoft.com/office/drawing/2014/main" id="{582E35E3-5C45-C13F-9A3D-681C92EF8C7F}"/>
              </a:ext>
            </a:extLst>
          </p:cNvPr>
          <p:cNvCxnSpPr>
            <a:stCxn id="9" idx="6"/>
            <a:endCxn id="11" idx="2"/>
          </p:cNvCxnSpPr>
          <p:nvPr/>
        </p:nvCxnSpPr>
        <p:spPr>
          <a:xfrm>
            <a:off x="804568" y="2570201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8">
            <a:extLst>
              <a:ext uri="{FF2B5EF4-FFF2-40B4-BE49-F238E27FC236}">
                <a16:creationId xmlns:a16="http://schemas.microsoft.com/office/drawing/2014/main" id="{C3B5FA96-674D-96BE-4DFD-41625E18D91B}"/>
              </a:ext>
            </a:extLst>
          </p:cNvPr>
          <p:cNvSpPr/>
          <p:nvPr/>
        </p:nvSpPr>
        <p:spPr>
          <a:xfrm>
            <a:off x="1690258" y="3048351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5" name="Straight Arrow Connector 9">
            <a:extLst>
              <a:ext uri="{FF2B5EF4-FFF2-40B4-BE49-F238E27FC236}">
                <a16:creationId xmlns:a16="http://schemas.microsoft.com/office/drawing/2014/main" id="{DCE008ED-C0FC-4657-0E53-9AE612912B00}"/>
              </a:ext>
            </a:extLst>
          </p:cNvPr>
          <p:cNvCxnSpPr>
            <a:cxnSpLocks/>
            <a:stCxn id="14" idx="6"/>
            <a:endCxn id="11" idx="3"/>
          </p:cNvCxnSpPr>
          <p:nvPr/>
        </p:nvCxnSpPr>
        <p:spPr>
          <a:xfrm flipV="1">
            <a:off x="2050258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0">
            <a:extLst>
              <a:ext uri="{FF2B5EF4-FFF2-40B4-BE49-F238E27FC236}">
                <a16:creationId xmlns:a16="http://schemas.microsoft.com/office/drawing/2014/main" id="{2CB52BF4-57A1-AFD5-CE5C-63B29CC88E12}"/>
              </a:ext>
            </a:extLst>
          </p:cNvPr>
          <p:cNvCxnSpPr>
            <a:cxnSpLocks/>
            <a:stCxn id="9" idx="5"/>
            <a:endCxn id="14" idx="2"/>
          </p:cNvCxnSpPr>
          <p:nvPr/>
        </p:nvCxnSpPr>
        <p:spPr>
          <a:xfrm>
            <a:off x="751847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11">
            <a:extLst>
              <a:ext uri="{FF2B5EF4-FFF2-40B4-BE49-F238E27FC236}">
                <a16:creationId xmlns:a16="http://schemas.microsoft.com/office/drawing/2014/main" id="{C9A4C995-6A58-2491-8786-CCED1CC3C91D}"/>
              </a:ext>
            </a:extLst>
          </p:cNvPr>
          <p:cNvSpPr/>
          <p:nvPr/>
        </p:nvSpPr>
        <p:spPr>
          <a:xfrm>
            <a:off x="445862" y="1552052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7F7BE6BA-F25A-F883-D303-73EF54806107}"/>
              </a:ext>
            </a:extLst>
          </p:cNvPr>
          <p:cNvSpPr/>
          <p:nvPr/>
        </p:nvSpPr>
        <p:spPr>
          <a:xfrm>
            <a:off x="1690258" y="1547487"/>
            <a:ext cx="360000" cy="360000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1AF8140B-5113-3999-0F4F-9CA8EFD9D0C8}"/>
              </a:ext>
            </a:extLst>
          </p:cNvPr>
          <p:cNvCxnSpPr>
            <a:cxnSpLocks/>
            <a:stCxn id="24" idx="4"/>
            <a:endCxn id="9" idx="0"/>
          </p:cNvCxnSpPr>
          <p:nvPr/>
        </p:nvCxnSpPr>
        <p:spPr>
          <a:xfrm flipH="1">
            <a:off x="624568" y="1912052"/>
            <a:ext cx="1294" cy="478149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>
            <a:extLst>
              <a:ext uri="{FF2B5EF4-FFF2-40B4-BE49-F238E27FC236}">
                <a16:creationId xmlns:a16="http://schemas.microsoft.com/office/drawing/2014/main" id="{DC45EA97-5486-3DEE-C260-7DD4F16CFF62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 flipV="1">
            <a:off x="805862" y="1727487"/>
            <a:ext cx="884396" cy="4565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5">
            <a:extLst>
              <a:ext uri="{FF2B5EF4-FFF2-40B4-BE49-F238E27FC236}">
                <a16:creationId xmlns:a16="http://schemas.microsoft.com/office/drawing/2014/main" id="{0B2D6142-CB31-949D-69BB-D8019BB7E70C}"/>
              </a:ext>
            </a:extLst>
          </p:cNvPr>
          <p:cNvCxnSpPr>
            <a:cxnSpLocks/>
            <a:stCxn id="11" idx="1"/>
            <a:endCxn id="25" idx="5"/>
          </p:cNvCxnSpPr>
          <p:nvPr/>
        </p:nvCxnSpPr>
        <p:spPr>
          <a:xfrm flipH="1" flipV="1">
            <a:off x="1997537" y="1854766"/>
            <a:ext cx="991132" cy="588156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16">
            <a:extLst>
              <a:ext uri="{FF2B5EF4-FFF2-40B4-BE49-F238E27FC236}">
                <a16:creationId xmlns:a16="http://schemas.microsoft.com/office/drawing/2014/main" id="{D56D428F-7B3B-96A1-76CC-C038B758D454}"/>
              </a:ext>
            </a:extLst>
          </p:cNvPr>
          <p:cNvSpPr/>
          <p:nvPr/>
        </p:nvSpPr>
        <p:spPr>
          <a:xfrm>
            <a:off x="444568" y="358835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0" name="Oval 17">
            <a:extLst>
              <a:ext uri="{FF2B5EF4-FFF2-40B4-BE49-F238E27FC236}">
                <a16:creationId xmlns:a16="http://schemas.microsoft.com/office/drawing/2014/main" id="{78F9CBF9-FD60-6E2A-9259-0F034709E4D6}"/>
              </a:ext>
            </a:extLst>
          </p:cNvPr>
          <p:cNvSpPr/>
          <p:nvPr/>
        </p:nvSpPr>
        <p:spPr>
          <a:xfrm>
            <a:off x="2935948" y="358835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31" name="Straight Arrow Connector 18">
            <a:extLst>
              <a:ext uri="{FF2B5EF4-FFF2-40B4-BE49-F238E27FC236}">
                <a16:creationId xmlns:a16="http://schemas.microsoft.com/office/drawing/2014/main" id="{85C56967-FAD4-8716-3B8C-788A01950EC5}"/>
              </a:ext>
            </a:extLst>
          </p:cNvPr>
          <p:cNvCxnSpPr>
            <a:cxnSpLocks/>
            <a:stCxn id="29" idx="0"/>
            <a:endCxn id="9" idx="4"/>
          </p:cNvCxnSpPr>
          <p:nvPr/>
        </p:nvCxnSpPr>
        <p:spPr>
          <a:xfrm flipV="1">
            <a:off x="624568" y="2750201"/>
            <a:ext cx="0" cy="83814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19">
            <a:extLst>
              <a:ext uri="{FF2B5EF4-FFF2-40B4-BE49-F238E27FC236}">
                <a16:creationId xmlns:a16="http://schemas.microsoft.com/office/drawing/2014/main" id="{8A075CCF-27E0-90F4-8B8B-226323FE0A74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804568" y="3768350"/>
            <a:ext cx="213138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20">
            <a:extLst>
              <a:ext uri="{FF2B5EF4-FFF2-40B4-BE49-F238E27FC236}">
                <a16:creationId xmlns:a16="http://schemas.microsoft.com/office/drawing/2014/main" id="{539EDE73-4524-EE02-55B4-A60B11906B63}"/>
              </a:ext>
            </a:extLst>
          </p:cNvPr>
          <p:cNvCxnSpPr>
            <a:cxnSpLocks/>
            <a:stCxn id="30" idx="0"/>
            <a:endCxn id="11" idx="4"/>
          </p:cNvCxnSpPr>
          <p:nvPr/>
        </p:nvCxnSpPr>
        <p:spPr>
          <a:xfrm flipV="1">
            <a:off x="3115948" y="2750201"/>
            <a:ext cx="0" cy="83814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" name="Group 21">
            <a:extLst>
              <a:ext uri="{FF2B5EF4-FFF2-40B4-BE49-F238E27FC236}">
                <a16:creationId xmlns:a16="http://schemas.microsoft.com/office/drawing/2014/main" id="{F6DF6AEC-9BF9-E077-6072-683CDA23E4CE}"/>
              </a:ext>
            </a:extLst>
          </p:cNvPr>
          <p:cNvGrpSpPr/>
          <p:nvPr/>
        </p:nvGrpSpPr>
        <p:grpSpPr>
          <a:xfrm>
            <a:off x="3644137" y="1416449"/>
            <a:ext cx="2563289" cy="432000"/>
            <a:chOff x="4604412" y="1893985"/>
            <a:chExt cx="2563289" cy="432000"/>
          </a:xfrm>
        </p:grpSpPr>
        <p:sp>
          <p:nvSpPr>
            <p:cNvPr id="35" name="Arrow: Pentagon 22">
              <a:extLst>
                <a:ext uri="{FF2B5EF4-FFF2-40B4-BE49-F238E27FC236}">
                  <a16:creationId xmlns:a16="http://schemas.microsoft.com/office/drawing/2014/main" id="{B8B96F54-CEB3-8C18-98D7-DADD9CF6070D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36" name="Graphic 23" descr="Connections with solid fill">
              <a:extLst>
                <a:ext uri="{FF2B5EF4-FFF2-40B4-BE49-F238E27FC236}">
                  <a16:creationId xmlns:a16="http://schemas.microsoft.com/office/drawing/2014/main" id="{E291B0C9-FB36-E19B-C98A-07DC483BB1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07F7E3AD-3EDC-BCD9-7DD4-770466099B9F}"/>
                  </a:ext>
                </a:extLst>
              </p:cNvPr>
              <p:cNvSpPr txBox="1"/>
              <p:nvPr/>
            </p:nvSpPr>
            <p:spPr>
              <a:xfrm>
                <a:off x="6400312" y="1435629"/>
                <a:ext cx="10534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07F7E3AD-3EDC-BCD9-7DD4-770466099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312" y="1435629"/>
                <a:ext cx="1053430" cy="369332"/>
              </a:xfrm>
              <a:prstGeom prst="rect">
                <a:avLst/>
              </a:prstGeom>
              <a:blipFill>
                <a:blip r:embed="rId4"/>
                <a:stretch>
                  <a:fillRect l="-2890" r="-1734" b="-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96F1592-3D34-37AA-2FF2-EB630807A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138" y="1958199"/>
            <a:ext cx="5042662" cy="28090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Identify every backdoor path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Check if there is a </a:t>
            </a:r>
            <a:r>
              <a:rPr lang="en-GB" b="1" dirty="0">
                <a:solidFill>
                  <a:srgbClr val="FFC000"/>
                </a:solidFill>
              </a:rPr>
              <a:t>collider</a:t>
            </a:r>
            <a:r>
              <a:rPr lang="en-GB" dirty="0"/>
              <a:t> between the cause and effect of interest.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If yes, do not condition on any of the variables on this path.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1A6AB6E-D6D5-03D1-54A4-D8317C4A4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164" y="1336210"/>
            <a:ext cx="29527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27">
            <a:extLst>
              <a:ext uri="{FF2B5EF4-FFF2-40B4-BE49-F238E27FC236}">
                <a16:creationId xmlns:a16="http://schemas.microsoft.com/office/drawing/2014/main" id="{F7C40F97-817B-76C2-6240-3F0F2506B2DE}"/>
              </a:ext>
            </a:extLst>
          </p:cNvPr>
          <p:cNvSpPr txBox="1"/>
          <p:nvPr/>
        </p:nvSpPr>
        <p:spPr>
          <a:xfrm>
            <a:off x="5569540" y="768093"/>
            <a:ext cx="2714974" cy="461665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sv-SE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Adjustment</a:t>
            </a:r>
            <a:r>
              <a:rPr lang="sv-SE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set = {}</a:t>
            </a:r>
          </a:p>
        </p:txBody>
      </p:sp>
    </p:spTree>
    <p:extLst>
      <p:ext uri="{BB962C8B-B14F-4D97-AF65-F5344CB8AC3E}">
        <p14:creationId xmlns:p14="http://schemas.microsoft.com/office/powerpoint/2010/main" val="481114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7EF84-4941-4EB1-3446-B5A9E8B6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F77644D1-2B45-13BF-3C62-D8EBF9D5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d-separation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796B84A9-9AA9-CAB6-4949-A02E113A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d-separation example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922C245-BAF4-C82F-5D7C-2371C82B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20</a:t>
            </a:fld>
            <a:endParaRPr lang="en-SE" dirty="0"/>
          </a:p>
        </p:txBody>
      </p:sp>
      <p:pic>
        <p:nvPicPr>
          <p:cNvPr id="13" name="Bild 12" descr="Utropstecken med hel fyllning">
            <a:extLst>
              <a:ext uri="{FF2B5EF4-FFF2-40B4-BE49-F238E27FC236}">
                <a16:creationId xmlns:a16="http://schemas.microsoft.com/office/drawing/2014/main" id="{35D55B81-68C6-517D-D33E-2499E9E25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707" y="4178852"/>
            <a:ext cx="525573" cy="525573"/>
          </a:xfrm>
          <a:prstGeom prst="rect">
            <a:avLst/>
          </a:prstGeom>
        </p:spPr>
      </p:pic>
      <p:sp>
        <p:nvSpPr>
          <p:cNvPr id="9" name="Oval 5">
            <a:extLst>
              <a:ext uri="{FF2B5EF4-FFF2-40B4-BE49-F238E27FC236}">
                <a16:creationId xmlns:a16="http://schemas.microsoft.com/office/drawing/2014/main" id="{C89770F2-110B-866E-CF40-DDD1D0142625}"/>
              </a:ext>
            </a:extLst>
          </p:cNvPr>
          <p:cNvSpPr/>
          <p:nvPr/>
        </p:nvSpPr>
        <p:spPr>
          <a:xfrm>
            <a:off x="444568" y="2390201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3E885FA5-0BC7-F351-031F-639DD42C13B4}"/>
              </a:ext>
            </a:extLst>
          </p:cNvPr>
          <p:cNvSpPr/>
          <p:nvPr/>
        </p:nvSpPr>
        <p:spPr>
          <a:xfrm>
            <a:off x="2935948" y="2390201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2" name="Straight Arrow Connector 7">
            <a:extLst>
              <a:ext uri="{FF2B5EF4-FFF2-40B4-BE49-F238E27FC236}">
                <a16:creationId xmlns:a16="http://schemas.microsoft.com/office/drawing/2014/main" id="{7154F77F-A80A-F71F-1038-15BB1891A9FF}"/>
              </a:ext>
            </a:extLst>
          </p:cNvPr>
          <p:cNvCxnSpPr>
            <a:stCxn id="9" idx="6"/>
            <a:endCxn id="11" idx="2"/>
          </p:cNvCxnSpPr>
          <p:nvPr/>
        </p:nvCxnSpPr>
        <p:spPr>
          <a:xfrm>
            <a:off x="804568" y="2570201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8">
            <a:extLst>
              <a:ext uri="{FF2B5EF4-FFF2-40B4-BE49-F238E27FC236}">
                <a16:creationId xmlns:a16="http://schemas.microsoft.com/office/drawing/2014/main" id="{DAC67D21-3377-2A6F-0250-2A393FD10CB3}"/>
              </a:ext>
            </a:extLst>
          </p:cNvPr>
          <p:cNvSpPr/>
          <p:nvPr/>
        </p:nvSpPr>
        <p:spPr>
          <a:xfrm>
            <a:off x="1690258" y="3048351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5" name="Straight Arrow Connector 9">
            <a:extLst>
              <a:ext uri="{FF2B5EF4-FFF2-40B4-BE49-F238E27FC236}">
                <a16:creationId xmlns:a16="http://schemas.microsoft.com/office/drawing/2014/main" id="{8AF36867-C750-38C9-CEF9-977A34FB73BD}"/>
              </a:ext>
            </a:extLst>
          </p:cNvPr>
          <p:cNvCxnSpPr>
            <a:cxnSpLocks/>
            <a:stCxn id="14" idx="6"/>
            <a:endCxn id="11" idx="3"/>
          </p:cNvCxnSpPr>
          <p:nvPr/>
        </p:nvCxnSpPr>
        <p:spPr>
          <a:xfrm flipV="1">
            <a:off x="2050258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0">
            <a:extLst>
              <a:ext uri="{FF2B5EF4-FFF2-40B4-BE49-F238E27FC236}">
                <a16:creationId xmlns:a16="http://schemas.microsoft.com/office/drawing/2014/main" id="{149EE0F2-6DB5-252E-71F3-1039DD813C74}"/>
              </a:ext>
            </a:extLst>
          </p:cNvPr>
          <p:cNvCxnSpPr>
            <a:cxnSpLocks/>
            <a:stCxn id="9" idx="5"/>
            <a:endCxn id="14" idx="2"/>
          </p:cNvCxnSpPr>
          <p:nvPr/>
        </p:nvCxnSpPr>
        <p:spPr>
          <a:xfrm>
            <a:off x="751847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11">
            <a:extLst>
              <a:ext uri="{FF2B5EF4-FFF2-40B4-BE49-F238E27FC236}">
                <a16:creationId xmlns:a16="http://schemas.microsoft.com/office/drawing/2014/main" id="{73B985B2-FE13-9974-ACF9-4678F8E84502}"/>
              </a:ext>
            </a:extLst>
          </p:cNvPr>
          <p:cNvSpPr/>
          <p:nvPr/>
        </p:nvSpPr>
        <p:spPr>
          <a:xfrm>
            <a:off x="445862" y="1552052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25C8C46B-8543-A026-89A3-4157BB719EE0}"/>
              </a:ext>
            </a:extLst>
          </p:cNvPr>
          <p:cNvSpPr/>
          <p:nvPr/>
        </p:nvSpPr>
        <p:spPr>
          <a:xfrm>
            <a:off x="1690258" y="1547487"/>
            <a:ext cx="360000" cy="360000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0D789B5E-16A7-49ED-9E98-9C86FC1B8104}"/>
              </a:ext>
            </a:extLst>
          </p:cNvPr>
          <p:cNvCxnSpPr>
            <a:cxnSpLocks/>
            <a:stCxn id="24" idx="4"/>
            <a:endCxn id="9" idx="0"/>
          </p:cNvCxnSpPr>
          <p:nvPr/>
        </p:nvCxnSpPr>
        <p:spPr>
          <a:xfrm flipH="1">
            <a:off x="624568" y="1912052"/>
            <a:ext cx="1294" cy="478149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>
            <a:extLst>
              <a:ext uri="{FF2B5EF4-FFF2-40B4-BE49-F238E27FC236}">
                <a16:creationId xmlns:a16="http://schemas.microsoft.com/office/drawing/2014/main" id="{34E27660-680F-09C8-2E52-5CA8BCAB050C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 flipV="1">
            <a:off x="805862" y="1727487"/>
            <a:ext cx="884396" cy="4565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5">
            <a:extLst>
              <a:ext uri="{FF2B5EF4-FFF2-40B4-BE49-F238E27FC236}">
                <a16:creationId xmlns:a16="http://schemas.microsoft.com/office/drawing/2014/main" id="{5C9CCD61-0213-294A-BDCC-6C0FE5EBED0D}"/>
              </a:ext>
            </a:extLst>
          </p:cNvPr>
          <p:cNvCxnSpPr>
            <a:cxnSpLocks/>
            <a:stCxn id="11" idx="1"/>
            <a:endCxn id="25" idx="5"/>
          </p:cNvCxnSpPr>
          <p:nvPr/>
        </p:nvCxnSpPr>
        <p:spPr>
          <a:xfrm flipH="1" flipV="1">
            <a:off x="1997537" y="1854766"/>
            <a:ext cx="991132" cy="588156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16">
            <a:extLst>
              <a:ext uri="{FF2B5EF4-FFF2-40B4-BE49-F238E27FC236}">
                <a16:creationId xmlns:a16="http://schemas.microsoft.com/office/drawing/2014/main" id="{83575D79-3B8F-42C4-C290-3756313555E5}"/>
              </a:ext>
            </a:extLst>
          </p:cNvPr>
          <p:cNvSpPr/>
          <p:nvPr/>
        </p:nvSpPr>
        <p:spPr>
          <a:xfrm>
            <a:off x="444568" y="3588350"/>
            <a:ext cx="360000" cy="360000"/>
          </a:xfrm>
          <a:prstGeom prst="ellipse">
            <a:avLst/>
          </a:prstGeom>
          <a:solidFill>
            <a:srgbClr val="D86E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0" name="Oval 17">
            <a:extLst>
              <a:ext uri="{FF2B5EF4-FFF2-40B4-BE49-F238E27FC236}">
                <a16:creationId xmlns:a16="http://schemas.microsoft.com/office/drawing/2014/main" id="{24632BD6-E718-AF31-C80A-4CF47F88F0BB}"/>
              </a:ext>
            </a:extLst>
          </p:cNvPr>
          <p:cNvSpPr/>
          <p:nvPr/>
        </p:nvSpPr>
        <p:spPr>
          <a:xfrm>
            <a:off x="2935948" y="3588350"/>
            <a:ext cx="360000" cy="360000"/>
          </a:xfrm>
          <a:prstGeom prst="ellipse">
            <a:avLst/>
          </a:prstGeom>
          <a:solidFill>
            <a:srgbClr val="D86E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31" name="Straight Arrow Connector 18">
            <a:extLst>
              <a:ext uri="{FF2B5EF4-FFF2-40B4-BE49-F238E27FC236}">
                <a16:creationId xmlns:a16="http://schemas.microsoft.com/office/drawing/2014/main" id="{6617927A-7C87-28F3-81DF-A768B54DAC2E}"/>
              </a:ext>
            </a:extLst>
          </p:cNvPr>
          <p:cNvCxnSpPr>
            <a:cxnSpLocks/>
            <a:stCxn id="29" idx="0"/>
            <a:endCxn id="9" idx="4"/>
          </p:cNvCxnSpPr>
          <p:nvPr/>
        </p:nvCxnSpPr>
        <p:spPr>
          <a:xfrm flipV="1">
            <a:off x="624568" y="2750201"/>
            <a:ext cx="0" cy="838149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19">
            <a:extLst>
              <a:ext uri="{FF2B5EF4-FFF2-40B4-BE49-F238E27FC236}">
                <a16:creationId xmlns:a16="http://schemas.microsoft.com/office/drawing/2014/main" id="{A1B23659-5602-1D96-17FF-8E2D63583D27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804568" y="3768350"/>
            <a:ext cx="213138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20">
            <a:extLst>
              <a:ext uri="{FF2B5EF4-FFF2-40B4-BE49-F238E27FC236}">
                <a16:creationId xmlns:a16="http://schemas.microsoft.com/office/drawing/2014/main" id="{46D85D14-5501-3A21-803C-CA4859A9DD36}"/>
              </a:ext>
            </a:extLst>
          </p:cNvPr>
          <p:cNvCxnSpPr>
            <a:cxnSpLocks/>
            <a:stCxn id="30" idx="0"/>
            <a:endCxn id="11" idx="4"/>
          </p:cNvCxnSpPr>
          <p:nvPr/>
        </p:nvCxnSpPr>
        <p:spPr>
          <a:xfrm flipV="1">
            <a:off x="3115948" y="2750201"/>
            <a:ext cx="0" cy="838149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" name="Group 21">
            <a:extLst>
              <a:ext uri="{FF2B5EF4-FFF2-40B4-BE49-F238E27FC236}">
                <a16:creationId xmlns:a16="http://schemas.microsoft.com/office/drawing/2014/main" id="{DB449300-4807-0A08-3BA8-6F48FF3086E2}"/>
              </a:ext>
            </a:extLst>
          </p:cNvPr>
          <p:cNvGrpSpPr/>
          <p:nvPr/>
        </p:nvGrpSpPr>
        <p:grpSpPr>
          <a:xfrm>
            <a:off x="3644137" y="1416449"/>
            <a:ext cx="2563289" cy="432000"/>
            <a:chOff x="4604412" y="1893985"/>
            <a:chExt cx="2563289" cy="432000"/>
          </a:xfrm>
        </p:grpSpPr>
        <p:sp>
          <p:nvSpPr>
            <p:cNvPr id="35" name="Arrow: Pentagon 22">
              <a:extLst>
                <a:ext uri="{FF2B5EF4-FFF2-40B4-BE49-F238E27FC236}">
                  <a16:creationId xmlns:a16="http://schemas.microsoft.com/office/drawing/2014/main" id="{A54501CB-DA29-7F57-EA0F-805339D0942F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36" name="Graphic 23" descr="Connections with solid fill">
              <a:extLst>
                <a:ext uri="{FF2B5EF4-FFF2-40B4-BE49-F238E27FC236}">
                  <a16:creationId xmlns:a16="http://schemas.microsoft.com/office/drawing/2014/main" id="{2DFE8B4F-2CB6-A0F7-6249-32D873E26F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C89D64B8-BF1F-12F2-291F-61FCB2CF5C2D}"/>
                  </a:ext>
                </a:extLst>
              </p:cNvPr>
              <p:cNvSpPr txBox="1"/>
              <p:nvPr/>
            </p:nvSpPr>
            <p:spPr>
              <a:xfrm>
                <a:off x="6400312" y="1435629"/>
                <a:ext cx="15760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noProof="0" smtClean="0">
                          <a:solidFill>
                            <a:srgbClr val="D86ECC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C89D64B8-BF1F-12F2-291F-61FCB2CF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312" y="1435629"/>
                <a:ext cx="1576009" cy="369332"/>
              </a:xfrm>
              <a:prstGeom prst="rect">
                <a:avLst/>
              </a:prstGeom>
              <a:blipFill>
                <a:blip r:embed="rId4"/>
                <a:stretch>
                  <a:fillRect l="-2713" t="-1667" r="-5814" b="-33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7390426-F6A5-7385-0F6A-C22BF57DB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138" y="1958199"/>
            <a:ext cx="5042662" cy="28090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Identify every backdoor path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Check if there is a </a:t>
            </a:r>
            <a:r>
              <a:rPr lang="en-GB" b="1" dirty="0">
                <a:solidFill>
                  <a:srgbClr val="FFC000"/>
                </a:solidFill>
              </a:rPr>
              <a:t>collider</a:t>
            </a:r>
            <a:r>
              <a:rPr lang="en-GB" dirty="0"/>
              <a:t> between the cause and effect of interest.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If yes, do not condition on any of the variables on this path.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If not, condition on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any of the variables </a:t>
            </a:r>
            <a:r>
              <a:rPr lang="en-GB" dirty="0"/>
              <a:t>on this path to “close” the backdoor path.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DD321C9-938B-188D-0F0E-1E132D6C1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87" y="3325462"/>
            <a:ext cx="29527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A107756-E86F-BEED-445A-C4DCF32DB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164" y="1336210"/>
            <a:ext cx="29527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27">
            <a:extLst>
              <a:ext uri="{FF2B5EF4-FFF2-40B4-BE49-F238E27FC236}">
                <a16:creationId xmlns:a16="http://schemas.microsoft.com/office/drawing/2014/main" id="{632D2A0A-2940-A392-BB56-14D25B08A092}"/>
              </a:ext>
            </a:extLst>
          </p:cNvPr>
          <p:cNvSpPr txBox="1"/>
          <p:nvPr/>
        </p:nvSpPr>
        <p:spPr>
          <a:xfrm>
            <a:off x="5569540" y="768093"/>
            <a:ext cx="2807948" cy="461665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sv-SE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Adjustment</a:t>
            </a:r>
            <a:r>
              <a:rPr lang="sv-SE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set = {f}</a:t>
            </a:r>
          </a:p>
        </p:txBody>
      </p:sp>
    </p:spTree>
    <p:extLst>
      <p:ext uri="{BB962C8B-B14F-4D97-AF65-F5344CB8AC3E}">
        <p14:creationId xmlns:p14="http://schemas.microsoft.com/office/powerpoint/2010/main" val="574033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63BAE-DB21-542B-2A19-635DFD07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8DB90E39-31A0-744C-2135-87D5BA9C4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d-separation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F00207FD-6F31-B4E5-8923-27196C04F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cs typeface="Calibri" panose="020F0502020204030204" pitchFamily="34" charset="0"/>
              </a:rPr>
              <a:t>d-separation example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77EE82E-3AC3-369B-9641-21E97F92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21</a:t>
            </a:fld>
            <a:endParaRPr lang="en-SE" dirty="0"/>
          </a:p>
        </p:txBody>
      </p:sp>
      <p:pic>
        <p:nvPicPr>
          <p:cNvPr id="13" name="Bild 12" descr="Utropstecken med hel fyllning">
            <a:extLst>
              <a:ext uri="{FF2B5EF4-FFF2-40B4-BE49-F238E27FC236}">
                <a16:creationId xmlns:a16="http://schemas.microsoft.com/office/drawing/2014/main" id="{44971F0A-2634-EBE6-BC00-9AB8E83F0C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707" y="4178852"/>
            <a:ext cx="525573" cy="525573"/>
          </a:xfrm>
          <a:prstGeom prst="rect">
            <a:avLst/>
          </a:prstGeom>
        </p:spPr>
      </p:pic>
      <p:sp>
        <p:nvSpPr>
          <p:cNvPr id="9" name="Oval 5">
            <a:extLst>
              <a:ext uri="{FF2B5EF4-FFF2-40B4-BE49-F238E27FC236}">
                <a16:creationId xmlns:a16="http://schemas.microsoft.com/office/drawing/2014/main" id="{A86AA39F-6409-E871-0D4A-7565A662E39F}"/>
              </a:ext>
            </a:extLst>
          </p:cNvPr>
          <p:cNvSpPr/>
          <p:nvPr/>
        </p:nvSpPr>
        <p:spPr>
          <a:xfrm>
            <a:off x="444568" y="2390201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5E799611-C201-8568-1B40-A84E4E80F8B6}"/>
              </a:ext>
            </a:extLst>
          </p:cNvPr>
          <p:cNvSpPr/>
          <p:nvPr/>
        </p:nvSpPr>
        <p:spPr>
          <a:xfrm>
            <a:off x="2935948" y="2390201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2" name="Straight Arrow Connector 7">
            <a:extLst>
              <a:ext uri="{FF2B5EF4-FFF2-40B4-BE49-F238E27FC236}">
                <a16:creationId xmlns:a16="http://schemas.microsoft.com/office/drawing/2014/main" id="{1DF3183E-CB67-5C5C-AC6E-0CDBEF0C7E58}"/>
              </a:ext>
            </a:extLst>
          </p:cNvPr>
          <p:cNvCxnSpPr>
            <a:stCxn id="9" idx="6"/>
            <a:endCxn id="11" idx="2"/>
          </p:cNvCxnSpPr>
          <p:nvPr/>
        </p:nvCxnSpPr>
        <p:spPr>
          <a:xfrm>
            <a:off x="804568" y="2570201"/>
            <a:ext cx="2131380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Oval 8">
            <a:extLst>
              <a:ext uri="{FF2B5EF4-FFF2-40B4-BE49-F238E27FC236}">
                <a16:creationId xmlns:a16="http://schemas.microsoft.com/office/drawing/2014/main" id="{9D760B4F-7C22-0793-661B-78392FC66305}"/>
              </a:ext>
            </a:extLst>
          </p:cNvPr>
          <p:cNvSpPr/>
          <p:nvPr/>
        </p:nvSpPr>
        <p:spPr>
          <a:xfrm>
            <a:off x="1690258" y="3048351"/>
            <a:ext cx="360000" cy="360000"/>
          </a:xfrm>
          <a:prstGeom prst="ellipse">
            <a:avLst/>
          </a:prstGeom>
          <a:solidFill>
            <a:srgbClr val="00B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5" name="Straight Arrow Connector 9">
            <a:extLst>
              <a:ext uri="{FF2B5EF4-FFF2-40B4-BE49-F238E27FC236}">
                <a16:creationId xmlns:a16="http://schemas.microsoft.com/office/drawing/2014/main" id="{CA682936-45C8-2F77-7CC6-12EDCF955E9A}"/>
              </a:ext>
            </a:extLst>
          </p:cNvPr>
          <p:cNvCxnSpPr>
            <a:cxnSpLocks/>
            <a:stCxn id="14" idx="6"/>
            <a:endCxn id="11" idx="3"/>
          </p:cNvCxnSpPr>
          <p:nvPr/>
        </p:nvCxnSpPr>
        <p:spPr>
          <a:xfrm flipV="1">
            <a:off x="2050258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0">
            <a:extLst>
              <a:ext uri="{FF2B5EF4-FFF2-40B4-BE49-F238E27FC236}">
                <a16:creationId xmlns:a16="http://schemas.microsoft.com/office/drawing/2014/main" id="{DF17DC57-ADD5-2CC7-E428-FACB13CEB523}"/>
              </a:ext>
            </a:extLst>
          </p:cNvPr>
          <p:cNvCxnSpPr>
            <a:cxnSpLocks/>
            <a:stCxn id="9" idx="5"/>
            <a:endCxn id="14" idx="2"/>
          </p:cNvCxnSpPr>
          <p:nvPr/>
        </p:nvCxnSpPr>
        <p:spPr>
          <a:xfrm>
            <a:off x="751847" y="2697480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11">
            <a:extLst>
              <a:ext uri="{FF2B5EF4-FFF2-40B4-BE49-F238E27FC236}">
                <a16:creationId xmlns:a16="http://schemas.microsoft.com/office/drawing/2014/main" id="{330C1634-0521-2C7D-DD96-022CCA4A39E3}"/>
              </a:ext>
            </a:extLst>
          </p:cNvPr>
          <p:cNvSpPr/>
          <p:nvPr/>
        </p:nvSpPr>
        <p:spPr>
          <a:xfrm>
            <a:off x="445862" y="1552052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7D971449-20CA-8198-9A95-36764F7C4062}"/>
              </a:ext>
            </a:extLst>
          </p:cNvPr>
          <p:cNvSpPr/>
          <p:nvPr/>
        </p:nvSpPr>
        <p:spPr>
          <a:xfrm>
            <a:off x="1690258" y="1547487"/>
            <a:ext cx="360000" cy="360000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4ADB13BD-DD9A-287A-9452-63971DFBF10B}"/>
              </a:ext>
            </a:extLst>
          </p:cNvPr>
          <p:cNvCxnSpPr>
            <a:cxnSpLocks/>
            <a:stCxn id="24" idx="4"/>
            <a:endCxn id="9" idx="0"/>
          </p:cNvCxnSpPr>
          <p:nvPr/>
        </p:nvCxnSpPr>
        <p:spPr>
          <a:xfrm flipH="1">
            <a:off x="624568" y="1912052"/>
            <a:ext cx="1294" cy="478149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>
            <a:extLst>
              <a:ext uri="{FF2B5EF4-FFF2-40B4-BE49-F238E27FC236}">
                <a16:creationId xmlns:a16="http://schemas.microsoft.com/office/drawing/2014/main" id="{9554AEDE-AB64-F063-8ED6-8BE9A88768C4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 flipV="1">
            <a:off x="805862" y="1727487"/>
            <a:ext cx="884396" cy="4565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5">
            <a:extLst>
              <a:ext uri="{FF2B5EF4-FFF2-40B4-BE49-F238E27FC236}">
                <a16:creationId xmlns:a16="http://schemas.microsoft.com/office/drawing/2014/main" id="{164F7460-2684-2A04-A6AB-2271BE6813C4}"/>
              </a:ext>
            </a:extLst>
          </p:cNvPr>
          <p:cNvCxnSpPr>
            <a:cxnSpLocks/>
            <a:stCxn id="11" idx="1"/>
            <a:endCxn id="25" idx="5"/>
          </p:cNvCxnSpPr>
          <p:nvPr/>
        </p:nvCxnSpPr>
        <p:spPr>
          <a:xfrm flipH="1" flipV="1">
            <a:off x="1997537" y="1854766"/>
            <a:ext cx="991132" cy="588156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16">
            <a:extLst>
              <a:ext uri="{FF2B5EF4-FFF2-40B4-BE49-F238E27FC236}">
                <a16:creationId xmlns:a16="http://schemas.microsoft.com/office/drawing/2014/main" id="{648B8ECD-DFF3-6BF9-BDD4-B027349045FA}"/>
              </a:ext>
            </a:extLst>
          </p:cNvPr>
          <p:cNvSpPr/>
          <p:nvPr/>
        </p:nvSpPr>
        <p:spPr>
          <a:xfrm>
            <a:off x="444568" y="3588350"/>
            <a:ext cx="360000" cy="360000"/>
          </a:xfrm>
          <a:prstGeom prst="ellipse">
            <a:avLst/>
          </a:prstGeom>
          <a:solidFill>
            <a:srgbClr val="D86E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0" name="Oval 17">
            <a:extLst>
              <a:ext uri="{FF2B5EF4-FFF2-40B4-BE49-F238E27FC236}">
                <a16:creationId xmlns:a16="http://schemas.microsoft.com/office/drawing/2014/main" id="{FB573457-7F17-F31E-AB49-758EE61C237A}"/>
              </a:ext>
            </a:extLst>
          </p:cNvPr>
          <p:cNvSpPr/>
          <p:nvPr/>
        </p:nvSpPr>
        <p:spPr>
          <a:xfrm>
            <a:off x="2935948" y="3588350"/>
            <a:ext cx="360000" cy="360000"/>
          </a:xfrm>
          <a:prstGeom prst="ellipse">
            <a:avLst/>
          </a:prstGeom>
          <a:solidFill>
            <a:srgbClr val="D86E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31" name="Straight Arrow Connector 18">
            <a:extLst>
              <a:ext uri="{FF2B5EF4-FFF2-40B4-BE49-F238E27FC236}">
                <a16:creationId xmlns:a16="http://schemas.microsoft.com/office/drawing/2014/main" id="{7E8A4832-7B86-9D02-4ACE-036A18EA23C3}"/>
              </a:ext>
            </a:extLst>
          </p:cNvPr>
          <p:cNvCxnSpPr>
            <a:cxnSpLocks/>
            <a:stCxn id="29" idx="0"/>
            <a:endCxn id="9" idx="4"/>
          </p:cNvCxnSpPr>
          <p:nvPr/>
        </p:nvCxnSpPr>
        <p:spPr>
          <a:xfrm flipV="1">
            <a:off x="624568" y="2750201"/>
            <a:ext cx="0" cy="838149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19">
            <a:extLst>
              <a:ext uri="{FF2B5EF4-FFF2-40B4-BE49-F238E27FC236}">
                <a16:creationId xmlns:a16="http://schemas.microsoft.com/office/drawing/2014/main" id="{C12F1453-CE49-D190-763E-45AF5F8E9BDB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804568" y="3768350"/>
            <a:ext cx="2131380" cy="0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20">
            <a:extLst>
              <a:ext uri="{FF2B5EF4-FFF2-40B4-BE49-F238E27FC236}">
                <a16:creationId xmlns:a16="http://schemas.microsoft.com/office/drawing/2014/main" id="{038A6413-2F17-7EF0-D9A1-C682629DDCD4}"/>
              </a:ext>
            </a:extLst>
          </p:cNvPr>
          <p:cNvCxnSpPr>
            <a:cxnSpLocks/>
            <a:stCxn id="30" idx="0"/>
            <a:endCxn id="11" idx="4"/>
          </p:cNvCxnSpPr>
          <p:nvPr/>
        </p:nvCxnSpPr>
        <p:spPr>
          <a:xfrm flipV="1">
            <a:off x="3115948" y="2750201"/>
            <a:ext cx="0" cy="838149"/>
          </a:xfrm>
          <a:prstGeom prst="straightConnector1">
            <a:avLst/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" name="Group 21">
            <a:extLst>
              <a:ext uri="{FF2B5EF4-FFF2-40B4-BE49-F238E27FC236}">
                <a16:creationId xmlns:a16="http://schemas.microsoft.com/office/drawing/2014/main" id="{8C48E80A-C7AD-FF23-A91D-55552C2F7057}"/>
              </a:ext>
            </a:extLst>
          </p:cNvPr>
          <p:cNvGrpSpPr/>
          <p:nvPr/>
        </p:nvGrpSpPr>
        <p:grpSpPr>
          <a:xfrm>
            <a:off x="3644137" y="1416449"/>
            <a:ext cx="2563289" cy="432000"/>
            <a:chOff x="4604412" y="1893985"/>
            <a:chExt cx="2563289" cy="432000"/>
          </a:xfrm>
        </p:grpSpPr>
        <p:sp>
          <p:nvSpPr>
            <p:cNvPr id="35" name="Arrow: Pentagon 22">
              <a:extLst>
                <a:ext uri="{FF2B5EF4-FFF2-40B4-BE49-F238E27FC236}">
                  <a16:creationId xmlns:a16="http://schemas.microsoft.com/office/drawing/2014/main" id="{40C8DE03-B127-DAB8-0BD6-09D41E4BDE89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36" name="Graphic 23" descr="Connections with solid fill">
              <a:extLst>
                <a:ext uri="{FF2B5EF4-FFF2-40B4-BE49-F238E27FC236}">
                  <a16:creationId xmlns:a16="http://schemas.microsoft.com/office/drawing/2014/main" id="{ABA546CF-14A6-0C3A-7F60-0D5EAAB8BB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3326119B-5C99-108B-2A05-19CC2B64EC83}"/>
                  </a:ext>
                </a:extLst>
              </p:cNvPr>
              <p:cNvSpPr txBox="1"/>
              <p:nvPr/>
            </p:nvSpPr>
            <p:spPr>
              <a:xfrm>
                <a:off x="6400312" y="1435629"/>
                <a:ext cx="15760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noProof="0" smtClean="0">
                          <a:solidFill>
                            <a:srgbClr val="006D7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noProof="0" smtClean="0">
                          <a:solidFill>
                            <a:srgbClr val="D0180A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noProof="0" smtClean="0">
                          <a:solidFill>
                            <a:srgbClr val="D86ECC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7" name="TextBox 24">
                <a:extLst>
                  <a:ext uri="{FF2B5EF4-FFF2-40B4-BE49-F238E27FC236}">
                    <a16:creationId xmlns:a16="http://schemas.microsoft.com/office/drawing/2014/main" id="{3326119B-5C99-108B-2A05-19CC2B64E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312" y="1435629"/>
                <a:ext cx="1576009" cy="369332"/>
              </a:xfrm>
              <a:prstGeom prst="rect">
                <a:avLst/>
              </a:prstGeom>
              <a:blipFill>
                <a:blip r:embed="rId4"/>
                <a:stretch>
                  <a:fillRect l="-2713" t="-1667" r="-5814" b="-33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862F5BE-02B7-8659-AF87-6A73B61F5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138" y="1958199"/>
            <a:ext cx="5042662" cy="28090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Identify every backdoor path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Check if there is a </a:t>
            </a:r>
            <a:r>
              <a:rPr lang="en-GB" b="1" dirty="0">
                <a:solidFill>
                  <a:srgbClr val="FFC000"/>
                </a:solidFill>
              </a:rPr>
              <a:t>collider</a:t>
            </a:r>
            <a:r>
              <a:rPr lang="en-GB" dirty="0"/>
              <a:t> between the cause and effect of interest.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If yes, do not condition on any of the variables on this path.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If not, condition on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any of the variables </a:t>
            </a:r>
            <a:r>
              <a:rPr lang="en-GB" dirty="0"/>
              <a:t>on this path to “close” the backdoor path.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Optionally, condition on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mediators</a:t>
            </a:r>
            <a:r>
              <a:rPr lang="en-GB" dirty="0"/>
              <a:t> to isolate the </a:t>
            </a:r>
            <a:r>
              <a:rPr lang="en-GB" b="1" dirty="0">
                <a:solidFill>
                  <a:srgbClr val="0070C0"/>
                </a:solidFill>
              </a:rPr>
              <a:t>direct effect</a:t>
            </a:r>
            <a:r>
              <a:rPr lang="en-GB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4B47698-E685-D3E9-646C-4B864DF9B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87" y="3325462"/>
            <a:ext cx="29527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D72F6AAB-4686-6727-2162-3B8FC3936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164" y="1336210"/>
            <a:ext cx="29527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E9B60BB-E602-579F-8904-D163A753E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440" y="2778063"/>
            <a:ext cx="29527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27">
            <a:extLst>
              <a:ext uri="{FF2B5EF4-FFF2-40B4-BE49-F238E27FC236}">
                <a16:creationId xmlns:a16="http://schemas.microsoft.com/office/drawing/2014/main" id="{5EA88111-3BB1-806D-A0C6-9B4FE21A156A}"/>
              </a:ext>
            </a:extLst>
          </p:cNvPr>
          <p:cNvSpPr txBox="1"/>
          <p:nvPr/>
        </p:nvSpPr>
        <p:spPr>
          <a:xfrm>
            <a:off x="5569540" y="768093"/>
            <a:ext cx="3255186" cy="461665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sv-SE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Adjustment</a:t>
            </a:r>
            <a:r>
              <a:rPr lang="sv-SE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set = {f,(e)}</a:t>
            </a:r>
          </a:p>
        </p:txBody>
      </p:sp>
    </p:spTree>
    <p:extLst>
      <p:ext uri="{BB962C8B-B14F-4D97-AF65-F5344CB8AC3E}">
        <p14:creationId xmlns:p14="http://schemas.microsoft.com/office/powerpoint/2010/main" val="921610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FCA58BBA-9427-FBA9-86DF-5F467F95F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Workflow for Statistical Causal Inference</a:t>
            </a:r>
            <a:endParaRPr lang="en-SE" dirty="0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73011F3D-7EEA-C73D-9C74-D3FF50B6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Workflow for Statistical Causal Inference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456A303-F4F7-644C-AF63-C0851875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22</a:t>
            </a:fld>
            <a:endParaRPr lang="en-SE" dirty="0"/>
          </a:p>
        </p:txBody>
      </p:sp>
      <p:grpSp>
        <p:nvGrpSpPr>
          <p:cNvPr id="5" name="Group 33">
            <a:extLst>
              <a:ext uri="{FF2B5EF4-FFF2-40B4-BE49-F238E27FC236}">
                <a16:creationId xmlns:a16="http://schemas.microsoft.com/office/drawing/2014/main" id="{DC8B161B-2C3E-C8B6-57AE-AB9A7F300C4E}"/>
              </a:ext>
            </a:extLst>
          </p:cNvPr>
          <p:cNvGrpSpPr/>
          <p:nvPr/>
        </p:nvGrpSpPr>
        <p:grpSpPr>
          <a:xfrm>
            <a:off x="452884" y="1387388"/>
            <a:ext cx="668387" cy="668387"/>
            <a:chOff x="838200" y="1905000"/>
            <a:chExt cx="1080000" cy="1080000"/>
          </a:xfrm>
        </p:grpSpPr>
        <p:sp>
          <p:nvSpPr>
            <p:cNvPr id="6" name="Oval 34">
              <a:extLst>
                <a:ext uri="{FF2B5EF4-FFF2-40B4-BE49-F238E27FC236}">
                  <a16:creationId xmlns:a16="http://schemas.microsoft.com/office/drawing/2014/main" id="{53DCF134-A9BD-85D2-3607-14694414D040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7" name="Graphic 35" descr="Influencer with solid fill">
              <a:extLst>
                <a:ext uri="{FF2B5EF4-FFF2-40B4-BE49-F238E27FC236}">
                  <a16:creationId xmlns:a16="http://schemas.microsoft.com/office/drawing/2014/main" id="{1E5CF365-FFDF-2006-3213-3A1D7A7D0D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8" name="Group 36">
            <a:extLst>
              <a:ext uri="{FF2B5EF4-FFF2-40B4-BE49-F238E27FC236}">
                <a16:creationId xmlns:a16="http://schemas.microsoft.com/office/drawing/2014/main" id="{AE406AE1-3EFE-8F0A-9B22-99363BDE70AE}"/>
              </a:ext>
            </a:extLst>
          </p:cNvPr>
          <p:cNvGrpSpPr/>
          <p:nvPr/>
        </p:nvGrpSpPr>
        <p:grpSpPr>
          <a:xfrm>
            <a:off x="452884" y="2573621"/>
            <a:ext cx="668387" cy="668387"/>
            <a:chOff x="838200" y="1905000"/>
            <a:chExt cx="1080000" cy="1080000"/>
          </a:xfrm>
        </p:grpSpPr>
        <p:sp>
          <p:nvSpPr>
            <p:cNvPr id="9" name="Oval 37">
              <a:extLst>
                <a:ext uri="{FF2B5EF4-FFF2-40B4-BE49-F238E27FC236}">
                  <a16:creationId xmlns:a16="http://schemas.microsoft.com/office/drawing/2014/main" id="{B6351C04-9148-506D-AE70-876E3576F157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>
                <a:lumMod val="90000"/>
                <a:lumOff val="10000"/>
              </a:srgbClr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" name="Graphic 38" descr="Magnifying glass with solid fill">
              <a:extLst>
                <a:ext uri="{FF2B5EF4-FFF2-40B4-BE49-F238E27FC236}">
                  <a16:creationId xmlns:a16="http://schemas.microsoft.com/office/drawing/2014/main" id="{803ECCF5-2E54-3CA0-AB4E-750C456554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11" name="Group 39">
            <a:extLst>
              <a:ext uri="{FF2B5EF4-FFF2-40B4-BE49-F238E27FC236}">
                <a16:creationId xmlns:a16="http://schemas.microsoft.com/office/drawing/2014/main" id="{E9CFA269-F868-4748-339D-8C1CFC281D1A}"/>
              </a:ext>
            </a:extLst>
          </p:cNvPr>
          <p:cNvGrpSpPr/>
          <p:nvPr/>
        </p:nvGrpSpPr>
        <p:grpSpPr>
          <a:xfrm>
            <a:off x="452884" y="3756473"/>
            <a:ext cx="668387" cy="668387"/>
            <a:chOff x="838200" y="1905000"/>
            <a:chExt cx="1080000" cy="1080000"/>
          </a:xfrm>
        </p:grpSpPr>
        <p:sp>
          <p:nvSpPr>
            <p:cNvPr id="12" name="Oval 40">
              <a:extLst>
                <a:ext uri="{FF2B5EF4-FFF2-40B4-BE49-F238E27FC236}">
                  <a16:creationId xmlns:a16="http://schemas.microsoft.com/office/drawing/2014/main" id="{2C35E6D1-7205-5D81-6A35-4EE21F2CCF3C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>
                <a:lumMod val="75000"/>
                <a:lumOff val="25000"/>
              </a:srgbClr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3" name="Graphic 41" descr="Normal Distribution with solid fill">
              <a:extLst>
                <a:ext uri="{FF2B5EF4-FFF2-40B4-BE49-F238E27FC236}">
                  <a16:creationId xmlns:a16="http://schemas.microsoft.com/office/drawing/2014/main" id="{8CB5B704-52FC-0A95-F6ED-152A88947B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14" name="Straight Arrow Connector 42">
            <a:extLst>
              <a:ext uri="{FF2B5EF4-FFF2-40B4-BE49-F238E27FC236}">
                <a16:creationId xmlns:a16="http://schemas.microsoft.com/office/drawing/2014/main" id="{7EED10D2-4F02-5D9A-4392-4887B9145D91}"/>
              </a:ext>
            </a:extLst>
          </p:cNvPr>
          <p:cNvCxnSpPr>
            <a:stCxn id="6" idx="4"/>
            <a:endCxn id="9" idx="0"/>
          </p:cNvCxnSpPr>
          <p:nvPr/>
        </p:nvCxnSpPr>
        <p:spPr>
          <a:xfrm>
            <a:off x="787078" y="2055775"/>
            <a:ext cx="0" cy="51784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Straight Arrow Connector 43">
            <a:extLst>
              <a:ext uri="{FF2B5EF4-FFF2-40B4-BE49-F238E27FC236}">
                <a16:creationId xmlns:a16="http://schemas.microsoft.com/office/drawing/2014/main" id="{88655349-8B68-22DB-D86D-6047787F8E03}"/>
              </a:ext>
            </a:extLst>
          </p:cNvPr>
          <p:cNvCxnSpPr>
            <a:cxnSpLocks/>
            <a:stCxn id="9" idx="4"/>
            <a:endCxn id="12" idx="0"/>
          </p:cNvCxnSpPr>
          <p:nvPr/>
        </p:nvCxnSpPr>
        <p:spPr>
          <a:xfrm>
            <a:off x="787078" y="3242008"/>
            <a:ext cx="0" cy="51446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TextBox 44">
            <a:extLst>
              <a:ext uri="{FF2B5EF4-FFF2-40B4-BE49-F238E27FC236}">
                <a16:creationId xmlns:a16="http://schemas.microsoft.com/office/drawing/2014/main" id="{B5E2A6BC-AF73-4ACC-080B-35B7C0F12585}"/>
              </a:ext>
            </a:extLst>
          </p:cNvPr>
          <p:cNvSpPr txBox="1"/>
          <p:nvPr/>
        </p:nvSpPr>
        <p:spPr>
          <a:xfrm>
            <a:off x="1185450" y="1354375"/>
            <a:ext cx="462421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Modelling</a:t>
            </a:r>
          </a:p>
          <a:p>
            <a:pPr defTabSz="914400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a DAG of assumed causal relationships</a:t>
            </a:r>
          </a:p>
        </p:txBody>
      </p:sp>
      <p:sp>
        <p:nvSpPr>
          <p:cNvPr id="17" name="TextBox 45">
            <a:extLst>
              <a:ext uri="{FF2B5EF4-FFF2-40B4-BE49-F238E27FC236}">
                <a16:creationId xmlns:a16="http://schemas.microsoft.com/office/drawing/2014/main" id="{FC8BA926-C196-DEB8-5F0C-7411F8C80E18}"/>
              </a:ext>
            </a:extLst>
          </p:cNvPr>
          <p:cNvSpPr txBox="1"/>
          <p:nvPr/>
        </p:nvSpPr>
        <p:spPr>
          <a:xfrm>
            <a:off x="1209936" y="2261890"/>
            <a:ext cx="6355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Identification</a:t>
            </a:r>
          </a:p>
          <a:p>
            <a:pPr defTabSz="914400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 statistical / ML model from the causal model </a:t>
            </a:r>
          </a:p>
        </p:txBody>
      </p:sp>
      <p:sp>
        <p:nvSpPr>
          <p:cNvPr id="18" name="TextBox 46">
            <a:extLst>
              <a:ext uri="{FF2B5EF4-FFF2-40B4-BE49-F238E27FC236}">
                <a16:creationId xmlns:a16="http://schemas.microsoft.com/office/drawing/2014/main" id="{02625AF7-B31C-7BAB-0AC5-662FA6DA5055}"/>
              </a:ext>
            </a:extLst>
          </p:cNvPr>
          <p:cNvSpPr txBox="1"/>
          <p:nvPr/>
        </p:nvSpPr>
        <p:spPr>
          <a:xfrm>
            <a:off x="1172513" y="3552592"/>
            <a:ext cx="57817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Estimation</a:t>
            </a:r>
          </a:p>
          <a:p>
            <a:pPr defTabSz="914400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a statistical model with the observed data and evaluating the results</a:t>
            </a:r>
          </a:p>
        </p:txBody>
      </p:sp>
      <p:grpSp>
        <p:nvGrpSpPr>
          <p:cNvPr id="19" name="Group 47">
            <a:extLst>
              <a:ext uri="{FF2B5EF4-FFF2-40B4-BE49-F238E27FC236}">
                <a16:creationId xmlns:a16="http://schemas.microsoft.com/office/drawing/2014/main" id="{22BAAC35-C3FC-B813-D446-AEFFEED80264}"/>
              </a:ext>
            </a:extLst>
          </p:cNvPr>
          <p:cNvGrpSpPr/>
          <p:nvPr/>
        </p:nvGrpSpPr>
        <p:grpSpPr>
          <a:xfrm>
            <a:off x="7203130" y="1431902"/>
            <a:ext cx="1461867" cy="829988"/>
            <a:chOff x="4267273" y="3180368"/>
            <a:chExt cx="1127414" cy="640099"/>
          </a:xfrm>
        </p:grpSpPr>
        <p:sp>
          <p:nvSpPr>
            <p:cNvPr id="20" name="Oval 48">
              <a:extLst>
                <a:ext uri="{FF2B5EF4-FFF2-40B4-BE49-F238E27FC236}">
                  <a16:creationId xmlns:a16="http://schemas.microsoft.com/office/drawing/2014/main" id="{C5D5FE96-EB75-F3ED-B86D-AA5E11226A66}"/>
                </a:ext>
              </a:extLst>
            </p:cNvPr>
            <p:cNvSpPr/>
            <p:nvPr/>
          </p:nvSpPr>
          <p:spPr>
            <a:xfrm>
              <a:off x="4267273" y="3180368"/>
              <a:ext cx="252000" cy="252000"/>
            </a:xfrm>
            <a:prstGeom prst="ellipse">
              <a:avLst/>
            </a:prstGeom>
            <a:solidFill>
              <a:srgbClr val="F8766D"/>
            </a:solidFill>
            <a:ln w="19050" cap="flat" cmpd="sng" algn="ctr">
              <a:solidFill>
                <a:srgbClr val="D0180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D0180A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</a:p>
          </p:txBody>
        </p:sp>
        <p:sp>
          <p:nvSpPr>
            <p:cNvPr id="21" name="Oval 49">
              <a:extLst>
                <a:ext uri="{FF2B5EF4-FFF2-40B4-BE49-F238E27FC236}">
                  <a16:creationId xmlns:a16="http://schemas.microsoft.com/office/drawing/2014/main" id="{A55F0719-C425-D138-8AE8-78D85DE8D47C}"/>
                </a:ext>
              </a:extLst>
            </p:cNvPr>
            <p:cNvSpPr/>
            <p:nvPr/>
          </p:nvSpPr>
          <p:spPr>
            <a:xfrm>
              <a:off x="5142687" y="3180368"/>
              <a:ext cx="252000" cy="252000"/>
            </a:xfrm>
            <a:prstGeom prst="ellipse">
              <a:avLst/>
            </a:prstGeom>
            <a:solidFill>
              <a:srgbClr val="00BFC4"/>
            </a:solidFill>
            <a:ln w="19050" cap="flat" cmpd="sng" algn="ctr">
              <a:solidFill>
                <a:srgbClr val="006D7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6D7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</a:p>
          </p:txBody>
        </p:sp>
        <p:cxnSp>
          <p:nvCxnSpPr>
            <p:cNvPr id="22" name="Straight Arrow Connector 50">
              <a:extLst>
                <a:ext uri="{FF2B5EF4-FFF2-40B4-BE49-F238E27FC236}">
                  <a16:creationId xmlns:a16="http://schemas.microsoft.com/office/drawing/2014/main" id="{CEE1A138-3B7F-D6DD-CB01-15CE09DD99CB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4519273" y="3306368"/>
              <a:ext cx="62341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3" name="Oval 51">
              <a:extLst>
                <a:ext uri="{FF2B5EF4-FFF2-40B4-BE49-F238E27FC236}">
                  <a16:creationId xmlns:a16="http://schemas.microsoft.com/office/drawing/2014/main" id="{4B6104F0-01BF-6351-65F4-E0535D4C54EA}"/>
                </a:ext>
              </a:extLst>
            </p:cNvPr>
            <p:cNvSpPr/>
            <p:nvPr/>
          </p:nvSpPr>
          <p:spPr>
            <a:xfrm>
              <a:off x="4704980" y="3568467"/>
              <a:ext cx="252000" cy="252000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</a:p>
          </p:txBody>
        </p:sp>
        <p:cxnSp>
          <p:nvCxnSpPr>
            <p:cNvPr id="24" name="Straight Arrow Connector 52">
              <a:extLst>
                <a:ext uri="{FF2B5EF4-FFF2-40B4-BE49-F238E27FC236}">
                  <a16:creationId xmlns:a16="http://schemas.microsoft.com/office/drawing/2014/main" id="{8CEF6695-96EE-E63B-E35F-43C023E981BB}"/>
                </a:ext>
              </a:extLst>
            </p:cNvPr>
            <p:cNvCxnSpPr>
              <a:cxnSpLocks/>
              <a:stCxn id="23" idx="7"/>
              <a:endCxn id="21" idx="3"/>
            </p:cNvCxnSpPr>
            <p:nvPr/>
          </p:nvCxnSpPr>
          <p:spPr>
            <a:xfrm flipV="1">
              <a:off x="4920075" y="3395463"/>
              <a:ext cx="259517" cy="20990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5" name="Straight Arrow Connector 53">
              <a:extLst>
                <a:ext uri="{FF2B5EF4-FFF2-40B4-BE49-F238E27FC236}">
                  <a16:creationId xmlns:a16="http://schemas.microsoft.com/office/drawing/2014/main" id="{A6EA0E6D-2A34-AA1F-31B8-E00C1D4DE6DB}"/>
                </a:ext>
              </a:extLst>
            </p:cNvPr>
            <p:cNvCxnSpPr>
              <a:cxnSpLocks/>
              <a:stCxn id="23" idx="1"/>
              <a:endCxn id="20" idx="5"/>
            </p:cNvCxnSpPr>
            <p:nvPr/>
          </p:nvCxnSpPr>
          <p:spPr>
            <a:xfrm flipH="1" flipV="1">
              <a:off x="4482368" y="3395463"/>
              <a:ext cx="259517" cy="20990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54">
                <a:extLst>
                  <a:ext uri="{FF2B5EF4-FFF2-40B4-BE49-F238E27FC236}">
                    <a16:creationId xmlns:a16="http://schemas.microsoft.com/office/drawing/2014/main" id="{50D0DFF9-5ECF-9A06-0AFD-D1E660EE7BC3}"/>
                  </a:ext>
                </a:extLst>
              </p:cNvPr>
              <p:cNvSpPr txBox="1"/>
              <p:nvPr/>
            </p:nvSpPr>
            <p:spPr>
              <a:xfrm>
                <a:off x="4200247" y="3143016"/>
                <a:ext cx="8677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1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8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TextBox 54">
                <a:extLst>
                  <a:ext uri="{FF2B5EF4-FFF2-40B4-BE49-F238E27FC236}">
                    <a16:creationId xmlns:a16="http://schemas.microsoft.com/office/drawing/2014/main" id="{50D0DFF9-5ECF-9A06-0AFD-D1E660EE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247" y="3143016"/>
                <a:ext cx="867738" cy="276999"/>
              </a:xfrm>
              <a:prstGeom prst="rect">
                <a:avLst/>
              </a:prstGeom>
              <a:blipFill>
                <a:blip r:embed="rId5"/>
                <a:stretch>
                  <a:fillRect l="-7042" r="-3521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56">
            <a:extLst>
              <a:ext uri="{FF2B5EF4-FFF2-40B4-BE49-F238E27FC236}">
                <a16:creationId xmlns:a16="http://schemas.microsoft.com/office/drawing/2014/main" id="{7BD0A7BF-30EB-6D10-71C8-E5F395627A7F}"/>
              </a:ext>
            </a:extLst>
          </p:cNvPr>
          <p:cNvGrpSpPr/>
          <p:nvPr/>
        </p:nvGrpSpPr>
        <p:grpSpPr>
          <a:xfrm>
            <a:off x="1468975" y="3081430"/>
            <a:ext cx="2563289" cy="432000"/>
            <a:chOff x="4604412" y="1893985"/>
            <a:chExt cx="2563289" cy="432000"/>
          </a:xfrm>
        </p:grpSpPr>
        <p:sp>
          <p:nvSpPr>
            <p:cNvPr id="29" name="Arrow: Pentagon 57">
              <a:extLst>
                <a:ext uri="{FF2B5EF4-FFF2-40B4-BE49-F238E27FC236}">
                  <a16:creationId xmlns:a16="http://schemas.microsoft.com/office/drawing/2014/main" id="{79A3750E-546C-4444-E6AB-32A7A7B5CBC6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rgbClr val="5D6F7A">
                <a:lumMod val="75000"/>
              </a:srgbClr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320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 Derivation</a:t>
              </a:r>
            </a:p>
          </p:txBody>
        </p:sp>
        <p:pic>
          <p:nvPicPr>
            <p:cNvPr id="30" name="Graphic 58" descr="Connections with solid fill">
              <a:extLst>
                <a:ext uri="{FF2B5EF4-FFF2-40B4-BE49-F238E27FC236}">
                  <a16:creationId xmlns:a16="http://schemas.microsoft.com/office/drawing/2014/main" id="{3B92EA74-95A2-1837-3736-C3192FE225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p:sp>
        <p:nvSpPr>
          <p:cNvPr id="31" name="TextBox 59">
            <a:extLst>
              <a:ext uri="{FF2B5EF4-FFF2-40B4-BE49-F238E27FC236}">
                <a16:creationId xmlns:a16="http://schemas.microsoft.com/office/drawing/2014/main" id="{2ED02729-CD8C-35CD-3BA6-91ED18333BCD}"/>
              </a:ext>
            </a:extLst>
          </p:cNvPr>
          <p:cNvSpPr txBox="1"/>
          <p:nvPr/>
        </p:nvSpPr>
        <p:spPr>
          <a:xfrm flipH="1">
            <a:off x="3162948" y="4526305"/>
            <a:ext cx="67711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Siebert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J. (2023). Applications of statistical causal inference in software engineering. I</a:t>
            </a:r>
            <a:r>
              <a:rPr lang="en-US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159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107198.</a:t>
            </a:r>
          </a:p>
        </p:txBody>
      </p:sp>
      <p:grpSp>
        <p:nvGrpSpPr>
          <p:cNvPr id="32" name="Group 47">
            <a:extLst>
              <a:ext uri="{FF2B5EF4-FFF2-40B4-BE49-F238E27FC236}">
                <a16:creationId xmlns:a16="http://schemas.microsoft.com/office/drawing/2014/main" id="{49D10198-B960-8DD2-C644-2A7652A309F2}"/>
              </a:ext>
            </a:extLst>
          </p:cNvPr>
          <p:cNvGrpSpPr/>
          <p:nvPr/>
        </p:nvGrpSpPr>
        <p:grpSpPr>
          <a:xfrm>
            <a:off x="7175690" y="2540794"/>
            <a:ext cx="1461867" cy="829988"/>
            <a:chOff x="4267273" y="3180368"/>
            <a:chExt cx="1127414" cy="640099"/>
          </a:xfrm>
        </p:grpSpPr>
        <p:sp>
          <p:nvSpPr>
            <p:cNvPr id="33" name="Oval 48">
              <a:extLst>
                <a:ext uri="{FF2B5EF4-FFF2-40B4-BE49-F238E27FC236}">
                  <a16:creationId xmlns:a16="http://schemas.microsoft.com/office/drawing/2014/main" id="{EC50B907-C72F-5235-8B5A-642566CCC92B}"/>
                </a:ext>
              </a:extLst>
            </p:cNvPr>
            <p:cNvSpPr/>
            <p:nvPr/>
          </p:nvSpPr>
          <p:spPr>
            <a:xfrm>
              <a:off x="4267273" y="3180368"/>
              <a:ext cx="252000" cy="252000"/>
            </a:xfrm>
            <a:prstGeom prst="ellipse">
              <a:avLst/>
            </a:prstGeom>
            <a:solidFill>
              <a:srgbClr val="F8766D"/>
            </a:solidFill>
            <a:ln w="19050" cap="flat" cmpd="sng" algn="ctr">
              <a:solidFill>
                <a:srgbClr val="D0180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D0180A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</a:t>
              </a:r>
            </a:p>
          </p:txBody>
        </p:sp>
        <p:sp>
          <p:nvSpPr>
            <p:cNvPr id="34" name="Oval 49">
              <a:extLst>
                <a:ext uri="{FF2B5EF4-FFF2-40B4-BE49-F238E27FC236}">
                  <a16:creationId xmlns:a16="http://schemas.microsoft.com/office/drawing/2014/main" id="{CDDBC754-F53B-4EC0-F846-04D24BC317A4}"/>
                </a:ext>
              </a:extLst>
            </p:cNvPr>
            <p:cNvSpPr/>
            <p:nvPr/>
          </p:nvSpPr>
          <p:spPr>
            <a:xfrm>
              <a:off x="5142687" y="3180368"/>
              <a:ext cx="252000" cy="252000"/>
            </a:xfrm>
            <a:prstGeom prst="ellipse">
              <a:avLst/>
            </a:prstGeom>
            <a:solidFill>
              <a:srgbClr val="00BFC4"/>
            </a:solidFill>
            <a:ln w="19050" cap="flat" cmpd="sng" algn="ctr">
              <a:solidFill>
                <a:srgbClr val="006D7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6D7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</a:t>
              </a:r>
            </a:p>
          </p:txBody>
        </p:sp>
        <p:cxnSp>
          <p:nvCxnSpPr>
            <p:cNvPr id="35" name="Straight Arrow Connector 50">
              <a:extLst>
                <a:ext uri="{FF2B5EF4-FFF2-40B4-BE49-F238E27FC236}">
                  <a16:creationId xmlns:a16="http://schemas.microsoft.com/office/drawing/2014/main" id="{DE346C9B-1962-8537-871F-7F29EAFF23B8}"/>
                </a:ext>
              </a:extLst>
            </p:cNvPr>
            <p:cNvCxnSpPr>
              <a:cxnSpLocks/>
              <a:stCxn id="33" idx="6"/>
              <a:endCxn id="34" idx="2"/>
            </p:cNvCxnSpPr>
            <p:nvPr/>
          </p:nvCxnSpPr>
          <p:spPr>
            <a:xfrm>
              <a:off x="4519273" y="3306368"/>
              <a:ext cx="62341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6" name="Oval 51">
              <a:extLst>
                <a:ext uri="{FF2B5EF4-FFF2-40B4-BE49-F238E27FC236}">
                  <a16:creationId xmlns:a16="http://schemas.microsoft.com/office/drawing/2014/main" id="{F0DF9BA7-D768-9AE9-6499-89FC42854690}"/>
                </a:ext>
              </a:extLst>
            </p:cNvPr>
            <p:cNvSpPr/>
            <p:nvPr/>
          </p:nvSpPr>
          <p:spPr>
            <a:xfrm>
              <a:off x="4704980" y="3568467"/>
              <a:ext cx="252000" cy="252000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z</a:t>
              </a:r>
            </a:p>
          </p:txBody>
        </p:sp>
        <p:cxnSp>
          <p:nvCxnSpPr>
            <p:cNvPr id="37" name="Straight Arrow Connector 52">
              <a:extLst>
                <a:ext uri="{FF2B5EF4-FFF2-40B4-BE49-F238E27FC236}">
                  <a16:creationId xmlns:a16="http://schemas.microsoft.com/office/drawing/2014/main" id="{C4AAD0DD-66D8-54C5-4867-50C68B918DD1}"/>
                </a:ext>
              </a:extLst>
            </p:cNvPr>
            <p:cNvCxnSpPr>
              <a:cxnSpLocks/>
              <a:stCxn id="36" idx="7"/>
              <a:endCxn id="34" idx="3"/>
            </p:cNvCxnSpPr>
            <p:nvPr/>
          </p:nvCxnSpPr>
          <p:spPr>
            <a:xfrm flipV="1">
              <a:off x="4920075" y="3395463"/>
              <a:ext cx="259517" cy="20990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8" name="Straight Arrow Connector 53">
              <a:extLst>
                <a:ext uri="{FF2B5EF4-FFF2-40B4-BE49-F238E27FC236}">
                  <a16:creationId xmlns:a16="http://schemas.microsoft.com/office/drawing/2014/main" id="{D6F00B53-9B22-6279-E60F-37AEB286F429}"/>
                </a:ext>
              </a:extLst>
            </p:cNvPr>
            <p:cNvCxnSpPr>
              <a:cxnSpLocks/>
              <a:stCxn id="36" idx="1"/>
              <a:endCxn id="33" idx="5"/>
            </p:cNvCxnSpPr>
            <p:nvPr/>
          </p:nvCxnSpPr>
          <p:spPr>
            <a:xfrm flipH="1" flipV="1">
              <a:off x="4482368" y="3395463"/>
              <a:ext cx="259517" cy="20990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0BD2AE24-279F-C127-C3F0-4F54E9F99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258" y="3021767"/>
            <a:ext cx="29527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4">
            <a:extLst>
              <a:ext uri="{FF2B5EF4-FFF2-40B4-BE49-F238E27FC236}">
                <a16:creationId xmlns:a16="http://schemas.microsoft.com/office/drawing/2014/main" id="{845996A4-BF4E-07BD-CB5D-314917C021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8544" y="3990502"/>
            <a:ext cx="2539987" cy="32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2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9624697B-B88A-F05E-03E9-B6DBF6C6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Workflow for Statistical Causal Inference</a:t>
            </a:r>
            <a:endParaRPr lang="en-SE" dirty="0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AC9D2F48-FA44-EF72-64B5-602C0B6A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Scientific Workflow: Traditional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E9F317A-A96A-1D64-F56C-E59C33C4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23</a:t>
            </a:fld>
            <a:endParaRPr lang="en-SE" dirty="0"/>
          </a:p>
        </p:txBody>
      </p:sp>
      <p:sp>
        <p:nvSpPr>
          <p:cNvPr id="35" name="TextBox 74">
            <a:extLst>
              <a:ext uri="{FF2B5EF4-FFF2-40B4-BE49-F238E27FC236}">
                <a16:creationId xmlns:a16="http://schemas.microsoft.com/office/drawing/2014/main" id="{E0BDD694-0D8D-0B71-CF3B-01FAF4B03CB2}"/>
              </a:ext>
            </a:extLst>
          </p:cNvPr>
          <p:cNvSpPr txBox="1"/>
          <p:nvPr/>
        </p:nvSpPr>
        <p:spPr>
          <a:xfrm>
            <a:off x="784972" y="2015719"/>
            <a:ext cx="148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75">
            <a:extLst>
              <a:ext uri="{FF2B5EF4-FFF2-40B4-BE49-F238E27FC236}">
                <a16:creationId xmlns:a16="http://schemas.microsoft.com/office/drawing/2014/main" id="{9469E69D-2D33-3BB4-3692-62CEAA27D142}"/>
              </a:ext>
            </a:extLst>
          </p:cNvPr>
          <p:cNvSpPr txBox="1"/>
          <p:nvPr/>
        </p:nvSpPr>
        <p:spPr>
          <a:xfrm>
            <a:off x="792053" y="2735140"/>
            <a:ext cx="1843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76">
            <a:extLst>
              <a:ext uri="{FF2B5EF4-FFF2-40B4-BE49-F238E27FC236}">
                <a16:creationId xmlns:a16="http://schemas.microsoft.com/office/drawing/2014/main" id="{692090FB-8144-723D-6DF7-1D9F9D412BB7}"/>
              </a:ext>
            </a:extLst>
          </p:cNvPr>
          <p:cNvSpPr txBox="1"/>
          <p:nvPr/>
        </p:nvSpPr>
        <p:spPr>
          <a:xfrm>
            <a:off x="792053" y="3443353"/>
            <a:ext cx="1512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Estimation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77">
            <a:extLst>
              <a:ext uri="{FF2B5EF4-FFF2-40B4-BE49-F238E27FC236}">
                <a16:creationId xmlns:a16="http://schemas.microsoft.com/office/drawing/2014/main" id="{04F16686-8C29-3F31-A08F-F89C2249B5C4}"/>
              </a:ext>
            </a:extLst>
          </p:cNvPr>
          <p:cNvSpPr txBox="1"/>
          <p:nvPr/>
        </p:nvSpPr>
        <p:spPr>
          <a:xfrm>
            <a:off x="792053" y="1286145"/>
            <a:ext cx="2080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83">
            <a:extLst>
              <a:ext uri="{FF2B5EF4-FFF2-40B4-BE49-F238E27FC236}">
                <a16:creationId xmlns:a16="http://schemas.microsoft.com/office/drawing/2014/main" id="{BD3F2CB3-82F6-5F24-C973-5C1640F9F164}"/>
              </a:ext>
            </a:extLst>
          </p:cNvPr>
          <p:cNvSpPr txBox="1"/>
          <p:nvPr/>
        </p:nvSpPr>
        <p:spPr>
          <a:xfrm>
            <a:off x="6774094" y="1337916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 Data</a:t>
            </a:r>
          </a:p>
        </p:txBody>
      </p:sp>
      <p:grpSp>
        <p:nvGrpSpPr>
          <p:cNvPr id="41" name="Group 84">
            <a:extLst>
              <a:ext uri="{FF2B5EF4-FFF2-40B4-BE49-F238E27FC236}">
                <a16:creationId xmlns:a16="http://schemas.microsoft.com/office/drawing/2014/main" id="{872D5F86-25F2-210A-CBE7-65B4498D84B3}"/>
              </a:ext>
            </a:extLst>
          </p:cNvPr>
          <p:cNvGrpSpPr/>
          <p:nvPr/>
        </p:nvGrpSpPr>
        <p:grpSpPr>
          <a:xfrm>
            <a:off x="154972" y="2000946"/>
            <a:ext cx="540000" cy="540000"/>
            <a:chOff x="838200" y="1905000"/>
            <a:chExt cx="1080000" cy="1080000"/>
          </a:xfrm>
        </p:grpSpPr>
        <p:sp>
          <p:nvSpPr>
            <p:cNvPr id="42" name="Oval 85">
              <a:extLst>
                <a:ext uri="{FF2B5EF4-FFF2-40B4-BE49-F238E27FC236}">
                  <a16:creationId xmlns:a16="http://schemas.microsoft.com/office/drawing/2014/main" id="{53C86C1A-BE3F-E7D0-1F1F-FF47652D1417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3" name="Graphic 86" descr="Influencer with solid fill">
              <a:extLst>
                <a:ext uri="{FF2B5EF4-FFF2-40B4-BE49-F238E27FC236}">
                  <a16:creationId xmlns:a16="http://schemas.microsoft.com/office/drawing/2014/main" id="{F06D3FB0-493B-AF05-C06F-B425D2B8D1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44" name="Group 87">
            <a:extLst>
              <a:ext uri="{FF2B5EF4-FFF2-40B4-BE49-F238E27FC236}">
                <a16:creationId xmlns:a16="http://schemas.microsoft.com/office/drawing/2014/main" id="{00C8654A-4BD3-290E-73DD-95A487B5D3BB}"/>
              </a:ext>
            </a:extLst>
          </p:cNvPr>
          <p:cNvGrpSpPr/>
          <p:nvPr/>
        </p:nvGrpSpPr>
        <p:grpSpPr>
          <a:xfrm>
            <a:off x="154972" y="2722600"/>
            <a:ext cx="540000" cy="540000"/>
            <a:chOff x="838200" y="1905000"/>
            <a:chExt cx="1080000" cy="1080000"/>
          </a:xfrm>
        </p:grpSpPr>
        <p:sp>
          <p:nvSpPr>
            <p:cNvPr id="45" name="Oval 88">
              <a:extLst>
                <a:ext uri="{FF2B5EF4-FFF2-40B4-BE49-F238E27FC236}">
                  <a16:creationId xmlns:a16="http://schemas.microsoft.com/office/drawing/2014/main" id="{490C50FA-2A4A-68F1-CA81-3B3B63A7F065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>
                <a:lumMod val="90000"/>
                <a:lumOff val="10000"/>
              </a:srgbClr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6" name="Graphic 89" descr="Magnifying glass with solid fill">
              <a:extLst>
                <a:ext uri="{FF2B5EF4-FFF2-40B4-BE49-F238E27FC236}">
                  <a16:creationId xmlns:a16="http://schemas.microsoft.com/office/drawing/2014/main" id="{3C7851E1-4A66-639F-D0A7-2015F00497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47" name="Group 90">
            <a:extLst>
              <a:ext uri="{FF2B5EF4-FFF2-40B4-BE49-F238E27FC236}">
                <a16:creationId xmlns:a16="http://schemas.microsoft.com/office/drawing/2014/main" id="{AD366589-30C8-5276-6327-34E315EDC920}"/>
              </a:ext>
            </a:extLst>
          </p:cNvPr>
          <p:cNvGrpSpPr/>
          <p:nvPr/>
        </p:nvGrpSpPr>
        <p:grpSpPr>
          <a:xfrm>
            <a:off x="148703" y="3434277"/>
            <a:ext cx="540000" cy="540000"/>
            <a:chOff x="838200" y="1905000"/>
            <a:chExt cx="1080000" cy="1080000"/>
          </a:xfrm>
        </p:grpSpPr>
        <p:sp>
          <p:nvSpPr>
            <p:cNvPr id="48" name="Oval 91">
              <a:extLst>
                <a:ext uri="{FF2B5EF4-FFF2-40B4-BE49-F238E27FC236}">
                  <a16:creationId xmlns:a16="http://schemas.microsoft.com/office/drawing/2014/main" id="{49535C63-6418-0C69-7845-32977FB146A2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>
                <a:lumMod val="75000"/>
                <a:lumOff val="25000"/>
              </a:srgbClr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9" name="Graphic 92" descr="Normal Distribution with solid fill">
              <a:extLst>
                <a:ext uri="{FF2B5EF4-FFF2-40B4-BE49-F238E27FC236}">
                  <a16:creationId xmlns:a16="http://schemas.microsoft.com/office/drawing/2014/main" id="{656ECC3A-2C70-65E8-95B6-AADB435B71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50" name="Straight Arrow Connector 93">
            <a:extLst>
              <a:ext uri="{FF2B5EF4-FFF2-40B4-BE49-F238E27FC236}">
                <a16:creationId xmlns:a16="http://schemas.microsoft.com/office/drawing/2014/main" id="{B53F6250-C464-03EE-451E-F596070810E5}"/>
              </a:ext>
            </a:extLst>
          </p:cNvPr>
          <p:cNvCxnSpPr>
            <a:stCxn id="42" idx="4"/>
            <a:endCxn id="45" idx="0"/>
          </p:cNvCxnSpPr>
          <p:nvPr/>
        </p:nvCxnSpPr>
        <p:spPr>
          <a:xfrm>
            <a:off x="424972" y="2540946"/>
            <a:ext cx="0" cy="18165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1" name="Straight Arrow Connector 94">
            <a:extLst>
              <a:ext uri="{FF2B5EF4-FFF2-40B4-BE49-F238E27FC236}">
                <a16:creationId xmlns:a16="http://schemas.microsoft.com/office/drawing/2014/main" id="{8232DA46-2F2E-34DF-DA99-AC0484FA172F}"/>
              </a:ext>
            </a:extLst>
          </p:cNvPr>
          <p:cNvCxnSpPr>
            <a:cxnSpLocks/>
            <a:stCxn id="45" idx="4"/>
            <a:endCxn id="48" idx="0"/>
          </p:cNvCxnSpPr>
          <p:nvPr/>
        </p:nvCxnSpPr>
        <p:spPr>
          <a:xfrm flipH="1">
            <a:off x="418703" y="3262600"/>
            <a:ext cx="6269" cy="17167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52" name="Group 95">
            <a:extLst>
              <a:ext uri="{FF2B5EF4-FFF2-40B4-BE49-F238E27FC236}">
                <a16:creationId xmlns:a16="http://schemas.microsoft.com/office/drawing/2014/main" id="{0D4000E6-D887-3973-8294-1540C7250652}"/>
              </a:ext>
            </a:extLst>
          </p:cNvPr>
          <p:cNvGrpSpPr/>
          <p:nvPr/>
        </p:nvGrpSpPr>
        <p:grpSpPr>
          <a:xfrm>
            <a:off x="154972" y="1283263"/>
            <a:ext cx="540000" cy="540000"/>
            <a:chOff x="838200" y="1905000"/>
            <a:chExt cx="1080000" cy="1080000"/>
          </a:xfrm>
        </p:grpSpPr>
        <p:sp>
          <p:nvSpPr>
            <p:cNvPr id="53" name="Oval 96">
              <a:extLst>
                <a:ext uri="{FF2B5EF4-FFF2-40B4-BE49-F238E27FC236}">
                  <a16:creationId xmlns:a16="http://schemas.microsoft.com/office/drawing/2014/main" id="{80199A91-F565-F21A-FD7A-102D1B7F4EF0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F15A22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4" name="Graphic 97" descr="Database with solid fill">
              <a:extLst>
                <a:ext uri="{FF2B5EF4-FFF2-40B4-BE49-F238E27FC236}">
                  <a16:creationId xmlns:a16="http://schemas.microsoft.com/office/drawing/2014/main" id="{A5B0C89A-AFB6-3A2A-BFD5-CD8771F81D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55" name="Straight Arrow Connector 98">
            <a:extLst>
              <a:ext uri="{FF2B5EF4-FFF2-40B4-BE49-F238E27FC236}">
                <a16:creationId xmlns:a16="http://schemas.microsoft.com/office/drawing/2014/main" id="{C16CE112-EF99-0D1F-6C6C-CA1E57D35888}"/>
              </a:ext>
            </a:extLst>
          </p:cNvPr>
          <p:cNvCxnSpPr>
            <a:cxnSpLocks/>
            <a:stCxn id="53" idx="4"/>
            <a:endCxn id="42" idx="0"/>
          </p:cNvCxnSpPr>
          <p:nvPr/>
        </p:nvCxnSpPr>
        <p:spPr>
          <a:xfrm>
            <a:off x="424972" y="1823263"/>
            <a:ext cx="0" cy="17768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Oval 3">
            <a:extLst>
              <a:ext uri="{FF2B5EF4-FFF2-40B4-BE49-F238E27FC236}">
                <a16:creationId xmlns:a16="http://schemas.microsoft.com/office/drawing/2014/main" id="{8A01A289-57E7-5067-2AB7-E4EC04AFB0AF}"/>
              </a:ext>
            </a:extLst>
          </p:cNvPr>
          <p:cNvSpPr/>
          <p:nvPr/>
        </p:nvSpPr>
        <p:spPr>
          <a:xfrm>
            <a:off x="4159259" y="3098938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57" name="Oval 5">
            <a:extLst>
              <a:ext uri="{FF2B5EF4-FFF2-40B4-BE49-F238E27FC236}">
                <a16:creationId xmlns:a16="http://schemas.microsoft.com/office/drawing/2014/main" id="{830ED1FE-6353-0B00-455F-AD4A4792CB84}"/>
              </a:ext>
            </a:extLst>
          </p:cNvPr>
          <p:cNvSpPr/>
          <p:nvPr/>
        </p:nvSpPr>
        <p:spPr>
          <a:xfrm>
            <a:off x="5592672" y="3098938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p:cxnSp>
        <p:nvCxnSpPr>
          <p:cNvPr id="58" name="Straight Arrow Connector 6">
            <a:extLst>
              <a:ext uri="{FF2B5EF4-FFF2-40B4-BE49-F238E27FC236}">
                <a16:creationId xmlns:a16="http://schemas.microsoft.com/office/drawing/2014/main" id="{04B97A24-E3C0-3851-8819-848A770E0310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4519259" y="3278938"/>
            <a:ext cx="10734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7">
            <a:extLst>
              <a:ext uri="{FF2B5EF4-FFF2-40B4-BE49-F238E27FC236}">
                <a16:creationId xmlns:a16="http://schemas.microsoft.com/office/drawing/2014/main" id="{82073F77-B312-AC14-0B55-795E18986D1E}"/>
              </a:ext>
            </a:extLst>
          </p:cNvPr>
          <p:cNvSpPr/>
          <p:nvPr/>
        </p:nvSpPr>
        <p:spPr>
          <a:xfrm>
            <a:off x="4875964" y="24499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</a:p>
        </p:txBody>
      </p:sp>
      <p:cxnSp>
        <p:nvCxnSpPr>
          <p:cNvPr id="60" name="Straight Arrow Connector 8">
            <a:extLst>
              <a:ext uri="{FF2B5EF4-FFF2-40B4-BE49-F238E27FC236}">
                <a16:creationId xmlns:a16="http://schemas.microsoft.com/office/drawing/2014/main" id="{BF473328-482E-349A-F166-A27D61DBB207}"/>
              </a:ext>
            </a:extLst>
          </p:cNvPr>
          <p:cNvCxnSpPr>
            <a:cxnSpLocks/>
            <a:stCxn id="59" idx="3"/>
            <a:endCxn id="56" idx="7"/>
          </p:cNvCxnSpPr>
          <p:nvPr/>
        </p:nvCxnSpPr>
        <p:spPr>
          <a:xfrm flipH="1">
            <a:off x="4466538" y="2757179"/>
            <a:ext cx="462147" cy="39448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9">
            <a:extLst>
              <a:ext uri="{FF2B5EF4-FFF2-40B4-BE49-F238E27FC236}">
                <a16:creationId xmlns:a16="http://schemas.microsoft.com/office/drawing/2014/main" id="{6B793D23-22F3-EF2F-2720-5C5F3F8CAA59}"/>
              </a:ext>
            </a:extLst>
          </p:cNvPr>
          <p:cNvCxnSpPr>
            <a:cxnSpLocks/>
            <a:stCxn id="59" idx="5"/>
            <a:endCxn id="57" idx="1"/>
          </p:cNvCxnSpPr>
          <p:nvPr/>
        </p:nvCxnSpPr>
        <p:spPr>
          <a:xfrm>
            <a:off x="5183243" y="2757179"/>
            <a:ext cx="462150" cy="39448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ectangle: Rounded Corners 13">
            <a:extLst>
              <a:ext uri="{FF2B5EF4-FFF2-40B4-BE49-F238E27FC236}">
                <a16:creationId xmlns:a16="http://schemas.microsoft.com/office/drawing/2014/main" id="{C1260DF4-4B53-E970-2400-F0F447F2D2D8}"/>
              </a:ext>
            </a:extLst>
          </p:cNvPr>
          <p:cNvSpPr/>
          <p:nvPr/>
        </p:nvSpPr>
        <p:spPr>
          <a:xfrm>
            <a:off x="692923" y="4094243"/>
            <a:ext cx="7758152" cy="590886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r>
              <a:rPr lang="en-GB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collecting data about a confounder will threaten the internal validity of your results</a:t>
            </a:r>
          </a:p>
        </p:txBody>
      </p:sp>
      <p:graphicFrame>
        <p:nvGraphicFramePr>
          <p:cNvPr id="67" name="Table 81">
            <a:extLst>
              <a:ext uri="{FF2B5EF4-FFF2-40B4-BE49-F238E27FC236}">
                <a16:creationId xmlns:a16="http://schemas.microsoft.com/office/drawing/2014/main" id="{9BC69B31-3643-F7A1-D5D4-7B040C764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64468"/>
              </p:ext>
            </p:extLst>
          </p:nvPr>
        </p:nvGraphicFramePr>
        <p:xfrm>
          <a:off x="7239247" y="2000946"/>
          <a:ext cx="1003300" cy="1828800"/>
        </p:xfrm>
        <a:graphic>
          <a:graphicData uri="http://schemas.openxmlformats.org/drawingml/2006/table">
            <a:tbl>
              <a:tblPr firstRow="1" bandRow="1"/>
              <a:tblGrid>
                <a:gridCol w="501650">
                  <a:extLst>
                    <a:ext uri="{9D8B030D-6E8A-4147-A177-3AD203B41FA5}">
                      <a16:colId xmlns:a16="http://schemas.microsoft.com/office/drawing/2014/main" val="421997289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79498115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noProof="0" dirty="0"/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noProof="0" dirty="0"/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2689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1626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508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072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2048"/>
                  </a:ext>
                </a:extLst>
              </a:tr>
            </a:tbl>
          </a:graphicData>
        </a:graphic>
      </p:graphicFrame>
      <p:pic>
        <p:nvPicPr>
          <p:cNvPr id="69" name="Bild 68" descr="Utropstecken med hel fyllning">
            <a:extLst>
              <a:ext uri="{FF2B5EF4-FFF2-40B4-BE49-F238E27FC236}">
                <a16:creationId xmlns:a16="http://schemas.microsoft.com/office/drawing/2014/main" id="{6B33C42A-56EA-BABD-EA35-23570896C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940" y="4130725"/>
            <a:ext cx="493022" cy="493022"/>
          </a:xfrm>
          <a:prstGeom prst="rect">
            <a:avLst/>
          </a:prstGeom>
        </p:spPr>
      </p:pic>
      <p:sp>
        <p:nvSpPr>
          <p:cNvPr id="71" name="TextBox 83">
            <a:extLst>
              <a:ext uri="{FF2B5EF4-FFF2-40B4-BE49-F238E27FC236}">
                <a16:creationId xmlns:a16="http://schemas.microsoft.com/office/drawing/2014/main" id="{EA8A8BC6-63F4-AB98-E1EF-3103ACE9162C}"/>
              </a:ext>
            </a:extLst>
          </p:cNvPr>
          <p:cNvSpPr txBox="1"/>
          <p:nvPr/>
        </p:nvSpPr>
        <p:spPr>
          <a:xfrm>
            <a:off x="4222711" y="1323224"/>
            <a:ext cx="1688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Assumed DAG</a:t>
            </a:r>
          </a:p>
        </p:txBody>
      </p:sp>
    </p:spTree>
    <p:extLst>
      <p:ext uri="{BB962C8B-B14F-4D97-AF65-F5344CB8AC3E}">
        <p14:creationId xmlns:p14="http://schemas.microsoft.com/office/powerpoint/2010/main" val="2863419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4B31-905A-0B9F-C7C2-29EF0FB1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0916F3E6-E4E6-B29D-638A-9DF68931D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Workflow for Statistical Causal Inference</a:t>
            </a:r>
            <a:endParaRPr lang="en-SE" dirty="0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1489962C-FC57-28FD-6B2C-1BA1924E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Scientific Workflow: Better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EDF7E2ED-85A2-98F4-C821-023D69BF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24</a:t>
            </a:fld>
            <a:endParaRPr lang="en-SE" dirty="0"/>
          </a:p>
        </p:txBody>
      </p:sp>
      <p:sp>
        <p:nvSpPr>
          <p:cNvPr id="35" name="TextBox 74">
            <a:extLst>
              <a:ext uri="{FF2B5EF4-FFF2-40B4-BE49-F238E27FC236}">
                <a16:creationId xmlns:a16="http://schemas.microsoft.com/office/drawing/2014/main" id="{A7F9F70C-51D0-B25A-E1F6-E6E5345F3E1A}"/>
              </a:ext>
            </a:extLst>
          </p:cNvPr>
          <p:cNvSpPr txBox="1"/>
          <p:nvPr/>
        </p:nvSpPr>
        <p:spPr>
          <a:xfrm>
            <a:off x="784972" y="2015719"/>
            <a:ext cx="1843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75">
            <a:extLst>
              <a:ext uri="{FF2B5EF4-FFF2-40B4-BE49-F238E27FC236}">
                <a16:creationId xmlns:a16="http://schemas.microsoft.com/office/drawing/2014/main" id="{E49D2642-53E1-0794-AE88-F615C26D09EA}"/>
              </a:ext>
            </a:extLst>
          </p:cNvPr>
          <p:cNvSpPr txBox="1"/>
          <p:nvPr/>
        </p:nvSpPr>
        <p:spPr>
          <a:xfrm>
            <a:off x="792053" y="2735140"/>
            <a:ext cx="2080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76">
            <a:extLst>
              <a:ext uri="{FF2B5EF4-FFF2-40B4-BE49-F238E27FC236}">
                <a16:creationId xmlns:a16="http://schemas.microsoft.com/office/drawing/2014/main" id="{1F58BA93-910E-6764-6735-CB1C17EA977B}"/>
              </a:ext>
            </a:extLst>
          </p:cNvPr>
          <p:cNvSpPr txBox="1"/>
          <p:nvPr/>
        </p:nvSpPr>
        <p:spPr>
          <a:xfrm>
            <a:off x="792053" y="3443353"/>
            <a:ext cx="1512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Estimation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77">
            <a:extLst>
              <a:ext uri="{FF2B5EF4-FFF2-40B4-BE49-F238E27FC236}">
                <a16:creationId xmlns:a16="http://schemas.microsoft.com/office/drawing/2014/main" id="{575A1AFB-FFC2-C913-2AEE-818EF0690F44}"/>
              </a:ext>
            </a:extLst>
          </p:cNvPr>
          <p:cNvSpPr txBox="1"/>
          <p:nvPr/>
        </p:nvSpPr>
        <p:spPr>
          <a:xfrm>
            <a:off x="792053" y="1286145"/>
            <a:ext cx="1443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83">
            <a:extLst>
              <a:ext uri="{FF2B5EF4-FFF2-40B4-BE49-F238E27FC236}">
                <a16:creationId xmlns:a16="http://schemas.microsoft.com/office/drawing/2014/main" id="{500B91D2-812F-B4C5-D9BA-5DFAD749CE58}"/>
              </a:ext>
            </a:extLst>
          </p:cNvPr>
          <p:cNvSpPr txBox="1"/>
          <p:nvPr/>
        </p:nvSpPr>
        <p:spPr>
          <a:xfrm>
            <a:off x="6774094" y="1337916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 Data</a:t>
            </a:r>
          </a:p>
        </p:txBody>
      </p:sp>
      <p:sp>
        <p:nvSpPr>
          <p:cNvPr id="56" name="Oval 3">
            <a:extLst>
              <a:ext uri="{FF2B5EF4-FFF2-40B4-BE49-F238E27FC236}">
                <a16:creationId xmlns:a16="http://schemas.microsoft.com/office/drawing/2014/main" id="{91DA04E4-5BD0-1F39-FB9E-288D6420339B}"/>
              </a:ext>
            </a:extLst>
          </p:cNvPr>
          <p:cNvSpPr/>
          <p:nvPr/>
        </p:nvSpPr>
        <p:spPr>
          <a:xfrm>
            <a:off x="4159259" y="3098938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57" name="Oval 5">
            <a:extLst>
              <a:ext uri="{FF2B5EF4-FFF2-40B4-BE49-F238E27FC236}">
                <a16:creationId xmlns:a16="http://schemas.microsoft.com/office/drawing/2014/main" id="{D39143D0-F503-B7BA-7F00-9C9F2BB3EB86}"/>
              </a:ext>
            </a:extLst>
          </p:cNvPr>
          <p:cNvSpPr/>
          <p:nvPr/>
        </p:nvSpPr>
        <p:spPr>
          <a:xfrm>
            <a:off x="5592672" y="3098938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p:cxnSp>
        <p:nvCxnSpPr>
          <p:cNvPr id="58" name="Straight Arrow Connector 6">
            <a:extLst>
              <a:ext uri="{FF2B5EF4-FFF2-40B4-BE49-F238E27FC236}">
                <a16:creationId xmlns:a16="http://schemas.microsoft.com/office/drawing/2014/main" id="{2039B9F4-DBC5-6ECE-BDB4-825429B531CB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4519259" y="3278938"/>
            <a:ext cx="10734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7">
            <a:extLst>
              <a:ext uri="{FF2B5EF4-FFF2-40B4-BE49-F238E27FC236}">
                <a16:creationId xmlns:a16="http://schemas.microsoft.com/office/drawing/2014/main" id="{B5BD6D17-09C3-1741-2F29-7408367B962A}"/>
              </a:ext>
            </a:extLst>
          </p:cNvPr>
          <p:cNvSpPr/>
          <p:nvPr/>
        </p:nvSpPr>
        <p:spPr>
          <a:xfrm>
            <a:off x="4875964" y="2449900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</a:p>
        </p:txBody>
      </p:sp>
      <p:cxnSp>
        <p:nvCxnSpPr>
          <p:cNvPr id="60" name="Straight Arrow Connector 8">
            <a:extLst>
              <a:ext uri="{FF2B5EF4-FFF2-40B4-BE49-F238E27FC236}">
                <a16:creationId xmlns:a16="http://schemas.microsoft.com/office/drawing/2014/main" id="{D1E69CA7-0A93-0E95-D284-82760E1741EC}"/>
              </a:ext>
            </a:extLst>
          </p:cNvPr>
          <p:cNvCxnSpPr>
            <a:cxnSpLocks/>
            <a:stCxn id="59" idx="3"/>
            <a:endCxn id="56" idx="7"/>
          </p:cNvCxnSpPr>
          <p:nvPr/>
        </p:nvCxnSpPr>
        <p:spPr>
          <a:xfrm flipH="1">
            <a:off x="4466538" y="2757179"/>
            <a:ext cx="462147" cy="394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9">
            <a:extLst>
              <a:ext uri="{FF2B5EF4-FFF2-40B4-BE49-F238E27FC236}">
                <a16:creationId xmlns:a16="http://schemas.microsoft.com/office/drawing/2014/main" id="{F4124B7B-5642-45BC-F09D-AF09CFC182E3}"/>
              </a:ext>
            </a:extLst>
          </p:cNvPr>
          <p:cNvCxnSpPr>
            <a:cxnSpLocks/>
            <a:stCxn id="59" idx="5"/>
            <a:endCxn id="57" idx="1"/>
          </p:cNvCxnSpPr>
          <p:nvPr/>
        </p:nvCxnSpPr>
        <p:spPr>
          <a:xfrm>
            <a:off x="5183243" y="2757179"/>
            <a:ext cx="462150" cy="394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10">
            <a:extLst>
              <a:ext uri="{FF2B5EF4-FFF2-40B4-BE49-F238E27FC236}">
                <a16:creationId xmlns:a16="http://schemas.microsoft.com/office/drawing/2014/main" id="{476B7D60-2F53-776D-FF62-F762E0A5CE61}"/>
              </a:ext>
            </a:extLst>
          </p:cNvPr>
          <p:cNvSpPr txBox="1"/>
          <p:nvPr/>
        </p:nvSpPr>
        <p:spPr>
          <a:xfrm>
            <a:off x="4145488" y="1710825"/>
            <a:ext cx="1820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hard-to-measure </a:t>
            </a:r>
          </a:p>
          <a:p>
            <a:pPr algn="ctr"/>
            <a:r>
              <a:rPr lang="en-US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confounder</a:t>
            </a:r>
          </a:p>
        </p:txBody>
      </p:sp>
      <p:sp>
        <p:nvSpPr>
          <p:cNvPr id="63" name="Rectangle: Rounded Corners 13">
            <a:extLst>
              <a:ext uri="{FF2B5EF4-FFF2-40B4-BE49-F238E27FC236}">
                <a16:creationId xmlns:a16="http://schemas.microsoft.com/office/drawing/2014/main" id="{96B86BE6-5235-989B-490C-964F7AE4EFF6}"/>
              </a:ext>
            </a:extLst>
          </p:cNvPr>
          <p:cNvSpPr/>
          <p:nvPr/>
        </p:nvSpPr>
        <p:spPr>
          <a:xfrm>
            <a:off x="692923" y="4094243"/>
            <a:ext cx="7758152" cy="493021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r>
              <a:rPr lang="en-GB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 often, we derive hypotheses from the data available to us.</a:t>
            </a:r>
          </a:p>
        </p:txBody>
      </p:sp>
      <p:pic>
        <p:nvPicPr>
          <p:cNvPr id="69" name="Bild 68" descr="Utropstecken med hel fyllning">
            <a:extLst>
              <a:ext uri="{FF2B5EF4-FFF2-40B4-BE49-F238E27FC236}">
                <a16:creationId xmlns:a16="http://schemas.microsoft.com/office/drawing/2014/main" id="{C3C0410D-32C1-65AC-C10C-766C48CB69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6940" y="4106661"/>
            <a:ext cx="493022" cy="493022"/>
          </a:xfrm>
          <a:prstGeom prst="rect">
            <a:avLst/>
          </a:prstGeom>
        </p:spPr>
      </p:pic>
      <p:sp>
        <p:nvSpPr>
          <p:cNvPr id="71" name="TextBox 83">
            <a:extLst>
              <a:ext uri="{FF2B5EF4-FFF2-40B4-BE49-F238E27FC236}">
                <a16:creationId xmlns:a16="http://schemas.microsoft.com/office/drawing/2014/main" id="{1258D0E0-A4A7-8111-560F-4DEBD1D0C441}"/>
              </a:ext>
            </a:extLst>
          </p:cNvPr>
          <p:cNvSpPr txBox="1"/>
          <p:nvPr/>
        </p:nvSpPr>
        <p:spPr>
          <a:xfrm>
            <a:off x="4222711" y="1323224"/>
            <a:ext cx="1688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Assumed DAG</a:t>
            </a:r>
          </a:p>
        </p:txBody>
      </p:sp>
      <p:grpSp>
        <p:nvGrpSpPr>
          <p:cNvPr id="8" name="Group 32">
            <a:extLst>
              <a:ext uri="{FF2B5EF4-FFF2-40B4-BE49-F238E27FC236}">
                <a16:creationId xmlns:a16="http://schemas.microsoft.com/office/drawing/2014/main" id="{2EF4796E-C339-1A5B-C7DE-2F39E25C545D}"/>
              </a:ext>
            </a:extLst>
          </p:cNvPr>
          <p:cNvGrpSpPr/>
          <p:nvPr/>
        </p:nvGrpSpPr>
        <p:grpSpPr>
          <a:xfrm>
            <a:off x="195138" y="1233991"/>
            <a:ext cx="540000" cy="540000"/>
            <a:chOff x="838200" y="1905000"/>
            <a:chExt cx="1080000" cy="1080000"/>
          </a:xfrm>
        </p:grpSpPr>
        <p:sp>
          <p:nvSpPr>
            <p:cNvPr id="9" name="Oval 33">
              <a:extLst>
                <a:ext uri="{FF2B5EF4-FFF2-40B4-BE49-F238E27FC236}">
                  <a16:creationId xmlns:a16="http://schemas.microsoft.com/office/drawing/2014/main" id="{74BCC0D5-9538-1F93-422D-3407E06B21E1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0" name="Graphic 34" descr="Influencer with solid fill">
              <a:extLst>
                <a:ext uri="{FF2B5EF4-FFF2-40B4-BE49-F238E27FC236}">
                  <a16:creationId xmlns:a16="http://schemas.microsoft.com/office/drawing/2014/main" id="{833F21A3-293D-8C85-E7E1-3C725949E6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11" name="Group 35">
            <a:extLst>
              <a:ext uri="{FF2B5EF4-FFF2-40B4-BE49-F238E27FC236}">
                <a16:creationId xmlns:a16="http://schemas.microsoft.com/office/drawing/2014/main" id="{9D6B223B-2D25-09A1-703B-A73907FE6B42}"/>
              </a:ext>
            </a:extLst>
          </p:cNvPr>
          <p:cNvGrpSpPr/>
          <p:nvPr/>
        </p:nvGrpSpPr>
        <p:grpSpPr>
          <a:xfrm>
            <a:off x="195138" y="1955645"/>
            <a:ext cx="540000" cy="540000"/>
            <a:chOff x="838200" y="1905000"/>
            <a:chExt cx="1080000" cy="1080000"/>
          </a:xfrm>
        </p:grpSpPr>
        <p:sp>
          <p:nvSpPr>
            <p:cNvPr id="12" name="Oval 36">
              <a:extLst>
                <a:ext uri="{FF2B5EF4-FFF2-40B4-BE49-F238E27FC236}">
                  <a16:creationId xmlns:a16="http://schemas.microsoft.com/office/drawing/2014/main" id="{EEE6B5E3-7638-D93C-220F-2F697F1ADA74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>
                <a:lumMod val="90000"/>
                <a:lumOff val="10000"/>
              </a:srgbClr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3" name="Graphic 37" descr="Magnifying glass with solid fill">
              <a:extLst>
                <a:ext uri="{FF2B5EF4-FFF2-40B4-BE49-F238E27FC236}">
                  <a16:creationId xmlns:a16="http://schemas.microsoft.com/office/drawing/2014/main" id="{781D56B4-2336-50BA-BB3A-611F23A217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14" name="Group 38">
            <a:extLst>
              <a:ext uri="{FF2B5EF4-FFF2-40B4-BE49-F238E27FC236}">
                <a16:creationId xmlns:a16="http://schemas.microsoft.com/office/drawing/2014/main" id="{259B2D83-CB15-A03E-B1D1-935B44D107FA}"/>
              </a:ext>
            </a:extLst>
          </p:cNvPr>
          <p:cNvGrpSpPr/>
          <p:nvPr/>
        </p:nvGrpSpPr>
        <p:grpSpPr>
          <a:xfrm>
            <a:off x="188869" y="3391918"/>
            <a:ext cx="540000" cy="540000"/>
            <a:chOff x="838200" y="1905000"/>
            <a:chExt cx="1080000" cy="1080000"/>
          </a:xfrm>
        </p:grpSpPr>
        <p:sp>
          <p:nvSpPr>
            <p:cNvPr id="15" name="Oval 39">
              <a:extLst>
                <a:ext uri="{FF2B5EF4-FFF2-40B4-BE49-F238E27FC236}">
                  <a16:creationId xmlns:a16="http://schemas.microsoft.com/office/drawing/2014/main" id="{17ADC95B-1966-3942-A30D-DF2DE058EE79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>
                <a:lumMod val="75000"/>
                <a:lumOff val="25000"/>
              </a:srgbClr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6" name="Graphic 40" descr="Normal Distribution with solid fill">
              <a:extLst>
                <a:ext uri="{FF2B5EF4-FFF2-40B4-BE49-F238E27FC236}">
                  <a16:creationId xmlns:a16="http://schemas.microsoft.com/office/drawing/2014/main" id="{D0410B5B-99D5-7330-8D54-BE5DA994CC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17" name="Straight Arrow Connector 41">
            <a:extLst>
              <a:ext uri="{FF2B5EF4-FFF2-40B4-BE49-F238E27FC236}">
                <a16:creationId xmlns:a16="http://schemas.microsoft.com/office/drawing/2014/main" id="{14912AAA-F5E9-9698-B89F-5DB37486AD09}"/>
              </a:ext>
            </a:extLst>
          </p:cNvPr>
          <p:cNvCxnSpPr>
            <a:stCxn id="9" idx="4"/>
            <a:endCxn id="12" idx="0"/>
          </p:cNvCxnSpPr>
          <p:nvPr/>
        </p:nvCxnSpPr>
        <p:spPr>
          <a:xfrm>
            <a:off x="465138" y="1773991"/>
            <a:ext cx="0" cy="18165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42">
            <a:extLst>
              <a:ext uri="{FF2B5EF4-FFF2-40B4-BE49-F238E27FC236}">
                <a16:creationId xmlns:a16="http://schemas.microsoft.com/office/drawing/2014/main" id="{49828C98-E7C4-4301-F7F0-AA11A86403E9}"/>
              </a:ext>
            </a:extLst>
          </p:cNvPr>
          <p:cNvCxnSpPr>
            <a:cxnSpLocks/>
            <a:stCxn id="12" idx="4"/>
            <a:endCxn id="20" idx="0"/>
          </p:cNvCxnSpPr>
          <p:nvPr/>
        </p:nvCxnSpPr>
        <p:spPr>
          <a:xfrm flipH="1">
            <a:off x="462431" y="2495645"/>
            <a:ext cx="2707" cy="17600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9" name="Group 43">
            <a:extLst>
              <a:ext uri="{FF2B5EF4-FFF2-40B4-BE49-F238E27FC236}">
                <a16:creationId xmlns:a16="http://schemas.microsoft.com/office/drawing/2014/main" id="{F2B098C3-835C-69C6-D383-098DE91B4D73}"/>
              </a:ext>
            </a:extLst>
          </p:cNvPr>
          <p:cNvGrpSpPr/>
          <p:nvPr/>
        </p:nvGrpSpPr>
        <p:grpSpPr>
          <a:xfrm>
            <a:off x="192431" y="2671646"/>
            <a:ext cx="540000" cy="540000"/>
            <a:chOff x="838200" y="1905000"/>
            <a:chExt cx="1080000" cy="1080000"/>
          </a:xfrm>
        </p:grpSpPr>
        <p:sp>
          <p:nvSpPr>
            <p:cNvPr id="20" name="Oval 44">
              <a:extLst>
                <a:ext uri="{FF2B5EF4-FFF2-40B4-BE49-F238E27FC236}">
                  <a16:creationId xmlns:a16="http://schemas.microsoft.com/office/drawing/2014/main" id="{5E8CEA2E-3D5C-81BB-9CEC-86AE47BAF832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F15A22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1" name="Graphic 45" descr="Database with solid fill">
              <a:extLst>
                <a:ext uri="{FF2B5EF4-FFF2-40B4-BE49-F238E27FC236}">
                  <a16:creationId xmlns:a16="http://schemas.microsoft.com/office/drawing/2014/main" id="{B9D3D789-997E-FC3E-2F0D-7709D39E26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22" name="Straight Arrow Connector 46">
            <a:extLst>
              <a:ext uri="{FF2B5EF4-FFF2-40B4-BE49-F238E27FC236}">
                <a16:creationId xmlns:a16="http://schemas.microsoft.com/office/drawing/2014/main" id="{BB23C0D3-FA63-683E-BAFC-419C88CA8135}"/>
              </a:ext>
            </a:extLst>
          </p:cNvPr>
          <p:cNvCxnSpPr>
            <a:cxnSpLocks/>
            <a:stCxn id="20" idx="4"/>
            <a:endCxn id="15" idx="0"/>
          </p:cNvCxnSpPr>
          <p:nvPr/>
        </p:nvCxnSpPr>
        <p:spPr>
          <a:xfrm flipH="1">
            <a:off x="458869" y="3211646"/>
            <a:ext cx="3562" cy="18027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aphicFrame>
        <p:nvGraphicFramePr>
          <p:cNvPr id="25" name="Table 51">
            <a:extLst>
              <a:ext uri="{FF2B5EF4-FFF2-40B4-BE49-F238E27FC236}">
                <a16:creationId xmlns:a16="http://schemas.microsoft.com/office/drawing/2014/main" id="{7A8FBE4D-4375-122A-77D8-0138CC8E4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888672"/>
              </p:ext>
            </p:extLst>
          </p:nvPr>
        </p:nvGraphicFramePr>
        <p:xfrm>
          <a:off x="6946125" y="1842779"/>
          <a:ext cx="1504950" cy="1828800"/>
        </p:xfrm>
        <a:graphic>
          <a:graphicData uri="http://schemas.openxmlformats.org/drawingml/2006/table">
            <a:tbl>
              <a:tblPr firstRow="1" bandRow="1"/>
              <a:tblGrid>
                <a:gridCol w="501650">
                  <a:extLst>
                    <a:ext uri="{9D8B030D-6E8A-4147-A177-3AD203B41FA5}">
                      <a16:colId xmlns:a16="http://schemas.microsoft.com/office/drawing/2014/main" val="421997289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79498115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51535749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noProof="0" dirty="0"/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noProof="0" dirty="0"/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F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2689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1626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508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072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2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613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FBBF-9AB6-A6E2-E03E-A7E7549D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5342123E-7EE6-BA74-D20A-3A56E5F20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Workflow for Statistical Causal Inference</a:t>
            </a:r>
            <a:endParaRPr lang="en-SE" dirty="0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92B5DF15-2774-98D4-B5A9-68FAF49E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Scientific Workflow: Best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4F5C9A3-B549-CA84-1401-72D8A329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25</a:t>
            </a:fld>
            <a:endParaRPr lang="en-SE" dirty="0"/>
          </a:p>
        </p:txBody>
      </p:sp>
      <p:sp>
        <p:nvSpPr>
          <p:cNvPr id="35" name="TextBox 74">
            <a:extLst>
              <a:ext uri="{FF2B5EF4-FFF2-40B4-BE49-F238E27FC236}">
                <a16:creationId xmlns:a16="http://schemas.microsoft.com/office/drawing/2014/main" id="{ECFED7D2-0A7F-F815-CFB4-4495B2EB1AA7}"/>
              </a:ext>
            </a:extLst>
          </p:cNvPr>
          <p:cNvSpPr txBox="1"/>
          <p:nvPr/>
        </p:nvSpPr>
        <p:spPr>
          <a:xfrm>
            <a:off x="784972" y="2015719"/>
            <a:ext cx="1843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75">
            <a:extLst>
              <a:ext uri="{FF2B5EF4-FFF2-40B4-BE49-F238E27FC236}">
                <a16:creationId xmlns:a16="http://schemas.microsoft.com/office/drawing/2014/main" id="{3D336546-E009-25C4-9698-42EA2D9FECFD}"/>
              </a:ext>
            </a:extLst>
          </p:cNvPr>
          <p:cNvSpPr txBox="1"/>
          <p:nvPr/>
        </p:nvSpPr>
        <p:spPr>
          <a:xfrm>
            <a:off x="792053" y="2735140"/>
            <a:ext cx="2080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77">
            <a:extLst>
              <a:ext uri="{FF2B5EF4-FFF2-40B4-BE49-F238E27FC236}">
                <a16:creationId xmlns:a16="http://schemas.microsoft.com/office/drawing/2014/main" id="{48818E8D-8970-E2BC-DAE8-BD7B9032375A}"/>
              </a:ext>
            </a:extLst>
          </p:cNvPr>
          <p:cNvSpPr txBox="1"/>
          <p:nvPr/>
        </p:nvSpPr>
        <p:spPr>
          <a:xfrm>
            <a:off x="792053" y="1286145"/>
            <a:ext cx="1443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83">
            <a:extLst>
              <a:ext uri="{FF2B5EF4-FFF2-40B4-BE49-F238E27FC236}">
                <a16:creationId xmlns:a16="http://schemas.microsoft.com/office/drawing/2014/main" id="{557568AC-8843-F023-618E-D6947BB8E115}"/>
              </a:ext>
            </a:extLst>
          </p:cNvPr>
          <p:cNvSpPr txBox="1"/>
          <p:nvPr/>
        </p:nvSpPr>
        <p:spPr>
          <a:xfrm>
            <a:off x="6774094" y="1337916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 Data</a:t>
            </a:r>
          </a:p>
        </p:txBody>
      </p:sp>
      <p:sp>
        <p:nvSpPr>
          <p:cNvPr id="56" name="Oval 3">
            <a:extLst>
              <a:ext uri="{FF2B5EF4-FFF2-40B4-BE49-F238E27FC236}">
                <a16:creationId xmlns:a16="http://schemas.microsoft.com/office/drawing/2014/main" id="{006BE661-BC25-669F-30FE-415BF2ACB8C5}"/>
              </a:ext>
            </a:extLst>
          </p:cNvPr>
          <p:cNvSpPr/>
          <p:nvPr/>
        </p:nvSpPr>
        <p:spPr>
          <a:xfrm>
            <a:off x="4118569" y="2428904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</a:p>
        </p:txBody>
      </p:sp>
      <p:sp>
        <p:nvSpPr>
          <p:cNvPr id="57" name="Oval 5">
            <a:extLst>
              <a:ext uri="{FF2B5EF4-FFF2-40B4-BE49-F238E27FC236}">
                <a16:creationId xmlns:a16="http://schemas.microsoft.com/office/drawing/2014/main" id="{63340FFA-2631-EA82-BA8F-376A8967EA7D}"/>
              </a:ext>
            </a:extLst>
          </p:cNvPr>
          <p:cNvSpPr/>
          <p:nvPr/>
        </p:nvSpPr>
        <p:spPr>
          <a:xfrm>
            <a:off x="5551982" y="2428904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p:cxnSp>
        <p:nvCxnSpPr>
          <p:cNvPr id="58" name="Straight Arrow Connector 6">
            <a:extLst>
              <a:ext uri="{FF2B5EF4-FFF2-40B4-BE49-F238E27FC236}">
                <a16:creationId xmlns:a16="http://schemas.microsoft.com/office/drawing/2014/main" id="{518B6D3F-0B67-94B5-A1E4-4A852A307CBA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4478569" y="2608904"/>
            <a:ext cx="10734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7">
            <a:extLst>
              <a:ext uri="{FF2B5EF4-FFF2-40B4-BE49-F238E27FC236}">
                <a16:creationId xmlns:a16="http://schemas.microsoft.com/office/drawing/2014/main" id="{BFD4EE98-0D88-C557-C37A-A55DD6398A9D}"/>
              </a:ext>
            </a:extLst>
          </p:cNvPr>
          <p:cNvSpPr/>
          <p:nvPr/>
        </p:nvSpPr>
        <p:spPr>
          <a:xfrm>
            <a:off x="4835274" y="1779866"/>
            <a:ext cx="360000" cy="360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</a:p>
        </p:txBody>
      </p:sp>
      <p:cxnSp>
        <p:nvCxnSpPr>
          <p:cNvPr id="60" name="Straight Arrow Connector 8">
            <a:extLst>
              <a:ext uri="{FF2B5EF4-FFF2-40B4-BE49-F238E27FC236}">
                <a16:creationId xmlns:a16="http://schemas.microsoft.com/office/drawing/2014/main" id="{45856568-C529-5E52-706A-3678EA7C605D}"/>
              </a:ext>
            </a:extLst>
          </p:cNvPr>
          <p:cNvCxnSpPr>
            <a:cxnSpLocks/>
            <a:stCxn id="59" idx="3"/>
            <a:endCxn id="56" idx="7"/>
          </p:cNvCxnSpPr>
          <p:nvPr/>
        </p:nvCxnSpPr>
        <p:spPr>
          <a:xfrm flipH="1">
            <a:off x="4425848" y="2087145"/>
            <a:ext cx="462147" cy="394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9">
            <a:extLst>
              <a:ext uri="{FF2B5EF4-FFF2-40B4-BE49-F238E27FC236}">
                <a16:creationId xmlns:a16="http://schemas.microsoft.com/office/drawing/2014/main" id="{D8B919CB-6C12-5199-2E41-966C62C5F414}"/>
              </a:ext>
            </a:extLst>
          </p:cNvPr>
          <p:cNvCxnSpPr>
            <a:cxnSpLocks/>
            <a:stCxn id="59" idx="5"/>
            <a:endCxn id="57" idx="1"/>
          </p:cNvCxnSpPr>
          <p:nvPr/>
        </p:nvCxnSpPr>
        <p:spPr>
          <a:xfrm>
            <a:off x="5142553" y="2087145"/>
            <a:ext cx="462150" cy="394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10">
            <a:extLst>
              <a:ext uri="{FF2B5EF4-FFF2-40B4-BE49-F238E27FC236}">
                <a16:creationId xmlns:a16="http://schemas.microsoft.com/office/drawing/2014/main" id="{7A606D89-C3C5-D257-DFE6-941FC9E364BA}"/>
              </a:ext>
            </a:extLst>
          </p:cNvPr>
          <p:cNvSpPr txBox="1"/>
          <p:nvPr/>
        </p:nvSpPr>
        <p:spPr>
          <a:xfrm>
            <a:off x="3269059" y="3478975"/>
            <a:ext cx="351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Unobservable confounder</a:t>
            </a:r>
          </a:p>
        </p:txBody>
      </p:sp>
      <p:sp>
        <p:nvSpPr>
          <p:cNvPr id="63" name="Rectangle: Rounded Corners 13">
            <a:extLst>
              <a:ext uri="{FF2B5EF4-FFF2-40B4-BE49-F238E27FC236}">
                <a16:creationId xmlns:a16="http://schemas.microsoft.com/office/drawing/2014/main" id="{FD9FFE0E-CD36-B8F7-FA23-9CDD6848E53E}"/>
              </a:ext>
            </a:extLst>
          </p:cNvPr>
          <p:cNvSpPr/>
          <p:nvPr/>
        </p:nvSpPr>
        <p:spPr>
          <a:xfrm>
            <a:off x="3294363" y="3939376"/>
            <a:ext cx="5578260" cy="819961"/>
          </a:xfrm>
          <a:prstGeom prst="round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000" rtlCol="0" anchor="ctr"/>
          <a:lstStyle/>
          <a:p>
            <a:r>
              <a:rPr lang="en-GB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Unobservable confounders require </a:t>
            </a:r>
            <a:br>
              <a:rPr lang="en-GB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 acknowledgement in the threats to (internal) validity and (b) different research strategies.</a:t>
            </a:r>
          </a:p>
        </p:txBody>
      </p:sp>
      <p:pic>
        <p:nvPicPr>
          <p:cNvPr id="69" name="Bild 68" descr="Utropstecken med hel fyllning">
            <a:extLst>
              <a:ext uri="{FF2B5EF4-FFF2-40B4-BE49-F238E27FC236}">
                <a16:creationId xmlns:a16="http://schemas.microsoft.com/office/drawing/2014/main" id="{E609638F-E783-E1D7-91D6-A4458A9BA8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4317" y="4134718"/>
            <a:ext cx="493022" cy="493022"/>
          </a:xfrm>
          <a:prstGeom prst="rect">
            <a:avLst/>
          </a:prstGeom>
        </p:spPr>
      </p:pic>
      <p:sp>
        <p:nvSpPr>
          <p:cNvPr id="71" name="TextBox 83">
            <a:extLst>
              <a:ext uri="{FF2B5EF4-FFF2-40B4-BE49-F238E27FC236}">
                <a16:creationId xmlns:a16="http://schemas.microsoft.com/office/drawing/2014/main" id="{37111F22-0E03-B3DE-0FDD-2FDFDCA300EA}"/>
              </a:ext>
            </a:extLst>
          </p:cNvPr>
          <p:cNvSpPr txBox="1"/>
          <p:nvPr/>
        </p:nvSpPr>
        <p:spPr>
          <a:xfrm>
            <a:off x="4222711" y="1323224"/>
            <a:ext cx="1688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Assumed DAG</a:t>
            </a:r>
          </a:p>
        </p:txBody>
      </p:sp>
      <p:grpSp>
        <p:nvGrpSpPr>
          <p:cNvPr id="8" name="Group 32">
            <a:extLst>
              <a:ext uri="{FF2B5EF4-FFF2-40B4-BE49-F238E27FC236}">
                <a16:creationId xmlns:a16="http://schemas.microsoft.com/office/drawing/2014/main" id="{7B1F5BFD-16EE-B3C8-C3F7-F76BAB5F1BD9}"/>
              </a:ext>
            </a:extLst>
          </p:cNvPr>
          <p:cNvGrpSpPr/>
          <p:nvPr/>
        </p:nvGrpSpPr>
        <p:grpSpPr>
          <a:xfrm>
            <a:off x="195138" y="1233991"/>
            <a:ext cx="540000" cy="540000"/>
            <a:chOff x="838200" y="1905000"/>
            <a:chExt cx="1080000" cy="1080000"/>
          </a:xfrm>
        </p:grpSpPr>
        <p:sp>
          <p:nvSpPr>
            <p:cNvPr id="9" name="Oval 33">
              <a:extLst>
                <a:ext uri="{FF2B5EF4-FFF2-40B4-BE49-F238E27FC236}">
                  <a16:creationId xmlns:a16="http://schemas.microsoft.com/office/drawing/2014/main" id="{06915DC2-6A47-6E6F-BA49-E0029893C4AA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0" name="Graphic 34" descr="Influencer with solid fill">
              <a:extLst>
                <a:ext uri="{FF2B5EF4-FFF2-40B4-BE49-F238E27FC236}">
                  <a16:creationId xmlns:a16="http://schemas.microsoft.com/office/drawing/2014/main" id="{3FFE690C-7569-D9FF-A83A-7D9C10D652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grpSp>
        <p:nvGrpSpPr>
          <p:cNvPr id="11" name="Group 35">
            <a:extLst>
              <a:ext uri="{FF2B5EF4-FFF2-40B4-BE49-F238E27FC236}">
                <a16:creationId xmlns:a16="http://schemas.microsoft.com/office/drawing/2014/main" id="{950BB19A-8DDC-37C3-85CB-661B09A70DB3}"/>
              </a:ext>
            </a:extLst>
          </p:cNvPr>
          <p:cNvGrpSpPr/>
          <p:nvPr/>
        </p:nvGrpSpPr>
        <p:grpSpPr>
          <a:xfrm>
            <a:off x="195138" y="1955645"/>
            <a:ext cx="540000" cy="540000"/>
            <a:chOff x="838200" y="1905000"/>
            <a:chExt cx="1080000" cy="1080000"/>
          </a:xfrm>
        </p:grpSpPr>
        <p:sp>
          <p:nvSpPr>
            <p:cNvPr id="12" name="Oval 36">
              <a:extLst>
                <a:ext uri="{FF2B5EF4-FFF2-40B4-BE49-F238E27FC236}">
                  <a16:creationId xmlns:a16="http://schemas.microsoft.com/office/drawing/2014/main" id="{1FF58DB0-337D-B228-7BC9-1E0F4089FC56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003050">
                <a:lumMod val="90000"/>
                <a:lumOff val="10000"/>
              </a:srgbClr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3" name="Graphic 37" descr="Magnifying glass with solid fill">
              <a:extLst>
                <a:ext uri="{FF2B5EF4-FFF2-40B4-BE49-F238E27FC236}">
                  <a16:creationId xmlns:a16="http://schemas.microsoft.com/office/drawing/2014/main" id="{F94E06B4-3B7A-0C5D-3771-904ED8EFFC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17" name="Straight Arrow Connector 41">
            <a:extLst>
              <a:ext uri="{FF2B5EF4-FFF2-40B4-BE49-F238E27FC236}">
                <a16:creationId xmlns:a16="http://schemas.microsoft.com/office/drawing/2014/main" id="{DC2A1AF9-7492-4444-ACBB-0607587A6F2A}"/>
              </a:ext>
            </a:extLst>
          </p:cNvPr>
          <p:cNvCxnSpPr>
            <a:stCxn id="9" idx="4"/>
            <a:endCxn id="12" idx="0"/>
          </p:cNvCxnSpPr>
          <p:nvPr/>
        </p:nvCxnSpPr>
        <p:spPr>
          <a:xfrm>
            <a:off x="465138" y="1773991"/>
            <a:ext cx="0" cy="18165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42">
            <a:extLst>
              <a:ext uri="{FF2B5EF4-FFF2-40B4-BE49-F238E27FC236}">
                <a16:creationId xmlns:a16="http://schemas.microsoft.com/office/drawing/2014/main" id="{95B278F1-5228-510E-2F06-13F4CDDAD066}"/>
              </a:ext>
            </a:extLst>
          </p:cNvPr>
          <p:cNvCxnSpPr>
            <a:cxnSpLocks/>
            <a:stCxn id="12" idx="4"/>
            <a:endCxn id="20" idx="0"/>
          </p:cNvCxnSpPr>
          <p:nvPr/>
        </p:nvCxnSpPr>
        <p:spPr>
          <a:xfrm flipH="1">
            <a:off x="462431" y="2495645"/>
            <a:ext cx="2707" cy="17600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9" name="Group 43">
            <a:extLst>
              <a:ext uri="{FF2B5EF4-FFF2-40B4-BE49-F238E27FC236}">
                <a16:creationId xmlns:a16="http://schemas.microsoft.com/office/drawing/2014/main" id="{1F4D467A-2BC6-18CE-D8CE-E0826A711380}"/>
              </a:ext>
            </a:extLst>
          </p:cNvPr>
          <p:cNvGrpSpPr/>
          <p:nvPr/>
        </p:nvGrpSpPr>
        <p:grpSpPr>
          <a:xfrm>
            <a:off x="192431" y="2671646"/>
            <a:ext cx="540000" cy="540000"/>
            <a:chOff x="838200" y="1905000"/>
            <a:chExt cx="1080000" cy="1080000"/>
          </a:xfrm>
        </p:grpSpPr>
        <p:sp>
          <p:nvSpPr>
            <p:cNvPr id="20" name="Oval 44">
              <a:extLst>
                <a:ext uri="{FF2B5EF4-FFF2-40B4-BE49-F238E27FC236}">
                  <a16:creationId xmlns:a16="http://schemas.microsoft.com/office/drawing/2014/main" id="{5149738E-E698-479E-9053-E2B33D194AC7}"/>
                </a:ext>
              </a:extLst>
            </p:cNvPr>
            <p:cNvSpPr/>
            <p:nvPr/>
          </p:nvSpPr>
          <p:spPr>
            <a:xfrm>
              <a:off x="838200" y="1905000"/>
              <a:ext cx="1080000" cy="1080000"/>
            </a:xfrm>
            <a:prstGeom prst="ellipse">
              <a:avLst/>
            </a:prstGeom>
            <a:solidFill>
              <a:srgbClr val="F15A22"/>
            </a:solidFill>
            <a:ln w="1905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1" name="Graphic 45" descr="Database with solid fill">
              <a:extLst>
                <a:ext uri="{FF2B5EF4-FFF2-40B4-BE49-F238E27FC236}">
                  <a16:creationId xmlns:a16="http://schemas.microsoft.com/office/drawing/2014/main" id="{6E056CFC-D521-5003-095D-BA1F681393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21000" y="1987800"/>
              <a:ext cx="914400" cy="914400"/>
            </a:xfrm>
            <a:prstGeom prst="rect">
              <a:avLst/>
            </a:prstGeom>
          </p:spPr>
        </p:pic>
      </p:grpSp>
      <p:cxnSp>
        <p:nvCxnSpPr>
          <p:cNvPr id="22" name="Straight Arrow Connector 46">
            <a:extLst>
              <a:ext uri="{FF2B5EF4-FFF2-40B4-BE49-F238E27FC236}">
                <a16:creationId xmlns:a16="http://schemas.microsoft.com/office/drawing/2014/main" id="{D3EAB39E-7CD0-49F1-38EC-E4F990DD5D12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458869" y="3211646"/>
            <a:ext cx="3562" cy="18027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3" name="Grupp 32">
            <a:extLst>
              <a:ext uri="{FF2B5EF4-FFF2-40B4-BE49-F238E27FC236}">
                <a16:creationId xmlns:a16="http://schemas.microsoft.com/office/drawing/2014/main" id="{82F38008-6CE6-CC78-241E-274A67ABDD8C}"/>
              </a:ext>
            </a:extLst>
          </p:cNvPr>
          <p:cNvGrpSpPr/>
          <p:nvPr/>
        </p:nvGrpSpPr>
        <p:grpSpPr>
          <a:xfrm>
            <a:off x="141531" y="3152055"/>
            <a:ext cx="3677940" cy="1276425"/>
            <a:chOff x="3016678" y="1792741"/>
            <a:chExt cx="3677940" cy="1276425"/>
          </a:xfrm>
        </p:grpSpPr>
        <p:sp>
          <p:nvSpPr>
            <p:cNvPr id="5" name="TextBox 57">
              <a:extLst>
                <a:ext uri="{FF2B5EF4-FFF2-40B4-BE49-F238E27FC236}">
                  <a16:creationId xmlns:a16="http://schemas.microsoft.com/office/drawing/2014/main" id="{8D88A9E7-12DB-C38B-10DF-D5DBB136E857}"/>
                </a:ext>
              </a:extLst>
            </p:cNvPr>
            <p:cNvSpPr txBox="1"/>
            <p:nvPr/>
          </p:nvSpPr>
          <p:spPr>
            <a:xfrm>
              <a:off x="3595958" y="2544572"/>
              <a:ext cx="15120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24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Estimation</a:t>
              </a:r>
              <a:endParaRPr lang="en-US" sz="1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" name="Group 59">
              <a:extLst>
                <a:ext uri="{FF2B5EF4-FFF2-40B4-BE49-F238E27FC236}">
                  <a16:creationId xmlns:a16="http://schemas.microsoft.com/office/drawing/2014/main" id="{E87AA5D5-496A-6C74-E46E-655BE0E8F96B}"/>
                </a:ext>
              </a:extLst>
            </p:cNvPr>
            <p:cNvGrpSpPr/>
            <p:nvPr/>
          </p:nvGrpSpPr>
          <p:grpSpPr>
            <a:xfrm>
              <a:off x="3052678" y="2529166"/>
              <a:ext cx="540000" cy="540000"/>
              <a:chOff x="838200" y="1905000"/>
              <a:chExt cx="1080000" cy="1080000"/>
            </a:xfrm>
          </p:grpSpPr>
          <p:sp>
            <p:nvSpPr>
              <p:cNvPr id="7" name="Oval 60">
                <a:extLst>
                  <a:ext uri="{FF2B5EF4-FFF2-40B4-BE49-F238E27FC236}">
                    <a16:creationId xmlns:a16="http://schemas.microsoft.com/office/drawing/2014/main" id="{BD022462-985F-F37C-D00E-C1877451F751}"/>
                  </a:ext>
                </a:extLst>
              </p:cNvPr>
              <p:cNvSpPr/>
              <p:nvPr/>
            </p:nvSpPr>
            <p:spPr>
              <a:xfrm>
                <a:off x="838200" y="1905000"/>
                <a:ext cx="1080000" cy="1080000"/>
              </a:xfrm>
              <a:prstGeom prst="ellipse">
                <a:avLst/>
              </a:prstGeom>
              <a:solidFill>
                <a:srgbClr val="003050">
                  <a:lumMod val="75000"/>
                  <a:lumOff val="2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3" name="Graphic 61" descr="Normal Distribution with solid fill">
                <a:extLst>
                  <a:ext uri="{FF2B5EF4-FFF2-40B4-BE49-F238E27FC236}">
                    <a16:creationId xmlns:a16="http://schemas.microsoft.com/office/drawing/2014/main" id="{B5C7BD30-BA54-BF21-7C87-D1C45E28E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921000" y="1987800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4" name="Diamond 62">
              <a:extLst>
                <a:ext uri="{FF2B5EF4-FFF2-40B4-BE49-F238E27FC236}">
                  <a16:creationId xmlns:a16="http://schemas.microsoft.com/office/drawing/2014/main" id="{E1E65DE5-2491-C9A6-5789-BAA2E6482D4E}"/>
                </a:ext>
              </a:extLst>
            </p:cNvPr>
            <p:cNvSpPr/>
            <p:nvPr/>
          </p:nvSpPr>
          <p:spPr>
            <a:xfrm>
              <a:off x="3016678" y="2044562"/>
              <a:ext cx="612000" cy="355435"/>
            </a:xfrm>
            <a:prstGeom prst="diamond">
              <a:avLst/>
            </a:prstGeom>
            <a:solidFill>
              <a:srgbClr val="F15A22">
                <a:lumMod val="60000"/>
                <a:lumOff val="40000"/>
              </a:srgbClr>
            </a:solidFill>
            <a:ln w="19050" cap="flat" cmpd="sng" algn="ctr">
              <a:solidFill>
                <a:srgbClr val="F15A22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6" name="Straight Arrow Connector 63">
              <a:extLst>
                <a:ext uri="{FF2B5EF4-FFF2-40B4-BE49-F238E27FC236}">
                  <a16:creationId xmlns:a16="http://schemas.microsoft.com/office/drawing/2014/main" id="{17064FAE-6678-7F37-C9CC-7BF801285A8B}"/>
                </a:ext>
              </a:extLst>
            </p:cNvPr>
            <p:cNvCxnSpPr>
              <a:cxnSpLocks/>
              <a:stCxn id="24" idx="2"/>
              <a:endCxn id="7" idx="0"/>
            </p:cNvCxnSpPr>
            <p:nvPr/>
          </p:nvCxnSpPr>
          <p:spPr>
            <a:xfrm>
              <a:off x="3322678" y="2399997"/>
              <a:ext cx="0" cy="12916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7" name="TextBox 64">
              <a:extLst>
                <a:ext uri="{FF2B5EF4-FFF2-40B4-BE49-F238E27FC236}">
                  <a16:creationId xmlns:a16="http://schemas.microsoft.com/office/drawing/2014/main" id="{389B4D32-EC76-4CE6-A6EA-CE72E9D4C25A}"/>
                </a:ext>
              </a:extLst>
            </p:cNvPr>
            <p:cNvSpPr txBox="1"/>
            <p:nvPr/>
          </p:nvSpPr>
          <p:spPr>
            <a:xfrm>
              <a:off x="5295709" y="1792741"/>
              <a:ext cx="139890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24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Alternate</a:t>
              </a:r>
              <a:br>
                <a:rPr lang="en-US" sz="24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240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Strategy</a:t>
              </a:r>
              <a:endParaRPr lang="en-US" sz="1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8" name="Group 65">
              <a:extLst>
                <a:ext uri="{FF2B5EF4-FFF2-40B4-BE49-F238E27FC236}">
                  <a16:creationId xmlns:a16="http://schemas.microsoft.com/office/drawing/2014/main" id="{2C82C59B-5166-FE9C-24B1-0908242D5682}"/>
                </a:ext>
              </a:extLst>
            </p:cNvPr>
            <p:cNvGrpSpPr/>
            <p:nvPr/>
          </p:nvGrpSpPr>
          <p:grpSpPr>
            <a:xfrm>
              <a:off x="4708849" y="1953551"/>
              <a:ext cx="540000" cy="540000"/>
              <a:chOff x="838200" y="1905000"/>
              <a:chExt cx="1080000" cy="1080000"/>
            </a:xfrm>
          </p:grpSpPr>
          <p:sp>
            <p:nvSpPr>
              <p:cNvPr id="29" name="Oval 66">
                <a:extLst>
                  <a:ext uri="{FF2B5EF4-FFF2-40B4-BE49-F238E27FC236}">
                    <a16:creationId xmlns:a16="http://schemas.microsoft.com/office/drawing/2014/main" id="{1B901A83-71D6-750C-019C-F0308F7C87DC}"/>
                  </a:ext>
                </a:extLst>
              </p:cNvPr>
              <p:cNvSpPr/>
              <p:nvPr/>
            </p:nvSpPr>
            <p:spPr>
              <a:xfrm>
                <a:off x="838200" y="1905000"/>
                <a:ext cx="1080000" cy="1080000"/>
              </a:xfrm>
              <a:prstGeom prst="ellipse">
                <a:avLst/>
              </a:prstGeom>
              <a:solidFill>
                <a:srgbClr val="003050">
                  <a:lumMod val="75000"/>
                  <a:lumOff val="2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30" name="Graphic 67" descr="Flask with solid fill">
                <a:extLst>
                  <a:ext uri="{FF2B5EF4-FFF2-40B4-BE49-F238E27FC236}">
                    <a16:creationId xmlns:a16="http://schemas.microsoft.com/office/drawing/2014/main" id="{0D02AF5D-14D0-E80D-420C-BDC43CBADE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921000" y="1987800"/>
                <a:ext cx="914400" cy="914400"/>
              </a:xfrm>
              <a:prstGeom prst="rect">
                <a:avLst/>
              </a:prstGeom>
            </p:spPr>
          </p:pic>
        </p:grpSp>
        <p:cxnSp>
          <p:nvCxnSpPr>
            <p:cNvPr id="31" name="Straight Arrow Connector 77">
              <a:extLst>
                <a:ext uri="{FF2B5EF4-FFF2-40B4-BE49-F238E27FC236}">
                  <a16:creationId xmlns:a16="http://schemas.microsoft.com/office/drawing/2014/main" id="{9D546E15-6F40-014E-B3B6-C8493E5F01A2}"/>
                </a:ext>
              </a:extLst>
            </p:cNvPr>
            <p:cNvCxnSpPr>
              <a:cxnSpLocks/>
              <a:stCxn id="24" idx="3"/>
              <a:endCxn id="29" idx="2"/>
            </p:cNvCxnSpPr>
            <p:nvPr/>
          </p:nvCxnSpPr>
          <p:spPr>
            <a:xfrm>
              <a:off x="3628678" y="2222280"/>
              <a:ext cx="1080171" cy="1271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2" name="TextBox 69">
              <a:extLst>
                <a:ext uri="{FF2B5EF4-FFF2-40B4-BE49-F238E27FC236}">
                  <a16:creationId xmlns:a16="http://schemas.microsoft.com/office/drawing/2014/main" id="{ED2EB8E7-9F84-498A-2285-94060F851AE2}"/>
                </a:ext>
              </a:extLst>
            </p:cNvPr>
            <p:cNvSpPr txBox="1"/>
            <p:nvPr/>
          </p:nvSpPr>
          <p:spPr>
            <a:xfrm>
              <a:off x="3547232" y="1947802"/>
              <a:ext cx="9817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en-US" sz="1600" dirty="0">
                  <a:solidFill>
                    <a:prstClr val="black"/>
                  </a:solidFill>
                  <a:latin typeface="Aptos" panose="02110004020202020204"/>
                </a:rPr>
                <a:t>feasible?</a:t>
              </a:r>
              <a:endParaRPr lang="en-US" sz="1200" dirty="0">
                <a:solidFill>
                  <a:prstClr val="black"/>
                </a:solidFill>
                <a:latin typeface="Aptos" panose="02110004020202020204"/>
              </a:endParaRPr>
            </a:p>
          </p:txBody>
        </p:sp>
      </p:grpSp>
      <p:sp>
        <p:nvSpPr>
          <p:cNvPr id="42" name="Oval 19">
            <a:extLst>
              <a:ext uri="{FF2B5EF4-FFF2-40B4-BE49-F238E27FC236}">
                <a16:creationId xmlns:a16="http://schemas.microsoft.com/office/drawing/2014/main" id="{45116C4F-1672-0F20-C237-72473DD14346}"/>
              </a:ext>
            </a:extLst>
          </p:cNvPr>
          <p:cNvSpPr/>
          <p:nvPr/>
        </p:nvSpPr>
        <p:spPr>
          <a:xfrm>
            <a:off x="4845845" y="3132865"/>
            <a:ext cx="360000" cy="36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43" name="Straight Arrow Connector 20">
            <a:extLst>
              <a:ext uri="{FF2B5EF4-FFF2-40B4-BE49-F238E27FC236}">
                <a16:creationId xmlns:a16="http://schemas.microsoft.com/office/drawing/2014/main" id="{97DA647C-6183-B39A-2983-7D8378EADEE3}"/>
              </a:ext>
            </a:extLst>
          </p:cNvPr>
          <p:cNvCxnSpPr>
            <a:cxnSpLocks/>
            <a:stCxn id="42" idx="7"/>
          </p:cNvCxnSpPr>
          <p:nvPr/>
        </p:nvCxnSpPr>
        <p:spPr>
          <a:xfrm flipV="1">
            <a:off x="5153124" y="2784000"/>
            <a:ext cx="462150" cy="40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21">
            <a:extLst>
              <a:ext uri="{FF2B5EF4-FFF2-40B4-BE49-F238E27FC236}">
                <a16:creationId xmlns:a16="http://schemas.microsoft.com/office/drawing/2014/main" id="{F9CCC6A2-5633-F4CB-3DCA-0094A47503C1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4436419" y="2784000"/>
            <a:ext cx="462147" cy="40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7" name="Table 23">
            <a:extLst>
              <a:ext uri="{FF2B5EF4-FFF2-40B4-BE49-F238E27FC236}">
                <a16:creationId xmlns:a16="http://schemas.microsoft.com/office/drawing/2014/main" id="{88ACB4D4-7756-4C47-985C-AC8FBDC04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953656"/>
              </p:ext>
            </p:extLst>
          </p:nvPr>
        </p:nvGraphicFramePr>
        <p:xfrm>
          <a:off x="6526246" y="1814324"/>
          <a:ext cx="2006600" cy="1828800"/>
        </p:xfrm>
        <a:graphic>
          <a:graphicData uri="http://schemas.openxmlformats.org/drawingml/2006/table">
            <a:tbl>
              <a:tblPr firstRow="1" bandRow="1"/>
              <a:tblGrid>
                <a:gridCol w="501650">
                  <a:extLst>
                    <a:ext uri="{9D8B030D-6E8A-4147-A177-3AD203B41FA5}">
                      <a16:colId xmlns:a16="http://schemas.microsoft.com/office/drawing/2014/main" val="421997289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79498115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51535749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5261979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noProof="0" dirty="0"/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noProof="0" dirty="0"/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F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2689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16263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508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072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0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C5C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noProof="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noProof="0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2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740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ubrik 8">
            <a:extLst>
              <a:ext uri="{FF2B5EF4-FFF2-40B4-BE49-F238E27FC236}">
                <a16:creationId xmlns:a16="http://schemas.microsoft.com/office/drawing/2014/main" id="{241F303A-AB81-1989-5E65-7A198C6F5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causal structures and d-separation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EC5AF92-11B1-B49D-E712-28DDA963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26</a:t>
            </a:fld>
            <a:endParaRPr lang="en-SE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466880-35D8-4EB9-9BA8-DA2D85B21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660" y="1390556"/>
            <a:ext cx="8433738" cy="749596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NZ" sz="2000" dirty="0">
                <a:solidFill>
                  <a:srgbClr val="4F4F4F"/>
                </a:solidFill>
                <a:latin typeface="Aptos" panose="020B0004020202020204" pitchFamily="34" charset="0"/>
              </a:rPr>
              <a:t>We discussed the need to model our causal assumptions about the data generating process in observational studies using DAGs.</a:t>
            </a:r>
            <a:endParaRPr kumimoji="0" lang="en-NZ" sz="2000" b="0" i="0" u="none" strike="noStrike" kern="1200" cap="none" spc="0" normalizeH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ADD909F-C115-C486-4082-A6F0B7FBE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505" y="2320667"/>
            <a:ext cx="8433738" cy="762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NZ" sz="2000" dirty="0">
                <a:solidFill>
                  <a:srgbClr val="4F4F4F"/>
                </a:solidFill>
                <a:latin typeface="Aptos" panose="020B0004020202020204" pitchFamily="34" charset="0"/>
              </a:rPr>
              <a:t>Confounders, Mediators, and Colliders are different structural patterns in a DAG that influence the flow of association.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1DA29CF-C637-8F20-B585-4BEF14846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660" y="3260377"/>
            <a:ext cx="8433738" cy="7629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NZ" sz="2000" dirty="0">
                <a:solidFill>
                  <a:srgbClr val="4F4F4F"/>
                </a:solidFill>
                <a:latin typeface="Aptos" panose="020B0004020202020204" pitchFamily="34" charset="0"/>
              </a:rPr>
              <a:t>d-separation helps us to determine which variables to include or exclude in a statistical or ML model to avoid biased effect estimates.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1AA8D59-54EF-7162-39B4-57051C96A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660" y="4200087"/>
            <a:ext cx="8433738" cy="7629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NZ" sz="2000" noProof="0" dirty="0">
                <a:solidFill>
                  <a:srgbClr val="4F4F4F"/>
                </a:solidFill>
                <a:latin typeface="Aptos" panose="020B0004020202020204" pitchFamily="34" charset="0"/>
              </a:rPr>
              <a:t>Causal Workflow:</a:t>
            </a:r>
            <a:br>
              <a:rPr lang="en-NZ" sz="2000" noProof="0" dirty="0">
                <a:solidFill>
                  <a:srgbClr val="4F4F4F"/>
                </a:solidFill>
                <a:latin typeface="Aptos" panose="020B0004020202020204" pitchFamily="34" charset="0"/>
              </a:rPr>
            </a:br>
            <a:r>
              <a:rPr lang="en-NZ" sz="2000" noProof="0" dirty="0">
                <a:solidFill>
                  <a:srgbClr val="4F4F4F"/>
                </a:solidFill>
                <a:latin typeface="Aptos" panose="020B0004020202020204" pitchFamily="34" charset="0"/>
              </a:rPr>
              <a:t>Modelling -&gt; Identification -&gt; Data Collection -&gt; Estimation</a:t>
            </a:r>
          </a:p>
        </p:txBody>
      </p:sp>
    </p:spTree>
    <p:extLst>
      <p:ext uri="{BB962C8B-B14F-4D97-AF65-F5344CB8AC3E}">
        <p14:creationId xmlns:p14="http://schemas.microsoft.com/office/powerpoint/2010/main" val="310270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  <p:bldP spid="7" grpId="0" uiExpand="1" build="p" animBg="1"/>
      <p:bldP spid="8" grpId="0" uiExpand="1" build="p" animBg="1"/>
    </p:bldLst>
  </p:timing>
</p:sld>
</file>

<file path=ppt/theme/theme1.xml><?xml version="1.0" encoding="utf-8"?>
<a:theme xmlns:a="http://schemas.openxmlformats.org/drawingml/2006/main" name="Anpassad formgivn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1665</Words>
  <Application>Microsoft Office PowerPoint</Application>
  <PresentationFormat>Bildspel på skärmen (16:9)</PresentationFormat>
  <Paragraphs>352</Paragraphs>
  <Slides>26</Slides>
  <Notes>3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Cambria</vt:lpstr>
      <vt:lpstr>Cambria Math</vt:lpstr>
      <vt:lpstr>Anpassad formgivning</vt:lpstr>
      <vt:lpstr>PowerPoint-presentation</vt:lpstr>
      <vt:lpstr>PowerPoint-presentation</vt:lpstr>
      <vt:lpstr>The “building blocks” of causal models</vt:lpstr>
      <vt:lpstr>Confounder</vt:lpstr>
      <vt:lpstr>Confounder</vt:lpstr>
      <vt:lpstr>Mediator</vt:lpstr>
      <vt:lpstr>Mediator</vt:lpstr>
      <vt:lpstr>Collider</vt:lpstr>
      <vt:lpstr>Collider</vt:lpstr>
      <vt:lpstr>Collider</vt:lpstr>
      <vt:lpstr>Collider</vt:lpstr>
      <vt:lpstr>Collider</vt:lpstr>
      <vt:lpstr>The “building blocks” of causal models</vt:lpstr>
      <vt:lpstr>PowerPoint-presentation</vt:lpstr>
      <vt:lpstr>Causal Modelling</vt:lpstr>
      <vt:lpstr>d-separation</vt:lpstr>
      <vt:lpstr>d-separation example</vt:lpstr>
      <vt:lpstr>d-separation example</vt:lpstr>
      <vt:lpstr>d-separation example</vt:lpstr>
      <vt:lpstr>d-separation example</vt:lpstr>
      <vt:lpstr>d-separation example</vt:lpstr>
      <vt:lpstr>Workflow for Statistical Causal Inference</vt:lpstr>
      <vt:lpstr>Scientific Workflow: Traditional</vt:lpstr>
      <vt:lpstr>Scientific Workflow: Better</vt:lpstr>
      <vt:lpstr>Scientific Workflow: Best</vt:lpstr>
      <vt:lpstr>Summary causal structures and d-separation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Causal Inference for Software Engineering</dc:title>
  <dc:subject>PptxGenJS Presentation</dc:subject>
  <dc:creator>Tutorial authors</dc:creator>
  <cp:lastModifiedBy>Hans-Martin Heyn</cp:lastModifiedBy>
  <cp:revision>98</cp:revision>
  <dcterms:created xsi:type="dcterms:W3CDTF">2026-06-18T12:50:28Z</dcterms:created>
  <dcterms:modified xsi:type="dcterms:W3CDTF">2026-06-22T12:59:43Z</dcterms:modified>
</cp:coreProperties>
</file>