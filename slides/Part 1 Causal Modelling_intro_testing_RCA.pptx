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1"/>
  </p:sldMasterIdLst>
  <p:notesMasterIdLst>
    <p:notesMasterId r:id="rId33"/>
  </p:notesMasterIdLst>
  <p:sldIdLst>
    <p:sldId id="256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1" r:id="rId22"/>
    <p:sldId id="282" r:id="rId23"/>
    <p:sldId id="283" r:id="rId24"/>
    <p:sldId id="284" r:id="rId25"/>
    <p:sldId id="285" r:id="rId26"/>
    <p:sldId id="292" r:id="rId27"/>
    <p:sldId id="286" r:id="rId28"/>
    <p:sldId id="291" r:id="rId29"/>
    <p:sldId id="287" r:id="rId30"/>
    <p:sldId id="288" r:id="rId31"/>
    <p:sldId id="290" r:id="rId3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3A5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296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6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7BC2646F-FC21-01F5-FFF7-E24E84A58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7" name="Platshållare för rubrik 1">
            <a:extLst>
              <a:ext uri="{FF2B5EF4-FFF2-40B4-BE49-F238E27FC236}">
                <a16:creationId xmlns:a16="http://schemas.microsoft.com/office/drawing/2014/main" id="{016BA05B-35C2-AB12-AEC4-0B5AE82CC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8" name="Platshållare för text 2">
            <a:extLst>
              <a:ext uri="{FF2B5EF4-FFF2-40B4-BE49-F238E27FC236}">
                <a16:creationId xmlns:a16="http://schemas.microsoft.com/office/drawing/2014/main" id="{7801BEB2-EFE8-CA19-1392-F614122C48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6660" y="1483112"/>
            <a:ext cx="8694913" cy="317912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3" name="Platshållare för bildnummer 3">
            <a:extLst>
              <a:ext uri="{FF2B5EF4-FFF2-40B4-BE49-F238E27FC236}">
                <a16:creationId xmlns:a16="http://schemas.microsoft.com/office/drawing/2014/main" id="{AE0ACF74-82A6-F22F-F543-8D4761B7D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75769905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8DFA9CC-0D4C-D2A3-323B-9A386F7C66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6" name="Platshållare för rubrik 1">
            <a:extLst>
              <a:ext uri="{FF2B5EF4-FFF2-40B4-BE49-F238E27FC236}">
                <a16:creationId xmlns:a16="http://schemas.microsoft.com/office/drawing/2014/main" id="{65B41C35-209F-1C39-6425-D83DBBAD2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178C76C8-7DA8-3EB4-7968-0F0E38489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904796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376B0E7B-7161-7CA2-0230-2A345F7CED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86660" y="1524447"/>
            <a:ext cx="4285339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5E6577D3-FE7D-29C8-96EA-738EBBBACE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199" y="1524448"/>
            <a:ext cx="4333373" cy="3107878"/>
          </a:xfrm>
          <a:prstGeom prst="rect">
            <a:avLst/>
          </a:prstGeom>
        </p:spPr>
        <p:txBody>
          <a:bodyPr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  <a:endParaRPr lang="en-SE" dirty="0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4D15008-CA65-0EF0-7862-0188179D36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8" name="Platshållare för rubrik 1">
            <a:extLst>
              <a:ext uri="{FF2B5EF4-FFF2-40B4-BE49-F238E27FC236}">
                <a16:creationId xmlns:a16="http://schemas.microsoft.com/office/drawing/2014/main" id="{5533356E-B98E-C815-0AC4-A7E5D9595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71D68C3C-F026-3686-675F-5E2E1FD5E9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3780897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36526CB9-5F04-1B76-49FA-79556E29DE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2" name="Platshållare för bildnummer 3">
            <a:extLst>
              <a:ext uri="{FF2B5EF4-FFF2-40B4-BE49-F238E27FC236}">
                <a16:creationId xmlns:a16="http://schemas.microsoft.com/office/drawing/2014/main" id="{44F172C3-9839-5757-A5F6-51833DBF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solidFill>
                  <a:srgbClr val="1E3A5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84612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47589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4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848A7E77-8A88-0DD3-9503-B94D1CFE3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6660" y="848460"/>
            <a:ext cx="8694913" cy="5410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  <a:endParaRPr lang="en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48D5609-41DF-4769-1613-9E919EF14E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81553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endParaRPr lang="en-SE" sz="900" dirty="0"/>
          </a:p>
        </p:txBody>
      </p:sp>
      <p:pic>
        <p:nvPicPr>
          <p:cNvPr id="8" name="Image 0" descr="fraunhofer.png">
            <a:extLst>
              <a:ext uri="{FF2B5EF4-FFF2-40B4-BE49-F238E27FC236}">
                <a16:creationId xmlns:a16="http://schemas.microsoft.com/office/drawing/2014/main" id="{207F2430-F5D4-B12A-88BB-2083BF9EDB5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10" name="Image 1" descr="chalmers.png">
            <a:extLst>
              <a:ext uri="{FF2B5EF4-FFF2-40B4-BE49-F238E27FC236}">
                <a16:creationId xmlns:a16="http://schemas.microsoft.com/office/drawing/2014/main" id="{E74BDE26-B585-CB92-1234-39C4706E6997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12" name="Image 2" descr="goteborg.png">
            <a:extLst>
              <a:ext uri="{FF2B5EF4-FFF2-40B4-BE49-F238E27FC236}">
                <a16:creationId xmlns:a16="http://schemas.microsoft.com/office/drawing/2014/main" id="{CB9F34A3-66D5-7251-13A9-2E3A25330337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14" name="Image 3" descr="napoli.png">
            <a:extLst>
              <a:ext uri="{FF2B5EF4-FFF2-40B4-BE49-F238E27FC236}">
                <a16:creationId xmlns:a16="http://schemas.microsoft.com/office/drawing/2014/main" id="{55D7377C-6439-5536-D98D-54E9EA994BB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20" name="Text 2">
            <a:extLst>
              <a:ext uri="{FF2B5EF4-FFF2-40B4-BE49-F238E27FC236}">
                <a16:creationId xmlns:a16="http://schemas.microsoft.com/office/drawing/2014/main" id="{6AA9388E-EECF-ACC4-D00F-A5C3B4142F28}"/>
              </a:ext>
            </a:extLst>
          </p:cNvPr>
          <p:cNvSpPr/>
          <p:nvPr userDrawn="1"/>
        </p:nvSpPr>
        <p:spPr>
          <a:xfrm>
            <a:off x="365760" y="4736592"/>
            <a:ext cx="2057400" cy="305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FSE 2026  ·  Montréal  ·  5–9 July 2026</a:t>
            </a:r>
            <a:endParaRPr lang="en-US" sz="900" dirty="0"/>
          </a:p>
        </p:txBody>
      </p:sp>
      <p:sp>
        <p:nvSpPr>
          <p:cNvPr id="7" name="Platshållare för bildnummer 3">
            <a:extLst>
              <a:ext uri="{FF2B5EF4-FFF2-40B4-BE49-F238E27FC236}">
                <a16:creationId xmlns:a16="http://schemas.microsoft.com/office/drawing/2014/main" id="{766E9B07-F5C6-58A6-B9DE-FF54E3556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150142" y="4767262"/>
            <a:ext cx="2831432" cy="274637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 algn="r"/>
            <a:fld id="{C53FA84E-D7EA-43A2-AD8F-825F36F0800C}" type="slidenum">
              <a:rPr lang="en-SE" smtClean="0"/>
              <a:pPr algn="r"/>
              <a:t>‹N›</a:t>
            </a:fld>
            <a:endParaRPr lang="en-SE" sz="900" dirty="0"/>
          </a:p>
        </p:txBody>
      </p:sp>
    </p:spTree>
    <p:extLst>
      <p:ext uri="{BB962C8B-B14F-4D97-AF65-F5344CB8AC3E}">
        <p14:creationId xmlns:p14="http://schemas.microsoft.com/office/powerpoint/2010/main" val="26475430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6" r:id="rId2"/>
    <p:sldLayoutId id="2147483654" r:id="rId3"/>
    <p:sldLayoutId id="2147483651" r:id="rId4"/>
    <p:sldLayoutId id="2147483662" r:id="rId5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b="1" kern="1200">
          <a:solidFill>
            <a:srgbClr val="1E3A5F"/>
          </a:solidFill>
          <a:latin typeface="Cambria" panose="02040503050406030204" pitchFamily="18" charset="0"/>
          <a:ea typeface="Cambria" panose="02040503050406030204" pitchFamily="18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raunhof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788" y="237744"/>
            <a:ext cx="1475065" cy="420624"/>
          </a:xfrm>
          <a:prstGeom prst="rect">
            <a:avLst/>
          </a:prstGeom>
        </p:spPr>
      </p:pic>
      <p:pic>
        <p:nvPicPr>
          <p:cNvPr id="3" name="Image 1" descr="chalm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3479" y="237744"/>
            <a:ext cx="1353922" cy="420624"/>
          </a:xfrm>
          <a:prstGeom prst="rect">
            <a:avLst/>
          </a:prstGeom>
        </p:spPr>
      </p:pic>
      <p:pic>
        <p:nvPicPr>
          <p:cNvPr id="4" name="Image 2" descr="gotebor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1282" y="195682"/>
            <a:ext cx="1484555" cy="504749"/>
          </a:xfrm>
          <a:prstGeom prst="rect">
            <a:avLst/>
          </a:prstGeom>
        </p:spPr>
      </p:pic>
      <p:pic>
        <p:nvPicPr>
          <p:cNvPr id="5" name="Image 3" descr="nap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887" y="237744"/>
            <a:ext cx="1297585" cy="420624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914400" y="1691640"/>
            <a:ext cx="7315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1E3A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Causal Inference for Software Engineering</a:t>
            </a:r>
            <a:endParaRPr lang="en-US" sz="3200" dirty="0"/>
          </a:p>
        </p:txBody>
      </p:sp>
      <p:sp>
        <p:nvSpPr>
          <p:cNvPr id="7" name="Text 1"/>
          <p:cNvSpPr/>
          <p:nvPr/>
        </p:nvSpPr>
        <p:spPr>
          <a:xfrm>
            <a:off x="914400" y="30632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7A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hands-on tutorial</a:t>
            </a:r>
            <a:endParaRPr lang="en-US" sz="1500" dirty="0"/>
          </a:p>
        </p:txBody>
      </p:sp>
      <p:sp>
        <p:nvSpPr>
          <p:cNvPr id="8" name="Text 2"/>
          <p:cNvSpPr/>
          <p:nvPr/>
        </p:nvSpPr>
        <p:spPr>
          <a:xfrm>
            <a:off x="548640" y="3611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Julien Siebert  ·  Julian Frattini  ·  Hans-Martin Heyn  ·  Roberto Pietrantuono</a:t>
            </a:r>
            <a:endParaRPr lang="en-US" sz="1200" dirty="0"/>
          </a:p>
        </p:txBody>
      </p:sp>
      <p:sp>
        <p:nvSpPr>
          <p:cNvPr id="10" name="Text 4"/>
          <p:cNvSpPr/>
          <p:nvPr/>
        </p:nvSpPr>
        <p:spPr>
          <a:xfrm>
            <a:off x="3200400" y="47365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PART 1 ·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Motivation and modeling, grounded in SE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00784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7498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Motivation  </a:t>
            </a:r>
            <a:r>
              <a:rPr sz="12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Why SE questions are causal, not just associational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14016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7498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Modeling  </a:t>
            </a:r>
            <a:r>
              <a:rPr sz="12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Causal graphs, confounders, and Pearl's process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127248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072384"/>
            <a:ext cx="7498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Examples  </a:t>
            </a:r>
            <a:r>
              <a:rPr sz="12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Worked recipes for testing and fault localization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840479"/>
            <a:ext cx="310896" cy="310896"/>
          </a:xfrm>
          <a:prstGeom prst="ellipse">
            <a:avLst/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785615"/>
            <a:ext cx="7498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The road ahead  </a:t>
            </a:r>
            <a:r>
              <a:rPr sz="12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Where causal software engineering is heading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 · HUMAN–MACHINE CO-ENGINEERING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How machines have supported software engineers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694944" y="1746504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Scaffolding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Organizing &amp; structuring work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8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IDEs · version control · linting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96896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743200" y="1746504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1488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Support automation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Formalized methods for tasks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8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Coverage testing · static analysis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45152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791456" y="1746504"/>
            <a:ext cx="310896" cy="310896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09744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Support decision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Learn from data; predict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8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Estimation · fault prediction · RCA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93408" y="1600200"/>
            <a:ext cx="1901952" cy="210312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39712" y="1746504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148840"/>
            <a:ext cx="1572768" cy="144475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Support reasoning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Explain, hypothesize, plan</a:t>
            </a:r>
          </a:p>
          <a:p>
            <a:pPr algn="l">
              <a:lnSpc>
                <a:spcPct val="110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8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What-if · counterfactuals · RCA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 · CORRELATION VS CAUSATION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 spurious correlation can blame the wrong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shuttle </a:t>
            </a:r>
            <a:r>
              <a:rPr sz="11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brakes too late</a:t>
            </a: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 A monitor finds late braking (Y) co-occurs with high-res camera mode (X) — and blames the camera.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1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But a confounder drives both: </a:t>
            </a:r>
            <a:r>
              <a:rPr sz="11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higher speed (Z)</a:t>
            </a:r>
            <a:r>
              <a:rPr sz="11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 triggers the camera switch and shrinks the braking margin.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200400"/>
            <a:ext cx="3657600" cy="77724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A causal model answers what-if questions: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“What if we adjust the speed threshold?”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26280" y="1554480"/>
            <a:ext cx="4069080" cy="2514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7" name="Connector 6"/>
          <p:cNvCxnSpPr/>
          <p:nvPr/>
        </p:nvCxnSpPr>
        <p:spPr>
          <a:xfrm flipH="1">
            <a:off x="5594299" y="2560320"/>
            <a:ext cx="895197" cy="365760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632143" y="2560320"/>
            <a:ext cx="876909" cy="365760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879592" y="3282696"/>
            <a:ext cx="1344168" cy="0"/>
          </a:xfrm>
          <a:prstGeom prst="line">
            <a:avLst/>
          </a:prstGeom>
          <a:ln w="20320">
            <a:solidFill>
              <a:srgbClr val="7A87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6204204" y="1847088"/>
            <a:ext cx="713232" cy="71323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29884" y="2569463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speed</a:t>
            </a:r>
          </a:p>
        </p:txBody>
      </p:sp>
      <p:sp>
        <p:nvSpPr>
          <p:cNvPr id="12" name="Oval 11"/>
          <p:cNvSpPr/>
          <p:nvPr/>
        </p:nvSpPr>
        <p:spPr>
          <a:xfrm>
            <a:off x="5166360" y="2926080"/>
            <a:ext cx="713232" cy="713232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648456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1" kern="0">
                <a:solidFill>
                  <a:srgbClr val="596672"/>
                </a:solidFill>
                <a:latin typeface="Calibri"/>
                <a:ea typeface="Calibri"/>
                <a:cs typeface="Calibri"/>
              </a:rPr>
              <a:t>camera</a:t>
            </a:r>
          </a:p>
        </p:txBody>
      </p:sp>
      <p:sp>
        <p:nvSpPr>
          <p:cNvPr id="14" name="Oval 13"/>
          <p:cNvSpPr/>
          <p:nvPr/>
        </p:nvSpPr>
        <p:spPr>
          <a:xfrm>
            <a:off x="7223760" y="2926080"/>
            <a:ext cx="713232" cy="713232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48456"/>
            <a:ext cx="126187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late brake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3822191"/>
            <a:ext cx="35204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Adjust for Z to remove the spurious X–Y link.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Software engineering is increasingly data-driven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Machine learning and LLMs now support nearly every SE activity — </a:t>
            </a:r>
            <a:r>
              <a:rPr sz="12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prediction, generation, recommendation</a:t>
            </a:r>
            <a:r>
              <a:rPr sz="12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across the lifecycle. This data-driven paradigm scales one human ability: </a:t>
            </a:r>
            <a:r>
              <a:rPr sz="12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pattern recognition</a:t>
            </a:r>
            <a:r>
              <a:rPr sz="12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886200" cy="11887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92608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What it does well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Learns associations from large datasets; automates and amplifies inductive reasoning.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59" y="2743200"/>
            <a:ext cx="3886200" cy="118872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59" y="2926080"/>
            <a:ext cx="3429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Where it stops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Stays at rung 1 — association. It predicts from what it has seen, not what would happen if we 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The questions SE asks are causal, not associational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3886200" cy="219456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59" y="1856232"/>
            <a:ext cx="3337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Observing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0E7C86"/>
                </a:solidFill>
                <a:latin typeface="Consolas"/>
                <a:ea typeface="Consolas"/>
                <a:cs typeface="Consolas"/>
              </a:rPr>
              <a:t>P(Y | X = x)</a:t>
            </a:r>
          </a:p>
          <a:p>
            <a:pPr algn="l">
              <a:lnSpc>
                <a:spcPct val="11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0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outcome when we happen to see X = x?”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Good for prediction. Blind to confounding.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09159" y="1600200"/>
            <a:ext cx="3886200" cy="219456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983479" y="1856232"/>
            <a:ext cx="33375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Intervening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P(Y | do(X = x))</a:t>
            </a:r>
          </a:p>
          <a:p>
            <a:pPr algn="l">
              <a:lnSpc>
                <a:spcPct val="11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050" b="0" i="1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“What outcome if we actively set X = x?”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Behind testing, debugging, tuning, policy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950208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Most worthwhile SE questions are causal — but answers can't come from data alone (Pearl).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Climbing the ladder of causation — in SE terms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8046720" cy="749808"/>
          </a:xfrm>
          <a:prstGeom prst="roundRect">
            <a:avLst>
              <a:gd name="adj" fmla="val 8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49808" y="1792224"/>
            <a:ext cx="365760" cy="36576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09928"/>
            <a:ext cx="71323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Association  </a:t>
            </a:r>
            <a:r>
              <a:rPr sz="1200" b="1" i="1" kern="0">
                <a:solidFill>
                  <a:srgbClr val="0A5A62"/>
                </a:solidFill>
                <a:latin typeface="Cambria"/>
                <a:ea typeface="Cambria"/>
                <a:cs typeface="Cambria"/>
              </a:rPr>
              <a:t>· Seeing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if I see…?”  Past tests &amp; observations correlate with failures.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478024"/>
            <a:ext cx="7589520" cy="749808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07008" y="2670048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2587752"/>
            <a:ext cx="66751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Intervention  </a:t>
            </a:r>
            <a:r>
              <a:rPr sz="1200" b="1" i="1" kern="0">
                <a:solidFill>
                  <a:srgbClr val="0E7C86"/>
                </a:solidFill>
                <a:latin typeface="Cambria"/>
                <a:ea typeface="Cambria"/>
                <a:cs typeface="Cambria"/>
              </a:rPr>
              <a:t>· Doing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if I do…?”  Set an input and predict the effect — what-if analysis, test selection.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3355848"/>
            <a:ext cx="7132320" cy="749808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664208" y="3547872"/>
            <a:ext cx="365760" cy="36576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465576"/>
            <a:ext cx="621792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Counterfactual  </a:t>
            </a:r>
            <a:r>
              <a:rPr sz="1200" b="1" i="1" kern="0">
                <a:solidFill>
                  <a:srgbClr val="D26E3A"/>
                </a:solidFill>
                <a:latin typeface="Cambria"/>
                <a:ea typeface="Cambria"/>
                <a:cs typeface="Cambria"/>
              </a:rPr>
              <a:t>· Imagining</a:t>
            </a:r>
          </a:p>
          <a:p>
            <a:pPr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if I had done…?”  Would the failure have occurred otherwise? Root-cause &amp; debugging.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MODELING CAUSAL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 causal graph makes assumptions explicit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Nodes</a:t>
            </a: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= variables.  </a:t>
            </a:r>
            <a:r>
              <a:rPr sz="11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Directed links</a:t>
            </a: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= direct causal effects. A DAG encodes hypotheses we can reason about and test.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350008"/>
            <a:ext cx="146304" cy="146304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286000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Confounder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common cause of T and Y — induces spurious correlation; adjust for it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16936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59" y="2852928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Mediator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lies on T → M → Y — carries part of the effect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83864"/>
            <a:ext cx="146304" cy="146304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3419856"/>
            <a:ext cx="33832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Collider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common effect — conditioning on it opens a spurious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554480"/>
            <a:ext cx="4023360" cy="2514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2" name="Connector 11"/>
          <p:cNvCxnSpPr/>
          <p:nvPr/>
        </p:nvCxnSpPr>
        <p:spPr>
          <a:xfrm flipH="1">
            <a:off x="5596128" y="2450591"/>
            <a:ext cx="923544" cy="338329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47688" y="2450591"/>
            <a:ext cx="923543" cy="338329"/>
          </a:xfrm>
          <a:prstGeom prst="line">
            <a:avLst/>
          </a:prstGeom>
          <a:ln w="2032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52160" y="3108960"/>
            <a:ext cx="1463040" cy="0"/>
          </a:xfrm>
          <a:prstGeom prst="line">
            <a:avLst/>
          </a:prstGeom>
          <a:ln w="2032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6263640" y="1810512"/>
            <a:ext cx="640080" cy="64008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0" y="2432303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confounder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0" y="2788920"/>
            <a:ext cx="640080" cy="64008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92040" y="341071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treatment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0" y="2788920"/>
            <a:ext cx="640080" cy="64008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341071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1" kern="0">
                <a:solidFill>
                  <a:srgbClr val="0A5A62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3831336"/>
            <a:ext cx="3474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Z biases the T → Y estimate unless we adjust for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MODELING CAUSAL EFFECTS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Pearl's process: from assumptions to validated effects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284732" y="2011680"/>
            <a:ext cx="402336" cy="40233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Model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State assumptions as a causal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04872" y="2368296"/>
            <a:ext cx="201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87752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323844" y="2011680"/>
            <a:ext cx="402336" cy="40233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24912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Identify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Can the effect be estimated from data?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368296"/>
            <a:ext cx="201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26864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362955" y="2011680"/>
            <a:ext cx="402336" cy="402336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4024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Estimate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Compute the effect (regression, ML, …)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2368296"/>
            <a:ext cx="201168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65975" y="1828800"/>
            <a:ext cx="1874519" cy="137160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7402067" y="2011680"/>
            <a:ext cx="402336" cy="40233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3136" y="2487168"/>
            <a:ext cx="1600199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Refute</a:t>
            </a:r>
          </a:p>
          <a:p>
            <a:pPr algn="ctr">
              <a:lnSpc>
                <a:spcPct val="108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Try to falsify the estimate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5204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The graph is a collaborative reasoning partner — inspectable, contestable, and refinable by engineers.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FROM SE RESEARCH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Three domains where causal graphs are taking hold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499360" cy="21031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947672"/>
            <a:ext cx="365760" cy="365760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468880"/>
            <a:ext cx="2042160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Testing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Choose inputs that expose failures — what-if reasoning over a model of the system under test.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22320" y="1691640"/>
            <a:ext cx="2499360" cy="2103120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550920" y="1947672"/>
            <a:ext cx="365760" cy="365760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50920" y="2468880"/>
            <a:ext cx="2042160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Fault localization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Trace a failure to its cause; separate the culprit from mere correlates.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96000" y="1691640"/>
            <a:ext cx="2499360" cy="210312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324600" y="1947672"/>
            <a:ext cx="365760" cy="365760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24600" y="2468880"/>
            <a:ext cx="2042160" cy="11887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Quality assurance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Predict and explain reliability, performance, security across the lifecycle.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For each: first the big picture, then a concrete, repeatable recipe.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REQUIREMENTS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Placeholder — existing RE material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8046720" cy="164592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386911"/>
            <a:ext cx="7132320" cy="5296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1" kern="0" dirty="0">
                <a:solidFill>
                  <a:srgbClr val="1E3A5F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</a:rPr>
              <a:t>Requirements Engineering example slides slot in here.</a:t>
            </a:r>
          </a:p>
          <a:p>
            <a:pPr algn="l">
              <a:lnSpc>
                <a:spcPct val="118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10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The Testing and Fault-Localization examples that follow are the focus of this part.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TESTING — 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Testing is naturally causal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3931920" cy="17739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kern="0" dirty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Choosing a test input implicitly predicts an outcome under a hypothetical condition — </a:t>
            </a:r>
            <a:r>
              <a:rPr sz="1600" b="1" i="0" kern="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a what-if question.</a:t>
            </a:r>
          </a:p>
          <a:p>
            <a:pPr algn="l">
              <a:lnSpc>
                <a:spcPct val="12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40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Test generation is </a:t>
            </a:r>
            <a:r>
              <a:rPr sz="1400" b="1" i="0" kern="0" dirty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planning</a:t>
            </a:r>
            <a:r>
              <a:rPr sz="1400" b="0" i="0" kern="0" dirty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, not prediction: what output if we submitted this input? Causal models let testers reason, not guess.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17720" y="1645920"/>
            <a:ext cx="3977639" cy="713232"/>
          </a:xfrm>
          <a:prstGeom prst="roundRect">
            <a:avLst>
              <a:gd name="adj" fmla="val 8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800600" y="1837943"/>
            <a:ext cx="329184" cy="329184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737360"/>
            <a:ext cx="310895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Guessing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might fail?”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2505456"/>
            <a:ext cx="3977639" cy="713232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800600" y="2697480"/>
            <a:ext cx="329184" cy="32918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596896"/>
            <a:ext cx="310895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Correlation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correlates with failure?”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3364992"/>
            <a:ext cx="3977639" cy="713232"/>
          </a:xfrm>
          <a:prstGeom prst="roundRect">
            <a:avLst>
              <a:gd name="adj" fmla="val 8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800600" y="3557016"/>
            <a:ext cx="329184" cy="329184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3456432"/>
            <a:ext cx="310895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Causation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“what input causes it to fail?”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From a “guessing” to a “reasoning”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8046720" cy="49981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Traditional test generation samples or mutates inputs and hopes to hit a failure. Causal testing reasons about which inputs </a:t>
            </a:r>
            <a:r>
              <a:rPr sz="140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cause</a:t>
            </a:r>
            <a:r>
              <a:rPr sz="14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the failure.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886200" cy="1188720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77240" y="2971800"/>
            <a:ext cx="310896" cy="310896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944368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Guessing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Random / search-based: explore blindly, no model of why an input fails.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09159" y="2743200"/>
            <a:ext cx="3886200" cy="1188720"/>
          </a:xfrm>
          <a:prstGeom prst="roundRect">
            <a:avLst>
              <a:gd name="adj" fmla="val 6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4937759" y="297180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94959" y="2944368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Reasoning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Build a causal model of input → outcome, then query it with do(·) to target tests.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146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 dirty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TESTING —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Generating tests by intervening on a causal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Goal.  </a:t>
            </a: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Pick inputs most likely to expose a failure instead of sampling blindly.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57984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Model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over inputs, internal factors, and the outcome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51760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15184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Learn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fit from a few runs or domain knowledge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108960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72384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Intervene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query do(input = x) to predict the outcome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66160"/>
            <a:ext cx="310896" cy="310896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529584"/>
            <a:ext cx="3474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Select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run only configs predicted to breach the requirement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554480"/>
            <a:ext cx="3977639" cy="16002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cxnSp>
        <p:nvCxnSpPr>
          <p:cNvPr id="14" name="Connector 13"/>
          <p:cNvCxnSpPr/>
          <p:nvPr/>
        </p:nvCxnSpPr>
        <p:spPr>
          <a:xfrm>
            <a:off x="5806440" y="2194560"/>
            <a:ext cx="365760" cy="201168"/>
          </a:xfrm>
          <a:prstGeom prst="line">
            <a:avLst/>
          </a:prstGeom>
          <a:ln w="1651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806440" y="2505456"/>
            <a:ext cx="365760" cy="192024"/>
          </a:xfrm>
          <a:prstGeom prst="line">
            <a:avLst/>
          </a:prstGeom>
          <a:ln w="1651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086600" y="2450592"/>
            <a:ext cx="320040" cy="0"/>
          </a:xfrm>
          <a:prstGeom prst="line">
            <a:avLst/>
          </a:prstGeom>
          <a:ln w="1905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892040" y="2011680"/>
            <a:ext cx="91440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input 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2514600"/>
            <a:ext cx="91440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input B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2267712"/>
            <a:ext cx="91440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factor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2267712"/>
            <a:ext cx="914400" cy="365760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3264408"/>
            <a:ext cx="3977639" cy="868680"/>
          </a:xfrm>
          <a:prstGeom prst="roundRect">
            <a:avLst>
              <a:gd name="adj" fmla="val 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A9CFD0"/>
                </a:solidFill>
                <a:latin typeface="Consolas"/>
                <a:ea typeface="Consolas"/>
                <a:cs typeface="Consolas"/>
              </a:rPr>
              <a:t>P(Y | X=x)</a:t>
            </a:r>
            <a:r>
              <a:rPr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vs </a:t>
            </a:r>
            <a:r>
              <a:rPr sz="11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P(Y | do(X=x))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Observing vs. setting — only do(·) reveals which inputs cause the failure.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977639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Reusable wherever inputs map to a measurable requirement.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1 ·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Concretely: testing a self-driving car in a 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931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Setup.  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simulator with ~16 scene inputs and a safety requirement: </a:t>
            </a:r>
            <a:r>
              <a:rPr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staying in lane (DCL)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3931920" cy="155448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468879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Learned causal model (excerpt)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37360" y="3054096"/>
            <a:ext cx="274320" cy="0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926080" y="3088843"/>
            <a:ext cx="365760" cy="169164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926080" y="3362248"/>
            <a:ext cx="365760" cy="160020"/>
          </a:xfrm>
          <a:prstGeom prst="line">
            <a:avLst/>
          </a:prstGeom>
          <a:ln w="1778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59" y="2880360"/>
            <a:ext cx="914400" cy="347472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weather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3383279"/>
            <a:ext cx="914400" cy="347472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2880360"/>
            <a:ext cx="914400" cy="347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3383279"/>
            <a:ext cx="914400" cy="347472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3136391"/>
            <a:ext cx="914400" cy="347472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DCL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17720" y="1508760"/>
            <a:ext cx="3977639" cy="14173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92040" y="1645920"/>
            <a:ext cx="342899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 counterfactual question</a:t>
            </a:r>
          </a:p>
          <a:p>
            <a:pPr algn="l">
              <a:lnSpc>
                <a:spcPct val="124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A9CFD0"/>
                </a:solidFill>
                <a:latin typeface="Consolas"/>
                <a:ea typeface="Consolas"/>
                <a:cs typeface="Consolas"/>
              </a:rPr>
              <a:t>Observed: </a:t>
            </a:r>
            <a:r>
              <a:rPr sz="850" b="0" i="0" kern="0">
                <a:solidFill>
                  <a:srgbClr val="C9D6DF"/>
                </a:solidFill>
                <a:latin typeface="Consolas"/>
                <a:ea typeface="Consolas"/>
                <a:cs typeface="Consolas"/>
              </a:rPr>
              <a:t>rain, curved, FPS=30 → safe</a:t>
            </a:r>
          </a:p>
          <a:p>
            <a:pPr algn="l">
              <a:lnSpc>
                <a:spcPct val="124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Counterfactual: </a:t>
            </a:r>
            <a:r>
              <a:rPr sz="850" b="0" i="0" kern="0">
                <a:solidFill>
                  <a:srgbClr val="C9D6DF"/>
                </a:solidFill>
                <a:latin typeface="Consolas"/>
                <a:ea typeface="Consolas"/>
                <a:cs typeface="Consolas"/>
              </a:rPr>
              <a:t>had FPS been 20?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3035808"/>
            <a:ext cx="3977639" cy="566928"/>
          </a:xfrm>
          <a:prstGeom prst="roundRect">
            <a:avLst>
              <a:gd name="adj" fmla="val 6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P(DCL &gt; thr | do(FPS = 20)) = 0.85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85% likely to leave the lane — a high-value test.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776472"/>
            <a:ext cx="39319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Violations found (illustrative):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95935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Random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25880" y="3977639"/>
            <a:ext cx="713232" cy="118872"/>
          </a:xfrm>
          <a:prstGeom prst="roundRect">
            <a:avLst>
              <a:gd name="adj" fmla="val 40000"/>
            </a:avLst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084832" y="3950207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30%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4223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25880" y="4160520"/>
            <a:ext cx="1307592" cy="118872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679191" y="4133087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55%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325112"/>
            <a:ext cx="7315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25880" y="4343400"/>
            <a:ext cx="2377440" cy="118872"/>
          </a:xfrm>
          <a:prstGeom prst="roundRect">
            <a:avLst>
              <a:gd name="adj" fmla="val 40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49039" y="4315968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TESTING —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The same recipe for non-functional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39319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Testing is also about </a:t>
            </a:r>
            <a:r>
              <a:rPr sz="110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planning what-if scenarios</a:t>
            </a: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Keep the Example 1 recipe; just </a:t>
            </a: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change the outcome variable</a:t>
            </a:r>
            <a:r>
              <a:rPr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931920" cy="685800"/>
          </a:xfrm>
          <a:prstGeom prst="roundRect">
            <a:avLst>
              <a:gd name="adj" fmla="val 8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“Which workloads push latency past the threshold?”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17720" y="1600200"/>
            <a:ext cx="3977639" cy="713232"/>
          </a:xfrm>
          <a:prstGeom prst="roundRect">
            <a:avLst>
              <a:gd name="adj" fmla="val 7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4818888" y="1810512"/>
            <a:ext cx="292608" cy="292608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57800" y="1691640"/>
            <a:ext cx="315467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Functional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outcome = requirement violated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2459736"/>
            <a:ext cx="3977639" cy="713232"/>
          </a:xfrm>
          <a:prstGeom prst="roundRect">
            <a:avLst>
              <a:gd name="adj" fmla="val 7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818888" y="2670048"/>
            <a:ext cx="292608" cy="29260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257800" y="2551176"/>
            <a:ext cx="315467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Performance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outcome = latency past threshold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3319272"/>
            <a:ext cx="3977639" cy="713232"/>
          </a:xfrm>
          <a:prstGeom prst="roundRect">
            <a:avLst>
              <a:gd name="adj" fmla="val 7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4818888" y="3529583"/>
            <a:ext cx="292608" cy="292608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257800" y="3410712"/>
            <a:ext cx="3154679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Fairness, energy…</a:t>
            </a:r>
          </a:p>
          <a:p>
            <a:pPr algn="l">
              <a:lnSpc>
                <a:spcPct val="108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outcome = any quality metric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31920"/>
            <a:ext cx="804672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A causal model can also feed an LLM — supplying the causal paths it should respect.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2 ·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Concretely: which workload breaches the SLO?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931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Setup.  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microservice under load. The model links workload &amp; resources to </a:t>
            </a:r>
            <a:r>
              <a:rPr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p99 latency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468880"/>
            <a:ext cx="3931920" cy="1371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87752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model over workload &amp; resources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83080" y="3154680"/>
            <a:ext cx="320040" cy="155448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1783080" y="3419856"/>
            <a:ext cx="320040" cy="146304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063239" y="3364992"/>
            <a:ext cx="274321" cy="0"/>
          </a:xfrm>
          <a:prstGeom prst="line">
            <a:avLst/>
          </a:prstGeom>
          <a:ln w="1778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22959" y="2971800"/>
            <a:ext cx="96012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req rate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3383280"/>
            <a:ext cx="96012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replicas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3182112"/>
            <a:ext cx="96012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CPU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3182112"/>
            <a:ext cx="960120" cy="365760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p99 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17720" y="1554480"/>
            <a:ext cx="3977639" cy="86868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92040" y="1664208"/>
            <a:ext cx="3428999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what-if query</a:t>
            </a:r>
          </a:p>
          <a:p>
            <a:pPr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5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P(latency &gt; SLO | do(rate=high, replicas=2))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17720" y="2606040"/>
            <a:ext cx="3977639" cy="274320"/>
          </a:xfrm>
          <a:prstGeom prst="roundRect">
            <a:avLst>
              <a:gd name="adj" fmla="val 3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754880" y="2651760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intervention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651760"/>
            <a:ext cx="9144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18120" y="2651760"/>
            <a:ext cx="7315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verdict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17720" y="2880360"/>
            <a:ext cx="3977639" cy="329184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54880" y="2926079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rate ↑, replicas =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2926079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1.8× SLO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2935224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breach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17720" y="3209544"/>
            <a:ext cx="3977639" cy="329184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4880" y="3255263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rate ↑, replicas =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3255263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0.9× SLO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818120" y="3264408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17720" y="3538727"/>
            <a:ext cx="3977639" cy="329184"/>
          </a:xfrm>
          <a:prstGeom prst="roundRect">
            <a:avLst>
              <a:gd name="adj" fmla="val 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754880" y="3584447"/>
            <a:ext cx="210312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0" kern="0">
                <a:solidFill>
                  <a:srgbClr val="1E3A5F"/>
                </a:solidFill>
                <a:latin typeface="Consolas"/>
                <a:ea typeface="Consolas"/>
                <a:cs typeface="Consolas"/>
              </a:rPr>
              <a:t>async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584447"/>
            <a:ext cx="914400" cy="2560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0.7× SLO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818120" y="3593591"/>
            <a:ext cx="640080" cy="219456"/>
          </a:xfrm>
          <a:prstGeom prst="roundRect">
            <a:avLst>
              <a:gd name="adj" fmla="val 5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 — 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Fault localization: the leading application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2377440" cy="21031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21031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 kern="0">
                <a:solidFill>
                  <a:srgbClr val="4A9E99"/>
                </a:solidFill>
                <a:latin typeface="Cambria"/>
                <a:ea typeface="Cambria"/>
                <a:cs typeface="Cambria"/>
              </a:rPr>
              <a:t>~50%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of surveyed papers</a:t>
            </a:r>
          </a:p>
          <a:p>
            <a:pPr algn="ctr">
              <a:lnSpc>
                <a:spcPct val="11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Causal reasoning is seen as a way to </a:t>
            </a:r>
            <a:r>
              <a:rPr sz="900" b="1" i="1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explain why</a:t>
            </a:r>
            <a:r>
              <a:rPr sz="900" b="0" i="1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 an event happened.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645920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It maps onto the chain from a fault to a failure. Two flavours dominate:</a:t>
            </a:r>
          </a:p>
        </p:txBody>
      </p:sp>
      <p:sp>
        <p:nvSpPr>
          <p:cNvPr id="7" name="Oval 6"/>
          <p:cNvSpPr/>
          <p:nvPr/>
        </p:nvSpPr>
        <p:spPr>
          <a:xfrm>
            <a:off x="3200400" y="2368296"/>
            <a:ext cx="164592" cy="164592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0" y="2295144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Debugging  </a:t>
            </a:r>
            <a:r>
              <a:rPr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Locate the faulty statement and the fix — statistical FL, program repair.</a:t>
            </a:r>
          </a:p>
        </p:txBody>
      </p:sp>
      <p:sp>
        <p:nvSpPr>
          <p:cNvPr id="9" name="Oval 8"/>
          <p:cNvSpPr/>
          <p:nvPr/>
        </p:nvSpPr>
        <p:spPr>
          <a:xfrm>
            <a:off x="3200400" y="3008376"/>
            <a:ext cx="164592" cy="164592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2935224"/>
            <a:ext cx="5120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Root cause analysis  </a:t>
            </a:r>
            <a:r>
              <a:rPr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Find the culprit component in a running system — esp. microservices &amp; cloud.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00400" y="3657600"/>
            <a:ext cx="5394960" cy="502920"/>
          </a:xfrm>
          <a:prstGeom prst="roundRect">
            <a:avLst>
              <a:gd name="adj" fmla="val 10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True causal inference — e.g. counterfactual RCA — is still uncommon; most work learns the structure, then ranks.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Why fault localization is the natural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80467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reasoning is perceived as a way to </a:t>
            </a:r>
            <a:r>
              <a:rPr sz="11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explain why</a:t>
            </a:r>
            <a:r>
              <a:rPr sz="11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an event happened — so it maps naturally onto the chain that leads from a fault to a failure.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59" y="265176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97479" y="2807208"/>
            <a:ext cx="4572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65176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2807208"/>
            <a:ext cx="4572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77840" y="2651760"/>
            <a:ext cx="1828800" cy="640080"/>
          </a:xfrm>
          <a:prstGeom prst="roundRect">
            <a:avLst>
              <a:gd name="adj" fmla="val 10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4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Failure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causal model over this chain lets engineers trace, and adjust for confounders that make innocent components merely correlate with failure.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 —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Tracing a failure to its true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9319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In a system of interacting components, a failure </a:t>
            </a: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propagates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 A causal model separates the real culprit from components that merely </a:t>
            </a:r>
            <a:r>
              <a:rPr sz="10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correlate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with the symptom.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88920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944368"/>
            <a:ext cx="256032" cy="256032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862072"/>
            <a:ext cx="32918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Propagated  </a:t>
            </a: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An inner failure cascades; the edge component gets blamed.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47287"/>
            <a:ext cx="3931920" cy="566928"/>
          </a:xfrm>
          <a:prstGeom prst="roundRect">
            <a:avLst>
              <a:gd name="adj" fmla="val 6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3602735"/>
            <a:ext cx="256032" cy="256032"/>
          </a:xfrm>
          <a:prstGeom prst="ellipse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520439"/>
            <a:ext cx="3291840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Masked  </a:t>
            </a: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A symptom is hidden downstream; black-box checks pass.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554480"/>
            <a:ext cx="3977639" cy="237744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37759" y="1828800"/>
            <a:ext cx="3337559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counterfactual query</a:t>
            </a:r>
          </a:p>
          <a:p>
            <a:pPr algn="l">
              <a:spcBef>
                <a:spcPts val="100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 failᵢ | do( compₖ = fail ) )</a:t>
            </a:r>
          </a:p>
          <a:p>
            <a:pPr algn="l">
              <a:lnSpc>
                <a:spcPct val="12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1050" b="0" i="1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“If component k fails, which others fail too?”</a:t>
            </a:r>
          </a:p>
          <a:p>
            <a:pPr algn="l">
              <a:lnSpc>
                <a:spcPct val="122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Interventions trace the chain </a:t>
            </a:r>
            <a:r>
              <a:rPr sz="10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without injecting real faults</a:t>
            </a:r>
            <a:r>
              <a:rPr sz="1000" b="0" i="0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3429000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 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0176" y="346557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4496" y="3429000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 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3465576"/>
            <a:ext cx="228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25512" y="3429000"/>
            <a:ext cx="960120" cy="329184"/>
          </a:xfrm>
          <a:prstGeom prst="roundRect">
            <a:avLst>
              <a:gd name="adj" fmla="val 12000"/>
            </a:avLst>
          </a:prstGeom>
          <a:solidFill>
            <a:srgbClr val="2C4F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symptom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3 ·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Concretely: tracing a failure across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Setup.  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 benchmark of ~40 services. A failure in an inner service shows up at the edge.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840480" cy="77724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852928"/>
            <a:ext cx="32918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intervention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5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P(fail(Pay), fail(Order) | do(Auth = fail))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Synthetic result:  </a:t>
            </a:r>
            <a:r>
              <a:rPr sz="9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Auth=fail propagates to Order (0.92) &amp; Payment (0.88); front-end masked.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554480"/>
            <a:ext cx="3977639" cy="251460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92040" y="1719072"/>
            <a:ext cx="3428999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do(Auth = fail) — propagation traced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5989319" y="2333548"/>
            <a:ext cx="182881" cy="406908"/>
          </a:xfrm>
          <a:prstGeom prst="line">
            <a:avLst/>
          </a:prstGeom>
          <a:ln w="2286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989319" y="2855671"/>
            <a:ext cx="182881" cy="452628"/>
          </a:xfrm>
          <a:prstGeom prst="line">
            <a:avLst/>
          </a:prstGeom>
          <a:ln w="2286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223760" y="2333548"/>
            <a:ext cx="182880" cy="406908"/>
          </a:xfrm>
          <a:prstGeom prst="line">
            <a:avLst/>
          </a:prstGeom>
          <a:ln w="15240">
            <a:solidFill>
              <a:srgbClr val="7A87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223760" y="2855671"/>
            <a:ext cx="182880" cy="452628"/>
          </a:xfrm>
          <a:prstGeom prst="line">
            <a:avLst/>
          </a:prstGeom>
          <a:ln w="15240">
            <a:solidFill>
              <a:srgbClr val="7A87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937759" y="2606039"/>
            <a:ext cx="1051560" cy="384048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Auth 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51560" cy="384048"/>
          </a:xfrm>
          <a:prstGeom prst="rect">
            <a:avLst/>
          </a:prstGeom>
          <a:solidFill>
            <a:srgbClr val="C85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Order 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51192" y="2185415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 .92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154680"/>
            <a:ext cx="1051560" cy="384048"/>
          </a:xfrm>
          <a:prstGeom prst="rect">
            <a:avLst/>
          </a:prstGeom>
          <a:solidFill>
            <a:srgbClr val="C85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Pay 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51192" y="3236976"/>
            <a:ext cx="457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 .88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2606039"/>
            <a:ext cx="1051560" cy="384048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 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3776472"/>
            <a:ext cx="342899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✕ fails under do(·)    ✓ stays up (failure hidden)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 — EXAMPLE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Discovering the graph, then ranking causes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When you don't have the structure, </a:t>
            </a:r>
            <a:r>
              <a:rPr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learn it from monitoring data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331720"/>
            <a:ext cx="310896" cy="310896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13432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Discover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run a causal-discovery algorithm on metrics/traces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43784"/>
            <a:ext cx="310896" cy="310896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825496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Traverse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walk the graph backward from the symptom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55848"/>
            <a:ext cx="310896" cy="310896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337560"/>
            <a:ext cx="3383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Rank  </a:t>
            </a:r>
            <a:r>
              <a:rPr sz="9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score components and return a ranked list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17720" y="1554480"/>
            <a:ext cx="3977639" cy="169164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39"/>
            <a:ext cx="342899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Learned dependency graph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5806440" y="2231136"/>
            <a:ext cx="274320" cy="137160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806440" y="2478024"/>
            <a:ext cx="274320" cy="228600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95160" y="2231136"/>
            <a:ext cx="320040" cy="137160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995160" y="2478024"/>
            <a:ext cx="320040" cy="228600"/>
          </a:xfrm>
          <a:prstGeom prst="line">
            <a:avLst/>
          </a:prstGeom>
          <a:ln w="1778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4892040" y="2240280"/>
            <a:ext cx="914400" cy="365760"/>
          </a:xfrm>
          <a:prstGeom prst="rect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front-end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0760" y="2011680"/>
            <a:ext cx="91440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svc 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80760" y="2560320"/>
            <a:ext cx="914400" cy="365760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svc 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0" y="2240280"/>
            <a:ext cx="91440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246120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Ranked root-cause scores (illustrative):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10712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svc 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40680" y="3429000"/>
            <a:ext cx="1687982" cy="128016"/>
          </a:xfrm>
          <a:prstGeom prst="roundRect">
            <a:avLst>
              <a:gd name="adj" fmla="val 40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74382" y="3401568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0.71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611880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svc 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40680" y="3630168"/>
            <a:ext cx="523036" cy="128016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09436" y="3602736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0.22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813048"/>
            <a:ext cx="822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40680" y="3831336"/>
            <a:ext cx="166420" cy="128016"/>
          </a:xfrm>
          <a:prstGeom prst="roundRect">
            <a:avLst>
              <a:gd name="adj" fmla="val 40000"/>
            </a:avLst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652820" y="380390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0.07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4 · IN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Concretely: from metrics to a ranked root cause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384048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Setup.  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Latency spikes at the front-end. A discovery algorithm (</a:t>
            </a:r>
            <a:r>
              <a:rPr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PC / Granger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) learns the graph; a walk scores likely sources.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743200"/>
            <a:ext cx="3840480" cy="7315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59" y="2852928"/>
            <a:ext cx="32918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The attribution query</a:t>
            </a:r>
          </a:p>
          <a:p>
            <a:pPr algn="l">
              <a:lnSpc>
                <a:spcPct val="116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00" b="1" i="0" kern="0">
                <a:solidFill>
                  <a:srgbClr val="4A9E99"/>
                </a:solidFill>
                <a:latin typeface="Consolas"/>
                <a:ea typeface="Consolas"/>
                <a:cs typeface="Consolas"/>
              </a:rPr>
              <a:t>score(cᵢ) ∝ causal effect of cᵢ on latency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11880"/>
            <a:ext cx="38404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The walk follows edges backward, accumulating effect along each path.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554480"/>
            <a:ext cx="3977639" cy="1508760"/>
          </a:xfrm>
          <a:prstGeom prst="roundRect">
            <a:avLst>
              <a:gd name="adj" fmla="val 5000"/>
            </a:avLst>
          </a:prstGeom>
          <a:solidFill>
            <a:srgbClr val="F2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892040" y="1673352"/>
            <a:ext cx="3428999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Discovered graph (from metrics)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5806440" y="2331720"/>
            <a:ext cx="731520" cy="9144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5806440" y="2450591"/>
            <a:ext cx="274320" cy="246889"/>
          </a:xfrm>
          <a:prstGeom prst="line">
            <a:avLst/>
          </a:prstGeom>
          <a:ln w="15240">
            <a:solidFill>
              <a:srgbClr val="0E7C86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6995160" y="2148840"/>
            <a:ext cx="320040" cy="192024"/>
          </a:xfrm>
          <a:prstGeom prst="line">
            <a:avLst/>
          </a:prstGeom>
          <a:ln w="17780">
            <a:solidFill>
              <a:srgbClr val="D26E3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6995160" y="2414015"/>
            <a:ext cx="320040" cy="283465"/>
          </a:xfrm>
          <a:prstGeom prst="line">
            <a:avLst/>
          </a:prstGeom>
          <a:ln w="12700">
            <a:solidFill>
              <a:srgbClr val="7A879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4892040" y="2194560"/>
            <a:ext cx="914400" cy="365760"/>
          </a:xfrm>
          <a:prstGeom prst="rect">
            <a:avLst/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front-end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0760" y="1965960"/>
            <a:ext cx="91440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svc 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0760" y="2514600"/>
            <a:ext cx="914400" cy="36576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svc 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194560"/>
            <a:ext cx="914400" cy="365760"/>
          </a:xfrm>
          <a:prstGeom prst="rect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database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108960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Ranked root-cause scores (illustrative):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73552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database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532120" y="3291840"/>
            <a:ext cx="1623060" cy="128016"/>
          </a:xfrm>
          <a:prstGeom prst="roundRect">
            <a:avLst>
              <a:gd name="adj" fmla="val 40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200900" y="3264408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0.71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74720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svc 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532120" y="3493008"/>
            <a:ext cx="502920" cy="128016"/>
          </a:xfrm>
          <a:prstGeom prst="roundRect">
            <a:avLst>
              <a:gd name="adj" fmla="val 40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080759" y="3465576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0.22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675888"/>
            <a:ext cx="868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svc 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32120" y="3694176"/>
            <a:ext cx="160020" cy="128016"/>
          </a:xfrm>
          <a:prstGeom prst="roundRect">
            <a:avLst>
              <a:gd name="adj" fmla="val 40000"/>
            </a:avLst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737859" y="3666744"/>
            <a:ext cx="457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0.07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3931920"/>
            <a:ext cx="39319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→ database is the most likely root cause.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 4 · IN PRACTICE — WITH A REAL LIBRARY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End-to-end in PyWhy / DoWhy: the GCM recipe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80467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The open-source </a:t>
            </a:r>
            <a:r>
              <a:rPr sz="1050" b="1" i="0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DoWhy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GCM module runs the whole recipe on microservice latencies: build, fit, then </a:t>
            </a: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attribute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10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intervene</a:t>
            </a:r>
            <a:r>
              <a:rPr sz="10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48840"/>
            <a:ext cx="2606040" cy="155448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313432"/>
            <a:ext cx="220370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1 · Attribute an outlier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“This request was 2s slow — why?”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8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Shapley attribution to upstream services.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3319272"/>
            <a:ext cx="2203704" cy="274320"/>
          </a:xfrm>
          <a:prstGeom prst="roundRect">
            <a:avLst>
              <a:gd name="adj" fmla="val 1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A9CFD0"/>
                </a:solidFill>
                <a:latin typeface="Consolas"/>
                <a:ea typeface="Consolas"/>
                <a:cs typeface="Consolas"/>
              </a:rPr>
              <a:t>gcm.attribute_anomalies()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2" y="2148840"/>
            <a:ext cx="2606040" cy="155448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74720" y="2313432"/>
            <a:ext cx="220370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2 · Attribute a shift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“Latency degraded — what changed?”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8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Attribute the change in mean latency.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3319272"/>
            <a:ext cx="2203704" cy="274320"/>
          </a:xfrm>
          <a:prstGeom prst="roundRect">
            <a:avLst>
              <a:gd name="adj" fmla="val 1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A9CFD0"/>
                </a:solidFill>
                <a:latin typeface="Consolas"/>
                <a:ea typeface="Consolas"/>
                <a:cs typeface="Consolas"/>
              </a:rPr>
              <a:t>gcm.distribution_change()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2148840"/>
            <a:ext cx="2606040" cy="155448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99631" y="2313432"/>
            <a:ext cx="2203704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3 · Simulate a fix</a:t>
            </a:r>
          </a:p>
          <a:p>
            <a:pPr algn="l">
              <a:lnSpc>
                <a:spcPct val="112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“Would shifting resources help?”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8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Intervene and predict before acting.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1" y="3319272"/>
            <a:ext cx="2203704" cy="274320"/>
          </a:xfrm>
          <a:prstGeom prst="roundRect">
            <a:avLst>
              <a:gd name="adj" fmla="val 16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A9CFD0"/>
                </a:solidFill>
                <a:latin typeface="Consolas"/>
                <a:ea typeface="Consolas"/>
                <a:cs typeface="Consolas"/>
              </a:rPr>
              <a:t>gcm.interventional_samples()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822191"/>
            <a:ext cx="8046720" cy="384048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Worked result (illustrative):  </a:t>
            </a: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scores point to </a:t>
            </a:r>
            <a:r>
              <a:rPr sz="95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Caching Service</a:t>
            </a: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; simulating +resources cuts latency ~1s — a fix tested before deployment.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FAULT LOCALIZATION — THE GENERAL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A repeatable recipe for causal RCA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Whatever the system, the same three moves turn telemetry into an explainable root cause.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2606040" cy="141732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58568"/>
            <a:ext cx="21488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1 · Build the graph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Components &amp; runtime variables as nodes; edges from architecture or causal discovery.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36392" y="2619756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73552" y="2057400"/>
            <a:ext cx="2606040" cy="141732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02152" y="2258568"/>
            <a:ext cx="21488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2 · Reason on it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Trace propagation with do(comp = fail); ask counterfactuals about alternatives.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61304" y="2619756"/>
            <a:ext cx="182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kern="0">
                <a:solidFill>
                  <a:srgbClr val="7A8794"/>
                </a:solidFill>
                <a:latin typeface="Cambria"/>
                <a:ea typeface="Cambria"/>
                <a:cs typeface="Cambria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8464" y="2057400"/>
            <a:ext cx="2606040" cy="141732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27064" y="2258568"/>
            <a:ext cx="214884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3 · Adjust &amp; explain</a:t>
            </a:r>
          </a:p>
          <a:p>
            <a:pPr algn="l">
              <a:lnSpc>
                <a:spcPct val="116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Control for confounders; return an inspectable causal chain.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03320"/>
            <a:ext cx="8046720" cy="5029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8100" tIns="38100" rIns="38100" bIns="38100" rtlCol="0" anchor="ctr"/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4A9E99"/>
                </a:solidFill>
                <a:latin typeface="Calibri"/>
                <a:ea typeface="Calibri"/>
                <a:cs typeface="Calibri"/>
              </a:rPr>
              <a:t>Why it transfers:  </a:t>
            </a:r>
            <a:r>
              <a:rPr sz="100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independent of the domain — microservices, cloud, cyber-physical, ML pipelines. Swap variables, keep the reasoning.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piè di pagina 1">
            <a:extLst>
              <a:ext uri="{FF2B5EF4-FFF2-40B4-BE49-F238E27FC236}">
                <a16:creationId xmlns:a16="http://schemas.microsoft.com/office/drawing/2014/main" id="{5198D66D-2792-15CD-77D5-528D8B5F6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B0D5AC89-C743-FBB0-1546-0784B3D31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9784790-3B7A-073A-F718-4C3E8FAB1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26</a:t>
            </a:fld>
            <a:endParaRPr lang="en-SE" dirty="0"/>
          </a:p>
        </p:txBody>
      </p:sp>
    </p:spTree>
    <p:extLst>
      <p:ext uri="{BB962C8B-B14F-4D97-AF65-F5344CB8AC3E}">
        <p14:creationId xmlns:p14="http://schemas.microsoft.com/office/powerpoint/2010/main" val="14947866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EXAMPLES · 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reasoning across SQA — a systematic review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2286000" cy="2103120"/>
          </a:xfrm>
          <a:prstGeom prst="roundRect">
            <a:avLst>
              <a:gd name="adj" fmla="val 5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2011680"/>
            <a:ext cx="201168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4200" b="1" i="0" kern="0">
                <a:solidFill>
                  <a:srgbClr val="4A9E99"/>
                </a:solidFill>
                <a:latin typeface="Cambria"/>
                <a:ea typeface="Cambria"/>
                <a:cs typeface="Cambria"/>
              </a:rPr>
              <a:t>86</a:t>
            </a:r>
          </a:p>
          <a:p>
            <a:pPr algn="ctr">
              <a:spcBef>
                <a:spcPts val="200"/>
              </a:spcBef>
              <a:spcAft>
                <a:spcPts val="0"/>
              </a:spcAft>
              <a:buNone/>
            </a:pPr>
            <a:r>
              <a:rPr sz="950" b="0" i="0" kern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articles classified</a:t>
            </a:r>
          </a:p>
          <a:p>
            <a:pPr algn="ctr">
              <a:lnSpc>
                <a:spcPct val="116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sz="850" b="0" i="1" kern="0">
                <a:solidFill>
                  <a:srgbClr val="C9D6DF"/>
                </a:solidFill>
                <a:latin typeface="Calibri"/>
                <a:ea typeface="Calibri"/>
                <a:cs typeface="Calibri"/>
              </a:rPr>
              <a:t>Pearl's graphical formulation is the preferred framing.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6916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Where causal reasoning is applied:</a:t>
            </a:r>
          </a:p>
        </p:txBody>
      </p:sp>
      <p:sp>
        <p:nvSpPr>
          <p:cNvPr id="7" name="Oval 6"/>
          <p:cNvSpPr/>
          <p:nvPr/>
        </p:nvSpPr>
        <p:spPr>
          <a:xfrm>
            <a:off x="3108960" y="2130551"/>
            <a:ext cx="146304" cy="146304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64992" y="2066543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Fault localization  </a:t>
            </a:r>
            <a:r>
              <a:rPr sz="9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most exploited — esp. web/microservices</a:t>
            </a:r>
          </a:p>
        </p:txBody>
      </p:sp>
      <p:sp>
        <p:nvSpPr>
          <p:cNvPr id="9" name="Oval 8"/>
          <p:cNvSpPr/>
          <p:nvPr/>
        </p:nvSpPr>
        <p:spPr>
          <a:xfrm>
            <a:off x="3108960" y="2468879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64992" y="2404872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Testing &amp; analysis  </a:t>
            </a:r>
            <a:r>
              <a:rPr sz="9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rapidly gaining popularity</a:t>
            </a:r>
          </a:p>
        </p:txBody>
      </p:sp>
      <p:sp>
        <p:nvSpPr>
          <p:cNvPr id="11" name="Oval 10"/>
          <p:cNvSpPr/>
          <p:nvPr/>
        </p:nvSpPr>
        <p:spPr>
          <a:xfrm>
            <a:off x="3108960" y="2807208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64992" y="2743200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KPI prediction  </a:t>
            </a:r>
            <a:r>
              <a:rPr sz="9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performance &amp; reliability</a:t>
            </a:r>
          </a:p>
        </p:txBody>
      </p:sp>
      <p:sp>
        <p:nvSpPr>
          <p:cNvPr id="13" name="Oval 12"/>
          <p:cNvSpPr/>
          <p:nvPr/>
        </p:nvSpPr>
        <p:spPr>
          <a:xfrm>
            <a:off x="3108960" y="3145536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364992" y="3081528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Defect prediction  </a:t>
            </a:r>
            <a:r>
              <a:rPr sz="9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risk-aware quality forecasting</a:t>
            </a:r>
          </a:p>
        </p:txBody>
      </p:sp>
      <p:sp>
        <p:nvSpPr>
          <p:cNvPr id="15" name="Oval 14"/>
          <p:cNvSpPr/>
          <p:nvPr/>
        </p:nvSpPr>
        <p:spPr>
          <a:xfrm>
            <a:off x="3108960" y="3483864"/>
            <a:ext cx="146304" cy="14630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64992" y="3419856"/>
            <a:ext cx="52120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Anomaly detection  </a:t>
            </a:r>
            <a:r>
              <a:rPr sz="95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— operational reliability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384048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kern="0">
                <a:solidFill>
                  <a:srgbClr val="0A5A62"/>
                </a:solidFill>
                <a:latin typeface="Calibri"/>
                <a:ea typeface="Calibri"/>
                <a:cs typeface="Calibri"/>
              </a:rPr>
              <a:t>Mature for V&amp;V &amp; maintenance; under-exploited in requirements &amp; design.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977639"/>
            <a:ext cx="8046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Source: systematic review of causal reasoning in software quality assurance (IST, 2025).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piè di pagina 1">
            <a:extLst>
              <a:ext uri="{FF2B5EF4-FFF2-40B4-BE49-F238E27FC236}">
                <a16:creationId xmlns:a16="http://schemas.microsoft.com/office/drawing/2014/main" id="{E94FA98E-5CE5-4845-2037-BA395E3377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E"/>
          </a:p>
        </p:txBody>
      </p:sp>
      <p:sp>
        <p:nvSpPr>
          <p:cNvPr id="3" name="Titolo 2">
            <a:extLst>
              <a:ext uri="{FF2B5EF4-FFF2-40B4-BE49-F238E27FC236}">
                <a16:creationId xmlns:a16="http://schemas.microsoft.com/office/drawing/2014/main" id="{3AD90420-F29C-E6F8-898E-1BF1E66B0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3A1FE19-E4E7-F80C-5870-7FFE66323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C53FA84E-D7EA-43A2-AD8F-825F36F0800C}" type="slidenum">
              <a:rPr lang="en-SE" smtClean="0"/>
              <a:pPr algn="r"/>
              <a:t>28</a:t>
            </a:fld>
            <a:endParaRPr lang="en-SE" dirty="0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9EC3114B-C701-DECD-52C3-CA91F2AEE64D}"/>
              </a:ext>
            </a:extLst>
          </p:cNvPr>
          <p:cNvSpPr txBox="1"/>
          <p:nvPr/>
        </p:nvSpPr>
        <p:spPr>
          <a:xfrm>
            <a:off x="438912" y="2212848"/>
            <a:ext cx="51582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highlight>
                  <a:srgbClr val="FFFF00"/>
                </a:highlight>
              </a:rPr>
              <a:t>The slides that follow could help for the final part…</a:t>
            </a:r>
          </a:p>
        </p:txBody>
      </p:sp>
    </p:spTree>
    <p:extLst>
      <p:ext uri="{BB962C8B-B14F-4D97-AF65-F5344CB8AC3E}">
        <p14:creationId xmlns:p14="http://schemas.microsoft.com/office/powerpoint/2010/main" val="35928744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THE ROAD AHEAD · VISION &amp;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Readiness Levels: a path for SE tooling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8046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From correlation-based tools toward governed, uncertainty-aware </a:t>
            </a:r>
            <a:r>
              <a:rPr sz="1000" b="1" i="0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causal copilots</a:t>
            </a:r>
            <a:r>
              <a:rPr sz="10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108960"/>
            <a:ext cx="1280160" cy="457200"/>
          </a:xfrm>
          <a:prstGeom prst="roundRect">
            <a:avLst>
              <a:gd name="adj" fmla="val 6000"/>
            </a:avLst>
          </a:prstGeom>
          <a:solidFill>
            <a:srgbClr val="5966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318211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19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Correlation-based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2907792"/>
            <a:ext cx="1280160" cy="658368"/>
          </a:xfrm>
          <a:prstGeom prst="roundRect">
            <a:avLst>
              <a:gd name="adj" fmla="val 6000"/>
            </a:avLst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20240" y="2980944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observability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2706624"/>
            <a:ext cx="1280160" cy="859536"/>
          </a:xfrm>
          <a:prstGeom prst="roundRect">
            <a:avLst>
              <a:gd name="adj" fmla="val 6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291840" y="2779776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Intervenability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2505456"/>
            <a:ext cx="1280160" cy="1060704"/>
          </a:xfrm>
          <a:prstGeom prst="roundRect">
            <a:avLst>
              <a:gd name="adj" fmla="val 6000"/>
            </a:avLst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63440" y="2578608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Counterf. assurance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35040" y="2304288"/>
            <a:ext cx="1280160" cy="1261872"/>
          </a:xfrm>
          <a:prstGeom prst="roundRect">
            <a:avLst>
              <a:gd name="adj" fmla="val 6000"/>
            </a:avLst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035040" y="237744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copilots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03120"/>
            <a:ext cx="1280160" cy="1463040"/>
          </a:xfrm>
          <a:prstGeom prst="roundRect">
            <a:avLst>
              <a:gd name="adj" fmla="val 6000"/>
            </a:avLst>
          </a:prstGeom>
          <a:solidFill>
            <a:srgbClr val="C055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06640" y="2176272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kern="0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CRL-5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19" y="3621024"/>
            <a:ext cx="1371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Causal certification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Progress is measured for </a:t>
            </a:r>
            <a:r>
              <a:rPr sz="95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both tools and organizations</a:t>
            </a:r>
            <a:r>
              <a:rPr sz="950" b="0" i="1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 — adoption needs cultural change, not only better algorithms.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THE ROAD AHEAD · FOUR CO-EVOLVING ROUTES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Where causal software engineering is heading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7240" y="1874519"/>
            <a:ext cx="237744" cy="237744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88719" y="1810512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R1 · Causal observability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Augment metrics, logs &amp; traces with explicit causal structure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850" b="1" i="1" kern="0">
                <a:solidFill>
                  <a:srgbClr val="0A5A62"/>
                </a:solidFill>
                <a:latin typeface="Calibri"/>
                <a:ea typeface="Calibri"/>
                <a:cs typeface="Calibri"/>
              </a:rPr>
              <a:t>Dream: reliable why &amp; what-if answers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09159" y="1645920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EA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4937759" y="1874519"/>
            <a:ext cx="237744" cy="237744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49240" y="1810512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R2 · Intervenability by design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Treat CI/CD, flags &amp; canaries as explicit causal interventions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85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Dream: evidence-backed intervention planning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53512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EE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77240" y="3182112"/>
            <a:ext cx="237744" cy="237744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19" y="3118104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R3 · Counterfactual assurance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Counterfactual RCA at scale; causal testing; refutation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850" b="1" i="1" kern="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Dream: routine “what would have avoided this?”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59" y="2953512"/>
            <a:ext cx="3886200" cy="1143000"/>
          </a:xfrm>
          <a:prstGeom prst="roundRect">
            <a:avLst>
              <a:gd name="adj" fmla="val 5000"/>
            </a:avLst>
          </a:prstGeom>
          <a:solidFill>
            <a:srgbClr val="F8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937759" y="3182112"/>
            <a:ext cx="237744" cy="237744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49240" y="3118104"/>
            <a:ext cx="30632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5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R4 · Governance &amp; alignment</a:t>
            </a:r>
          </a:p>
          <a:p>
            <a:pPr algn="l">
              <a:lnSpc>
                <a:spcPct val="112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1E3A5F"/>
                </a:solidFill>
                <a:latin typeface="Calibri"/>
                <a:ea typeface="Calibri"/>
                <a:cs typeface="Calibri"/>
              </a:rPr>
              <a:t>Auditable causal claims; human-in-the-loop; constrained agents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sz="850" b="1" i="1" kern="0">
                <a:solidFill>
                  <a:srgbClr val="D26E3A"/>
                </a:solidFill>
                <a:latin typeface="Calibri"/>
                <a:ea typeface="Calibri"/>
                <a:cs typeface="Calibri"/>
              </a:rPr>
              <a:t>Dream: governed causal copilots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868680"/>
            <a:ext cx="80467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 kern="0" spc="240">
                <a:solidFill>
                  <a:srgbClr val="0E7C86"/>
                </a:solidFill>
                <a:latin typeface="Calibri"/>
                <a:ea typeface="Calibri"/>
                <a:cs typeface="Calibri"/>
              </a:rPr>
              <a:t>WRAP-UP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24712"/>
            <a:ext cx="80467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Causal reasoning: a new way to co-engineer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201168" cy="201168"/>
          </a:xfrm>
          <a:prstGeom prst="ellipse">
            <a:avLst/>
          </a:prstGeom>
          <a:solidFill>
            <a:srgbClr val="0A5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5506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SE questions are causal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do(·), not just seeing.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331720"/>
            <a:ext cx="201168" cy="201168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224942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Graphs make assumptions explicit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confounders, mediators, colliders surfaced.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926079"/>
            <a:ext cx="201168" cy="201168"/>
          </a:xfrm>
          <a:prstGeom prst="ellipse">
            <a:avLst/>
          </a:prstGeom>
          <a:solidFill>
            <a:srgbClr val="D26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284378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It already works in SE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causal testing &amp; RCA across QA.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20439"/>
            <a:ext cx="201168" cy="201168"/>
          </a:xfrm>
          <a:prstGeom prst="ellipse">
            <a:avLst/>
          </a:prstGeom>
          <a:solidFill>
            <a:srgbClr val="4A9E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3438144"/>
            <a:ext cx="758952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 kern="0">
                <a:solidFill>
                  <a:srgbClr val="1E3A5F"/>
                </a:solidFill>
                <a:latin typeface="Cambria"/>
                <a:ea typeface="Cambria"/>
                <a:cs typeface="Cambria"/>
              </a:rPr>
              <a:t>Humans stay in the loop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105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inspectable models — collaboration, not a black 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473659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 kern="0">
                <a:solidFill>
                  <a:srgbClr val="7A8794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npassad formgivn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</TotalTime>
  <Words>2473</Words>
  <Application>Microsoft Macintosh PowerPoint</Application>
  <PresentationFormat>Presentazione su schermo (16:9)</PresentationFormat>
  <Paragraphs>410</Paragraphs>
  <Slides>31</Slides>
  <Notes>1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31</vt:i4>
      </vt:variant>
    </vt:vector>
  </HeadingPairs>
  <TitlesOfParts>
    <vt:vector size="37" baseType="lpstr">
      <vt:lpstr>Aptos</vt:lpstr>
      <vt:lpstr>Arial</vt:lpstr>
      <vt:lpstr>Calibri</vt:lpstr>
      <vt:lpstr>Cambria</vt:lpstr>
      <vt:lpstr>Consolas</vt:lpstr>
      <vt:lpstr>Anpassad formgivning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References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Causal Inference for Software Engineering</dc:title>
  <dc:subject>PptxGenJS Presentation</dc:subject>
  <dc:creator>Tutorial authors</dc:creator>
  <cp:lastModifiedBy>ROBERTO PIETRANTUONO</cp:lastModifiedBy>
  <cp:revision>30</cp:revision>
  <dcterms:created xsi:type="dcterms:W3CDTF">2026-06-18T12:50:28Z</dcterms:created>
  <dcterms:modified xsi:type="dcterms:W3CDTF">2026-06-23T06:51:46Z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Enabled">
    <vt:lpwstr>true</vt:lpwstr>
  </property>
  <property fmtid="{D5CDD505-2E9C-101B-9397-08002B2CF9AE}" pid="3" name="MSIP_Label_2ad0b24d-6422-44b0-b3de-abb3a9e8c81a_SetDate">
    <vt:lpwstr>2026-06-23T06:46:10Z</vt:lpwstr>
  </property>
  <property fmtid="{D5CDD505-2E9C-101B-9397-08002B2CF9AE}" pid="4" name="MSIP_Label_2ad0b24d-6422-44b0-b3de-abb3a9e8c81a_Method">
    <vt:lpwstr>Standard</vt:lpwstr>
  </property>
  <property fmtid="{D5CDD505-2E9C-101B-9397-08002B2CF9AE}" pid="5" name="MSIP_Label_2ad0b24d-6422-44b0-b3de-abb3a9e8c81a_Name">
    <vt:lpwstr>defa4170-0d19-0005-0004-bc88714345d2</vt:lpwstr>
  </property>
  <property fmtid="{D5CDD505-2E9C-101B-9397-08002B2CF9AE}" pid="6" name="MSIP_Label_2ad0b24d-6422-44b0-b3de-abb3a9e8c81a_SiteId">
    <vt:lpwstr>2fcfe26a-bb62-46b0-b1e3-28f9da0c45fd</vt:lpwstr>
  </property>
  <property fmtid="{D5CDD505-2E9C-101B-9397-08002B2CF9AE}" pid="7" name="MSIP_Label_2ad0b24d-6422-44b0-b3de-abb3a9e8c81a_ActionId">
    <vt:lpwstr>d0c7844b-61cd-484a-9383-48d0b5a8b258</vt:lpwstr>
  </property>
  <property fmtid="{D5CDD505-2E9C-101B-9397-08002B2CF9AE}" pid="8" name="MSIP_Label_2ad0b24d-6422-44b0-b3de-abb3a9e8c81a_ContentBits">
    <vt:lpwstr>0</vt:lpwstr>
  </property>
  <property fmtid="{D5CDD505-2E9C-101B-9397-08002B2CF9AE}" pid="9" name="MSIP_Label_2ad0b24d-6422-44b0-b3de-abb3a9e8c81a_Tag">
    <vt:lpwstr>50, 3, 0, 1</vt:lpwstr>
  </property>
</Properties>
</file>