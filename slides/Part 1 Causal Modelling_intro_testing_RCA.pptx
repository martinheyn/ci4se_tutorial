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  <p:sldMasterId id="2147483663" r:id="rId2"/>
  </p:sldMasterIdLst>
  <p:notesMasterIdLst>
    <p:notesMasterId r:id="rId27"/>
  </p:notesMasterIdLst>
  <p:sldIdLst>
    <p:sldId id="440" r:id="rId3"/>
    <p:sldId id="408" r:id="rId4"/>
    <p:sldId id="409" r:id="rId5"/>
    <p:sldId id="431" r:id="rId6"/>
    <p:sldId id="432" r:id="rId7"/>
    <p:sldId id="412" r:id="rId8"/>
    <p:sldId id="413" r:id="rId9"/>
    <p:sldId id="414" r:id="rId10"/>
    <p:sldId id="415" r:id="rId11"/>
    <p:sldId id="416" r:id="rId12"/>
    <p:sldId id="433" r:id="rId13"/>
    <p:sldId id="434" r:id="rId14"/>
    <p:sldId id="435" r:id="rId15"/>
    <p:sldId id="436" r:id="rId16"/>
    <p:sldId id="421" r:id="rId17"/>
    <p:sldId id="422" r:id="rId18"/>
    <p:sldId id="423" r:id="rId19"/>
    <p:sldId id="424" r:id="rId20"/>
    <p:sldId id="425" r:id="rId21"/>
    <p:sldId id="426" r:id="rId22"/>
    <p:sldId id="427" r:id="rId23"/>
    <p:sldId id="437" r:id="rId24"/>
    <p:sldId id="438" r:id="rId25"/>
    <p:sldId id="439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82"/>
    <p:restoredTop sz="85537"/>
  </p:normalViewPr>
  <p:slideViewPr>
    <p:cSldViewPr snapToGrid="0" snapToObjects="1">
      <p:cViewPr varScale="1">
        <p:scale>
          <a:sx n="137" d="100"/>
          <a:sy n="137" d="100"/>
        </p:scale>
        <p:origin x="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6086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dirty="0"/>
            </a:br>
            <a:endParaRPr lang="it-I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it-I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it-I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it-I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it-I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it-I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it-I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7BC2646F-FC21-01F5-FFF7-E24E84A58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Platshållare för rubrik 1">
            <a:extLst>
              <a:ext uri="{FF2B5EF4-FFF2-40B4-BE49-F238E27FC236}">
                <a16:creationId xmlns:a16="http://schemas.microsoft.com/office/drawing/2014/main" id="{016BA05B-35C2-AB12-AEC4-0B5AE82CC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8" name="Platshållare för text 2">
            <a:extLst>
              <a:ext uri="{FF2B5EF4-FFF2-40B4-BE49-F238E27FC236}">
                <a16:creationId xmlns:a16="http://schemas.microsoft.com/office/drawing/2014/main" id="{7801BEB2-EFE8-CA19-1392-F614122C4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83112"/>
            <a:ext cx="8694913" cy="3179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3" name="Platshållare för bildnummer 3">
            <a:extLst>
              <a:ext uri="{FF2B5EF4-FFF2-40B4-BE49-F238E27FC236}">
                <a16:creationId xmlns:a16="http://schemas.microsoft.com/office/drawing/2014/main" id="{AE0ACF74-82A6-F22F-F543-8D4761B7D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5769905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8DFA9CC-0D4C-D2A3-323B-9A386F7C6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Platshållare för rubrik 1">
            <a:extLst>
              <a:ext uri="{FF2B5EF4-FFF2-40B4-BE49-F238E27FC236}">
                <a16:creationId xmlns:a16="http://schemas.microsoft.com/office/drawing/2014/main" id="{65B41C35-209F-1C39-6425-D83DBBAD2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178C76C8-7DA8-3EB4-7968-0F0E38489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904796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76B0E7B-7161-7CA2-0230-2A345F7CED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6660" y="1524447"/>
            <a:ext cx="4285339" cy="310787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5E6577D3-FE7D-29C8-96EA-738EBBBAC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199" y="1524448"/>
            <a:ext cx="4333373" cy="310787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64D15008-CA65-0EF0-7862-0188179D3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8" name="Platshållare för rubrik 1">
            <a:extLst>
              <a:ext uri="{FF2B5EF4-FFF2-40B4-BE49-F238E27FC236}">
                <a16:creationId xmlns:a16="http://schemas.microsoft.com/office/drawing/2014/main" id="{5533356E-B98E-C815-0AC4-A7E5D9595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71D68C3C-F026-3686-675F-5E2E1FD5E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80897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6526CB9-5F04-1B76-49FA-79556E29D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44F172C3-9839-5757-A5F6-51833DBFD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1E3A5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46124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7BC2646F-FC21-01F5-FFF7-E24E84A58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tshållare för rubrik 1">
            <a:extLst>
              <a:ext uri="{FF2B5EF4-FFF2-40B4-BE49-F238E27FC236}">
                <a16:creationId xmlns:a16="http://schemas.microsoft.com/office/drawing/2014/main" id="{016BA05B-35C2-AB12-AEC4-0B5AE82CC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Klicka här för att ändra mall för rubrikformat</a:t>
            </a:r>
          </a:p>
        </p:txBody>
      </p:sp>
      <p:sp>
        <p:nvSpPr>
          <p:cNvPr id="8" name="Platshållare för text 2">
            <a:extLst>
              <a:ext uri="{FF2B5EF4-FFF2-40B4-BE49-F238E27FC236}">
                <a16:creationId xmlns:a16="http://schemas.microsoft.com/office/drawing/2014/main" id="{7801BEB2-EFE8-CA19-1392-F614122C4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83112"/>
            <a:ext cx="8694913" cy="3179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Klicka här för att ändra format på bakgrundstexten</a:t>
            </a:r>
          </a:p>
          <a:p>
            <a:pPr lvl="1"/>
            <a:r>
              <a:rPr lang="en-US" dirty="0"/>
              <a:t>Nivå två</a:t>
            </a:r>
          </a:p>
          <a:p>
            <a:pPr lvl="2"/>
            <a:r>
              <a:rPr lang="en-US" dirty="0"/>
              <a:t>Nivå tre</a:t>
            </a:r>
          </a:p>
          <a:p>
            <a:pPr lvl="3"/>
            <a:r>
              <a:rPr lang="en-US" dirty="0"/>
              <a:t>Nivå fyra</a:t>
            </a:r>
          </a:p>
          <a:p>
            <a:pPr lvl="4"/>
            <a:r>
              <a:rPr lang="en-US" dirty="0"/>
              <a:t>Nivå fem</a:t>
            </a:r>
          </a:p>
        </p:txBody>
      </p:sp>
      <p:sp>
        <p:nvSpPr>
          <p:cNvPr id="3" name="Platshållare för bildnummer 3">
            <a:extLst>
              <a:ext uri="{FF2B5EF4-FFF2-40B4-BE49-F238E27FC236}">
                <a16:creationId xmlns:a16="http://schemas.microsoft.com/office/drawing/2014/main" id="{AE0ACF74-82A6-F22F-F543-8D4761B7D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US" smtClean="0"/>
              <a:pPr algn="r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699052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8DFA9CC-0D4C-D2A3-323B-9A386F7C6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latshållare för rubrik 1">
            <a:extLst>
              <a:ext uri="{FF2B5EF4-FFF2-40B4-BE49-F238E27FC236}">
                <a16:creationId xmlns:a16="http://schemas.microsoft.com/office/drawing/2014/main" id="{65B41C35-209F-1C39-6425-D83DBBAD2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Klicka här för att ändra mall för rubrikformat</a:t>
            </a:r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178C76C8-7DA8-3EB4-7968-0F0E38489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US" smtClean="0"/>
              <a:pPr algn="r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796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76B0E7B-7161-7CA2-0230-2A345F7CED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6660" y="1524447"/>
            <a:ext cx="4285339" cy="310787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 dirty="0"/>
              <a:t>Klicka här för att ändra format på bakgrundstexten</a:t>
            </a:r>
          </a:p>
          <a:p>
            <a:pPr lvl="1"/>
            <a:r>
              <a:rPr lang="en-US" dirty="0"/>
              <a:t>Nivå två</a:t>
            </a:r>
          </a:p>
          <a:p>
            <a:pPr lvl="2"/>
            <a:r>
              <a:rPr lang="en-US" dirty="0"/>
              <a:t>Nivå tre</a:t>
            </a:r>
          </a:p>
          <a:p>
            <a:pPr lvl="3"/>
            <a:r>
              <a:rPr lang="en-US" dirty="0"/>
              <a:t>Nivå fyra</a:t>
            </a:r>
          </a:p>
          <a:p>
            <a:pPr lvl="4"/>
            <a:r>
              <a:rPr lang="en-US" dirty="0"/>
              <a:t>Nivå fem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5E6577D3-FE7D-29C8-96EA-738EBBBAC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199" y="1524448"/>
            <a:ext cx="4333373" cy="310787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 dirty="0"/>
              <a:t>Klicka här för att ändra format på bakgrundstexten</a:t>
            </a:r>
          </a:p>
          <a:p>
            <a:pPr lvl="1"/>
            <a:r>
              <a:rPr lang="en-US" dirty="0"/>
              <a:t>Nivå två</a:t>
            </a:r>
          </a:p>
          <a:p>
            <a:pPr lvl="2"/>
            <a:r>
              <a:rPr lang="en-US" dirty="0"/>
              <a:t>Nivå tre</a:t>
            </a:r>
          </a:p>
          <a:p>
            <a:pPr lvl="3"/>
            <a:r>
              <a:rPr lang="en-US" dirty="0"/>
              <a:t>Nivå fyra</a:t>
            </a:r>
          </a:p>
          <a:p>
            <a:pPr lvl="4"/>
            <a:r>
              <a:rPr lang="en-US" dirty="0"/>
              <a:t>Nivå fem</a:t>
            </a:r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64D15008-CA65-0EF0-7862-0188179D3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Platshållare för rubrik 1">
            <a:extLst>
              <a:ext uri="{FF2B5EF4-FFF2-40B4-BE49-F238E27FC236}">
                <a16:creationId xmlns:a16="http://schemas.microsoft.com/office/drawing/2014/main" id="{5533356E-B98E-C815-0AC4-A7E5D9595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Klicka här för att ändra mall för rubrikformat</a:t>
            </a:r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71D68C3C-F026-3686-675F-5E2E1FD5E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US" smtClean="0"/>
              <a:pPr algn="r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8978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6526CB9-5F04-1B76-49FA-79556E29D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44F172C3-9839-5757-A5F6-51833DBFD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1E3A5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US" smtClean="0"/>
              <a:pPr algn="r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124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4758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4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9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8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48A7E77-8A88-0DD3-9503-B94D1CFE3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848D5609-41DF-4769-1613-9E919EF14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SE" sz="900"/>
          </a:p>
        </p:txBody>
      </p:sp>
      <p:pic>
        <p:nvPicPr>
          <p:cNvPr id="8" name="Image 0" descr="fraunhofer.png">
            <a:extLst>
              <a:ext uri="{FF2B5EF4-FFF2-40B4-BE49-F238E27FC236}">
                <a16:creationId xmlns:a16="http://schemas.microsoft.com/office/drawing/2014/main" id="{207F2430-F5D4-B12A-88BB-2083BF9EDB5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10" name="Image 1" descr="chalmers.png">
            <a:extLst>
              <a:ext uri="{FF2B5EF4-FFF2-40B4-BE49-F238E27FC236}">
                <a16:creationId xmlns:a16="http://schemas.microsoft.com/office/drawing/2014/main" id="{E74BDE26-B585-CB92-1234-39C4706E699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12" name="Image 2" descr="goteborg.png">
            <a:extLst>
              <a:ext uri="{FF2B5EF4-FFF2-40B4-BE49-F238E27FC236}">
                <a16:creationId xmlns:a16="http://schemas.microsoft.com/office/drawing/2014/main" id="{CB9F34A3-66D5-7251-13A9-2E3A25330337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14" name="Image 3" descr="napoli.png">
            <a:extLst>
              <a:ext uri="{FF2B5EF4-FFF2-40B4-BE49-F238E27FC236}">
                <a16:creationId xmlns:a16="http://schemas.microsoft.com/office/drawing/2014/main" id="{55D7377C-6439-5536-D98D-54E9EA994BBD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20" name="Text 2">
            <a:extLst>
              <a:ext uri="{FF2B5EF4-FFF2-40B4-BE49-F238E27FC236}">
                <a16:creationId xmlns:a16="http://schemas.microsoft.com/office/drawing/2014/main" id="{6AA9388E-EECF-ACC4-D00F-A5C3B4142F28}"/>
              </a:ext>
            </a:extLst>
          </p:cNvPr>
          <p:cNvSpPr/>
          <p:nvPr userDrawn="1"/>
        </p:nvSpPr>
        <p:spPr>
          <a:xfrm>
            <a:off x="365760" y="4736592"/>
            <a:ext cx="20574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/>
          </a:p>
        </p:txBody>
      </p:sp>
      <p:sp>
        <p:nvSpPr>
          <p:cNvPr id="7" name="Platshållare för bildnummer 3">
            <a:extLst>
              <a:ext uri="{FF2B5EF4-FFF2-40B4-BE49-F238E27FC236}">
                <a16:creationId xmlns:a16="http://schemas.microsoft.com/office/drawing/2014/main" id="{766E9B07-F5C6-58A6-B9DE-FF54E35564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 sz="900"/>
          </a:p>
        </p:txBody>
      </p:sp>
    </p:spTree>
    <p:extLst>
      <p:ext uri="{BB962C8B-B14F-4D97-AF65-F5344CB8AC3E}">
        <p14:creationId xmlns:p14="http://schemas.microsoft.com/office/powerpoint/2010/main" val="264754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6" r:id="rId2"/>
    <p:sldLayoutId id="2147483654" r:id="rId3"/>
    <p:sldLayoutId id="2147483651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1E3A5F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48A7E77-8A88-0DD3-9503-B94D1CFE3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Klicka här för att ändra mall för rubrikformat</a:t>
            </a:r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848D5609-41DF-4769-1613-9E919EF14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US" sz="900"/>
          </a:p>
        </p:txBody>
      </p:sp>
      <p:pic>
        <p:nvPicPr>
          <p:cNvPr id="8" name="Image 0" descr="fraunhofer.png">
            <a:extLst>
              <a:ext uri="{FF2B5EF4-FFF2-40B4-BE49-F238E27FC236}">
                <a16:creationId xmlns:a16="http://schemas.microsoft.com/office/drawing/2014/main" id="{207F2430-F5D4-B12A-88BB-2083BF9EDB5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10" name="Image 1" descr="chalmers.png">
            <a:extLst>
              <a:ext uri="{FF2B5EF4-FFF2-40B4-BE49-F238E27FC236}">
                <a16:creationId xmlns:a16="http://schemas.microsoft.com/office/drawing/2014/main" id="{E74BDE26-B585-CB92-1234-39C4706E6997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12" name="Image 2" descr="goteborg.png">
            <a:extLst>
              <a:ext uri="{FF2B5EF4-FFF2-40B4-BE49-F238E27FC236}">
                <a16:creationId xmlns:a16="http://schemas.microsoft.com/office/drawing/2014/main" id="{CB9F34A3-66D5-7251-13A9-2E3A2533033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14" name="Image 3" descr="napoli.png">
            <a:extLst>
              <a:ext uri="{FF2B5EF4-FFF2-40B4-BE49-F238E27FC236}">
                <a16:creationId xmlns:a16="http://schemas.microsoft.com/office/drawing/2014/main" id="{55D7377C-6439-5536-D98D-54E9EA994BBD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20" name="Text 2">
            <a:extLst>
              <a:ext uri="{FF2B5EF4-FFF2-40B4-BE49-F238E27FC236}">
                <a16:creationId xmlns:a16="http://schemas.microsoft.com/office/drawing/2014/main" id="{6AA9388E-EECF-ACC4-D00F-A5C3B4142F28}"/>
              </a:ext>
            </a:extLst>
          </p:cNvPr>
          <p:cNvSpPr/>
          <p:nvPr userDrawn="1"/>
        </p:nvSpPr>
        <p:spPr>
          <a:xfrm>
            <a:off x="365760" y="4736592"/>
            <a:ext cx="20574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/>
          </a:p>
        </p:txBody>
      </p:sp>
      <p:sp>
        <p:nvSpPr>
          <p:cNvPr id="7" name="Platshållare för bildnummer 3">
            <a:extLst>
              <a:ext uri="{FF2B5EF4-FFF2-40B4-BE49-F238E27FC236}">
                <a16:creationId xmlns:a16="http://schemas.microsoft.com/office/drawing/2014/main" id="{766E9B07-F5C6-58A6-B9DE-FF54E35564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US" smtClean="0"/>
              <a:pPr algn="r"/>
              <a:t>‹N›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64754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1E3A5F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14400" y="16916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352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Causal Inference for Software Engineering</a:t>
            </a:r>
            <a:endParaRPr lang="en-US" sz="3520" dirty="0"/>
          </a:p>
        </p:txBody>
      </p:sp>
      <p:sp>
        <p:nvSpPr>
          <p:cNvPr id="7" name="Text 1"/>
          <p:cNvSpPr/>
          <p:nvPr/>
        </p:nvSpPr>
        <p:spPr>
          <a:xfrm>
            <a:off x="91440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hands-on tutorial</a:t>
            </a:r>
            <a:endParaRPr lang="en-US" sz="1650" dirty="0"/>
          </a:p>
        </p:txBody>
      </p:sp>
      <p:sp>
        <p:nvSpPr>
          <p:cNvPr id="8" name="Text 2"/>
          <p:cNvSpPr/>
          <p:nvPr/>
        </p:nvSpPr>
        <p:spPr>
          <a:xfrm>
            <a:off x="548640" y="3611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Julien Siebert  ·  Julian Frattini  ·  Hans-Martin Heyn  ·  Roberto Pietrantuono</a:t>
            </a:r>
            <a:endParaRPr lang="en-US" sz="1320" dirty="0"/>
          </a:p>
        </p:txBody>
      </p:sp>
      <p:sp>
        <p:nvSpPr>
          <p:cNvPr id="10" name="Text 4"/>
          <p:cNvSpPr/>
          <p:nvPr/>
        </p:nvSpPr>
        <p:spPr>
          <a:xfrm>
            <a:off x="320040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90" dirty="0"/>
          </a:p>
        </p:txBody>
      </p:sp>
    </p:spTree>
    <p:extLst>
      <p:ext uri="{BB962C8B-B14F-4D97-AF65-F5344CB8AC3E}">
        <p14:creationId xmlns:p14="http://schemas.microsoft.com/office/powerpoint/2010/main" val="10109829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1" i="0" kern="0" spc="240" dirty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PART 1 ·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0" b="1" i="0" kern="0" dirty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Motivation and modeling, grounded in SE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00784"/>
            <a:ext cx="310896" cy="310896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7498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0" b="1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Motivation  </a:t>
            </a:r>
            <a:r>
              <a:rPr lang="en-US" sz="1320" b="0" i="0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Why SE questions are causal, not just associational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414016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7498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0" b="1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Modeling  </a:t>
            </a:r>
            <a:r>
              <a:rPr lang="en-US" sz="1320" b="0" i="0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Causal graphs, confounders, and Pearl's process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27248"/>
            <a:ext cx="310896" cy="310896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72384"/>
            <a:ext cx="7498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0" b="1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Examples  </a:t>
            </a:r>
            <a:r>
              <a:rPr lang="en-US" sz="1320" b="0" i="0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Worked recipes for testing and fault localization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840479"/>
            <a:ext cx="310896" cy="310896"/>
          </a:xfrm>
          <a:prstGeom prst="ellipse">
            <a:avLst/>
          </a:prstGeom>
          <a:solidFill>
            <a:srgbClr val="2C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955714"/>
            <a:ext cx="7498080" cy="2267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0" b="1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The road ahead  </a:t>
            </a:r>
            <a:r>
              <a:rPr lang="en-US" sz="1320" b="0" i="0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Where causal software engineering is heading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0" b="0" i="0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87319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1" i="0" kern="0" spc="240" dirty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MOTIVATION · HUMAN–MACHINE CO-ENGINEERING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0" b="1" i="0" kern="0" dirty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How machines have supported software engineers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901952" cy="210312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 dirty="0"/>
          </a:p>
        </p:txBody>
      </p:sp>
      <p:sp>
        <p:nvSpPr>
          <p:cNvPr id="5" name="Oval 4"/>
          <p:cNvSpPr/>
          <p:nvPr/>
        </p:nvSpPr>
        <p:spPr>
          <a:xfrm>
            <a:off x="694944" y="1746504"/>
            <a:ext cx="310896" cy="310896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48840"/>
            <a:ext cx="1572768" cy="1444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b="1" i="0" kern="0" dirty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Scaffolding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45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Organizing &amp; structuring work</a:t>
            </a:r>
          </a:p>
          <a:p>
            <a:pPr algn="l">
              <a:lnSpc>
                <a:spcPct val="11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935" b="0" i="1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IDEs · version control · linting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96896" y="1600200"/>
            <a:ext cx="1901952" cy="210312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 dirty="0"/>
          </a:p>
        </p:txBody>
      </p:sp>
      <p:sp>
        <p:nvSpPr>
          <p:cNvPr id="8" name="Oval 7"/>
          <p:cNvSpPr/>
          <p:nvPr/>
        </p:nvSpPr>
        <p:spPr>
          <a:xfrm>
            <a:off x="2743200" y="1746504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148840"/>
            <a:ext cx="1572768" cy="1444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b="1" i="0" kern="0" dirty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Support automation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45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Formalized methods for tasks</a:t>
            </a:r>
          </a:p>
          <a:p>
            <a:pPr algn="l">
              <a:lnSpc>
                <a:spcPct val="11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935" b="0" i="1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Coverage testing · static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5152" y="1600200"/>
            <a:ext cx="1901952" cy="210312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 dirty="0"/>
          </a:p>
        </p:txBody>
      </p:sp>
      <p:sp>
        <p:nvSpPr>
          <p:cNvPr id="11" name="Oval 10"/>
          <p:cNvSpPr/>
          <p:nvPr/>
        </p:nvSpPr>
        <p:spPr>
          <a:xfrm>
            <a:off x="4791456" y="1746504"/>
            <a:ext cx="310896" cy="310896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9744" y="2148840"/>
            <a:ext cx="1572768" cy="1444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b="1" i="0" kern="0" dirty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Support decision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45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Learn from data; predict</a:t>
            </a:r>
          </a:p>
          <a:p>
            <a:pPr algn="l">
              <a:lnSpc>
                <a:spcPct val="11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935" b="0" i="1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Estimation · fault prediction · RCA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93408" y="1600200"/>
            <a:ext cx="1901952" cy="210312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 dirty="0"/>
          </a:p>
        </p:txBody>
      </p:sp>
      <p:sp>
        <p:nvSpPr>
          <p:cNvPr id="14" name="Oval 13"/>
          <p:cNvSpPr/>
          <p:nvPr/>
        </p:nvSpPr>
        <p:spPr>
          <a:xfrm>
            <a:off x="6839712" y="1746504"/>
            <a:ext cx="310896" cy="310896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148840"/>
            <a:ext cx="1572768" cy="1444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b="1" i="0" kern="0" dirty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Support reasoning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45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Explain, hypothesize, plan</a:t>
            </a:r>
          </a:p>
          <a:p>
            <a:pPr algn="l">
              <a:lnSpc>
                <a:spcPct val="11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935" b="0" i="1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What-if · counterfactuals · RCA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0" b="0" i="0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6" name="Rounded Rectangle 9">
            <a:extLst>
              <a:ext uri="{FF2B5EF4-FFF2-40B4-BE49-F238E27FC236}">
                <a16:creationId xmlns:a16="http://schemas.microsoft.com/office/drawing/2014/main" id="{CB8D059E-D3B9-0E96-2C90-06E5FE48D48B}"/>
              </a:ext>
            </a:extLst>
          </p:cNvPr>
          <p:cNvSpPr/>
          <p:nvPr/>
        </p:nvSpPr>
        <p:spPr>
          <a:xfrm>
            <a:off x="4572000" y="1524000"/>
            <a:ext cx="4102100" cy="2260600"/>
          </a:xfrm>
          <a:prstGeom prst="roundRect">
            <a:avLst>
              <a:gd name="adj" fmla="val 6000"/>
            </a:avLst>
          </a:prstGeom>
          <a:noFill/>
          <a:ln w="22225" cap="flat" cmpd="sng" algn="ctr">
            <a:solidFill>
              <a:srgbClr val="0E7C86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 dirty="0"/>
          </a:p>
        </p:txBody>
      </p:sp>
      <p:sp>
        <p:nvSpPr>
          <p:cNvPr id="18" name="Freccia destra 17">
            <a:extLst>
              <a:ext uri="{FF2B5EF4-FFF2-40B4-BE49-F238E27FC236}">
                <a16:creationId xmlns:a16="http://schemas.microsoft.com/office/drawing/2014/main" id="{F37B059A-7ECD-0279-9364-5FFFCEFF4844}"/>
              </a:ext>
            </a:extLst>
          </p:cNvPr>
          <p:cNvSpPr/>
          <p:nvPr/>
        </p:nvSpPr>
        <p:spPr>
          <a:xfrm>
            <a:off x="6464300" y="2501900"/>
            <a:ext cx="304800" cy="304800"/>
          </a:xfrm>
          <a:prstGeom prst="rightArrow">
            <a:avLst/>
          </a:prstGeom>
          <a:solidFill>
            <a:srgbClr val="0E7C8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998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160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1" i="0" kern="0" spc="240" dirty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MOTIVATION · BEYOND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360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0" b="1" i="0" kern="0" dirty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Example</a:t>
            </a:r>
            <a:r>
              <a:rPr lang="en-US" sz="24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 1: Same improvement — but what caused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6100" y="1968499"/>
            <a:ext cx="3810000" cy="2731907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698500" y="2120900"/>
            <a:ext cx="304800" cy="304800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8500" y="2540000"/>
            <a:ext cx="3505200" cy="8093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b="1" i="0" kern="0" dirty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Correlation view</a:t>
            </a:r>
          </a:p>
          <a:p>
            <a:pPr algn="l">
              <a:lnSpc>
                <a:spcPct val="108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045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AIOps attributes the drop to the deploy: “the change fixed latency.”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45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Plan: replicate the pattern on other services.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87900" y="1968499"/>
            <a:ext cx="3810000" cy="2731907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4940300" y="2120900"/>
            <a:ext cx="304800" cy="304800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40300" y="2540000"/>
            <a:ext cx="3505200" cy="11240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Causal view (CSE)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Estimate the effect of do(X) net of confounders Z, with uncertainty — then act on it:</a:t>
            </a:r>
          </a:p>
          <a:p>
            <a:pPr algn="l">
              <a:lnSpc>
                <a:spcPct val="104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95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→ </a:t>
            </a:r>
            <a:r>
              <a:rPr lang="en-US"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Strong, robust effect: proceed / widen the canary</a:t>
            </a:r>
          </a:p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→ </a:t>
            </a:r>
            <a:r>
              <a:rPr lang="en-US"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Real but modest: proceed, but stop tuning</a:t>
            </a:r>
          </a:p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→ </a:t>
            </a:r>
            <a:r>
              <a:rPr lang="en-US"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Tied to one factor: target the likely cause, apply that fix elsewhere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736592"/>
            <a:ext cx="822960" cy="152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" name="Freccia destra 15">
            <a:extLst>
              <a:ext uri="{FF2B5EF4-FFF2-40B4-BE49-F238E27FC236}">
                <a16:creationId xmlns:a16="http://schemas.microsoft.com/office/drawing/2014/main" id="{506E8CC3-8A25-F34A-AE04-29EE11B4B2D1}"/>
              </a:ext>
            </a:extLst>
          </p:cNvPr>
          <p:cNvSpPr/>
          <p:nvPr/>
        </p:nvSpPr>
        <p:spPr>
          <a:xfrm>
            <a:off x="4406900" y="3086100"/>
            <a:ext cx="330200" cy="304800"/>
          </a:xfrm>
          <a:prstGeom prst="rightArrow">
            <a:avLst/>
          </a:prstGeom>
          <a:solidFill>
            <a:srgbClr val="0E7C8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SetupLine">
            <a:extLst>
              <a:ext uri="{FF2B5EF4-FFF2-40B4-BE49-F238E27FC236}">
                <a16:creationId xmlns:a16="http://schemas.microsoft.com/office/drawing/2014/main" id="{D76BA5DA-63CC-664A-A700-B683A4B57CE7}"/>
              </a:ext>
            </a:extLst>
          </p:cNvPr>
          <p:cNvSpPr txBox="1"/>
          <p:nvPr/>
        </p:nvSpPr>
        <p:spPr>
          <a:xfrm>
            <a:off x="546100" y="1574800"/>
            <a:ext cx="8051800" cy="330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Scenario   </a:t>
            </a:r>
            <a:r>
              <a:rPr lang="en-US" sz="12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 microservice team ships a new client-side retry policy to cut tail latency. Within an hour, latency drops.</a:t>
            </a:r>
          </a:p>
        </p:txBody>
      </p:sp>
      <p:pic>
        <p:nvPicPr>
          <p:cNvPr id="19" name="Graphic 19" descr="Warning — correlation can mislea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3452715"/>
            <a:ext cx="254000" cy="254000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36E50613-6E8C-F3E7-8506-F9345DA5767A}"/>
              </a:ext>
            </a:extLst>
          </p:cNvPr>
          <p:cNvSpPr txBox="1"/>
          <p:nvPr/>
        </p:nvSpPr>
        <p:spPr>
          <a:xfrm>
            <a:off x="952500" y="3375429"/>
            <a:ext cx="3137362" cy="1285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45" kern="0" dirty="0">
                <a:solidFill>
                  <a:srgbClr val="1E3A5F"/>
                </a:solidFill>
                <a:latin typeface="Calibri"/>
                <a:cs typeface="Calibri"/>
              </a:rPr>
              <a:t>But autoscaling increased replicas in a downstream dependency and a traffic shift moved requests away from a “hot” region: both can reduce queueing delays. So is the improvement due to the new retry policy, to autoscaling, traffic shift or their interaction? </a:t>
            </a:r>
            <a:br>
              <a:rPr lang="en-US" sz="1045" kern="0" dirty="0">
                <a:solidFill>
                  <a:srgbClr val="1E3A5F"/>
                </a:solidFill>
                <a:latin typeface="Calibri"/>
                <a:cs typeface="Calibri"/>
              </a:rPr>
            </a:br>
            <a:r>
              <a:rPr lang="en-US" sz="1000" b="1" i="1" kern="0" dirty="0">
                <a:solidFill>
                  <a:schemeClr val="accent2"/>
                </a:solidFill>
                <a:latin typeface="Calibri"/>
                <a:ea typeface="Calibri"/>
                <a:cs typeface="Calibri"/>
              </a:rPr>
              <a:t>When repeating under different conditions, latency regresses → incident.</a:t>
            </a:r>
          </a:p>
        </p:txBody>
      </p:sp>
    </p:spTree>
    <p:extLst>
      <p:ext uri="{BB962C8B-B14F-4D97-AF65-F5344CB8AC3E}">
        <p14:creationId xmlns:p14="http://schemas.microsoft.com/office/powerpoint/2010/main" val="3888694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160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045" b="1" i="0" kern="0" spc="240" dirty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MOTIVATION · </a:t>
            </a:r>
            <a:r>
              <a:rPr lang="en-US" sz="1045" b="1" kern="0" spc="240" dirty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BEYOND CORRELATION</a:t>
            </a:r>
            <a:endParaRPr lang="en-US" sz="1045" b="1" i="0" kern="0" spc="240" dirty="0">
              <a:solidFill>
                <a:srgbClr val="0E7C8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360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420" b="1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Example 2: B</a:t>
            </a:r>
            <a:r>
              <a:rPr lang="en-US" sz="24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laming the wrong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9170"/>
            <a:ext cx="3657600" cy="12049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 shuttle </a:t>
            </a:r>
            <a:r>
              <a:rPr lang="en-US" sz="1210" b="1" i="0" kern="0" dirty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brakes too late</a:t>
            </a:r>
            <a:r>
              <a:rPr lang="en-US" sz="121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 A correlation-based tool finds late braking (Y) co-occurs with high-res camera mode (X) — and blames the camera.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10" b="0" i="0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But a confounder drives both: </a:t>
            </a:r>
            <a:r>
              <a:rPr lang="en-US" sz="1210" b="1" i="0" kern="0" dirty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higher speed (Z)</a:t>
            </a:r>
            <a:r>
              <a:rPr lang="en-US" sz="1210" b="0" i="0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 triggers the camera switch and shrinks the braking margin.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325090"/>
            <a:ext cx="3657600" cy="7772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1" i="0" kern="0">
                <a:solidFill>
                  <a:srgbClr val="4A9E99"/>
                </a:solidFill>
                <a:latin typeface="Calibri"/>
                <a:ea typeface="Calibri"/>
                <a:cs typeface="Calibri"/>
              </a:rPr>
              <a:t>A causal model answers what-if questions: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0" i="1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“What if we adjust the speed threshold?”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679170"/>
            <a:ext cx="4069080" cy="251460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cxnSp>
        <p:nvCxnSpPr>
          <p:cNvPr id="7" name="Connector 6"/>
          <p:cNvCxnSpPr/>
          <p:nvPr/>
        </p:nvCxnSpPr>
        <p:spPr>
          <a:xfrm flipH="1">
            <a:off x="5594299" y="2685010"/>
            <a:ext cx="895197" cy="365760"/>
          </a:xfrm>
          <a:prstGeom prst="line">
            <a:avLst/>
          </a:prstGeom>
          <a:ln w="2032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32143" y="2685010"/>
            <a:ext cx="876909" cy="365760"/>
          </a:xfrm>
          <a:prstGeom prst="line">
            <a:avLst/>
          </a:prstGeom>
          <a:ln w="2032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879592" y="3407386"/>
            <a:ext cx="1344168" cy="0"/>
          </a:xfrm>
          <a:prstGeom prst="line">
            <a:avLst/>
          </a:prstGeom>
          <a:ln w="20320">
            <a:solidFill>
              <a:srgbClr val="7A87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204204" y="1971778"/>
            <a:ext cx="713232" cy="71323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6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29884" y="2694153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" b="1" i="1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speed</a:t>
            </a:r>
          </a:p>
        </p:txBody>
      </p:sp>
      <p:sp>
        <p:nvSpPr>
          <p:cNvPr id="12" name="Oval 11"/>
          <p:cNvSpPr/>
          <p:nvPr/>
        </p:nvSpPr>
        <p:spPr>
          <a:xfrm>
            <a:off x="5166360" y="3050770"/>
            <a:ext cx="713232" cy="713232"/>
          </a:xfrm>
          <a:prstGeom prst="ellipse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6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773146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" b="1" i="1" kern="0">
                <a:solidFill>
                  <a:srgbClr val="596672"/>
                </a:solidFill>
                <a:latin typeface="Calibri"/>
                <a:ea typeface="Calibri"/>
                <a:cs typeface="Calibri"/>
              </a:rPr>
              <a:t>camera</a:t>
            </a:r>
          </a:p>
        </p:txBody>
      </p:sp>
      <p:sp>
        <p:nvSpPr>
          <p:cNvPr id="14" name="Oval 13"/>
          <p:cNvSpPr/>
          <p:nvPr/>
        </p:nvSpPr>
        <p:spPr>
          <a:xfrm>
            <a:off x="7223760" y="3050770"/>
            <a:ext cx="713232" cy="713232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6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773146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" b="1" i="1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late brake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946881"/>
            <a:ext cx="3520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Adjust for Z to remove the spurious X–Y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887781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Software engineering is increasingly data-driven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80467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Machine learning and LLMs now support nearly every SE activity — </a:t>
            </a:r>
            <a:r>
              <a:rPr lang="en-US" sz="132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prediction, generation, recommendation</a:t>
            </a:r>
            <a:r>
              <a:rPr lang="en-US" sz="132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across the lifecycle. This data-driven paradigm scales one human ability: </a:t>
            </a:r>
            <a:r>
              <a:rPr lang="en-US" sz="132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pattern recognition</a:t>
            </a:r>
            <a:r>
              <a:rPr lang="en-US" sz="132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3886200" cy="118872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77240" y="292608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What it does well</a:t>
            </a:r>
          </a:p>
          <a:p>
            <a:pPr algn="l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5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Learns associations from large datasets; automates and amplifies inductive reasoning.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59" y="2743200"/>
            <a:ext cx="3886200" cy="118872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937759" y="292608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Where it stops</a:t>
            </a:r>
          </a:p>
          <a:p>
            <a:pPr algn="l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15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Stays at rung 1 — association. It predicts from what it has seen, not what would happen if we 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8682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The questions SE asks are causal, not associational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886200" cy="219456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22959" y="1856232"/>
            <a:ext cx="33375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4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Observing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50" b="1" i="0" kern="0">
                <a:solidFill>
                  <a:srgbClr val="0E7C86"/>
                </a:solidFill>
                <a:latin typeface="Consolas"/>
                <a:ea typeface="Consolas"/>
                <a:cs typeface="Consolas"/>
              </a:rPr>
              <a:t>P(Y | X = x)</a:t>
            </a:r>
          </a:p>
          <a:p>
            <a:pPr algn="l">
              <a:lnSpc>
                <a:spcPct val="116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5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outcome when we happen to see X = x?”</a:t>
            </a:r>
          </a:p>
          <a:p>
            <a:pPr algn="l">
              <a:lnSpc>
                <a:spcPct val="116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Good for prediction. Blind to confounding.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59" y="1600200"/>
            <a:ext cx="3886200" cy="219456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983479" y="1856232"/>
            <a:ext cx="33375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4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Intervening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50" b="1" i="0" kern="0">
                <a:solidFill>
                  <a:srgbClr val="4A9E99"/>
                </a:solidFill>
                <a:latin typeface="Consolas"/>
                <a:ea typeface="Consolas"/>
                <a:cs typeface="Consolas"/>
              </a:rPr>
              <a:t>P(Y | do(X = x))</a:t>
            </a:r>
          </a:p>
          <a:p>
            <a:pPr algn="l">
              <a:lnSpc>
                <a:spcPct val="116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5" b="0" i="1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“What outcome if we actively set X = x?”</a:t>
            </a:r>
          </a:p>
          <a:p>
            <a:pPr algn="l">
              <a:lnSpc>
                <a:spcPct val="116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 b="0" i="0" kern="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Behind testing, debugging, tuning, policy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50208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Most worthwhile SE questions are causal — but answers can't come from data alone (Pearl).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965250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Climbing the ladder of causation — in SE terms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8046720" cy="74980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749808" y="1792224"/>
            <a:ext cx="365760" cy="365760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4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09928"/>
            <a:ext cx="71323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Association  </a:t>
            </a:r>
            <a:r>
              <a:rPr lang="en-US" sz="1320" b="1" i="1" kern="0">
                <a:solidFill>
                  <a:srgbClr val="0A5A62"/>
                </a:solidFill>
                <a:latin typeface="Cambria"/>
                <a:ea typeface="Cambria"/>
                <a:cs typeface="Cambria"/>
              </a:rPr>
              <a:t>· Seeing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if I see…?”  Past tests &amp; observations correlate with failures.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478024"/>
            <a:ext cx="7589520" cy="749808"/>
          </a:xfrm>
          <a:prstGeom prst="roundRect">
            <a:avLst>
              <a:gd name="adj" fmla="val 8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207008" y="2670048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4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587752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Intervention  </a:t>
            </a:r>
            <a:r>
              <a:rPr lang="en-US" sz="1320" b="1" i="1" kern="0">
                <a:solidFill>
                  <a:srgbClr val="0E7C86"/>
                </a:solidFill>
                <a:latin typeface="Cambria"/>
                <a:ea typeface="Cambria"/>
                <a:cs typeface="Cambria"/>
              </a:rPr>
              <a:t>· Doing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if I do…?”  Set an input and predict the effect — what-if analysis, test selection.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3355848"/>
            <a:ext cx="7132320" cy="749808"/>
          </a:xfrm>
          <a:prstGeom prst="roundRect">
            <a:avLst>
              <a:gd name="adj" fmla="val 8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1664208" y="3547872"/>
            <a:ext cx="365760" cy="365760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4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465576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Counterfactual  </a:t>
            </a:r>
            <a:r>
              <a:rPr lang="en-US" sz="1320" b="1" i="1" kern="0">
                <a:solidFill>
                  <a:srgbClr val="D26E3A"/>
                </a:solidFill>
                <a:latin typeface="Cambria"/>
                <a:ea typeface="Cambria"/>
                <a:cs typeface="Cambria"/>
              </a:rPr>
              <a:t>· Imagining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if I had done…?”  Would the failure have occurred otherwise? Root-cause &amp; debugging.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540845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MODELING CAUSAL EFFECTS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A causal graph makes assumptions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Nodes</a:t>
            </a:r>
            <a:r>
              <a:rPr lang="en-US" sz="121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= variables.  </a:t>
            </a:r>
            <a:r>
              <a:rPr lang="en-US" sz="121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Directed links</a:t>
            </a:r>
            <a:r>
              <a:rPr lang="en-US" sz="121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= direct causal effects. A DAG encodes hypotheses we can reason about and test.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350008"/>
            <a:ext cx="146304" cy="146304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22959" y="2286000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5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Confounder  </a:t>
            </a:r>
            <a:r>
              <a:rPr lang="en-US" sz="1045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common cause of T and Y — induces spurious correlation; adjust for it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16936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22959" y="2852928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5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Mediator  </a:t>
            </a:r>
            <a:r>
              <a:rPr lang="en-US" sz="1045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lies on T → M → Y — carries part of the effect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83864"/>
            <a:ext cx="146304" cy="146304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822959" y="3419856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5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Collider  </a:t>
            </a:r>
            <a:r>
              <a:rPr lang="en-US" sz="1045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common effect — conditioning on it opens a spurious path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554480"/>
            <a:ext cx="4023360" cy="251460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596128" y="2450591"/>
            <a:ext cx="923544" cy="338329"/>
          </a:xfrm>
          <a:prstGeom prst="line">
            <a:avLst/>
          </a:prstGeom>
          <a:ln w="2032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47688" y="2450591"/>
            <a:ext cx="923543" cy="338329"/>
          </a:xfrm>
          <a:prstGeom prst="line">
            <a:avLst/>
          </a:prstGeom>
          <a:ln w="2032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52160" y="3108960"/>
            <a:ext cx="1463040" cy="0"/>
          </a:xfrm>
          <a:prstGeom prst="line">
            <a:avLst/>
          </a:prstGeom>
          <a:ln w="2032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263640" y="1810512"/>
            <a:ext cx="640080" cy="640080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432303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" b="1" i="1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confounder</a:t>
            </a:r>
          </a:p>
        </p:txBody>
      </p:sp>
      <p:sp>
        <p:nvSpPr>
          <p:cNvPr id="17" name="Oval 16"/>
          <p:cNvSpPr/>
          <p:nvPr/>
        </p:nvSpPr>
        <p:spPr>
          <a:xfrm>
            <a:off x="5212080" y="2788920"/>
            <a:ext cx="640080" cy="64008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41071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" b="1" i="1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treatment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0" y="2788920"/>
            <a:ext cx="640080" cy="640080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341071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" b="1" i="1" kern="0">
                <a:solidFill>
                  <a:srgbClr val="0A5A62"/>
                </a:solidFill>
                <a:latin typeface="Calibri"/>
                <a:ea typeface="Calibri"/>
                <a:cs typeface="Calibri"/>
              </a:rPr>
              <a:t>outcome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83133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Z biases the T → Y estimate unless we adjust for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3751746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MODELING CAUSAL EFFECTS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360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The process: from assumptions to validated effects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874519" cy="137160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1284732" y="2011680"/>
            <a:ext cx="402336" cy="402336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87168"/>
            <a:ext cx="160019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Model</a:t>
            </a:r>
          </a:p>
          <a:p>
            <a:pPr algn="ctr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99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State assumptions as a causal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4872" y="2368296"/>
            <a:ext cx="201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60" b="1" i="0" kern="0">
                <a:solidFill>
                  <a:srgbClr val="7A8794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87752" y="1828800"/>
            <a:ext cx="1874519" cy="137160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323844" y="2011680"/>
            <a:ext cx="402336" cy="40233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2487168"/>
            <a:ext cx="160019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Identify</a:t>
            </a:r>
          </a:p>
          <a:p>
            <a:pPr algn="ctr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99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Can the effect be estimated from data?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368296"/>
            <a:ext cx="201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60" b="1" i="0" kern="0">
                <a:solidFill>
                  <a:srgbClr val="7A8794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26864" y="1828800"/>
            <a:ext cx="1874519" cy="137160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5362955" y="2011680"/>
            <a:ext cx="402336" cy="402336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2487168"/>
            <a:ext cx="160019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Estimate</a:t>
            </a:r>
          </a:p>
          <a:p>
            <a:pPr algn="ctr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99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Compute the effect (regression, ML, …)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368296"/>
            <a:ext cx="201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60" b="1" i="0" kern="0">
                <a:solidFill>
                  <a:srgbClr val="7A8794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5975" y="1828800"/>
            <a:ext cx="1874519" cy="137160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7402067" y="2011680"/>
            <a:ext cx="402336" cy="402336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3136" y="2487168"/>
            <a:ext cx="160019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Refute</a:t>
            </a:r>
          </a:p>
          <a:p>
            <a:pPr algn="ctr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99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Try to falsify the estimate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2044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5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The graph is a collaborative reasoning partner — inspectable, contestable, and refinable by engineers.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38743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FROM SE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Three domains where causal graphs are taking hold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499360" cy="210312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777240" y="1947672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2042160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Testing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Choose inputs that expose failures — what-if reasoning over a model of the system under test.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2320" y="1691640"/>
            <a:ext cx="2499360" cy="210312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3550920" y="1947672"/>
            <a:ext cx="365760" cy="365760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550920" y="2468880"/>
            <a:ext cx="2042160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Fault localization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Trace a failure to its cause; separate the culprit from mere correlates.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0" y="1691640"/>
            <a:ext cx="2499360" cy="210312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6324600" y="1947672"/>
            <a:ext cx="365760" cy="365760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324600" y="2468880"/>
            <a:ext cx="2042160" cy="975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0" b="1" i="0" kern="0" dirty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Requirements engineering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5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 models as requirements engineering activity</a:t>
            </a:r>
            <a:endParaRPr lang="en-US" sz="1155" b="0" i="0" kern="0" dirty="0">
              <a:solidFill>
                <a:srgbClr val="1E3A5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For each: first the big picture, then a concrete, repeatable recipe.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72520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TESTING — 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Testing is naturally causal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72584" y="1609333"/>
            <a:ext cx="3931920" cy="17739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Choosing a test input implicitly predicts an outcome under a hypothetical condition — </a:t>
            </a:r>
            <a:r>
              <a:rPr lang="en-US" sz="160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a what-if question.</a:t>
            </a:r>
          </a:p>
          <a:p>
            <a:pPr algn="l">
              <a:lnSpc>
                <a:spcPct val="12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Test generation is </a:t>
            </a:r>
            <a:r>
              <a:rPr lang="en-US" sz="14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planning</a:t>
            </a:r>
            <a:r>
              <a:rPr lang="en-US" sz="14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, not prediction: what output if we submitted this input? Causal models let testers reason, not guess.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" y="1645919"/>
            <a:ext cx="3977639" cy="713232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745236" y="1778509"/>
            <a:ext cx="329184" cy="329184"/>
          </a:xfrm>
          <a:prstGeom prst="ellipse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3584" y="1822101"/>
            <a:ext cx="3108959" cy="3608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Guessing → Tester intuition/expertise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might fail?”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" y="2505455"/>
            <a:ext cx="3977639" cy="713232"/>
          </a:xfrm>
          <a:prstGeom prst="roundRect">
            <a:avLst>
              <a:gd name="adj" fmla="val 8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45236" y="2638046"/>
            <a:ext cx="329184" cy="32918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2681637"/>
            <a:ext cx="3108959" cy="3608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Correlation</a:t>
            </a:r>
            <a:r>
              <a:rPr lang="en-US" sz="1200" b="1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 → ML on past tests/data</a:t>
            </a:r>
            <a:endParaRPr lang="en-US" sz="1200" b="1" i="0" kern="0">
              <a:solidFill>
                <a:srgbClr val="1E3A5F"/>
              </a:solidFill>
              <a:latin typeface="Cambria"/>
              <a:ea typeface="Cambria"/>
              <a:cs typeface="Cambria"/>
            </a:endParaRP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correlates with failure?”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" y="3364991"/>
            <a:ext cx="3977639" cy="713232"/>
          </a:xfrm>
          <a:prstGeom prst="roundRect">
            <a:avLst>
              <a:gd name="adj" fmla="val 8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45236" y="3497582"/>
            <a:ext cx="329184" cy="329184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541173"/>
            <a:ext cx="3108959" cy="3608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Causation → Interventions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input causes it to fail?”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13162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TESTING — EXAMPLE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5609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A recipe for Causal Test Generation</a:t>
            </a:r>
            <a:b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</a:br>
            <a:r>
              <a:rPr lang="en-US" sz="14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Generating tests by intervening on a causal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9538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Goal.  </a:t>
            </a: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Pick inputs most likely to expose a failure instead of sampling blindly.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469618"/>
            <a:ext cx="310896" cy="310896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433042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Model  </a:t>
            </a:r>
            <a:r>
              <a:rPr lang="en-US"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over inputs, internal factors, and the outcome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26818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90242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Learn  </a:t>
            </a:r>
            <a:r>
              <a:rPr lang="en-US"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fit from a few runs or domain knowledge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84018"/>
            <a:ext cx="310896" cy="310896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47442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Intervene  </a:t>
            </a:r>
            <a:r>
              <a:rPr lang="en-US"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query do(input = x) to predict the outcome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841218"/>
            <a:ext cx="310896" cy="310896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04642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Select  </a:t>
            </a:r>
            <a:r>
              <a:rPr lang="en-US"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run only configs predicted to breach the requirement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822105"/>
            <a:ext cx="3977639" cy="160020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cxnSp>
        <p:nvCxnSpPr>
          <p:cNvPr id="14" name="Connector 13"/>
          <p:cNvCxnSpPr/>
          <p:nvPr/>
        </p:nvCxnSpPr>
        <p:spPr>
          <a:xfrm>
            <a:off x="5806440" y="2462185"/>
            <a:ext cx="365760" cy="201168"/>
          </a:xfrm>
          <a:prstGeom prst="line">
            <a:avLst/>
          </a:prstGeom>
          <a:ln w="1651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806440" y="2773081"/>
            <a:ext cx="365760" cy="192024"/>
          </a:xfrm>
          <a:prstGeom prst="line">
            <a:avLst/>
          </a:prstGeom>
          <a:ln w="1651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86600" y="2718217"/>
            <a:ext cx="320040" cy="0"/>
          </a:xfrm>
          <a:prstGeom prst="line">
            <a:avLst/>
          </a:prstGeom>
          <a:ln w="1905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892040" y="2279305"/>
            <a:ext cx="914400" cy="365760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input 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2782225"/>
            <a:ext cx="914400" cy="365760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input 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2535337"/>
            <a:ext cx="914400" cy="365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factor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535337"/>
            <a:ext cx="914400" cy="365760"/>
          </a:xfrm>
          <a:prstGeom prst="rect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3532033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>
                <a:solidFill>
                  <a:srgbClr val="A9CFD0"/>
                </a:solidFill>
                <a:latin typeface="Consolas"/>
                <a:ea typeface="Consolas"/>
                <a:cs typeface="Consolas"/>
              </a:rPr>
              <a:t>P(Y | X=x)</a:t>
            </a:r>
            <a:r>
              <a:rPr lang="en-US" sz="1000" b="0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vs </a:t>
            </a:r>
            <a:r>
              <a:rPr lang="en-US" sz="1100" b="1" i="0" kern="0">
                <a:solidFill>
                  <a:srgbClr val="4A9E99"/>
                </a:solidFill>
                <a:latin typeface="Consolas"/>
                <a:ea typeface="Consolas"/>
                <a:cs typeface="Consolas"/>
              </a:rPr>
              <a:t>P(Y | do(X=x))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Observing vs. setting — only do(·) reveals which inputs cause the failure.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304735"/>
            <a:ext cx="8046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Reusable wherever inputs map to a measurable requirement.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5345967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 1 ·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Concretely: testing a self-driving car in a simulator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931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Setup.  </a:t>
            </a: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 simulator with ~16 scene inputs and a safety requirement: </a:t>
            </a:r>
            <a:r>
              <a:rPr lang="en-US" sz="105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staying in lane (DCL)</a:t>
            </a: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3931920" cy="155448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77240" y="2468879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Learned causal model (excerpt)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8500" y="2794000"/>
            <a:ext cx="863600" cy="279400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weather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5000" y="2794000"/>
            <a:ext cx="939800" cy="279400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8500" y="3175000"/>
            <a:ext cx="863600" cy="279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speed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6500" y="3530600"/>
            <a:ext cx="889000" cy="279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38500" y="3479800"/>
            <a:ext cx="990600" cy="330200"/>
          </a:xfrm>
          <a:prstGeom prst="rect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DCL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1508760"/>
            <a:ext cx="3977639" cy="141732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892040" y="1645920"/>
            <a:ext cx="3428999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counterfactual question</a:t>
            </a:r>
          </a:p>
          <a:p>
            <a:pPr algn="l">
              <a:lnSpc>
                <a:spcPct val="124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900" b="1" i="0" kern="0">
                <a:solidFill>
                  <a:srgbClr val="A9CFD0"/>
                </a:solidFill>
                <a:latin typeface="Consolas"/>
                <a:ea typeface="Consolas"/>
                <a:cs typeface="Consolas"/>
              </a:rPr>
              <a:t>Observed: </a:t>
            </a:r>
            <a:r>
              <a:rPr lang="en-US" sz="850" b="0" i="0" kern="0">
                <a:solidFill>
                  <a:srgbClr val="C9D6DF"/>
                </a:solidFill>
                <a:latin typeface="Consolas"/>
                <a:ea typeface="Consolas"/>
                <a:cs typeface="Consolas"/>
              </a:rPr>
              <a:t>rain, curved, FPS=30 → safe</a:t>
            </a:r>
          </a:p>
          <a:p>
            <a:pPr algn="l">
              <a:lnSpc>
                <a:spcPct val="124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900" b="1" i="0" kern="0">
                <a:solidFill>
                  <a:srgbClr val="4A9E99"/>
                </a:solidFill>
                <a:latin typeface="Consolas"/>
                <a:ea typeface="Consolas"/>
                <a:cs typeface="Consolas"/>
              </a:rPr>
              <a:t>Counterfactual: </a:t>
            </a:r>
            <a:r>
              <a:rPr lang="en-US" sz="850" b="0" i="0" kern="0">
                <a:solidFill>
                  <a:srgbClr val="C9D6DF"/>
                </a:solidFill>
                <a:latin typeface="Consolas"/>
                <a:ea typeface="Consolas"/>
                <a:cs typeface="Consolas"/>
              </a:rPr>
              <a:t>had FPS been 20?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22800" y="2997200"/>
            <a:ext cx="3975100" cy="76200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>
                <a:solidFill>
                  <a:srgbClr val="7A8794"/>
                </a:solidFill>
                <a:latin typeface="Consolas"/>
                <a:ea typeface="Consolas"/>
                <a:cs typeface="Consolas"/>
              </a:rPr>
              <a:t>naïve : P(DCL&gt;thr | FPS=20)     = 0.85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causal: P(DCL&gt;thr | do(FPS=20)) = 0.55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29" name="Citation 29"/>
          <p:cNvSpPr txBox="1"/>
          <p:nvPr/>
        </p:nvSpPr>
        <p:spPr>
          <a:xfrm>
            <a:off x="548640" y="4554817"/>
            <a:ext cx="823000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7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Concrete example after: Giamattei et al., Causality-driven Testing of Autonomous Driving Systems (ACM TOSEM 33(3), 2024).</a:t>
            </a: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D09210B9-9DD2-596A-41F9-26C84321E1B7}"/>
              </a:ext>
            </a:extLst>
          </p:cNvPr>
          <p:cNvSpPr txBox="1"/>
          <p:nvPr/>
        </p:nvSpPr>
        <p:spPr>
          <a:xfrm>
            <a:off x="4876800" y="3784600"/>
            <a:ext cx="3810000" cy="6096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en-US" sz="100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Road confounds FPS → DCL — adjusting for it makes do(FPS) ≠ P(DCL | FPS). That 0.85→0.55 gap is the causal payoff.</a:t>
            </a:r>
          </a:p>
        </p:txBody>
      </p:sp>
      <p:cxnSp>
        <p:nvCxnSpPr>
          <p:cNvPr id="7" name="Connector 7"/>
          <p:cNvCxnSpPr/>
          <p:nvPr/>
        </p:nvCxnSpPr>
        <p:spPr>
          <a:xfrm>
            <a:off x="1130300" y="3073400"/>
            <a:ext cx="12700" cy="101600"/>
          </a:xfrm>
          <a:prstGeom prst="line">
            <a:avLst/>
          </a:prstGeom>
          <a:noFill/>
          <a:ln w="15240" cap="rnd">
            <a:solidFill>
              <a:srgbClr val="0E7C86"/>
            </a:solidFill>
            <a:round/>
            <a:tailEnd type="triangle" w="med" len="med"/>
          </a:ln>
        </p:spPr>
      </p:cxnSp>
      <p:cxnSp>
        <p:nvCxnSpPr>
          <p:cNvPr id="8" name="Connector 8"/>
          <p:cNvCxnSpPr/>
          <p:nvPr/>
        </p:nvCxnSpPr>
        <p:spPr>
          <a:xfrm>
            <a:off x="1562100" y="3314700"/>
            <a:ext cx="1676400" cy="292100"/>
          </a:xfrm>
          <a:prstGeom prst="line">
            <a:avLst/>
          </a:prstGeom>
          <a:noFill/>
          <a:ln w="15240" cap="rnd">
            <a:solidFill>
              <a:srgbClr val="0E7C86"/>
            </a:solidFill>
            <a:round/>
            <a:tailEnd type="triangle" w="med" len="med"/>
          </a:ln>
        </p:spPr>
      </p:cxnSp>
      <p:cxnSp>
        <p:nvCxnSpPr>
          <p:cNvPr id="40" name="Connector 40"/>
          <p:cNvCxnSpPr/>
          <p:nvPr/>
        </p:nvCxnSpPr>
        <p:spPr>
          <a:xfrm flipH="1">
            <a:off x="1714500" y="3073400"/>
            <a:ext cx="317500" cy="457200"/>
          </a:xfrm>
          <a:prstGeom prst="line">
            <a:avLst/>
          </a:prstGeom>
          <a:noFill/>
          <a:ln w="17780" cap="rnd">
            <a:solidFill>
              <a:srgbClr val="596672"/>
            </a:solidFill>
            <a:round/>
            <a:tailEnd type="triangle" w="med" len="med"/>
          </a:ln>
        </p:spPr>
      </p:cxnSp>
      <p:cxnSp>
        <p:nvCxnSpPr>
          <p:cNvPr id="41" name="Connector 41"/>
          <p:cNvCxnSpPr/>
          <p:nvPr/>
        </p:nvCxnSpPr>
        <p:spPr>
          <a:xfrm>
            <a:off x="2717800" y="3073400"/>
            <a:ext cx="736600" cy="406400"/>
          </a:xfrm>
          <a:prstGeom prst="line">
            <a:avLst/>
          </a:prstGeom>
          <a:noFill/>
          <a:ln w="17780" cap="rnd">
            <a:solidFill>
              <a:srgbClr val="596672"/>
            </a:solidFill>
            <a:round/>
            <a:tailEnd type="triangle" w="med" len="med"/>
          </a:ln>
        </p:spPr>
      </p:cxnSp>
      <p:cxnSp>
        <p:nvCxnSpPr>
          <p:cNvPr id="9" name="Connector 9"/>
          <p:cNvCxnSpPr/>
          <p:nvPr/>
        </p:nvCxnSpPr>
        <p:spPr>
          <a:xfrm flipV="1">
            <a:off x="2095500" y="3644900"/>
            <a:ext cx="1143000" cy="25400"/>
          </a:xfrm>
          <a:prstGeom prst="line">
            <a:avLst/>
          </a:prstGeom>
          <a:noFill/>
          <a:ln w="17780" cap="rnd">
            <a:solidFill>
              <a:srgbClr val="D26E3A"/>
            </a:solidFill>
            <a:round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32139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TESTING — EXAMPLE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The same recipe for non-functional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39319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Testing is also about </a:t>
            </a:r>
            <a:r>
              <a:rPr lang="en-US" sz="110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planning what-if scenarios</a:t>
            </a: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Keep the Example 1 recipe; just </a:t>
            </a:r>
            <a:r>
              <a:rPr lang="en-US"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change the outcome variable</a:t>
            </a:r>
            <a:r>
              <a:rPr lang="en-US"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3931920" cy="685800"/>
          </a:xfrm>
          <a:prstGeom prst="roundRect">
            <a:avLst>
              <a:gd name="adj" fmla="val 8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“Which workloads push latency past the threshold?”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1600200"/>
            <a:ext cx="3977639" cy="713232"/>
          </a:xfrm>
          <a:prstGeom prst="roundRect">
            <a:avLst>
              <a:gd name="adj" fmla="val 7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818888" y="1810512"/>
            <a:ext cx="292608" cy="292608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257800" y="1691640"/>
            <a:ext cx="315467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Functional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outcome = requirement violated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2459736"/>
            <a:ext cx="3977639" cy="713232"/>
          </a:xfrm>
          <a:prstGeom prst="roundRect">
            <a:avLst>
              <a:gd name="adj" fmla="val 7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4818888" y="2670048"/>
            <a:ext cx="292608" cy="29260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257800" y="2551176"/>
            <a:ext cx="315467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Performance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outcome = latency past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3319272"/>
            <a:ext cx="3977639" cy="713232"/>
          </a:xfrm>
          <a:prstGeom prst="roundRect">
            <a:avLst>
              <a:gd name="adj" fmla="val 7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4818888" y="3529583"/>
            <a:ext cx="292608" cy="292608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257800" y="3410712"/>
            <a:ext cx="315467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Fairness, energy…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outcome = any quality metric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904727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 2 ·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Concretely: which workload breaches the SLO?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931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Setup.  </a:t>
            </a: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 microservice under load. The model links workload &amp; resources to </a:t>
            </a:r>
            <a:r>
              <a:rPr lang="en-US" sz="105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p99 latency</a:t>
            </a: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3931920" cy="137160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77240" y="2587752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Causal model over workload &amp; resources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83080" y="3154680"/>
            <a:ext cx="320040" cy="155448"/>
          </a:xfrm>
          <a:prstGeom prst="line">
            <a:avLst/>
          </a:prstGeom>
          <a:ln w="1524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783080" y="3419856"/>
            <a:ext cx="320040" cy="146304"/>
          </a:xfrm>
          <a:prstGeom prst="line">
            <a:avLst/>
          </a:prstGeom>
          <a:ln w="1524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063239" y="3364992"/>
            <a:ext cx="274321" cy="0"/>
          </a:xfrm>
          <a:prstGeom prst="line">
            <a:avLst/>
          </a:prstGeom>
          <a:ln w="1778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22959" y="2971800"/>
            <a:ext cx="960120" cy="365760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req rate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59" y="3383280"/>
            <a:ext cx="960120" cy="365760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replicas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3182112"/>
            <a:ext cx="960120" cy="365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CPU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3182112"/>
            <a:ext cx="960120" cy="365760"/>
          </a:xfrm>
          <a:prstGeom prst="rect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p99 lat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554480"/>
            <a:ext cx="3977639" cy="86868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892040" y="1664208"/>
            <a:ext cx="342899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what-if query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 b="1" i="0" kern="0">
                <a:solidFill>
                  <a:srgbClr val="4A9E99"/>
                </a:solidFill>
                <a:latin typeface="Consolas"/>
                <a:ea typeface="Consolas"/>
                <a:cs typeface="Consolas"/>
              </a:rPr>
              <a:t>P(latency &gt; SLO | do(rate=high, replicas=2))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2606040"/>
            <a:ext cx="3977639" cy="274320"/>
          </a:xfrm>
          <a:prstGeom prst="roundRect">
            <a:avLst>
              <a:gd name="adj" fmla="val 3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4754880" y="2651760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6517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2651760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verdict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2880360"/>
            <a:ext cx="3977639" cy="329184"/>
          </a:xfrm>
          <a:prstGeom prst="roundRect">
            <a:avLst>
              <a:gd name="adj" fmla="val 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4754880" y="2926079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rate ↑, replicas =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926079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1.8× SLO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2935224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breach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3209544"/>
            <a:ext cx="3977639" cy="329184"/>
          </a:xfrm>
          <a:prstGeom prst="roundRect">
            <a:avLst>
              <a:gd name="adj" fmla="val 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4754880" y="3255263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rate ↑, replicas =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255263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0.9× SLO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3264408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538727"/>
            <a:ext cx="3977639" cy="329184"/>
          </a:xfrm>
          <a:prstGeom prst="roundRect">
            <a:avLst>
              <a:gd name="adj" fmla="val 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4754880" y="3584447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kern="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async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584447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0.7× SLO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18120" y="3593591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sp>
        <p:nvSpPr>
          <p:cNvPr id="33" name="Citation 33"/>
          <p:cNvSpPr txBox="1"/>
          <p:nvPr/>
        </p:nvSpPr>
        <p:spPr>
          <a:xfrm>
            <a:off x="548640" y="4480000"/>
            <a:ext cx="823000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7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Concrete example after: Giamattei et al., Identifying Performance Issues in Microservices (AST 2024).</a:t>
            </a:r>
          </a:p>
        </p:txBody>
      </p:sp>
    </p:spTree>
    <p:extLst>
      <p:ext uri="{BB962C8B-B14F-4D97-AF65-F5344CB8AC3E}">
        <p14:creationId xmlns:p14="http://schemas.microsoft.com/office/powerpoint/2010/main" val="4715913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FAULT LOCALIZATION — 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Fault localization: the leading application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377440" cy="210312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2103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kern="0">
                <a:solidFill>
                  <a:srgbClr val="4A9E99"/>
                </a:solidFill>
                <a:latin typeface="Cambria"/>
                <a:ea typeface="Cambria"/>
                <a:cs typeface="Cambria"/>
              </a:rPr>
              <a:t>~50%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of surveyed papers</a:t>
            </a:r>
          </a:p>
          <a:p>
            <a:pPr algn="ctr">
              <a:lnSpc>
                <a:spcPct val="116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900" b="0" i="1" kern="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Causal reasoning is seen as a way to </a:t>
            </a:r>
            <a:r>
              <a:rPr lang="en-US" sz="900" b="1" i="1" kern="0">
                <a:solidFill>
                  <a:srgbClr val="4A9E99"/>
                </a:solidFill>
                <a:latin typeface="Calibri"/>
                <a:ea typeface="Calibri"/>
                <a:cs typeface="Calibri"/>
              </a:rPr>
              <a:t>explain why</a:t>
            </a:r>
            <a:r>
              <a:rPr lang="en-US" sz="900" b="0" i="1" kern="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 an event happened.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It maps onto the chain from a fault to a failure. Two flavours dominate:</a:t>
            </a:r>
          </a:p>
        </p:txBody>
      </p:sp>
      <p:sp>
        <p:nvSpPr>
          <p:cNvPr id="7" name="Oval 6"/>
          <p:cNvSpPr/>
          <p:nvPr/>
        </p:nvSpPr>
        <p:spPr>
          <a:xfrm>
            <a:off x="3200400" y="2368296"/>
            <a:ext cx="164592" cy="16459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474720" y="2295144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Debugging  </a:t>
            </a:r>
            <a:r>
              <a:rPr lang="en-US" sz="10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Locate the faulty statement and the fix — statistical FL, program repair.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3008376"/>
            <a:ext cx="164592" cy="164592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474720" y="2935224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Root cause analysis  </a:t>
            </a:r>
            <a:r>
              <a:rPr lang="en-US" sz="10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Find the culprit component in a running system — esp. microservices &amp; cloud.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3657600"/>
            <a:ext cx="5394960" cy="502920"/>
          </a:xfrm>
          <a:prstGeom prst="roundRect">
            <a:avLst>
              <a:gd name="adj" fmla="val 10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True causal inference — e.g. counterfactual RCA — is still uncommon; most work learns the structure, then ranks.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E6A31F4-3958-B2C8-5C5A-1931B49DA1E6}"/>
              </a:ext>
            </a:extLst>
          </p:cNvPr>
          <p:cNvSpPr txBox="1"/>
          <p:nvPr/>
        </p:nvSpPr>
        <p:spPr>
          <a:xfrm>
            <a:off x="448887" y="4472247"/>
            <a:ext cx="2555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>
                <a:highlight>
                  <a:srgbClr val="FFFF00"/>
                </a:highlight>
              </a:rPr>
              <a:t>*References to Julien and mine surveys</a:t>
            </a:r>
          </a:p>
        </p:txBody>
      </p:sp>
    </p:spTree>
    <p:extLst>
      <p:ext uri="{BB962C8B-B14F-4D97-AF65-F5344CB8AC3E}">
        <p14:creationId xmlns:p14="http://schemas.microsoft.com/office/powerpoint/2010/main" val="21243174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FAULT LOCALIZATION — EXAMPLE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Tracing a failure to its true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931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In a system of interacting components, a failure </a:t>
            </a:r>
            <a:r>
              <a:rPr lang="en-US"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propagates</a:t>
            </a: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 A causal model separates the real culprit from components that merely </a:t>
            </a:r>
            <a:r>
              <a:rPr lang="en-US" sz="105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correlate</a:t>
            </a: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with the symptom.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731520" y="2944368"/>
            <a:ext cx="256032" cy="256032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97280" y="2862072"/>
            <a:ext cx="32918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Propagated  </a:t>
            </a:r>
            <a:r>
              <a:rPr lang="en-US"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An inner failure cascades; the edge component gets blamed.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47287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1520" y="3602735"/>
            <a:ext cx="256032" cy="256032"/>
          </a:xfrm>
          <a:prstGeom prst="ellipse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097280" y="3520439"/>
            <a:ext cx="32918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Masked  </a:t>
            </a:r>
            <a:r>
              <a:rPr lang="en-US"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A symptom is hidden downstream; black-box checks pass.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554480"/>
            <a:ext cx="3977639" cy="237744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937759" y="1828800"/>
            <a:ext cx="3337559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counterfactual query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 b="1" i="0" kern="0">
                <a:solidFill>
                  <a:srgbClr val="4A9E99"/>
                </a:solidFill>
                <a:latin typeface="Consolas"/>
                <a:ea typeface="Consolas"/>
                <a:cs typeface="Consolas"/>
              </a:rPr>
              <a:t>P( failᵢ | do( compₖ = fail ) )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050" b="0" i="1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“If component k fails, which others fail too?”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00" b="0" i="0" kern="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Interventions trace the chain </a:t>
            </a:r>
            <a:r>
              <a:rPr lang="en-US" sz="1000" b="1" i="0" kern="0">
                <a:solidFill>
                  <a:srgbClr val="4A9E99"/>
                </a:solidFill>
                <a:latin typeface="Calibri"/>
                <a:ea typeface="Calibri"/>
                <a:cs typeface="Calibri"/>
              </a:rPr>
              <a:t>without injecting real faults</a:t>
            </a:r>
            <a:r>
              <a:rPr lang="en-US" sz="1000" b="0" i="0" kern="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3429000"/>
            <a:ext cx="960120" cy="329184"/>
          </a:xfrm>
          <a:prstGeom prst="roundRect">
            <a:avLst>
              <a:gd name="adj" fmla="val 12000"/>
            </a:avLst>
          </a:prstGeom>
          <a:solidFill>
            <a:srgbClr val="2C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0176" y="346557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>
                <a:solidFill>
                  <a:srgbClr val="4A9E99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3429000"/>
            <a:ext cx="960120" cy="329184"/>
          </a:xfrm>
          <a:prstGeom prst="roundRect">
            <a:avLst>
              <a:gd name="adj" fmla="val 12000"/>
            </a:avLst>
          </a:prstGeom>
          <a:solidFill>
            <a:srgbClr val="2C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 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1192" y="346557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>
                <a:solidFill>
                  <a:srgbClr val="4A9E99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25512" y="3429000"/>
            <a:ext cx="960120" cy="329184"/>
          </a:xfrm>
          <a:prstGeom prst="roundRect">
            <a:avLst>
              <a:gd name="adj" fmla="val 12000"/>
            </a:avLst>
          </a:prstGeom>
          <a:solidFill>
            <a:srgbClr val="2C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symptom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19" name="Citation 19"/>
          <p:cNvSpPr txBox="1"/>
          <p:nvPr/>
        </p:nvSpPr>
        <p:spPr>
          <a:xfrm>
            <a:off x="548640" y="4297680"/>
            <a:ext cx="823000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7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Inspired by: Johnson, Brun &amp; Meliou, Causal testing: understanding defects' root causes (ICSE 2020).</a:t>
            </a:r>
          </a:p>
        </p:txBody>
      </p:sp>
    </p:spTree>
    <p:extLst>
      <p:ext uri="{BB962C8B-B14F-4D97-AF65-F5344CB8AC3E}">
        <p14:creationId xmlns:p14="http://schemas.microsoft.com/office/powerpoint/2010/main" val="12340719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 3 ·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Concretely: tracing a failure across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Setup.  </a:t>
            </a: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 benchmark of ~40 services. A failure in an inner service shows up at the edge.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3840480" cy="77724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22959" y="2852928"/>
            <a:ext cx="32918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intervention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 b="1" i="0" kern="0">
                <a:solidFill>
                  <a:srgbClr val="4A9E99"/>
                </a:solidFill>
                <a:latin typeface="Consolas"/>
                <a:ea typeface="Consolas"/>
                <a:cs typeface="Consolas"/>
              </a:rPr>
              <a:t>P(fail(Pay), fail(Order) | do(Auth = fail))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Synthetic result:  </a:t>
            </a:r>
            <a:r>
              <a:rPr lang="en-US" sz="90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Auth=fail propagates to Order (0.92) &amp; Payment (0.88); front-end masked.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554480"/>
            <a:ext cx="3977639" cy="251460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892040" y="1719072"/>
            <a:ext cx="34289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do(Auth = fail) — propagation traced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5989319" y="2333548"/>
            <a:ext cx="182881" cy="406908"/>
          </a:xfrm>
          <a:prstGeom prst="line">
            <a:avLst/>
          </a:prstGeom>
          <a:ln w="2286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989319" y="2855671"/>
            <a:ext cx="182881" cy="452628"/>
          </a:xfrm>
          <a:prstGeom prst="line">
            <a:avLst/>
          </a:prstGeom>
          <a:ln w="2286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223760" y="2333548"/>
            <a:ext cx="182880" cy="406908"/>
          </a:xfrm>
          <a:prstGeom prst="line">
            <a:avLst/>
          </a:prstGeom>
          <a:ln w="15240">
            <a:solidFill>
              <a:srgbClr val="7A87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223760" y="2855671"/>
            <a:ext cx="182880" cy="452628"/>
          </a:xfrm>
          <a:prstGeom prst="line">
            <a:avLst/>
          </a:prstGeom>
          <a:ln w="15240">
            <a:solidFill>
              <a:srgbClr val="7A87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937759" y="2606039"/>
            <a:ext cx="1051560" cy="384048"/>
          </a:xfrm>
          <a:prstGeom prst="rect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Auth 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103120"/>
            <a:ext cx="1051560" cy="384048"/>
          </a:xfrm>
          <a:prstGeom prst="rect">
            <a:avLst/>
          </a:prstGeom>
          <a:solidFill>
            <a:srgbClr val="C85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Order 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1192" y="2185415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 .92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154680"/>
            <a:ext cx="1051560" cy="384048"/>
          </a:xfrm>
          <a:prstGeom prst="rect">
            <a:avLst/>
          </a:prstGeom>
          <a:solidFill>
            <a:srgbClr val="C85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Pay 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1192" y="323697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 .88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606039"/>
            <a:ext cx="1051560" cy="38404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Front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3776472"/>
            <a:ext cx="342899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✕ fails under do(·)    ✓ stays up (failure hidden)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sp>
        <p:nvSpPr>
          <p:cNvPr id="22" name="Citation 22"/>
          <p:cNvSpPr txBox="1"/>
          <p:nvPr/>
        </p:nvSpPr>
        <p:spPr>
          <a:xfrm>
            <a:off x="548640" y="4480000"/>
            <a:ext cx="823000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750" b="0" i="1" kern="0">
                <a:solidFill>
                  <a:srgbClr val="7A8794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Concrete example after microservice RCA literature; cf. Wu et al. (2021). (TO MAKE EXPLICIT)</a:t>
            </a:r>
          </a:p>
        </p:txBody>
      </p:sp>
    </p:spTree>
    <p:extLst>
      <p:ext uri="{BB962C8B-B14F-4D97-AF65-F5344CB8AC3E}">
        <p14:creationId xmlns:p14="http://schemas.microsoft.com/office/powerpoint/2010/main" val="20592466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FAULT LOCALIZATION — THE GENERAL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A repeatable recipe for causal RCA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Whatever the system, the same three moves turn telemetry into an explainable root cause.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2606040" cy="141732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77240" y="2258568"/>
            <a:ext cx="21488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1 · Build the graph</a:t>
            </a:r>
          </a:p>
          <a:p>
            <a:pPr algn="l">
              <a:lnSpc>
                <a:spcPct val="116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Components &amp; runtime variables as nodes; edges from architecture or causal discovery.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36392" y="2619756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0">
                <a:solidFill>
                  <a:srgbClr val="7A8794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73552" y="2057400"/>
            <a:ext cx="2606040" cy="141732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502152" y="2258568"/>
            <a:ext cx="21488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2 · Reason on it</a:t>
            </a:r>
          </a:p>
          <a:p>
            <a:pPr algn="l">
              <a:lnSpc>
                <a:spcPct val="116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Trace propagation with do(comp = fail); ask counterfactuals about alternatives.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1304" y="2619756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kern="0">
                <a:solidFill>
                  <a:srgbClr val="7A8794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8464" y="2057400"/>
            <a:ext cx="2606040" cy="1417320"/>
          </a:xfrm>
          <a:prstGeom prst="roundRect">
            <a:avLst>
              <a:gd name="adj" fmla="val 5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227064" y="2258568"/>
            <a:ext cx="21488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3 · Adjust &amp; explain</a:t>
            </a:r>
          </a:p>
          <a:p>
            <a:pPr algn="l">
              <a:lnSpc>
                <a:spcPct val="116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Control for confounders; return an inspectable causal chain.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03320"/>
            <a:ext cx="8046720" cy="50292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chemeClr val="accent6">
                    <a:lumMod val="60000"/>
                    <a:lumOff val="40000"/>
                  </a:schemeClr>
                </a:solidFill>
                <a:latin typeface="Calibri"/>
                <a:ea typeface="Calibri"/>
                <a:cs typeface="Calibri"/>
              </a:rPr>
              <a:t>Why it transfers</a:t>
            </a:r>
            <a:r>
              <a:rPr lang="en-US" sz="1000" b="1" i="0" kern="0">
                <a:solidFill>
                  <a:srgbClr val="4A9E99"/>
                </a:solidFill>
                <a:latin typeface="Calibri"/>
                <a:ea typeface="Calibri"/>
                <a:cs typeface="Calibri"/>
              </a:rPr>
              <a:t>:  </a:t>
            </a:r>
            <a:r>
              <a:rPr lang="en-US" sz="1000" b="0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independent of the domain — microservices, cloud, cyber-physical, ML pipelines. Swap variables, keep the reasoning.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7735572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USING CAUSAL INFERENCE · THE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How a practitioner actually uses causal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8046720" cy="3867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The examples so far were end results. Underneath them is </a:t>
            </a:r>
            <a:r>
              <a:rPr lang="en-US" sz="11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one repeatable two-step process</a:t>
            </a: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: build a causal model, then query it — with humans in the loop throughout.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3886200" cy="128016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777240" y="2468880"/>
            <a:ext cx="457200" cy="457200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2423160"/>
            <a:ext cx="2880360" cy="9601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Step 1 — Learning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Construct a causal model — </a:t>
            </a:r>
            <a:r>
              <a:rPr lang="en-US" sz="10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from a specification, from data, or both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3127" y="2715768"/>
            <a:ext cx="23774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kern="0">
                <a:solidFill>
                  <a:srgbClr val="7A8794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59" y="2240280"/>
            <a:ext cx="3886200" cy="128016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4937759" y="2468880"/>
            <a:ext cx="457200" cy="457200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423160"/>
            <a:ext cx="2880360" cy="9601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Step 2 — Inference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Query the model — </a:t>
            </a:r>
            <a:r>
              <a:rPr lang="en-US" sz="10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what-if (proactive) &amp; counterfactual (retroactive)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8046720" cy="45720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causal model is a </a:t>
            </a:r>
            <a:r>
              <a:rPr lang="en-US" sz="1000" b="1" i="0" kern="0">
                <a:solidFill>
                  <a:schemeClr val="accent6">
                    <a:lumMod val="60000"/>
                    <a:lumOff val="40000"/>
                  </a:schemeClr>
                </a:solidFill>
                <a:latin typeface="Calibri"/>
                <a:ea typeface="Calibri"/>
                <a:cs typeface="Calibri"/>
              </a:rPr>
              <a:t>collaborative reasoning partner</a:t>
            </a:r>
            <a:r>
              <a:rPr lang="en-US" sz="1000" b="0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, not a black-box oracle — engineers can inspect, challenge, and override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42464249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THE PROCESS ·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328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Building the causal model (</a:t>
            </a:r>
            <a:r>
              <a:rPr lang="en-US" sz="2200" b="1" i="0" kern="0">
                <a:solidFill>
                  <a:schemeClr val="accent4">
                    <a:lumMod val="75000"/>
                  </a:schemeClr>
                </a:solidFill>
                <a:latin typeface="Cambria"/>
                <a:ea typeface="Cambria"/>
                <a:cs typeface="Cambria"/>
              </a:rPr>
              <a:t>learning</a:t>
            </a: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Three sources, often combined — the model encodes </a:t>
            </a:r>
            <a:r>
              <a:rPr lang="en-US" sz="105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what we know and what we measure</a:t>
            </a: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606040" cy="1479876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749808" y="2286000"/>
            <a:ext cx="310896" cy="310896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49808" y="2670048"/>
            <a:ext cx="2203704" cy="8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Specification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Experts declare cause-effect relations - which links must hold, which are forbidden. An inspectable record of assumptions; LLMs can suggest variables.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73552" y="2103120"/>
            <a:ext cx="2606040" cy="1479876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474720" y="2286000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474720" y="2670048"/>
            <a:ext cx="220370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Discovery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Causal-discovery algorithms extract structure from data - observational or experimental, structured or text. Engineers validate &amp; revise.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8464" y="2103120"/>
            <a:ext cx="2606040" cy="1479876"/>
          </a:xfrm>
          <a:prstGeom prst="roundRect">
            <a:avLst>
              <a:gd name="adj" fmla="val 5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6199631" y="2286000"/>
            <a:ext cx="310896" cy="310896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6199631" y="2670048"/>
            <a:ext cx="2203704" cy="8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Fitting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However the structure is obtained (via Specification, Discovery or Hybrid) data parameterize it – e.g., structural equations (SCM)</a:t>
            </a:r>
            <a:r>
              <a:rPr lang="en-US" sz="90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or </a:t>
            </a:r>
            <a:r>
              <a:rPr lang="en-US"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conditional distributions (CBN)</a:t>
            </a:r>
            <a:r>
              <a:rPr lang="en-US" sz="90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</a:t>
            </a:r>
            <a:endParaRPr lang="en-US" sz="900" b="0" i="0" kern="0">
              <a:solidFill>
                <a:srgbClr val="1E3A5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48640" y="3901439"/>
            <a:ext cx="8046720" cy="45720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Validation:  </a:t>
            </a:r>
            <a:r>
              <a:rPr lang="en-US" sz="10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if observations contradict a specified relation, revisit whether the assumption is wrong - or the data simply insufficient.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" y="4535424"/>
            <a:ext cx="804672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Pietrantuono, Giamattei &amp; Russo, Reasoning Beyond Prediction: From Data-Driven to Causal</a:t>
            </a:r>
            <a:r>
              <a:rPr lang="en-US" sz="75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7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Software Engineering, CACM (to appear in Dec 2026) – </a:t>
            </a:r>
            <a:r>
              <a:rPr lang="en-US" sz="750" b="0" i="1" kern="0">
                <a:solidFill>
                  <a:srgbClr val="7A8794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https://arxiv...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  <p:sp>
        <p:nvSpPr>
          <p:cNvPr id="18" name="TextBox 6">
            <a:extLst>
              <a:ext uri="{FF2B5EF4-FFF2-40B4-BE49-F238E27FC236}">
                <a16:creationId xmlns:a16="http://schemas.microsoft.com/office/drawing/2014/main" id="{F22EBDD8-AE4A-D00E-7F4C-ED5BFE6892F2}"/>
              </a:ext>
            </a:extLst>
          </p:cNvPr>
          <p:cNvSpPr txBox="1"/>
          <p:nvPr/>
        </p:nvSpPr>
        <p:spPr>
          <a:xfrm>
            <a:off x="708738" y="3589028"/>
            <a:ext cx="2203704" cy="149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1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Domain expertise, assumptions-based</a:t>
            </a:r>
          </a:p>
        </p:txBody>
      </p:sp>
      <p:sp>
        <p:nvSpPr>
          <p:cNvPr id="19" name="TextBox 6">
            <a:extLst>
              <a:ext uri="{FF2B5EF4-FFF2-40B4-BE49-F238E27FC236}">
                <a16:creationId xmlns:a16="http://schemas.microsoft.com/office/drawing/2014/main" id="{8B191F2A-EF64-1CF5-55A0-0C43D1B148FF}"/>
              </a:ext>
            </a:extLst>
          </p:cNvPr>
          <p:cNvSpPr txBox="1"/>
          <p:nvPr/>
        </p:nvSpPr>
        <p:spPr>
          <a:xfrm>
            <a:off x="3470148" y="3582996"/>
            <a:ext cx="2203704" cy="149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1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Observations/data, evidene-based</a:t>
            </a:r>
          </a:p>
        </p:txBody>
      </p:sp>
    </p:spTree>
    <p:extLst>
      <p:ext uri="{BB962C8B-B14F-4D97-AF65-F5344CB8AC3E}">
        <p14:creationId xmlns:p14="http://schemas.microsoft.com/office/powerpoint/2010/main" val="2677048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THE PROCESS ·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328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Querying the model (</a:t>
            </a:r>
            <a:r>
              <a:rPr lang="en-US" sz="2200" b="1" i="0" kern="0">
                <a:solidFill>
                  <a:schemeClr val="accent4">
                    <a:lumMod val="75000"/>
                  </a:schemeClr>
                </a:solidFill>
                <a:latin typeface="Cambria"/>
                <a:ea typeface="Cambria"/>
                <a:cs typeface="Cambria"/>
              </a:rPr>
              <a:t>inference</a:t>
            </a: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With a model in hand, engineers ask two kinds of question - and can </a:t>
            </a:r>
            <a:r>
              <a:rPr lang="en-US"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refute</a:t>
            </a: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the answers.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49379"/>
            <a:ext cx="3886200" cy="123444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22959" y="2240280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Proactive - what-if</a:t>
            </a:r>
          </a:p>
          <a:p>
            <a:pPr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 b="0" i="0" kern="0">
                <a:solidFill>
                  <a:srgbClr val="0A5A62"/>
                </a:solidFill>
                <a:latin typeface="Consolas"/>
                <a:ea typeface="Consolas"/>
                <a:cs typeface="Consolas"/>
              </a:rPr>
              <a:t>do(X = x): predict the effect of an action before taking it.</a:t>
            </a:r>
          </a:p>
          <a:p>
            <a:pPr algn="l">
              <a:lnSpc>
                <a:spcPct val="114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Design exploration, test generation, performance tuning.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59" y="2057400"/>
            <a:ext cx="3886200" cy="123444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983479" y="2240280"/>
            <a:ext cx="3337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Retroactive - counterfactual</a:t>
            </a:r>
          </a:p>
          <a:p>
            <a:pPr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would the failure have occurred had X been different?</a:t>
            </a:r>
          </a:p>
          <a:p>
            <a:pPr algn="l">
              <a:lnSpc>
                <a:spcPct val="114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Root-cause analysis, debugging, corrective maintenance.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03320"/>
            <a:ext cx="8046720" cy="45720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chemeClr val="accent6">
                    <a:lumMod val="60000"/>
                    <a:lumOff val="40000"/>
                  </a:schemeClr>
                </a:solidFill>
                <a:latin typeface="Calibri"/>
                <a:ea typeface="Calibri"/>
                <a:cs typeface="Calibri"/>
              </a:rPr>
              <a:t>Estimate with uncertainty, then refute: </a:t>
            </a:r>
            <a:r>
              <a:rPr lang="en-US" sz="1000" b="1" i="0" kern="0">
                <a:solidFill>
                  <a:srgbClr val="4A9E9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b="0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effect estimates come with confidence intervals and are checked by refutation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sp>
        <p:nvSpPr>
          <p:cNvPr id="12" name="TextBox 14">
            <a:extLst>
              <a:ext uri="{FF2B5EF4-FFF2-40B4-BE49-F238E27FC236}">
                <a16:creationId xmlns:a16="http://schemas.microsoft.com/office/drawing/2014/main" id="{F4C0C9B0-2127-9185-A34E-977B3D3B1C2F}"/>
              </a:ext>
            </a:extLst>
          </p:cNvPr>
          <p:cNvSpPr txBox="1"/>
          <p:nvPr/>
        </p:nvSpPr>
        <p:spPr>
          <a:xfrm>
            <a:off x="557784" y="4535424"/>
            <a:ext cx="804672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Pietrantuono, Giamattei &amp; Russo, Reasoning Beyond Prediction: From Data-Driven to Causal</a:t>
            </a:r>
            <a:r>
              <a:rPr lang="en-US" sz="75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7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Software Engineering, CACM (to appear in Dec 2026) – </a:t>
            </a:r>
            <a:r>
              <a:rPr lang="en-US" sz="750" b="0" i="1" kern="0">
                <a:solidFill>
                  <a:srgbClr val="7A8794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https://arxiv...</a:t>
            </a:r>
          </a:p>
        </p:txBody>
      </p:sp>
    </p:spTree>
    <p:extLst>
      <p:ext uri="{BB962C8B-B14F-4D97-AF65-F5344CB8AC3E}">
        <p14:creationId xmlns:p14="http://schemas.microsoft.com/office/powerpoint/2010/main" val="7032053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328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Sources &amp; further reading – </a:t>
            </a:r>
            <a:r>
              <a:rPr lang="en-US" sz="2200" b="1" i="0" kern="0" dirty="0">
                <a:solidFill>
                  <a:srgbClr val="1E3A5F"/>
                </a:solidFill>
                <a:highlight>
                  <a:srgbClr val="FFFF00"/>
                </a:highlight>
                <a:latin typeface="Cambria"/>
                <a:ea typeface="Cambria"/>
                <a:cs typeface="Cambria"/>
              </a:rPr>
              <a:t>TO INTEGRATE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9776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0A5A62"/>
                </a:solidFill>
                <a:latin typeface="Cambria"/>
                <a:ea typeface="Cambria"/>
                <a:cs typeface="Cambria"/>
              </a:rPr>
              <a:t>Framework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4023360" cy="246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Pietrantuono, Giamattei, Russo. Reasoning Beyond Prediction</a:t>
            </a:r>
            <a:r>
              <a:rPr lang="en-US" sz="80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:  From Data-Driven to Causal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Software Engineering </a:t>
            </a:r>
            <a:r>
              <a:rPr lang="en-US" sz="8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CACM (first look),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2294"/>
            <a:ext cx="4023360" cy="1212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 Software Engineering: A Vision and Roadmap. arXiv:2605.02454.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4928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Giamattei et al. Causal reasoning in SQA: a systematic review. IST 178 (2025) 107599.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24327"/>
            <a:ext cx="39776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0A5A62"/>
                </a:solidFill>
                <a:latin typeface="Cambria"/>
                <a:ea typeface="Cambria"/>
                <a:cs typeface="Cambria"/>
              </a:rPr>
              <a:t>Testing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80359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Giamattei et al. Causality-driven Testing of Autonomous Driving Systems. ACM TOSEM 33(3), 2024.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72967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Giamattei et al. Identifying Performance Issues in Microservices through Causal Reasoning. AST 2024.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65575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Mascia et al. Microservices performance testing (causality-guided / LLM), 2025.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58183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Clark et al. Metamorphic Testing with Causal Graphs. ICST 2023.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Foster et al. Causal inference for systems with hidden/interacting variables. EASE 2025.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1554480"/>
            <a:ext cx="39776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0A5A62"/>
                </a:solidFill>
                <a:latin typeface="Cambria"/>
                <a:ea typeface="Cambria"/>
                <a:cs typeface="Cambria"/>
              </a:rPr>
              <a:t>Fault localization &amp; RCA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181051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Johnson, Brun, Meliou. Causal testing: understanding defects' root causes. ICSE 2020.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1031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Wu, Tordsson, Elmroth, Kao. Causal Inference Techniques for Microservice Performance. 2021.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395727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PyWhy / DoWhy - GCM root-cause analysis example (pywhy.org).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624327"/>
            <a:ext cx="39776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0A5A62"/>
                </a:solidFill>
                <a:latin typeface="Cambria"/>
                <a:ea typeface="Cambria"/>
                <a:cs typeface="Cambria"/>
              </a:rPr>
              <a:t>Requirements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880359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Heyn et al. Causal models as a Requirements Engineering activity (arc-fault study).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172967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Ahmad et al. RE for AI systems: a systematic mapping. IST 158 (2023) 107176.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3465575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D'Amour et al. Underspecification in modern ML. JMLR 23 (2022).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639311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Mitchell et al. Algorithmic fairness: choices, assumptions, definitions. 2021.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3986783"/>
            <a:ext cx="39776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0A5A62"/>
                </a:solidFill>
                <a:latin typeface="Cambria"/>
                <a:ea typeface="Cambria"/>
                <a:cs typeface="Cambria"/>
              </a:rPr>
              <a:t>Validity &amp; caveats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4242815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Hulse, Eisty, Menzies. Shaky structures: causal graphs in software analytics. EMSE 30 (2025).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910256977"/>
      </p:ext>
    </p:extLst>
  </p:cSld>
  <p:clrMapOvr>
    <a:masterClrMapping/>
  </p:clrMapOvr>
</p:sld>
</file>

<file path=ppt/theme/theme1.xml><?xml version="1.0" encoding="utf-8"?>
<a:theme xmlns:a="http://schemas.openxmlformats.org/drawingml/2006/main" name="Anpassad formgivn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npassad formgivning [1782399641934]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E07E1BF-185B-FB42-8233-49FC1E79F824}">
  <we:reference id="wa200010725" version="1.0.0.1" store="it-IT" storeType="OMEX"/>
  <we:alternateReferences>
    <we:reference id="WA200010725" version="1.0.0.1" store="WA200010725" storeType="OMEX"/>
  </we:alternateReferences>
  <we:properties>
    <we:property name="claude.fileId" value="&quot;75c8a75b-739a-495a-9945-7c7ee954738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3245</TotalTime>
  <Words>2646</Words>
  <Application>Microsoft Macintosh PowerPoint</Application>
  <PresentationFormat>Presentazione su schermo (16:9)</PresentationFormat>
  <Paragraphs>348</Paragraphs>
  <Slides>24</Slides>
  <Notes>24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24</vt:i4>
      </vt:variant>
    </vt:vector>
  </HeadingPairs>
  <TitlesOfParts>
    <vt:vector size="31" baseType="lpstr">
      <vt:lpstr>Aptos</vt:lpstr>
      <vt:lpstr>Arial</vt:lpstr>
      <vt:lpstr>Calibri</vt:lpstr>
      <vt:lpstr>Cambria</vt:lpstr>
      <vt:lpstr>Consolas</vt:lpstr>
      <vt:lpstr>Anpassad formgivning</vt:lpstr>
      <vt:lpstr>Anpassad formgivning [1782399641934]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Causal Inference for Software Engineering</dc:title>
  <dc:subject>PptxGenJS Presentation</dc:subject>
  <dc:creator>Tutorial authors</dc:creator>
  <cp:lastModifiedBy>ROBERTO PIETRANTUONO</cp:lastModifiedBy>
  <cp:revision>81</cp:revision>
  <dcterms:created xsi:type="dcterms:W3CDTF">2026-06-18T12:50:28Z</dcterms:created>
  <dcterms:modified xsi:type="dcterms:W3CDTF">2026-06-25T15:03:56Z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ad0b24d-6422-44b0-b3de-abb3a9e8c81a_Enabled">
    <vt:lpwstr>true</vt:lpwstr>
  </property>
  <property fmtid="{D5CDD505-2E9C-101B-9397-08002B2CF9AE}" pid="3" name="MSIP_Label_2ad0b24d-6422-44b0-b3de-abb3a9e8c81a_SetDate">
    <vt:lpwstr>2026-06-23T06:46:10Z</vt:lpwstr>
  </property>
  <property fmtid="{D5CDD505-2E9C-101B-9397-08002B2CF9AE}" pid="4" name="MSIP_Label_2ad0b24d-6422-44b0-b3de-abb3a9e8c81a_Method">
    <vt:lpwstr>Standard</vt:lpwstr>
  </property>
  <property fmtid="{D5CDD505-2E9C-101B-9397-08002B2CF9AE}" pid="5" name="MSIP_Label_2ad0b24d-6422-44b0-b3de-abb3a9e8c81a_Name">
    <vt:lpwstr>defa4170-0d19-0005-0004-bc88714345d2</vt:lpwstr>
  </property>
  <property fmtid="{D5CDD505-2E9C-101B-9397-08002B2CF9AE}" pid="6" name="MSIP_Label_2ad0b24d-6422-44b0-b3de-abb3a9e8c81a_SiteId">
    <vt:lpwstr>2fcfe26a-bb62-46b0-b1e3-28f9da0c45fd</vt:lpwstr>
  </property>
  <property fmtid="{D5CDD505-2E9C-101B-9397-08002B2CF9AE}" pid="7" name="MSIP_Label_2ad0b24d-6422-44b0-b3de-abb3a9e8c81a_ActionId">
    <vt:lpwstr>d0c7844b-61cd-484a-9383-48d0b5a8b258</vt:lpwstr>
  </property>
  <property fmtid="{D5CDD505-2E9C-101B-9397-08002B2CF9AE}" pid="8" name="MSIP_Label_2ad0b24d-6422-44b0-b3de-abb3a9e8c81a_ContentBits">
    <vt:lpwstr>0</vt:lpwstr>
  </property>
  <property fmtid="{D5CDD505-2E9C-101B-9397-08002B2CF9AE}" pid="9" name="MSIP_Label_2ad0b24d-6422-44b0-b3de-abb3a9e8c81a_Tag">
    <vt:lpwstr>50, 3, 0, 1</vt:lpwstr>
  </property>
</Properties>
</file>