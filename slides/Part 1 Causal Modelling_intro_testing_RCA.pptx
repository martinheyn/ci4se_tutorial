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3" r:id="rId2"/>
    <p:sldMasterId id="2147483660" r:id="rId3"/>
  </p:sldMasterIdLst>
  <p:notesMasterIdLst>
    <p:notesMasterId r:id="rId2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</p:sldIdLst>
  <p:sldSz cx="9144000" cy="5143500" type="screen16x9"/>
  <p:notesSz cx="51435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0"/>
  </p:normalViewPr>
  <p:slideViewPr>
    <p:cSldViewPr snapToGrid="0">
      <p:cViewPr varScale="1">
        <p:scale>
          <a:sx n="130" d="100"/>
          <a:sy n="130" d="100"/>
        </p:scale>
        <p:origin x="57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presProps" Target="presProps.xml"/><Relationship Id="rId8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defTabSz="914400">
              <a:lnSpc>
                <a:spcPct val="90000"/>
              </a:lnSpc>
            </a:pPr>
            <a:r>
              <a:rPr lang="en-GB" sz="2600" b="1" u="none" strike="noStrike">
                <a:solidFill>
                  <a:srgbClr val="1E3A5F"/>
                </a:solidFill>
                <a:effectLst/>
                <a:uFillTx/>
                <a:latin typeface="Cambria"/>
              </a:rPr>
              <a:t>Click to move the slide</a:t>
            </a:r>
          </a:p>
        </p:txBody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notes' format</a:t>
            </a:r>
          </a:p>
        </p:txBody>
      </p:sp>
      <p:sp>
        <p:nvSpPr>
          <p:cNvPr id="9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95" name="PlaceHolder 4"/>
          <p:cNvSpPr>
            <a:spLocks noGrp="1"/>
          </p:cNvSpPr>
          <p:nvPr>
            <p:ph type="dt" idx="19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96" name="PlaceHolder 5"/>
          <p:cNvSpPr>
            <a:spLocks noGrp="1"/>
          </p:cNvSpPr>
          <p:nvPr>
            <p:ph type="ftr" idx="20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97" name="PlaceHolder 6"/>
          <p:cNvSpPr>
            <a:spLocks noGrp="1"/>
          </p:cNvSpPr>
          <p:nvPr>
            <p:ph type="sldNum" idx="21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A048A102-A3FA-4BCB-98E0-9AD13A2B335B}" type="slidenum"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‹N›</a:t>
            </a:fld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7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br>
              <a:rPr sz="1200"/>
            </a:b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Rubrik och innehå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raunhofer.png"/>
          <p:cNvPicPr/>
          <p:nvPr/>
        </p:nvPicPr>
        <p:blipFill>
          <a:blip r:embed="rId2"/>
          <a:stretch/>
        </p:blipFill>
        <p:spPr>
          <a:xfrm>
            <a:off x="679680" y="237600"/>
            <a:ext cx="1474560" cy="420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" name="Image 1" descr="chalmers.png"/>
          <p:cNvPicPr/>
          <p:nvPr/>
        </p:nvPicPr>
        <p:blipFill>
          <a:blip r:embed="rId3"/>
          <a:stretch/>
        </p:blipFill>
        <p:spPr>
          <a:xfrm>
            <a:off x="2843640" y="237600"/>
            <a:ext cx="1353600" cy="420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" name="Image 2" descr="goteborg.png"/>
          <p:cNvPicPr/>
          <p:nvPr/>
        </p:nvPicPr>
        <p:blipFill>
          <a:blip r:embed="rId4"/>
          <a:stretch/>
        </p:blipFill>
        <p:spPr>
          <a:xfrm>
            <a:off x="4881240" y="195840"/>
            <a:ext cx="1484280" cy="504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" name="Image 3" descr="napoli.png"/>
          <p:cNvPicPr/>
          <p:nvPr/>
        </p:nvPicPr>
        <p:blipFill>
          <a:blip r:embed="rId5"/>
          <a:stretch/>
        </p:blipFill>
        <p:spPr>
          <a:xfrm>
            <a:off x="7077960" y="237600"/>
            <a:ext cx="1297080" cy="42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" name="Text 2"/>
          <p:cNvSpPr/>
          <p:nvPr/>
        </p:nvSpPr>
        <p:spPr>
          <a:xfrm>
            <a:off x="365760" y="4736520"/>
            <a:ext cx="2057040" cy="30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FSE 2026  ·  Montréal  ·  5–9 July 2026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1"/>
          <p:cNvSpPr>
            <a:spLocks noGrp="1"/>
          </p:cNvSpPr>
          <p:nvPr>
            <p:ph type="ftr" idx="1"/>
          </p:nvPr>
        </p:nvSpPr>
        <p:spPr>
          <a:xfrm>
            <a:off x="2981520" y="4767120"/>
            <a:ext cx="3085920" cy="27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8" name="PlaceHolder 2"/>
          <p:cNvSpPr>
            <a:spLocks noGrp="1"/>
          </p:cNvSpPr>
          <p:nvPr>
            <p:ph type="title"/>
          </p:nvPr>
        </p:nvSpPr>
        <p:spPr>
          <a:xfrm>
            <a:off x="286560" y="848520"/>
            <a:ext cx="8694720" cy="54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sv-SE" sz="260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sv-SE" sz="260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Klicka här för att ändra mall för rubrikformat</a:t>
            </a:r>
            <a:endParaRPr lang="en-GB" sz="2600" b="1" u="none" strike="noStrike">
              <a:solidFill>
                <a:srgbClr val="1E3A5F"/>
              </a:solidFill>
              <a:effectLst/>
              <a:uFillTx/>
              <a:latin typeface="Cambria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286560" y="1483200"/>
            <a:ext cx="8694720" cy="3178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sv-SE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sv-SE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sv-SE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sv-SE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sv-SE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sv-SE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Klicka här för att ändra format på bakgrundstexten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sv-SE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Nivå två</a:t>
            </a:r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sv-SE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Nivå tre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sv-SE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Nivå fyra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sv-SE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Nivå fem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sldNum" idx="2"/>
          </p:nvPr>
        </p:nvSpPr>
        <p:spPr>
          <a:xfrm>
            <a:off x="6150240" y="4767120"/>
            <a:ext cx="2831040" cy="27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SE" sz="9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9E98C47-05BD-4300-B9CD-F9FCD3B10F6E}" type="slidenum">
              <a:rPr lang="en-SE" sz="9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‹N›</a:t>
            </a:fld>
            <a:endParaRPr lang="en-GB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dast rubri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0" descr="fraunhofer.png"/>
          <p:cNvPicPr/>
          <p:nvPr/>
        </p:nvPicPr>
        <p:blipFill>
          <a:blip r:embed="rId2"/>
          <a:stretch/>
        </p:blipFill>
        <p:spPr>
          <a:xfrm>
            <a:off x="679680" y="237600"/>
            <a:ext cx="1474560" cy="420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" name="Image 1" descr="chalmers.png"/>
          <p:cNvPicPr/>
          <p:nvPr/>
        </p:nvPicPr>
        <p:blipFill>
          <a:blip r:embed="rId3"/>
          <a:stretch/>
        </p:blipFill>
        <p:spPr>
          <a:xfrm>
            <a:off x="2843640" y="237600"/>
            <a:ext cx="1353600" cy="420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" name="Image 2" descr="goteborg.png"/>
          <p:cNvPicPr/>
          <p:nvPr/>
        </p:nvPicPr>
        <p:blipFill>
          <a:blip r:embed="rId4"/>
          <a:stretch/>
        </p:blipFill>
        <p:spPr>
          <a:xfrm>
            <a:off x="4881240" y="195840"/>
            <a:ext cx="1484280" cy="504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" name="Image 3" descr="napoli.png"/>
          <p:cNvPicPr/>
          <p:nvPr/>
        </p:nvPicPr>
        <p:blipFill>
          <a:blip r:embed="rId5"/>
          <a:stretch/>
        </p:blipFill>
        <p:spPr>
          <a:xfrm>
            <a:off x="7077960" y="237600"/>
            <a:ext cx="1297080" cy="42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" name="Text 2"/>
          <p:cNvSpPr/>
          <p:nvPr/>
        </p:nvSpPr>
        <p:spPr>
          <a:xfrm>
            <a:off x="365760" y="4736520"/>
            <a:ext cx="2057040" cy="30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FSE 2026  ·  Montréal  ·  5–9 July 2026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1"/>
          <p:cNvSpPr>
            <a:spLocks noGrp="1"/>
          </p:cNvSpPr>
          <p:nvPr>
            <p:ph type="ftr" idx="3"/>
          </p:nvPr>
        </p:nvSpPr>
        <p:spPr>
          <a:xfrm>
            <a:off x="2981520" y="4767120"/>
            <a:ext cx="3085920" cy="27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7" name="PlaceHolder 2"/>
          <p:cNvSpPr>
            <a:spLocks noGrp="1"/>
          </p:cNvSpPr>
          <p:nvPr>
            <p:ph type="title"/>
          </p:nvPr>
        </p:nvSpPr>
        <p:spPr>
          <a:xfrm>
            <a:off x="286560" y="848520"/>
            <a:ext cx="8694720" cy="54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sv-SE" sz="260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sv-SE" sz="260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Klicka här för att ändra mall för rubrikformat</a:t>
            </a:r>
            <a:endParaRPr lang="en-GB" sz="2600" b="1" u="none" strike="noStrike">
              <a:solidFill>
                <a:srgbClr val="1E3A5F"/>
              </a:solidFill>
              <a:effectLst/>
              <a:uFillTx/>
              <a:latin typeface="Cambria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sldNum" idx="4"/>
          </p:nvPr>
        </p:nvSpPr>
        <p:spPr>
          <a:xfrm>
            <a:off x="6150240" y="4767120"/>
            <a:ext cx="2831040" cy="27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SE" sz="9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36835FB-C22F-447C-8BEF-B259030BB67F}" type="slidenum">
              <a:rPr lang="en-SE" sz="9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‹N›</a:t>
            </a:fld>
            <a:endParaRPr lang="en-GB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vå del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0" descr="fraunhofer.png"/>
          <p:cNvPicPr/>
          <p:nvPr/>
        </p:nvPicPr>
        <p:blipFill>
          <a:blip r:embed="rId2"/>
          <a:stretch/>
        </p:blipFill>
        <p:spPr>
          <a:xfrm>
            <a:off x="679680" y="237600"/>
            <a:ext cx="1474560" cy="420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" name="Image 1" descr="chalmers.png"/>
          <p:cNvPicPr/>
          <p:nvPr/>
        </p:nvPicPr>
        <p:blipFill>
          <a:blip r:embed="rId3"/>
          <a:stretch/>
        </p:blipFill>
        <p:spPr>
          <a:xfrm>
            <a:off x="2843640" y="237600"/>
            <a:ext cx="1353600" cy="420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" name="Image 2" descr="goteborg.png"/>
          <p:cNvPicPr/>
          <p:nvPr/>
        </p:nvPicPr>
        <p:blipFill>
          <a:blip r:embed="rId4"/>
          <a:stretch/>
        </p:blipFill>
        <p:spPr>
          <a:xfrm>
            <a:off x="4881240" y="195840"/>
            <a:ext cx="1484280" cy="504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" name="Image 3" descr="napoli.png"/>
          <p:cNvPicPr/>
          <p:nvPr/>
        </p:nvPicPr>
        <p:blipFill>
          <a:blip r:embed="rId5"/>
          <a:stretch/>
        </p:blipFill>
        <p:spPr>
          <a:xfrm>
            <a:off x="7077960" y="237600"/>
            <a:ext cx="1297080" cy="42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" name="Text 2"/>
          <p:cNvSpPr/>
          <p:nvPr/>
        </p:nvSpPr>
        <p:spPr>
          <a:xfrm>
            <a:off x="365760" y="4736520"/>
            <a:ext cx="2057040" cy="30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FSE 2026  ·  Montréal  ·  5–9 July 2026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1"/>
          <p:cNvSpPr>
            <a:spLocks noGrp="1"/>
          </p:cNvSpPr>
          <p:nvPr>
            <p:ph type="body"/>
          </p:nvPr>
        </p:nvSpPr>
        <p:spPr>
          <a:xfrm>
            <a:off x="286560" y="1524600"/>
            <a:ext cx="4285080" cy="3107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sv-SE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sv-SE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sv-SE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sv-SE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sv-SE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sv-SE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Klicka här för att ändra format på bakgrundstexten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sv-SE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Nivå två</a:t>
            </a:r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sv-SE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Nivå tre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sv-SE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Nivå fyra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sv-SE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Nivå fem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648320" y="1524600"/>
            <a:ext cx="4332960" cy="3107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sv-SE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sv-SE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sv-SE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sv-SE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sv-SE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sv-SE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Klicka här för att ändra format på bakgrundstexten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sv-SE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Nivå två</a:t>
            </a:r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sv-SE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Nivå tre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sv-SE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Nivå fyra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sv-SE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Nivå fem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ftr" idx="5"/>
          </p:nvPr>
        </p:nvSpPr>
        <p:spPr>
          <a:xfrm>
            <a:off x="2981520" y="4767120"/>
            <a:ext cx="3085920" cy="27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7" name="PlaceHolder 4"/>
          <p:cNvSpPr>
            <a:spLocks noGrp="1"/>
          </p:cNvSpPr>
          <p:nvPr>
            <p:ph type="title"/>
          </p:nvPr>
        </p:nvSpPr>
        <p:spPr>
          <a:xfrm>
            <a:off x="286560" y="848520"/>
            <a:ext cx="8694720" cy="54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sv-SE" sz="260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sv-SE" sz="260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Klicka här för att ändra mall för rubrikformat</a:t>
            </a:r>
            <a:endParaRPr lang="en-GB" sz="2600" b="1" u="none" strike="noStrike">
              <a:solidFill>
                <a:srgbClr val="1E3A5F"/>
              </a:solidFill>
              <a:effectLst/>
              <a:uFillTx/>
              <a:latin typeface="Cambria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6"/>
          </p:nvPr>
        </p:nvSpPr>
        <p:spPr>
          <a:xfrm>
            <a:off x="6150240" y="4767120"/>
            <a:ext cx="2831040" cy="27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SE" sz="9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73C8826-2AE0-4AC0-95A2-8CCFAB9656B5}" type="slidenum">
              <a:rPr lang="en-SE" sz="9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‹N›</a:t>
            </a:fld>
            <a:endParaRPr lang="en-GB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Rubrikbil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 0" descr="fraunhofer.png"/>
          <p:cNvPicPr/>
          <p:nvPr/>
        </p:nvPicPr>
        <p:blipFill>
          <a:blip r:embed="rId2"/>
          <a:stretch/>
        </p:blipFill>
        <p:spPr>
          <a:xfrm>
            <a:off x="679680" y="237600"/>
            <a:ext cx="1474560" cy="420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" name="Image 1" descr="chalmers.png"/>
          <p:cNvPicPr/>
          <p:nvPr/>
        </p:nvPicPr>
        <p:blipFill>
          <a:blip r:embed="rId3"/>
          <a:stretch/>
        </p:blipFill>
        <p:spPr>
          <a:xfrm>
            <a:off x="2843640" y="237600"/>
            <a:ext cx="1353600" cy="420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" name="Image 2" descr="goteborg.png"/>
          <p:cNvPicPr/>
          <p:nvPr/>
        </p:nvPicPr>
        <p:blipFill>
          <a:blip r:embed="rId4"/>
          <a:stretch/>
        </p:blipFill>
        <p:spPr>
          <a:xfrm>
            <a:off x="4881240" y="195840"/>
            <a:ext cx="1484280" cy="504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" name="Image 3" descr="napoli.png"/>
          <p:cNvPicPr/>
          <p:nvPr/>
        </p:nvPicPr>
        <p:blipFill>
          <a:blip r:embed="rId5"/>
          <a:stretch/>
        </p:blipFill>
        <p:spPr>
          <a:xfrm>
            <a:off x="7077960" y="237600"/>
            <a:ext cx="1297080" cy="42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" name="Text 2"/>
          <p:cNvSpPr/>
          <p:nvPr/>
        </p:nvSpPr>
        <p:spPr>
          <a:xfrm>
            <a:off x="365760" y="4736520"/>
            <a:ext cx="2057040" cy="30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FSE 2026  ·  Montréal  ·  5–9 July 2026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1"/>
          <p:cNvSpPr>
            <a:spLocks noGrp="1"/>
          </p:cNvSpPr>
          <p:nvPr>
            <p:ph type="ftr" idx="7"/>
          </p:nvPr>
        </p:nvSpPr>
        <p:spPr>
          <a:xfrm>
            <a:off x="2981520" y="4767120"/>
            <a:ext cx="3085920" cy="27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5" name="PlaceHolder 2"/>
          <p:cNvSpPr>
            <a:spLocks noGrp="1"/>
          </p:cNvSpPr>
          <p:nvPr>
            <p:ph type="sldNum" idx="8"/>
          </p:nvPr>
        </p:nvSpPr>
        <p:spPr>
          <a:xfrm>
            <a:off x="6150240" y="4767120"/>
            <a:ext cx="2831040" cy="27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SE" sz="90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31E1C39-977F-4FAB-80A6-D96F74E60132}" type="slidenum">
              <a:rPr lang="en-SE" sz="90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‹N›</a:t>
            </a:fld>
            <a:endParaRPr lang="en-GB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Image 0" descr="fraunhofer.png"/>
          <p:cNvPicPr/>
          <p:nvPr/>
        </p:nvPicPr>
        <p:blipFill>
          <a:blip r:embed="rId2"/>
          <a:stretch/>
        </p:blipFill>
        <p:spPr>
          <a:xfrm>
            <a:off x="679680" y="237600"/>
            <a:ext cx="1474560" cy="420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" name="Image 1" descr="chalmers.png"/>
          <p:cNvPicPr/>
          <p:nvPr/>
        </p:nvPicPr>
        <p:blipFill>
          <a:blip r:embed="rId3"/>
          <a:stretch/>
        </p:blipFill>
        <p:spPr>
          <a:xfrm>
            <a:off x="2843640" y="237600"/>
            <a:ext cx="1353600" cy="420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" name="Image 2" descr="goteborg.png"/>
          <p:cNvPicPr/>
          <p:nvPr/>
        </p:nvPicPr>
        <p:blipFill>
          <a:blip r:embed="rId4"/>
          <a:stretch/>
        </p:blipFill>
        <p:spPr>
          <a:xfrm>
            <a:off x="4881240" y="195840"/>
            <a:ext cx="1484280" cy="504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" name="Image 3" descr="napoli.png"/>
          <p:cNvPicPr/>
          <p:nvPr/>
        </p:nvPicPr>
        <p:blipFill>
          <a:blip r:embed="rId5"/>
          <a:stretch/>
        </p:blipFill>
        <p:spPr>
          <a:xfrm>
            <a:off x="7077960" y="237600"/>
            <a:ext cx="1297080" cy="42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" name="Text 2"/>
          <p:cNvSpPr/>
          <p:nvPr/>
        </p:nvSpPr>
        <p:spPr>
          <a:xfrm>
            <a:off x="365760" y="4736520"/>
            <a:ext cx="2057040" cy="30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FSE 2026  ·  Montréal  ·  5–9 July 2026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1"/>
          <p:cNvSpPr>
            <a:spLocks noGrp="1"/>
          </p:cNvSpPr>
          <p:nvPr>
            <p:ph type="ftr" idx="9"/>
          </p:nvPr>
        </p:nvSpPr>
        <p:spPr>
          <a:xfrm>
            <a:off x="2981520" y="4767120"/>
            <a:ext cx="3085920" cy="27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2" name="PlaceHolder 2"/>
          <p:cNvSpPr>
            <a:spLocks noGrp="1"/>
          </p:cNvSpPr>
          <p:nvPr>
            <p:ph type="title"/>
          </p:nvPr>
        </p:nvSpPr>
        <p:spPr>
          <a:xfrm>
            <a:off x="286560" y="848520"/>
            <a:ext cx="8694720" cy="54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260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260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Klicka här för att ändra mall för rubrikformat</a:t>
            </a:r>
            <a:endParaRPr lang="en-GB" sz="2600" b="1" u="none" strike="noStrike">
              <a:solidFill>
                <a:srgbClr val="1E3A5F"/>
              </a:solidFill>
              <a:effectLst/>
              <a:uFillTx/>
              <a:latin typeface="Cambria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286560" y="1483200"/>
            <a:ext cx="8694720" cy="3178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Klicka här för att ändra format på bakgrundstexten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Nivå två</a:t>
            </a:r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Nivå tre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Nivå fyra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Nivå fem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10"/>
          </p:nvPr>
        </p:nvSpPr>
        <p:spPr>
          <a:xfrm>
            <a:off x="6150240" y="4767120"/>
            <a:ext cx="2831040" cy="27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F7185FA-6C4F-42DF-8F00-6FD9EFEA26FC}" type="slidenum">
              <a:rPr lang="en-US" sz="9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‹N›</a:t>
            </a:fld>
            <a:endParaRPr lang="en-GB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Image 0" descr="fraunhofer.png"/>
          <p:cNvPicPr/>
          <p:nvPr/>
        </p:nvPicPr>
        <p:blipFill>
          <a:blip r:embed="rId2"/>
          <a:stretch/>
        </p:blipFill>
        <p:spPr>
          <a:xfrm>
            <a:off x="679680" y="237600"/>
            <a:ext cx="1474560" cy="420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6" name="Image 1" descr="chalmers.png"/>
          <p:cNvPicPr/>
          <p:nvPr/>
        </p:nvPicPr>
        <p:blipFill>
          <a:blip r:embed="rId3"/>
          <a:stretch/>
        </p:blipFill>
        <p:spPr>
          <a:xfrm>
            <a:off x="2843640" y="237600"/>
            <a:ext cx="1353600" cy="420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" name="Image 2" descr="goteborg.png"/>
          <p:cNvPicPr/>
          <p:nvPr/>
        </p:nvPicPr>
        <p:blipFill>
          <a:blip r:embed="rId4"/>
          <a:stretch/>
        </p:blipFill>
        <p:spPr>
          <a:xfrm>
            <a:off x="4881240" y="195840"/>
            <a:ext cx="1484280" cy="504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8" name="Image 3" descr="napoli.png"/>
          <p:cNvPicPr/>
          <p:nvPr/>
        </p:nvPicPr>
        <p:blipFill>
          <a:blip r:embed="rId5"/>
          <a:stretch/>
        </p:blipFill>
        <p:spPr>
          <a:xfrm>
            <a:off x="7077960" y="237600"/>
            <a:ext cx="1297080" cy="42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" name="Text 2"/>
          <p:cNvSpPr/>
          <p:nvPr/>
        </p:nvSpPr>
        <p:spPr>
          <a:xfrm>
            <a:off x="365760" y="4736520"/>
            <a:ext cx="2057040" cy="30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FSE 2026  ·  Montréal  ·  5–9 July 2026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1"/>
          <p:cNvSpPr>
            <a:spLocks noGrp="1"/>
          </p:cNvSpPr>
          <p:nvPr>
            <p:ph type="ftr" idx="11"/>
          </p:nvPr>
        </p:nvSpPr>
        <p:spPr>
          <a:xfrm>
            <a:off x="2981520" y="4767120"/>
            <a:ext cx="3085920" cy="27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1" name="PlaceHolder 2"/>
          <p:cNvSpPr>
            <a:spLocks noGrp="1"/>
          </p:cNvSpPr>
          <p:nvPr>
            <p:ph type="title"/>
          </p:nvPr>
        </p:nvSpPr>
        <p:spPr>
          <a:xfrm>
            <a:off x="286560" y="848520"/>
            <a:ext cx="8694720" cy="54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260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260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Klicka här för att ändra mall för rubrikformat</a:t>
            </a:r>
            <a:endParaRPr lang="en-GB" sz="2600" b="1" u="none" strike="noStrike">
              <a:solidFill>
                <a:srgbClr val="1E3A5F"/>
              </a:solidFill>
              <a:effectLst/>
              <a:uFillTx/>
              <a:latin typeface="Cambria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12"/>
          </p:nvPr>
        </p:nvSpPr>
        <p:spPr>
          <a:xfrm>
            <a:off x="6150240" y="4767120"/>
            <a:ext cx="2831040" cy="27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D287E83-66D5-4932-BF50-BD5FE0A79672}" type="slidenum">
              <a:rPr lang="en-US" sz="9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‹N›</a:t>
            </a:fld>
            <a:endParaRPr lang="en-GB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Image 0" descr="fraunhofer.png"/>
          <p:cNvPicPr/>
          <p:nvPr/>
        </p:nvPicPr>
        <p:blipFill>
          <a:blip r:embed="rId2"/>
          <a:stretch/>
        </p:blipFill>
        <p:spPr>
          <a:xfrm>
            <a:off x="679680" y="237600"/>
            <a:ext cx="1474560" cy="420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4" name="Image 1" descr="chalmers.png"/>
          <p:cNvPicPr/>
          <p:nvPr/>
        </p:nvPicPr>
        <p:blipFill>
          <a:blip r:embed="rId3"/>
          <a:stretch/>
        </p:blipFill>
        <p:spPr>
          <a:xfrm>
            <a:off x="2843640" y="237600"/>
            <a:ext cx="1353600" cy="420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5" name="Image 2" descr="goteborg.png"/>
          <p:cNvPicPr/>
          <p:nvPr/>
        </p:nvPicPr>
        <p:blipFill>
          <a:blip r:embed="rId4"/>
          <a:stretch/>
        </p:blipFill>
        <p:spPr>
          <a:xfrm>
            <a:off x="4881240" y="195840"/>
            <a:ext cx="1484280" cy="504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6" name="Image 3" descr="napoli.png"/>
          <p:cNvPicPr/>
          <p:nvPr/>
        </p:nvPicPr>
        <p:blipFill>
          <a:blip r:embed="rId5"/>
          <a:stretch/>
        </p:blipFill>
        <p:spPr>
          <a:xfrm>
            <a:off x="7077960" y="237600"/>
            <a:ext cx="1297080" cy="42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" name="Text 2"/>
          <p:cNvSpPr/>
          <p:nvPr/>
        </p:nvSpPr>
        <p:spPr>
          <a:xfrm>
            <a:off x="365760" y="4736520"/>
            <a:ext cx="2057040" cy="30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FSE 2026  ·  Montréal  ·  5–9 July 2026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1"/>
          <p:cNvSpPr>
            <a:spLocks noGrp="1"/>
          </p:cNvSpPr>
          <p:nvPr>
            <p:ph type="body"/>
          </p:nvPr>
        </p:nvSpPr>
        <p:spPr>
          <a:xfrm>
            <a:off x="286560" y="1524600"/>
            <a:ext cx="4285080" cy="3107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Klicka här för att ändra format på bakgrundstexten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Nivå två</a:t>
            </a:r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Nivå tre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Nivå fyra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Nivå fem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4648320" y="1524600"/>
            <a:ext cx="4332960" cy="3107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Klicka här för att ändra format på bakgrundstexten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Nivå två</a:t>
            </a:r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Nivå tre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Nivå fyra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Nivå fem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ftr" idx="13"/>
          </p:nvPr>
        </p:nvSpPr>
        <p:spPr>
          <a:xfrm>
            <a:off x="2981520" y="4767120"/>
            <a:ext cx="3085920" cy="27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61" name="PlaceHolder 4"/>
          <p:cNvSpPr>
            <a:spLocks noGrp="1"/>
          </p:cNvSpPr>
          <p:nvPr>
            <p:ph type="title"/>
          </p:nvPr>
        </p:nvSpPr>
        <p:spPr>
          <a:xfrm>
            <a:off x="286560" y="848520"/>
            <a:ext cx="8694720" cy="54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260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260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Klicka här för att ändra mall för rubrikformat</a:t>
            </a:r>
            <a:endParaRPr lang="en-GB" sz="2600" b="1" u="none" strike="noStrike">
              <a:solidFill>
                <a:srgbClr val="1E3A5F"/>
              </a:solidFill>
              <a:effectLst/>
              <a:uFillTx/>
              <a:latin typeface="Cambria"/>
            </a:endParaRPr>
          </a:p>
        </p:txBody>
      </p:sp>
      <p:sp>
        <p:nvSpPr>
          <p:cNvPr id="62" name="PlaceHolder 5"/>
          <p:cNvSpPr>
            <a:spLocks noGrp="1"/>
          </p:cNvSpPr>
          <p:nvPr>
            <p:ph type="sldNum" idx="14"/>
          </p:nvPr>
        </p:nvSpPr>
        <p:spPr>
          <a:xfrm>
            <a:off x="6150240" y="4767120"/>
            <a:ext cx="2831040" cy="27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D4AF37A-443C-4909-A2A8-9C1CA1555980}" type="slidenum">
              <a:rPr lang="en-US" sz="9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‹N›</a:t>
            </a:fld>
            <a:endParaRPr lang="en-GB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Image 0" descr="fraunhofer.png"/>
          <p:cNvPicPr/>
          <p:nvPr/>
        </p:nvPicPr>
        <p:blipFill>
          <a:blip r:embed="rId2"/>
          <a:stretch/>
        </p:blipFill>
        <p:spPr>
          <a:xfrm>
            <a:off x="679680" y="237600"/>
            <a:ext cx="1474560" cy="420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" name="Image 1" descr="chalmers.png"/>
          <p:cNvPicPr/>
          <p:nvPr/>
        </p:nvPicPr>
        <p:blipFill>
          <a:blip r:embed="rId3"/>
          <a:stretch/>
        </p:blipFill>
        <p:spPr>
          <a:xfrm>
            <a:off x="2843640" y="237600"/>
            <a:ext cx="1353600" cy="420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5" name="Image 2" descr="goteborg.png"/>
          <p:cNvPicPr/>
          <p:nvPr/>
        </p:nvPicPr>
        <p:blipFill>
          <a:blip r:embed="rId4"/>
          <a:stretch/>
        </p:blipFill>
        <p:spPr>
          <a:xfrm>
            <a:off x="4881240" y="195840"/>
            <a:ext cx="1484280" cy="504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" name="Image 3" descr="napoli.png"/>
          <p:cNvPicPr/>
          <p:nvPr/>
        </p:nvPicPr>
        <p:blipFill>
          <a:blip r:embed="rId5"/>
          <a:stretch/>
        </p:blipFill>
        <p:spPr>
          <a:xfrm>
            <a:off x="7077960" y="237600"/>
            <a:ext cx="1297080" cy="42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" name="Text 2"/>
          <p:cNvSpPr/>
          <p:nvPr/>
        </p:nvSpPr>
        <p:spPr>
          <a:xfrm>
            <a:off x="365760" y="4736520"/>
            <a:ext cx="2057040" cy="30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FSE 2026  ·  Montréal  ·  5–9 July 2026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1"/>
          <p:cNvSpPr>
            <a:spLocks noGrp="1"/>
          </p:cNvSpPr>
          <p:nvPr>
            <p:ph type="ftr" idx="15"/>
          </p:nvPr>
        </p:nvSpPr>
        <p:spPr>
          <a:xfrm>
            <a:off x="2981520" y="4767120"/>
            <a:ext cx="3085920" cy="27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69" name="PlaceHolder 2"/>
          <p:cNvSpPr>
            <a:spLocks noGrp="1"/>
          </p:cNvSpPr>
          <p:nvPr>
            <p:ph type="sldNum" idx="16"/>
          </p:nvPr>
        </p:nvSpPr>
        <p:spPr>
          <a:xfrm>
            <a:off x="6150240" y="4767120"/>
            <a:ext cx="2831040" cy="27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FDE1D25-7B4E-423D-BD5F-FC2B99FD39C5}" type="slidenum">
              <a:rPr lang="en-US" sz="90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‹N›</a:t>
            </a:fld>
            <a:endParaRPr lang="en-GB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Image 0" descr="fraunhofer.png"/>
          <p:cNvPicPr/>
          <p:nvPr/>
        </p:nvPicPr>
        <p:blipFill>
          <a:blip r:embed="rId2"/>
          <a:stretch/>
        </p:blipFill>
        <p:spPr>
          <a:xfrm>
            <a:off x="679680" y="237600"/>
            <a:ext cx="1474560" cy="420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1" name="Image 1" descr="chalmers.png"/>
          <p:cNvPicPr/>
          <p:nvPr/>
        </p:nvPicPr>
        <p:blipFill>
          <a:blip r:embed="rId3"/>
          <a:stretch/>
        </p:blipFill>
        <p:spPr>
          <a:xfrm>
            <a:off x="2843640" y="237600"/>
            <a:ext cx="1353600" cy="420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2" name="Image 2" descr="goteborg.png"/>
          <p:cNvPicPr/>
          <p:nvPr/>
        </p:nvPicPr>
        <p:blipFill>
          <a:blip r:embed="rId4"/>
          <a:stretch/>
        </p:blipFill>
        <p:spPr>
          <a:xfrm>
            <a:off x="4881240" y="195840"/>
            <a:ext cx="1484280" cy="504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3" name="Image 3" descr="napoli.png"/>
          <p:cNvPicPr/>
          <p:nvPr/>
        </p:nvPicPr>
        <p:blipFill>
          <a:blip r:embed="rId5"/>
          <a:stretch/>
        </p:blipFill>
        <p:spPr>
          <a:xfrm>
            <a:off x="7077960" y="237600"/>
            <a:ext cx="1297080" cy="42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" name="Text 2"/>
          <p:cNvSpPr/>
          <p:nvPr/>
        </p:nvSpPr>
        <p:spPr>
          <a:xfrm>
            <a:off x="365760" y="4736520"/>
            <a:ext cx="2057040" cy="30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FSE 2026  ·  Montréal  ·  5–9 July 2026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2600" b="1" u="none" strike="noStrike">
                <a:solidFill>
                  <a:srgbClr val="1E3A5F"/>
                </a:solidFill>
                <a:effectLst/>
                <a:uFillTx/>
                <a:latin typeface="Cambria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2600" b="1" u="none" strike="noStrike">
                <a:solidFill>
                  <a:srgbClr val="1E3A5F"/>
                </a:solidFill>
                <a:effectLst/>
                <a:uFillTx/>
                <a:latin typeface="Cambria"/>
              </a:rPr>
              <a:t>Click to edit the title text format</a:t>
            </a: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Image 0" descr="fraunhofer.png"/>
          <p:cNvPicPr/>
          <p:nvPr/>
        </p:nvPicPr>
        <p:blipFill>
          <a:blip r:embed="rId2"/>
          <a:stretch/>
        </p:blipFill>
        <p:spPr>
          <a:xfrm>
            <a:off x="679680" y="237600"/>
            <a:ext cx="1474560" cy="420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8" name="Image 1" descr="chalmers.png"/>
          <p:cNvPicPr/>
          <p:nvPr/>
        </p:nvPicPr>
        <p:blipFill>
          <a:blip r:embed="rId3"/>
          <a:stretch/>
        </p:blipFill>
        <p:spPr>
          <a:xfrm>
            <a:off x="2843640" y="237600"/>
            <a:ext cx="1353600" cy="420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9" name="Image 2" descr="goteborg.png"/>
          <p:cNvPicPr/>
          <p:nvPr/>
        </p:nvPicPr>
        <p:blipFill>
          <a:blip r:embed="rId4"/>
          <a:stretch/>
        </p:blipFill>
        <p:spPr>
          <a:xfrm>
            <a:off x="4881240" y="195840"/>
            <a:ext cx="1484280" cy="504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0" name="Image 3" descr="napoli.png"/>
          <p:cNvPicPr/>
          <p:nvPr/>
        </p:nvPicPr>
        <p:blipFill>
          <a:blip r:embed="rId5"/>
          <a:stretch/>
        </p:blipFill>
        <p:spPr>
          <a:xfrm>
            <a:off x="7077960" y="237600"/>
            <a:ext cx="1297080" cy="42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" name="Text 2"/>
          <p:cNvSpPr/>
          <p:nvPr/>
        </p:nvSpPr>
        <p:spPr>
          <a:xfrm>
            <a:off x="365760" y="4736520"/>
            <a:ext cx="2057040" cy="30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FSE 2026  ·  Montréal  ·  5–9 July 2026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2600" b="1" u="none" strike="noStrike">
                <a:solidFill>
                  <a:srgbClr val="1E3A5F"/>
                </a:solidFill>
                <a:effectLst/>
                <a:uFillTx/>
                <a:latin typeface="Cambria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2600" b="1" u="none" strike="noStrike">
                <a:solidFill>
                  <a:srgbClr val="1E3A5F"/>
                </a:solidFill>
                <a:effectLst/>
                <a:uFillTx/>
                <a:latin typeface="Cambria"/>
              </a:rPr>
              <a:t>Click to edit the title text format</a:t>
            </a:r>
          </a:p>
        </p:txBody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11A7AB35-EF5E-4103-86AD-5AD22FDECFFA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Image 0" descr="fraunhofer.png"/>
          <p:cNvPicPr/>
          <p:nvPr/>
        </p:nvPicPr>
        <p:blipFill>
          <a:blip r:embed="rId3"/>
          <a:stretch/>
        </p:blipFill>
        <p:spPr>
          <a:xfrm>
            <a:off x="679680" y="237600"/>
            <a:ext cx="1474560" cy="420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4" name="Image 1" descr="chalmers.png"/>
          <p:cNvPicPr/>
          <p:nvPr/>
        </p:nvPicPr>
        <p:blipFill>
          <a:blip r:embed="rId4"/>
          <a:stretch/>
        </p:blipFill>
        <p:spPr>
          <a:xfrm>
            <a:off x="2843640" y="237600"/>
            <a:ext cx="1353600" cy="420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5" name="Image 2" descr="goteborg.png"/>
          <p:cNvPicPr/>
          <p:nvPr/>
        </p:nvPicPr>
        <p:blipFill>
          <a:blip r:embed="rId5"/>
          <a:stretch/>
        </p:blipFill>
        <p:spPr>
          <a:xfrm>
            <a:off x="4881240" y="195840"/>
            <a:ext cx="1484280" cy="504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6" name="Image 3" descr="napoli.png"/>
          <p:cNvPicPr/>
          <p:nvPr/>
        </p:nvPicPr>
        <p:blipFill>
          <a:blip r:embed="rId6"/>
          <a:stretch/>
        </p:blipFill>
        <p:spPr>
          <a:xfrm>
            <a:off x="7077960" y="237600"/>
            <a:ext cx="1297080" cy="42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7" name="Text 2"/>
          <p:cNvSpPr/>
          <p:nvPr/>
        </p:nvSpPr>
        <p:spPr>
          <a:xfrm>
            <a:off x="365760" y="4736520"/>
            <a:ext cx="2057040" cy="30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FSE 2026  ·  Montréal  ·  5–9 July 2026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1"/>
          <p:cNvSpPr>
            <a:spLocks noGrp="1"/>
          </p:cNvSpPr>
          <p:nvPr>
            <p:ph type="ftr" idx="17"/>
          </p:nvPr>
        </p:nvSpPr>
        <p:spPr>
          <a:xfrm>
            <a:off x="2981520" y="4767120"/>
            <a:ext cx="3085920" cy="27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89" name="PlaceHolder 2"/>
          <p:cNvSpPr>
            <a:spLocks noGrp="1"/>
          </p:cNvSpPr>
          <p:nvPr>
            <p:ph type="title"/>
          </p:nvPr>
        </p:nvSpPr>
        <p:spPr>
          <a:xfrm>
            <a:off x="286560" y="820800"/>
            <a:ext cx="8694720" cy="54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sv-SE" sz="260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sv-SE" sz="260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Klicka här för att ändra mall för rubrikformat</a:t>
            </a:r>
            <a:endParaRPr lang="en-GB" sz="2600" b="1" u="none" strike="noStrike">
              <a:solidFill>
                <a:srgbClr val="1E3A5F"/>
              </a:solidFill>
              <a:effectLst/>
              <a:uFillTx/>
              <a:latin typeface="Cambria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body"/>
          </p:nvPr>
        </p:nvSpPr>
        <p:spPr>
          <a:xfrm>
            <a:off x="286560" y="1463040"/>
            <a:ext cx="8694720" cy="3198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sv-SE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sv-SE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sv-SE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sv-SE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sv-SE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sv-SE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Klicka här för att ändra format på bakgrundstexten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sv-SE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Nivå två</a:t>
            </a:r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sv-SE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Nivå tre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sv-SE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Nivå fyra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sv-SE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Nivå fem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 type="sldNum" idx="18"/>
          </p:nvPr>
        </p:nvSpPr>
        <p:spPr>
          <a:xfrm>
            <a:off x="6150240" y="4767120"/>
            <a:ext cx="2831040" cy="27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SE" sz="9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30570F5-86EC-48F1-A7E5-1847D66CDCC3}" type="slidenum">
              <a:rPr lang="en-SE" sz="9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‹N›</a:t>
            </a:fld>
            <a:endParaRPr lang="en-GB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github.com/martinheyn/CI4SE_Tutorial" TargetMode="Externa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Image 0" descr="fraunhofer.png"/>
          <p:cNvPicPr/>
          <p:nvPr/>
        </p:nvPicPr>
        <p:blipFill>
          <a:blip r:embed="rId2"/>
          <a:stretch/>
        </p:blipFill>
        <p:spPr>
          <a:xfrm>
            <a:off x="679680" y="237600"/>
            <a:ext cx="1474560" cy="420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9" name="Image 1" descr="chalmers.png"/>
          <p:cNvPicPr/>
          <p:nvPr/>
        </p:nvPicPr>
        <p:blipFill>
          <a:blip r:embed="rId3"/>
          <a:stretch/>
        </p:blipFill>
        <p:spPr>
          <a:xfrm>
            <a:off x="2843640" y="237600"/>
            <a:ext cx="1353600" cy="420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0" name="Image 2" descr="goteborg.png"/>
          <p:cNvPicPr/>
          <p:nvPr/>
        </p:nvPicPr>
        <p:blipFill>
          <a:blip r:embed="rId4"/>
          <a:stretch/>
        </p:blipFill>
        <p:spPr>
          <a:xfrm>
            <a:off x="4881240" y="195840"/>
            <a:ext cx="1484280" cy="504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1" name="Image 3" descr="napoli.png"/>
          <p:cNvPicPr/>
          <p:nvPr/>
        </p:nvPicPr>
        <p:blipFill>
          <a:blip r:embed="rId5"/>
          <a:stretch/>
        </p:blipFill>
        <p:spPr>
          <a:xfrm>
            <a:off x="7077960" y="237600"/>
            <a:ext cx="1297080" cy="42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" name="Text 0"/>
          <p:cNvSpPr/>
          <p:nvPr/>
        </p:nvSpPr>
        <p:spPr>
          <a:xfrm>
            <a:off x="914400" y="1691640"/>
            <a:ext cx="7314840" cy="137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352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Introduction to Causal Inference for Software Engineering</a:t>
            </a:r>
            <a:endParaRPr lang="en-GB" sz="3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1"/>
          <p:cNvSpPr/>
          <p:nvPr/>
        </p:nvSpPr>
        <p:spPr>
          <a:xfrm>
            <a:off x="914400" y="306324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i="1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A 90-minute hands-on tutorial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2"/>
          <p:cNvSpPr/>
          <p:nvPr/>
        </p:nvSpPr>
        <p:spPr>
          <a:xfrm>
            <a:off x="548640" y="3611880"/>
            <a:ext cx="80463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Julien Siebert  ·  Julian Frattini  ·  Hans-Martin Heyn  ·  Roberto Pietrantuono</a:t>
            </a:r>
            <a:endParaRPr lang="en-GB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4"/>
          <p:cNvSpPr/>
          <p:nvPr/>
        </p:nvSpPr>
        <p:spPr>
          <a:xfrm>
            <a:off x="3200400" y="473652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989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ftr" idx="22"/>
          </p:nvPr>
        </p:nvSpPr>
        <p:spPr>
          <a:xfrm>
            <a:off x="2981520" y="4767120"/>
            <a:ext cx="3085920" cy="27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Causal Models as RE activity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 type="title"/>
          </p:nvPr>
        </p:nvSpPr>
        <p:spPr>
          <a:xfrm>
            <a:off x="286560" y="820800"/>
            <a:ext cx="8694720" cy="54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l" defTabSz="914400">
              <a:lnSpc>
                <a:spcPct val="90000"/>
              </a:lnSpc>
              <a:buNone/>
            </a:pPr>
            <a:r>
              <a:rPr lang="en-US" sz="260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Welcome to a tutorial on causal inference in SE</a:t>
            </a:r>
            <a:endParaRPr lang="en-GB" sz="2600" b="1" u="none" strike="noStrike">
              <a:solidFill>
                <a:srgbClr val="1E3A5F"/>
              </a:solidFill>
              <a:effectLst/>
              <a:uFillTx/>
              <a:latin typeface="Cambria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/>
          </p:nvPr>
        </p:nvSpPr>
        <p:spPr>
          <a:xfrm>
            <a:off x="286560" y="1500120"/>
            <a:ext cx="6373440" cy="299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9999"/>
          </a:bodyPr>
          <a:lstStyle/>
          <a:p>
            <a:pPr marL="343080" indent="-343080" algn="l" defTabSz="914400">
              <a:lnSpc>
                <a:spcPct val="114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This tutorial is for researchers and practitioners who like to explore what causal inferences can offer for Software Engineering.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914400">
              <a:lnSpc>
                <a:spcPct val="114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We do not require prior knowledge in statistics or mathematics. We will work mostly with graphical methods for causal inference. 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914400">
              <a:lnSpc>
                <a:spcPct val="114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Lecture materials, exercises, and reading suggestions are available at: </a:t>
            </a:r>
            <a:r>
              <a:rPr lang="en-GB" sz="2000" b="0" u="none" strike="noStrike">
                <a:solidFill>
                  <a:srgbClr val="5983B0"/>
                </a:solidFill>
                <a:effectLst/>
                <a:uFillTx/>
                <a:latin typeface="Calibri"/>
                <a:ea typeface="Calibri"/>
                <a:hlinkClick r:id="rId2"/>
              </a:rPr>
              <a:t>https://github.com/martinheyn/CI4SE_Tutorial</a:t>
            </a: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9" name="PlaceHolder 4"/>
          <p:cNvSpPr>
            <a:spLocks noGrp="1"/>
          </p:cNvSpPr>
          <p:nvPr>
            <p:ph type="sldNum" idx="23"/>
          </p:nvPr>
        </p:nvSpPr>
        <p:spPr>
          <a:xfrm>
            <a:off x="6150240" y="4767120"/>
            <a:ext cx="2831040" cy="27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SE" sz="9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FD04E44-4153-427F-8CA6-BA942E8AB046}" type="slidenum">
              <a:rPr lang="en-SE" sz="9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2</a:t>
            </a:fld>
            <a:endParaRPr lang="en-GB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10" name="Immagine 109"/>
          <p:cNvPicPr/>
          <p:nvPr/>
        </p:nvPicPr>
        <p:blipFill>
          <a:blip r:embed="rId3"/>
          <a:stretch/>
        </p:blipFill>
        <p:spPr>
          <a:xfrm>
            <a:off x="6732000" y="1692000"/>
            <a:ext cx="2340000" cy="23400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500"/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Box 1"/>
          <p:cNvSpPr/>
          <p:nvPr/>
        </p:nvSpPr>
        <p:spPr>
          <a:xfrm>
            <a:off x="548640" y="868680"/>
            <a:ext cx="80463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1" u="none" strike="noStrike" spc="241">
                <a:solidFill>
                  <a:srgbClr val="0E7C86"/>
                </a:solidFill>
                <a:effectLst/>
                <a:uFillTx/>
                <a:latin typeface="Calibri"/>
                <a:ea typeface="Calibri"/>
              </a:rPr>
              <a:t>PART 1 · OVERVIEW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Box 2"/>
          <p:cNvSpPr/>
          <p:nvPr/>
        </p:nvSpPr>
        <p:spPr>
          <a:xfrm>
            <a:off x="548640" y="1124640"/>
            <a:ext cx="804636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4000"/>
              </a:lnSpc>
            </a:pPr>
            <a:r>
              <a:rPr lang="en-US" sz="242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Motivation and modeling, grounded in SE</a:t>
            </a:r>
            <a:endParaRPr lang="en-GB" sz="24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Oval 3"/>
          <p:cNvSpPr/>
          <p:nvPr/>
        </p:nvSpPr>
        <p:spPr>
          <a:xfrm>
            <a:off x="548640" y="1700640"/>
            <a:ext cx="310680" cy="310680"/>
          </a:xfrm>
          <a:prstGeom prst="ellipse">
            <a:avLst/>
          </a:prstGeom>
          <a:solidFill>
            <a:srgbClr val="0A5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8160" tIns="38160" rIns="38160" bIns="381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1</a:t>
            </a:r>
            <a:endParaRPr lang="en-GB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Box 4"/>
          <p:cNvSpPr/>
          <p:nvPr/>
        </p:nvSpPr>
        <p:spPr>
          <a:xfrm>
            <a:off x="1051560" y="1645920"/>
            <a:ext cx="74977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914400">
              <a:lnSpc>
                <a:spcPct val="108000"/>
              </a:lnSpc>
            </a:pPr>
            <a:r>
              <a:rPr lang="en-US" sz="1430" b="1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Motivation  </a:t>
            </a:r>
            <a:r>
              <a:rPr lang="en-US" sz="1320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— Why SE questions are causal, not just associational</a:t>
            </a:r>
            <a:endParaRPr lang="en-GB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Oval 5"/>
          <p:cNvSpPr/>
          <p:nvPr/>
        </p:nvSpPr>
        <p:spPr>
          <a:xfrm>
            <a:off x="548640" y="2414160"/>
            <a:ext cx="310680" cy="31068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8160" tIns="38160" rIns="38160" bIns="381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2</a:t>
            </a:r>
            <a:endParaRPr lang="en-GB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6"/>
          <p:cNvSpPr/>
          <p:nvPr/>
        </p:nvSpPr>
        <p:spPr>
          <a:xfrm>
            <a:off x="1051560" y="2359080"/>
            <a:ext cx="74977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914400">
              <a:lnSpc>
                <a:spcPct val="108000"/>
              </a:lnSpc>
            </a:pPr>
            <a:r>
              <a:rPr lang="en-US" sz="1430" b="1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Modeling  </a:t>
            </a:r>
            <a:r>
              <a:rPr lang="en-US" sz="1320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— Causal graphs, confounders, and Pearl's process</a:t>
            </a:r>
            <a:endParaRPr lang="en-GB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Oval 7"/>
          <p:cNvSpPr/>
          <p:nvPr/>
        </p:nvSpPr>
        <p:spPr>
          <a:xfrm>
            <a:off x="548640" y="3127320"/>
            <a:ext cx="310680" cy="310680"/>
          </a:xfrm>
          <a:prstGeom prst="ellipse">
            <a:avLst/>
          </a:prstGeom>
          <a:solidFill>
            <a:srgbClr val="D26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8160" tIns="38160" rIns="38160" bIns="381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3</a:t>
            </a:r>
            <a:endParaRPr lang="en-GB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Box 8"/>
          <p:cNvSpPr/>
          <p:nvPr/>
        </p:nvSpPr>
        <p:spPr>
          <a:xfrm>
            <a:off x="1051560" y="3072240"/>
            <a:ext cx="74977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914400">
              <a:lnSpc>
                <a:spcPct val="108000"/>
              </a:lnSpc>
            </a:pPr>
            <a:r>
              <a:rPr lang="en-US" sz="1430" b="1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Examples  </a:t>
            </a:r>
            <a:r>
              <a:rPr lang="en-US" sz="1320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— Worked recipes for testing and fault localization</a:t>
            </a:r>
            <a:endParaRPr lang="en-GB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Oval 9"/>
          <p:cNvSpPr/>
          <p:nvPr/>
        </p:nvSpPr>
        <p:spPr>
          <a:xfrm>
            <a:off x="548640" y="3840480"/>
            <a:ext cx="310680" cy="310680"/>
          </a:xfrm>
          <a:prstGeom prst="ellipse">
            <a:avLst/>
          </a:prstGeom>
          <a:solidFill>
            <a:srgbClr val="2C4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8160" tIns="38160" rIns="38160" bIns="381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4</a:t>
            </a:r>
            <a:endParaRPr lang="en-GB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Box 10"/>
          <p:cNvSpPr/>
          <p:nvPr/>
        </p:nvSpPr>
        <p:spPr>
          <a:xfrm>
            <a:off x="1051560" y="3955680"/>
            <a:ext cx="7497720" cy="22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914400">
              <a:lnSpc>
                <a:spcPct val="108000"/>
              </a:lnSpc>
            </a:pPr>
            <a:r>
              <a:rPr lang="en-US" sz="1430" b="1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The road ahead  </a:t>
            </a:r>
            <a:r>
              <a:rPr lang="en-US" sz="1320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— Where causal software engineering is heading</a:t>
            </a:r>
            <a:endParaRPr lang="en-GB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Box 11"/>
          <p:cNvSpPr/>
          <p:nvPr/>
        </p:nvSpPr>
        <p:spPr>
          <a:xfrm>
            <a:off x="8046720" y="473652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en-US" sz="989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extBox 1"/>
          <p:cNvSpPr/>
          <p:nvPr/>
        </p:nvSpPr>
        <p:spPr>
          <a:xfrm>
            <a:off x="548640" y="868680"/>
            <a:ext cx="80463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1" u="none" strike="noStrike" spc="241">
                <a:solidFill>
                  <a:srgbClr val="0E7C86"/>
                </a:solidFill>
                <a:effectLst/>
                <a:uFillTx/>
                <a:latin typeface="Calibri"/>
                <a:ea typeface="Calibri"/>
              </a:rPr>
              <a:t>MOTIVATION · HUMAN–MACHINE CO-ENGINEERING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Box 2"/>
          <p:cNvSpPr/>
          <p:nvPr/>
        </p:nvSpPr>
        <p:spPr>
          <a:xfrm>
            <a:off x="548640" y="1124640"/>
            <a:ext cx="804636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4000"/>
              </a:lnSpc>
            </a:pPr>
            <a:r>
              <a:rPr lang="en-US" sz="242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How machines have supported software engineers</a:t>
            </a:r>
            <a:endParaRPr lang="en-GB" sz="24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Rounded Rectangle 3"/>
          <p:cNvSpPr/>
          <p:nvPr/>
        </p:nvSpPr>
        <p:spPr>
          <a:xfrm>
            <a:off x="548640" y="1600200"/>
            <a:ext cx="1901520" cy="2102760"/>
          </a:xfrm>
          <a:prstGeom prst="roundRect">
            <a:avLst>
              <a:gd name="adj" fmla="val 6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25" name="Oval 4"/>
          <p:cNvSpPr/>
          <p:nvPr/>
        </p:nvSpPr>
        <p:spPr>
          <a:xfrm>
            <a:off x="694800" y="1746360"/>
            <a:ext cx="310680" cy="310680"/>
          </a:xfrm>
          <a:prstGeom prst="ellipse">
            <a:avLst/>
          </a:prstGeom>
          <a:solidFill>
            <a:srgbClr val="0A5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8160" tIns="38160" rIns="38160" bIns="381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1</a:t>
            </a:r>
            <a:endParaRPr lang="en-GB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Box 5"/>
          <p:cNvSpPr/>
          <p:nvPr/>
        </p:nvSpPr>
        <p:spPr>
          <a:xfrm>
            <a:off x="713160" y="2148840"/>
            <a:ext cx="1572480" cy="144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4000"/>
              </a:lnSpc>
            </a:pPr>
            <a:r>
              <a:rPr lang="en-US" sz="121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Scaffolding</a:t>
            </a:r>
            <a:endParaRPr lang="en-GB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spcBef>
                <a:spcPts val="601"/>
              </a:spcBef>
            </a:pPr>
            <a:r>
              <a:rPr lang="en-US" sz="105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Organizing &amp; structuring work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spcBef>
                <a:spcPts val="700"/>
              </a:spcBef>
            </a:pPr>
            <a:r>
              <a:rPr lang="en-US" sz="939" b="0" i="1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IDEs · version control · linting</a:t>
            </a:r>
            <a:endParaRPr lang="en-GB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Rounded Rectangle 6"/>
          <p:cNvSpPr/>
          <p:nvPr/>
        </p:nvSpPr>
        <p:spPr>
          <a:xfrm>
            <a:off x="2597040" y="1600200"/>
            <a:ext cx="1901520" cy="2102760"/>
          </a:xfrm>
          <a:prstGeom prst="roundRect">
            <a:avLst>
              <a:gd name="adj" fmla="val 6000"/>
            </a:avLst>
          </a:prstGeom>
          <a:solidFill>
            <a:srgbClr val="EA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28" name="Oval 7"/>
          <p:cNvSpPr/>
          <p:nvPr/>
        </p:nvSpPr>
        <p:spPr>
          <a:xfrm>
            <a:off x="2743200" y="1746360"/>
            <a:ext cx="310680" cy="31068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8160" tIns="38160" rIns="38160" bIns="381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2</a:t>
            </a:r>
            <a:endParaRPr lang="en-GB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Box 8"/>
          <p:cNvSpPr/>
          <p:nvPr/>
        </p:nvSpPr>
        <p:spPr>
          <a:xfrm>
            <a:off x="2761560" y="2148840"/>
            <a:ext cx="1572480" cy="144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4000"/>
              </a:lnSpc>
            </a:pPr>
            <a:r>
              <a:rPr lang="en-US" sz="121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Support automation</a:t>
            </a:r>
            <a:endParaRPr lang="en-GB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spcBef>
                <a:spcPts val="601"/>
              </a:spcBef>
            </a:pPr>
            <a:r>
              <a:rPr lang="en-US" sz="105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Formalized methods for tasks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spcBef>
                <a:spcPts val="700"/>
              </a:spcBef>
            </a:pPr>
            <a:r>
              <a:rPr lang="en-US" sz="939" b="0" i="1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Coverage testing · static analysis</a:t>
            </a:r>
            <a:endParaRPr lang="en-GB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Rounded Rectangle 9"/>
          <p:cNvSpPr/>
          <p:nvPr/>
        </p:nvSpPr>
        <p:spPr>
          <a:xfrm>
            <a:off x="4645080" y="1600200"/>
            <a:ext cx="1901520" cy="2102760"/>
          </a:xfrm>
          <a:prstGeom prst="roundRect">
            <a:avLst>
              <a:gd name="adj" fmla="val 6000"/>
            </a:avLst>
          </a:prstGeom>
          <a:solidFill>
            <a:srgbClr val="EA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31" name="Oval 10"/>
          <p:cNvSpPr/>
          <p:nvPr/>
        </p:nvSpPr>
        <p:spPr>
          <a:xfrm>
            <a:off x="4791600" y="1746360"/>
            <a:ext cx="310680" cy="310680"/>
          </a:xfrm>
          <a:prstGeom prst="ellipse">
            <a:avLst/>
          </a:prstGeom>
          <a:solidFill>
            <a:srgbClr val="4A9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8160" tIns="38160" rIns="38160" bIns="381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3</a:t>
            </a:r>
            <a:endParaRPr lang="en-GB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Box 11"/>
          <p:cNvSpPr/>
          <p:nvPr/>
        </p:nvSpPr>
        <p:spPr>
          <a:xfrm>
            <a:off x="4809600" y="2148840"/>
            <a:ext cx="1572480" cy="144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4000"/>
              </a:lnSpc>
            </a:pPr>
            <a:r>
              <a:rPr lang="en-US" sz="121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Support decision</a:t>
            </a:r>
            <a:endParaRPr lang="en-GB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spcBef>
                <a:spcPts val="601"/>
              </a:spcBef>
            </a:pPr>
            <a:r>
              <a:rPr lang="en-US" sz="105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Learn from data; predict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spcBef>
                <a:spcPts val="700"/>
              </a:spcBef>
            </a:pPr>
            <a:r>
              <a:rPr lang="en-US" sz="939" b="0" i="1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Estimation · fault prediction · RCA</a:t>
            </a:r>
            <a:endParaRPr lang="en-GB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Rounded Rectangle 12"/>
          <p:cNvSpPr/>
          <p:nvPr/>
        </p:nvSpPr>
        <p:spPr>
          <a:xfrm>
            <a:off x="6693480" y="1600200"/>
            <a:ext cx="1901520" cy="2102760"/>
          </a:xfrm>
          <a:prstGeom prst="roundRect">
            <a:avLst>
              <a:gd name="adj" fmla="val 6000"/>
            </a:avLst>
          </a:prstGeom>
          <a:solidFill>
            <a:srgbClr val="F8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34" name="Oval 13"/>
          <p:cNvSpPr/>
          <p:nvPr/>
        </p:nvSpPr>
        <p:spPr>
          <a:xfrm>
            <a:off x="6839640" y="1746360"/>
            <a:ext cx="310680" cy="310680"/>
          </a:xfrm>
          <a:prstGeom prst="ellipse">
            <a:avLst/>
          </a:prstGeom>
          <a:solidFill>
            <a:srgbClr val="D26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8160" tIns="38160" rIns="38160" bIns="381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4</a:t>
            </a:r>
            <a:endParaRPr lang="en-GB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Box 14"/>
          <p:cNvSpPr/>
          <p:nvPr/>
        </p:nvSpPr>
        <p:spPr>
          <a:xfrm>
            <a:off x="6858000" y="2148840"/>
            <a:ext cx="1572480" cy="144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4000"/>
              </a:lnSpc>
            </a:pPr>
            <a:r>
              <a:rPr lang="en-US" sz="121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Support reasoning</a:t>
            </a:r>
            <a:endParaRPr lang="en-GB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spcBef>
                <a:spcPts val="601"/>
              </a:spcBef>
            </a:pPr>
            <a:r>
              <a:rPr lang="en-US" sz="105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Explain, hypothesize, plan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spcBef>
                <a:spcPts val="700"/>
              </a:spcBef>
            </a:pPr>
            <a:r>
              <a:rPr lang="en-US" sz="939" b="0" i="1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What-if · counterfactuals · RCA</a:t>
            </a:r>
            <a:endParaRPr lang="en-GB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Box 16"/>
          <p:cNvSpPr/>
          <p:nvPr/>
        </p:nvSpPr>
        <p:spPr>
          <a:xfrm>
            <a:off x="8046720" y="473652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en-US" sz="989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Rounded Rectangle 9"/>
          <p:cNvSpPr/>
          <p:nvPr/>
        </p:nvSpPr>
        <p:spPr>
          <a:xfrm>
            <a:off x="4572000" y="1523880"/>
            <a:ext cx="4101840" cy="2260080"/>
          </a:xfrm>
          <a:prstGeom prst="roundRect">
            <a:avLst>
              <a:gd name="adj" fmla="val 6000"/>
            </a:avLst>
          </a:prstGeom>
          <a:noFill/>
          <a:ln w="22225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38" name="Freccia destra 17"/>
          <p:cNvSpPr/>
          <p:nvPr/>
        </p:nvSpPr>
        <p:spPr>
          <a:xfrm>
            <a:off x="6464160" y="2502000"/>
            <a:ext cx="304560" cy="3045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E7C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vertOverflow="clip" horzOverflow="clip"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 additive="repl">
                                        <p:cTn id="6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 additive="repl">
                                        <p:cTn id="11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Box 1"/>
          <p:cNvSpPr/>
          <p:nvPr/>
        </p:nvSpPr>
        <p:spPr>
          <a:xfrm>
            <a:off x="548640" y="868680"/>
            <a:ext cx="8046360" cy="160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1" u="none" strike="noStrike" spc="241">
                <a:solidFill>
                  <a:srgbClr val="0E7C86"/>
                </a:solidFill>
                <a:effectLst/>
                <a:uFillTx/>
                <a:latin typeface="Calibri"/>
                <a:ea typeface="Calibri"/>
              </a:rPr>
              <a:t>MOTIVATION · BEYOND CORRELATION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Box 2"/>
          <p:cNvSpPr/>
          <p:nvPr/>
        </p:nvSpPr>
        <p:spPr>
          <a:xfrm>
            <a:off x="548640" y="1124640"/>
            <a:ext cx="8046360" cy="36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4000"/>
              </a:lnSpc>
            </a:pPr>
            <a:r>
              <a:rPr lang="en-US" sz="242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Example 1: Same improvement — but what caused it?</a:t>
            </a:r>
            <a:endParaRPr lang="en-GB" sz="24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Rounded Rectangle 9"/>
          <p:cNvSpPr/>
          <p:nvPr/>
        </p:nvSpPr>
        <p:spPr>
          <a:xfrm>
            <a:off x="546120" y="1968480"/>
            <a:ext cx="3809520" cy="2731680"/>
          </a:xfrm>
          <a:prstGeom prst="roundRect">
            <a:avLst>
              <a:gd name="adj" fmla="val 6000"/>
            </a:avLst>
          </a:prstGeom>
          <a:solidFill>
            <a:srgbClr val="EA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42" name="Oval 10"/>
          <p:cNvSpPr/>
          <p:nvPr/>
        </p:nvSpPr>
        <p:spPr>
          <a:xfrm>
            <a:off x="698400" y="2120760"/>
            <a:ext cx="304560" cy="304560"/>
          </a:xfrm>
          <a:prstGeom prst="ellipse">
            <a:avLst/>
          </a:prstGeom>
          <a:solidFill>
            <a:srgbClr val="4A9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8160" tIns="38160" rIns="38160" bIns="381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3</a:t>
            </a:r>
            <a:endParaRPr lang="en-GB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Box 11"/>
          <p:cNvSpPr/>
          <p:nvPr/>
        </p:nvSpPr>
        <p:spPr>
          <a:xfrm>
            <a:off x="698400" y="2540160"/>
            <a:ext cx="3504960" cy="808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4000"/>
              </a:lnSpc>
            </a:pPr>
            <a:r>
              <a:rPr lang="en-US" sz="121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Correlation view</a:t>
            </a:r>
            <a:endParaRPr lang="en-GB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8000"/>
              </a:lnSpc>
              <a:spcBef>
                <a:spcPts val="499"/>
              </a:spcBef>
            </a:pPr>
            <a:r>
              <a:rPr lang="en-US" sz="105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AIOps attributes the drop to the deploy: “the change fixed latency.”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8000"/>
              </a:lnSpc>
              <a:spcBef>
                <a:spcPts val="300"/>
              </a:spcBef>
            </a:pPr>
            <a:r>
              <a:rPr lang="en-US" sz="105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Plan: replicate the pattern on other services.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Rounded Rectangle 12"/>
          <p:cNvSpPr/>
          <p:nvPr/>
        </p:nvSpPr>
        <p:spPr>
          <a:xfrm>
            <a:off x="4788000" y="1968480"/>
            <a:ext cx="3809520" cy="2731680"/>
          </a:xfrm>
          <a:prstGeom prst="roundRect">
            <a:avLst>
              <a:gd name="adj" fmla="val 6000"/>
            </a:avLst>
          </a:prstGeom>
          <a:solidFill>
            <a:srgbClr val="F8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45" name="Oval 13"/>
          <p:cNvSpPr/>
          <p:nvPr/>
        </p:nvSpPr>
        <p:spPr>
          <a:xfrm>
            <a:off x="4940280" y="2120760"/>
            <a:ext cx="304560" cy="304560"/>
          </a:xfrm>
          <a:prstGeom prst="ellipse">
            <a:avLst/>
          </a:prstGeom>
          <a:solidFill>
            <a:srgbClr val="D26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8160" tIns="38160" rIns="38160" bIns="381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4</a:t>
            </a:r>
            <a:endParaRPr lang="en-GB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Box 14"/>
          <p:cNvSpPr/>
          <p:nvPr/>
        </p:nvSpPr>
        <p:spPr>
          <a:xfrm>
            <a:off x="4940280" y="2540160"/>
            <a:ext cx="3504960" cy="112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4000"/>
              </a:lnSpc>
            </a:pPr>
            <a:r>
              <a:rPr lang="en-US" sz="121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Causal view (CSE)</a:t>
            </a:r>
            <a:endParaRPr lang="en-GB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spcBef>
                <a:spcPts val="400"/>
              </a:spcBef>
            </a:pPr>
            <a:r>
              <a:rPr lang="en-US" sz="100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Estimate the effect of do(X) net of confounders Z, with uncertainty — then act on it: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spcBef>
                <a:spcPts val="400"/>
              </a:spcBef>
            </a:pPr>
            <a:r>
              <a:rPr lang="en-US" sz="950" b="1" u="none" strike="noStrike">
                <a:solidFill>
                  <a:srgbClr val="0E7C86"/>
                </a:solidFill>
                <a:effectLst/>
                <a:uFillTx/>
                <a:latin typeface="Calibri"/>
                <a:ea typeface="Calibri"/>
              </a:rPr>
              <a:t>→ </a:t>
            </a:r>
            <a:r>
              <a:rPr lang="en-US" sz="95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Strong, robust effect: proceed / widen the canary</a:t>
            </a:r>
            <a:endParaRPr lang="en-GB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spcBef>
                <a:spcPts val="201"/>
              </a:spcBef>
            </a:pPr>
            <a:r>
              <a:rPr lang="en-US" sz="950" b="1" u="none" strike="noStrike">
                <a:solidFill>
                  <a:srgbClr val="0E7C86"/>
                </a:solidFill>
                <a:effectLst/>
                <a:uFillTx/>
                <a:latin typeface="Calibri"/>
                <a:ea typeface="Calibri"/>
              </a:rPr>
              <a:t>→ </a:t>
            </a:r>
            <a:r>
              <a:rPr lang="en-US" sz="95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Real but modest: proceed, but stop tuning</a:t>
            </a:r>
            <a:endParaRPr lang="en-GB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spcBef>
                <a:spcPts val="201"/>
              </a:spcBef>
            </a:pPr>
            <a:r>
              <a:rPr lang="en-US" sz="950" b="1" u="none" strike="noStrike">
                <a:solidFill>
                  <a:srgbClr val="0E7C86"/>
                </a:solidFill>
                <a:effectLst/>
                <a:uFillTx/>
                <a:latin typeface="Calibri"/>
                <a:ea typeface="Calibri"/>
              </a:rPr>
              <a:t>→ </a:t>
            </a:r>
            <a:r>
              <a:rPr lang="en-US" sz="95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Tied to one factor: target the likely cause, apply that fix elsewhere</a:t>
            </a:r>
            <a:endParaRPr lang="en-GB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Box 16"/>
          <p:cNvSpPr/>
          <p:nvPr/>
        </p:nvSpPr>
        <p:spPr>
          <a:xfrm>
            <a:off x="8046720" y="4736520"/>
            <a:ext cx="822600" cy="15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en-US" sz="989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Freccia destra 15"/>
          <p:cNvSpPr/>
          <p:nvPr/>
        </p:nvSpPr>
        <p:spPr>
          <a:xfrm>
            <a:off x="4406760" y="3086280"/>
            <a:ext cx="329760" cy="3045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E7C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vertOverflow="clip" horzOverflow="clip"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49" name="SetupLine"/>
          <p:cNvSpPr/>
          <p:nvPr/>
        </p:nvSpPr>
        <p:spPr>
          <a:xfrm>
            <a:off x="546120" y="1574640"/>
            <a:ext cx="8051400" cy="32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200" b="1" u="none" strike="noStrike">
                <a:solidFill>
                  <a:srgbClr val="0E7C86"/>
                </a:solidFill>
                <a:effectLst/>
                <a:uFillTx/>
                <a:latin typeface="Calibri"/>
                <a:ea typeface="Calibri"/>
              </a:rPr>
              <a:t>Scenario   </a:t>
            </a:r>
            <a:r>
              <a:rPr lang="en-US" sz="120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A microservice team ships a new client-side retry policy to cut tail latency. Within an hour, latency drops.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0" name="Graphic 19" descr="Warning — correlation can mislead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698400" y="3452760"/>
            <a:ext cx="253800" cy="25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1" name="CasellaDiTesto 4"/>
          <p:cNvSpPr/>
          <p:nvPr/>
        </p:nvSpPr>
        <p:spPr>
          <a:xfrm>
            <a:off x="952560" y="3375360"/>
            <a:ext cx="3137040" cy="128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8000"/>
              </a:lnSpc>
              <a:spcBef>
                <a:spcPts val="601"/>
              </a:spcBef>
            </a:pPr>
            <a:r>
              <a:rPr lang="en-US" sz="1050" b="0" u="none" strike="noStrike">
                <a:solidFill>
                  <a:srgbClr val="1E3A5F"/>
                </a:solidFill>
                <a:effectLst/>
                <a:uFillTx/>
                <a:latin typeface="Calibri"/>
              </a:rPr>
              <a:t>But autoscaling increased replicas in a downstream dependency and a traffic shift moved requests away from a “hot” region: both can reduce queueing delays. So is the improvement due to the new retry policy, to autoscaling, traffic shift or their interaction? </a:t>
            </a:r>
            <a:br>
              <a:rPr sz="1050"/>
            </a:br>
            <a:r>
              <a:rPr lang="en-US" sz="1000" b="1" i="1" u="none" strike="noStrike">
                <a:solidFill>
                  <a:schemeClr val="accent2"/>
                </a:solidFill>
                <a:effectLst/>
                <a:uFillTx/>
                <a:latin typeface="Calibri"/>
                <a:ea typeface="Calibri"/>
              </a:rPr>
              <a:t>When repeating under different conditions, latency regresses → incident.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TextBox 1"/>
          <p:cNvSpPr/>
          <p:nvPr/>
        </p:nvSpPr>
        <p:spPr>
          <a:xfrm>
            <a:off x="548640" y="868680"/>
            <a:ext cx="8046360" cy="160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1" u="none" strike="noStrike" spc="241">
                <a:solidFill>
                  <a:srgbClr val="0E7C86"/>
                </a:solidFill>
                <a:effectLst/>
                <a:uFillTx/>
                <a:latin typeface="Calibri"/>
                <a:ea typeface="Calibri"/>
              </a:rPr>
              <a:t>MOTIVATION · BEYOND CORRELATION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Box 2"/>
          <p:cNvSpPr/>
          <p:nvPr/>
        </p:nvSpPr>
        <p:spPr>
          <a:xfrm>
            <a:off x="548640" y="1124640"/>
            <a:ext cx="8046360" cy="36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4000"/>
              </a:lnSpc>
            </a:pPr>
            <a:r>
              <a:rPr lang="en-US" sz="242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Example 2: Blaming the wrong cause</a:t>
            </a:r>
            <a:endParaRPr lang="en-GB" sz="24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Box 3"/>
          <p:cNvSpPr/>
          <p:nvPr/>
        </p:nvSpPr>
        <p:spPr>
          <a:xfrm>
            <a:off x="548640" y="1679040"/>
            <a:ext cx="3657240" cy="12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20000"/>
              </a:lnSpc>
            </a:pPr>
            <a:r>
              <a:rPr lang="en-US" sz="121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A shuttle </a:t>
            </a:r>
            <a:r>
              <a:rPr lang="en-US" sz="1210" b="1" u="none" strike="noStrike">
                <a:solidFill>
                  <a:srgbClr val="D26E3A"/>
                </a:solidFill>
                <a:effectLst/>
                <a:uFillTx/>
                <a:latin typeface="Calibri"/>
                <a:ea typeface="Calibri"/>
              </a:rPr>
              <a:t>brakes too late</a:t>
            </a:r>
            <a:r>
              <a:rPr lang="en-US" sz="121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. A correlation-based tool finds late braking (Y) co-occurs with high-res camera mode (X) — and blames the camera.</a:t>
            </a:r>
            <a:endParaRPr lang="en-GB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spcBef>
                <a:spcPts val="799"/>
              </a:spcBef>
            </a:pPr>
            <a:r>
              <a:rPr lang="en-US" sz="1210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But a confounder drives both: </a:t>
            </a:r>
            <a:r>
              <a:rPr lang="en-US" sz="1210" b="1" u="none" strike="noStrike">
                <a:solidFill>
                  <a:srgbClr val="0E7C86"/>
                </a:solidFill>
                <a:effectLst/>
                <a:uFillTx/>
                <a:latin typeface="Calibri"/>
                <a:ea typeface="Calibri"/>
              </a:rPr>
              <a:t>higher speed (Z)</a:t>
            </a:r>
            <a:r>
              <a:rPr lang="en-US" sz="1210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 triggers the camera switch and shrinks the braking margin.</a:t>
            </a:r>
            <a:endParaRPr lang="en-GB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Rounded Rectangle 4"/>
          <p:cNvSpPr/>
          <p:nvPr/>
        </p:nvSpPr>
        <p:spPr>
          <a:xfrm>
            <a:off x="548640" y="3324960"/>
            <a:ext cx="3657240" cy="77688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8160" tIns="38160" rIns="38160" bIns="38160" anchor="ctr">
            <a:noAutofit/>
          </a:bodyPr>
          <a:lstStyle/>
          <a:p>
            <a:pPr defTabSz="914400">
              <a:lnSpc>
                <a:spcPct val="118000"/>
              </a:lnSpc>
            </a:pPr>
            <a:r>
              <a:rPr lang="en-US" sz="1050" b="1" u="none" strike="noStrike">
                <a:solidFill>
                  <a:srgbClr val="4A9E99"/>
                </a:solidFill>
                <a:effectLst/>
                <a:uFillTx/>
                <a:latin typeface="Calibri"/>
                <a:ea typeface="Calibri"/>
              </a:rPr>
              <a:t>A causal model answers what-if questions:</a:t>
            </a:r>
            <a:endParaRPr lang="en-GB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</a:pPr>
            <a:r>
              <a:rPr lang="en-US" sz="1050" b="0" i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“What if we adjust the speed threshold?”</a:t>
            </a:r>
            <a:endParaRPr lang="en-GB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Rounded Rectangle 5"/>
          <p:cNvSpPr/>
          <p:nvPr/>
        </p:nvSpPr>
        <p:spPr>
          <a:xfrm>
            <a:off x="4526280" y="1679040"/>
            <a:ext cx="4068720" cy="2514240"/>
          </a:xfrm>
          <a:prstGeom prst="roundRect">
            <a:avLst>
              <a:gd name="adj" fmla="val 5000"/>
            </a:avLst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cxnSp>
        <p:nvCxnSpPr>
          <p:cNvPr id="157" name="Connector 6"/>
          <p:cNvCxnSpPr/>
          <p:nvPr/>
        </p:nvCxnSpPr>
        <p:spPr>
          <a:xfrm flipH="1">
            <a:off x="5594040" y="2684880"/>
            <a:ext cx="895680" cy="366120"/>
          </a:xfrm>
          <a:prstGeom prst="straightConnector1">
            <a:avLst/>
          </a:prstGeom>
          <a:ln w="20320">
            <a:solidFill>
              <a:srgbClr val="D26E3A"/>
            </a:solidFill>
            <a:tailEnd type="triangle" w="med" len="med"/>
          </a:ln>
        </p:spPr>
      </p:cxnSp>
      <p:cxnSp>
        <p:nvCxnSpPr>
          <p:cNvPr id="158" name="Connector 7"/>
          <p:cNvCxnSpPr/>
          <p:nvPr/>
        </p:nvCxnSpPr>
        <p:spPr>
          <a:xfrm>
            <a:off x="6631920" y="2684880"/>
            <a:ext cx="877320" cy="366120"/>
          </a:xfrm>
          <a:prstGeom prst="straightConnector1">
            <a:avLst/>
          </a:prstGeom>
          <a:ln w="20320">
            <a:solidFill>
              <a:srgbClr val="D26E3A"/>
            </a:solidFill>
            <a:tailEnd type="triangle" w="med" len="med"/>
          </a:ln>
        </p:spPr>
      </p:cxnSp>
      <p:cxnSp>
        <p:nvCxnSpPr>
          <p:cNvPr id="159" name="Connector 8"/>
          <p:cNvCxnSpPr/>
          <p:nvPr/>
        </p:nvCxnSpPr>
        <p:spPr>
          <a:xfrm>
            <a:off x="5879520" y="3407040"/>
            <a:ext cx="1344600" cy="360"/>
          </a:xfrm>
          <a:prstGeom prst="straightConnector1">
            <a:avLst/>
          </a:prstGeom>
          <a:ln w="20320">
            <a:solidFill>
              <a:srgbClr val="7A8794"/>
            </a:solidFill>
            <a:tailEnd type="triangle" w="med" len="med"/>
          </a:ln>
        </p:spPr>
      </p:cxnSp>
      <p:sp>
        <p:nvSpPr>
          <p:cNvPr id="160" name="Oval 9"/>
          <p:cNvSpPr/>
          <p:nvPr/>
        </p:nvSpPr>
        <p:spPr>
          <a:xfrm>
            <a:off x="6204240" y="1971720"/>
            <a:ext cx="712800" cy="7128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8160" tIns="38160" rIns="38160" bIns="381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76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Z</a:t>
            </a:r>
            <a:endParaRPr lang="en-GB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Box 10"/>
          <p:cNvSpPr/>
          <p:nvPr/>
        </p:nvSpPr>
        <p:spPr>
          <a:xfrm>
            <a:off x="5929920" y="2694240"/>
            <a:ext cx="12614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880" b="1" i="1" u="none" strike="noStrike">
                <a:solidFill>
                  <a:srgbClr val="0E7C86"/>
                </a:solidFill>
                <a:effectLst/>
                <a:uFillTx/>
                <a:latin typeface="Calibri"/>
                <a:ea typeface="Calibri"/>
              </a:rPr>
              <a:t>speed</a:t>
            </a:r>
            <a:endParaRPr lang="en-GB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Oval 11"/>
          <p:cNvSpPr/>
          <p:nvPr/>
        </p:nvSpPr>
        <p:spPr>
          <a:xfrm>
            <a:off x="5166360" y="3050640"/>
            <a:ext cx="712800" cy="712800"/>
          </a:xfrm>
          <a:prstGeom prst="ellipse">
            <a:avLst/>
          </a:prstGeom>
          <a:solidFill>
            <a:srgbClr val="5966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8160" tIns="38160" rIns="38160" bIns="381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76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X</a:t>
            </a:r>
            <a:endParaRPr lang="en-GB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Box 12"/>
          <p:cNvSpPr/>
          <p:nvPr/>
        </p:nvSpPr>
        <p:spPr>
          <a:xfrm>
            <a:off x="4892040" y="3773160"/>
            <a:ext cx="12614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880" b="1" i="1" u="none" strike="noStrike">
                <a:solidFill>
                  <a:srgbClr val="596672"/>
                </a:solidFill>
                <a:effectLst/>
                <a:uFillTx/>
                <a:latin typeface="Calibri"/>
                <a:ea typeface="Calibri"/>
              </a:rPr>
              <a:t>camera</a:t>
            </a:r>
            <a:endParaRPr lang="en-GB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Oval 13"/>
          <p:cNvSpPr/>
          <p:nvPr/>
        </p:nvSpPr>
        <p:spPr>
          <a:xfrm>
            <a:off x="7223760" y="3050640"/>
            <a:ext cx="712800" cy="712800"/>
          </a:xfrm>
          <a:prstGeom prst="ellipse">
            <a:avLst/>
          </a:prstGeom>
          <a:solidFill>
            <a:srgbClr val="D26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8160" tIns="38160" rIns="38160" bIns="381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76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Y</a:t>
            </a:r>
            <a:endParaRPr lang="en-GB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Box 14"/>
          <p:cNvSpPr/>
          <p:nvPr/>
        </p:nvSpPr>
        <p:spPr>
          <a:xfrm>
            <a:off x="6949440" y="3773160"/>
            <a:ext cx="12614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880" b="1" i="1" u="none" strike="noStrike">
                <a:solidFill>
                  <a:srgbClr val="D26E3A"/>
                </a:solidFill>
                <a:effectLst/>
                <a:uFillTx/>
                <a:latin typeface="Calibri"/>
                <a:ea typeface="Calibri"/>
              </a:rPr>
              <a:t>late brake</a:t>
            </a:r>
            <a:endParaRPr lang="en-GB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Box 15"/>
          <p:cNvSpPr/>
          <p:nvPr/>
        </p:nvSpPr>
        <p:spPr>
          <a:xfrm>
            <a:off x="4800600" y="3947040"/>
            <a:ext cx="352008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880" b="0" i="1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Adjust for Z to remove the spurious X–Y link.</a:t>
            </a:r>
            <a:endParaRPr lang="en-GB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Box 16"/>
          <p:cNvSpPr/>
          <p:nvPr/>
        </p:nvSpPr>
        <p:spPr>
          <a:xfrm>
            <a:off x="8046720" y="473652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en-US" sz="989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extBox 1"/>
          <p:cNvSpPr/>
          <p:nvPr/>
        </p:nvSpPr>
        <p:spPr>
          <a:xfrm>
            <a:off x="548640" y="868680"/>
            <a:ext cx="80463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1" u="none" strike="noStrike" spc="241">
                <a:solidFill>
                  <a:srgbClr val="0E7C86"/>
                </a:solidFill>
                <a:effectLst/>
                <a:uFillTx/>
                <a:latin typeface="Calibri"/>
                <a:ea typeface="Calibri"/>
              </a:rPr>
              <a:t>MOTIVATION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Box 2"/>
          <p:cNvSpPr/>
          <p:nvPr/>
        </p:nvSpPr>
        <p:spPr>
          <a:xfrm>
            <a:off x="548640" y="1124640"/>
            <a:ext cx="804636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4000"/>
              </a:lnSpc>
            </a:pPr>
            <a:r>
              <a:rPr lang="en-US" sz="242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Software engineering is increasingly data-driven</a:t>
            </a:r>
            <a:endParaRPr lang="en-GB" sz="24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Box 3"/>
          <p:cNvSpPr/>
          <p:nvPr/>
        </p:nvSpPr>
        <p:spPr>
          <a:xfrm>
            <a:off x="548640" y="1600200"/>
            <a:ext cx="8046360" cy="127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24000"/>
              </a:lnSpc>
            </a:pPr>
            <a:r>
              <a:rPr lang="en-US" sz="132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Machine learning and LLMs now support nearly every SE activity — </a:t>
            </a:r>
            <a:r>
              <a:rPr lang="en-US" sz="1320" b="1" u="none" strike="noStrike">
                <a:solidFill>
                  <a:srgbClr val="0E7C86"/>
                </a:solidFill>
                <a:effectLst/>
                <a:uFillTx/>
                <a:latin typeface="Calibri"/>
                <a:ea typeface="Calibri"/>
              </a:rPr>
              <a:t>prediction, generation, recommendation</a:t>
            </a:r>
            <a:r>
              <a:rPr lang="en-US" sz="132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 across the lifecycle. This data-driven paradigm scales one human ability: </a:t>
            </a:r>
            <a:r>
              <a:rPr lang="en-US" sz="1320" b="1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pattern recognition</a:t>
            </a:r>
            <a:r>
              <a:rPr lang="en-US" sz="132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en-GB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Rounded Rectangle 4"/>
          <p:cNvSpPr/>
          <p:nvPr/>
        </p:nvSpPr>
        <p:spPr>
          <a:xfrm>
            <a:off x="548640" y="2743200"/>
            <a:ext cx="3885840" cy="1188360"/>
          </a:xfrm>
          <a:prstGeom prst="roundRect">
            <a:avLst>
              <a:gd name="adj" fmla="val 6000"/>
            </a:avLst>
          </a:prstGeom>
          <a:solidFill>
            <a:srgbClr val="EA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72" name="TextBox 5"/>
          <p:cNvSpPr/>
          <p:nvPr/>
        </p:nvSpPr>
        <p:spPr>
          <a:xfrm>
            <a:off x="777240" y="2926080"/>
            <a:ext cx="34286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32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What it does well</a:t>
            </a:r>
            <a:endParaRPr lang="en-GB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6000"/>
              </a:lnSpc>
              <a:spcBef>
                <a:spcPts val="601"/>
              </a:spcBef>
            </a:pPr>
            <a:r>
              <a:rPr lang="en-US" sz="115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Learns associations from large datasets; automates and amplifies inductive reasoning.</a:t>
            </a:r>
            <a:endParaRPr lang="en-GB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Rounded Rectangle 6"/>
          <p:cNvSpPr/>
          <p:nvPr/>
        </p:nvSpPr>
        <p:spPr>
          <a:xfrm>
            <a:off x="4709160" y="2743200"/>
            <a:ext cx="3885840" cy="1188360"/>
          </a:xfrm>
          <a:prstGeom prst="roundRect">
            <a:avLst>
              <a:gd name="adj" fmla="val 6000"/>
            </a:avLst>
          </a:prstGeom>
          <a:solidFill>
            <a:srgbClr val="F8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74" name="TextBox 7"/>
          <p:cNvSpPr/>
          <p:nvPr/>
        </p:nvSpPr>
        <p:spPr>
          <a:xfrm>
            <a:off x="4937760" y="2926080"/>
            <a:ext cx="34286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32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Where it stops</a:t>
            </a:r>
            <a:endParaRPr lang="en-GB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6000"/>
              </a:lnSpc>
              <a:spcBef>
                <a:spcPts val="601"/>
              </a:spcBef>
            </a:pPr>
            <a:r>
              <a:rPr lang="en-US" sz="115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Stays at rung 1 — association. It predicts from what it has seen, not what would happen if we act.</a:t>
            </a:r>
            <a:endParaRPr lang="en-GB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Box 8"/>
          <p:cNvSpPr/>
          <p:nvPr/>
        </p:nvSpPr>
        <p:spPr>
          <a:xfrm>
            <a:off x="8046720" y="473652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en-US" sz="989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TextBox 1"/>
          <p:cNvSpPr/>
          <p:nvPr/>
        </p:nvSpPr>
        <p:spPr>
          <a:xfrm>
            <a:off x="548640" y="868680"/>
            <a:ext cx="80463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1" u="none" strike="noStrike" spc="241">
                <a:solidFill>
                  <a:srgbClr val="0E7C86"/>
                </a:solidFill>
                <a:effectLst/>
                <a:uFillTx/>
                <a:latin typeface="Calibri"/>
                <a:ea typeface="Calibri"/>
              </a:rPr>
              <a:t>MOTIVATION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Box 2"/>
          <p:cNvSpPr/>
          <p:nvPr/>
        </p:nvSpPr>
        <p:spPr>
          <a:xfrm>
            <a:off x="548640" y="1124640"/>
            <a:ext cx="804636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4000"/>
              </a:lnSpc>
            </a:pPr>
            <a:r>
              <a:rPr lang="en-US" sz="242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The questions SE asks are causal, not associational</a:t>
            </a:r>
            <a:endParaRPr lang="en-GB" sz="24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Rounded Rectangle 3"/>
          <p:cNvSpPr/>
          <p:nvPr/>
        </p:nvSpPr>
        <p:spPr>
          <a:xfrm>
            <a:off x="548640" y="1600200"/>
            <a:ext cx="3885840" cy="2194200"/>
          </a:xfrm>
          <a:prstGeom prst="roundRect">
            <a:avLst>
              <a:gd name="adj" fmla="val 6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79" name="TextBox 4"/>
          <p:cNvSpPr/>
          <p:nvPr/>
        </p:nvSpPr>
        <p:spPr>
          <a:xfrm>
            <a:off x="822960" y="1856160"/>
            <a:ext cx="3337200" cy="173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54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Observing</a:t>
            </a:r>
            <a:endParaRPr lang="en-GB" sz="15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001"/>
              </a:spcBef>
            </a:pPr>
            <a:r>
              <a:rPr lang="en-US" sz="1650" b="1" u="none" strike="noStrike">
                <a:solidFill>
                  <a:srgbClr val="0E7C86"/>
                </a:solidFill>
                <a:effectLst/>
                <a:uFillTx/>
                <a:latin typeface="Consolas"/>
                <a:ea typeface="Consolas"/>
              </a:rPr>
              <a:t>P(Y | X = x)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6000"/>
              </a:lnSpc>
              <a:spcBef>
                <a:spcPts val="1001"/>
              </a:spcBef>
            </a:pPr>
            <a:r>
              <a:rPr lang="en-US" sz="1150" b="0" i="1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“What outcome when we happen to see X = x?”</a:t>
            </a:r>
            <a:endParaRPr lang="en-GB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6000"/>
              </a:lnSpc>
              <a:spcBef>
                <a:spcPts val="799"/>
              </a:spcBef>
            </a:pPr>
            <a:r>
              <a:rPr lang="en-US" sz="1100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Good for prediction. Blind to confounding.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Rounded Rectangle 5"/>
          <p:cNvSpPr/>
          <p:nvPr/>
        </p:nvSpPr>
        <p:spPr>
          <a:xfrm>
            <a:off x="4709160" y="1600200"/>
            <a:ext cx="3885840" cy="2194200"/>
          </a:xfrm>
          <a:prstGeom prst="roundRect">
            <a:avLst>
              <a:gd name="adj" fmla="val 6000"/>
            </a:avLst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81" name="TextBox 6"/>
          <p:cNvSpPr/>
          <p:nvPr/>
        </p:nvSpPr>
        <p:spPr>
          <a:xfrm>
            <a:off x="4983480" y="1856160"/>
            <a:ext cx="3337200" cy="173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54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Intervening</a:t>
            </a:r>
            <a:endParaRPr lang="en-GB" sz="15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001"/>
              </a:spcBef>
            </a:pPr>
            <a:r>
              <a:rPr lang="en-US" sz="1650" b="1" u="none" strike="noStrike">
                <a:solidFill>
                  <a:srgbClr val="4A9E99"/>
                </a:solidFill>
                <a:effectLst/>
                <a:uFillTx/>
                <a:latin typeface="Consolas"/>
                <a:ea typeface="Consolas"/>
              </a:rPr>
              <a:t>P(Y | do(X = x))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6000"/>
              </a:lnSpc>
              <a:spcBef>
                <a:spcPts val="1001"/>
              </a:spcBef>
            </a:pPr>
            <a:r>
              <a:rPr lang="en-US" sz="1150" b="0" i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“What outcome if we actively set X = x?”</a:t>
            </a:r>
            <a:endParaRPr lang="en-GB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6000"/>
              </a:lnSpc>
              <a:spcBef>
                <a:spcPts val="799"/>
              </a:spcBef>
            </a:pPr>
            <a:r>
              <a:rPr lang="en-US" sz="1100" b="0" u="none" strike="noStrike">
                <a:solidFill>
                  <a:srgbClr val="C9D6DF"/>
                </a:solidFill>
                <a:effectLst/>
                <a:uFillTx/>
                <a:latin typeface="Calibri"/>
                <a:ea typeface="Calibri"/>
              </a:rPr>
              <a:t>Behind testing, debugging, tuning, policy change.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Box 7"/>
          <p:cNvSpPr/>
          <p:nvPr/>
        </p:nvSpPr>
        <p:spPr>
          <a:xfrm>
            <a:off x="548640" y="3950280"/>
            <a:ext cx="80463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100" b="0" i="1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Most worthwhile SE questions are causal — but answers can't come from data alone (Pearl).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Box 8"/>
          <p:cNvSpPr/>
          <p:nvPr/>
        </p:nvSpPr>
        <p:spPr>
          <a:xfrm>
            <a:off x="8046720" y="473652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en-US" sz="989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7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TextBox 1"/>
          <p:cNvSpPr/>
          <p:nvPr/>
        </p:nvSpPr>
        <p:spPr>
          <a:xfrm>
            <a:off x="548640" y="868680"/>
            <a:ext cx="80463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1" u="none" strike="noStrike" spc="241">
                <a:solidFill>
                  <a:srgbClr val="0E7C86"/>
                </a:solidFill>
                <a:effectLst/>
                <a:uFillTx/>
                <a:latin typeface="Calibri"/>
                <a:ea typeface="Calibri"/>
              </a:rPr>
              <a:t>MOTIVATION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Box 2"/>
          <p:cNvSpPr/>
          <p:nvPr/>
        </p:nvSpPr>
        <p:spPr>
          <a:xfrm>
            <a:off x="548640" y="1124640"/>
            <a:ext cx="804636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4000"/>
              </a:lnSpc>
            </a:pPr>
            <a:r>
              <a:rPr lang="en-US" sz="242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Climbing the ladder of causation — in SE terms</a:t>
            </a:r>
            <a:endParaRPr lang="en-GB" sz="24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Rounded Rectangle 3"/>
          <p:cNvSpPr/>
          <p:nvPr/>
        </p:nvSpPr>
        <p:spPr>
          <a:xfrm>
            <a:off x="548640" y="1600200"/>
            <a:ext cx="8046360" cy="749520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87" name="Oval 4"/>
          <p:cNvSpPr/>
          <p:nvPr/>
        </p:nvSpPr>
        <p:spPr>
          <a:xfrm>
            <a:off x="749880" y="1792080"/>
            <a:ext cx="365400" cy="365400"/>
          </a:xfrm>
          <a:prstGeom prst="ellipse">
            <a:avLst/>
          </a:prstGeom>
          <a:solidFill>
            <a:srgbClr val="0A5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8160" tIns="38160" rIns="38160" bIns="381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54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1</a:t>
            </a:r>
            <a:endParaRPr lang="en-GB" sz="15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Box 5"/>
          <p:cNvSpPr/>
          <p:nvPr/>
        </p:nvSpPr>
        <p:spPr>
          <a:xfrm>
            <a:off x="1280160" y="1710000"/>
            <a:ext cx="713196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43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Association  </a:t>
            </a:r>
            <a:r>
              <a:rPr lang="en-US" sz="1320" b="1" i="1" u="none" strike="noStrike">
                <a:solidFill>
                  <a:srgbClr val="0A5A62"/>
                </a:solidFill>
                <a:effectLst/>
                <a:uFillTx/>
                <a:latin typeface="Cambria"/>
                <a:ea typeface="Cambria"/>
              </a:rPr>
              <a:t>· Seeing</a:t>
            </a:r>
            <a:endParaRPr lang="en-GB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spcBef>
                <a:spcPts val="300"/>
              </a:spcBef>
            </a:pPr>
            <a:r>
              <a:rPr lang="en-US" sz="110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“What if I see…?”  Past tests &amp; observations correlate with failures.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Rounded Rectangle 6"/>
          <p:cNvSpPr/>
          <p:nvPr/>
        </p:nvSpPr>
        <p:spPr>
          <a:xfrm>
            <a:off x="1005840" y="2477880"/>
            <a:ext cx="7589160" cy="749520"/>
          </a:xfrm>
          <a:prstGeom prst="roundRect">
            <a:avLst>
              <a:gd name="adj" fmla="val 8000"/>
            </a:avLst>
          </a:prstGeom>
          <a:solidFill>
            <a:srgbClr val="EA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90" name="Oval 7"/>
          <p:cNvSpPr/>
          <p:nvPr/>
        </p:nvSpPr>
        <p:spPr>
          <a:xfrm>
            <a:off x="1207080" y="2670120"/>
            <a:ext cx="365400" cy="3654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8160" tIns="38160" rIns="38160" bIns="381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54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2</a:t>
            </a:r>
            <a:endParaRPr lang="en-GB" sz="15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Box 8"/>
          <p:cNvSpPr/>
          <p:nvPr/>
        </p:nvSpPr>
        <p:spPr>
          <a:xfrm>
            <a:off x="1737360" y="2587680"/>
            <a:ext cx="667476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43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Intervention  </a:t>
            </a:r>
            <a:r>
              <a:rPr lang="en-US" sz="1320" b="1" i="1" u="none" strike="noStrike">
                <a:solidFill>
                  <a:srgbClr val="0E7C86"/>
                </a:solidFill>
                <a:effectLst/>
                <a:uFillTx/>
                <a:latin typeface="Cambria"/>
                <a:ea typeface="Cambria"/>
              </a:rPr>
              <a:t>· Doing</a:t>
            </a:r>
            <a:endParaRPr lang="en-GB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spcBef>
                <a:spcPts val="300"/>
              </a:spcBef>
            </a:pPr>
            <a:r>
              <a:rPr lang="en-US" sz="110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“What if I do…?”  Set an input and predict the effect — what-if analysis, test selection.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Rounded Rectangle 9"/>
          <p:cNvSpPr/>
          <p:nvPr/>
        </p:nvSpPr>
        <p:spPr>
          <a:xfrm>
            <a:off x="1463040" y="3355920"/>
            <a:ext cx="7131960" cy="749520"/>
          </a:xfrm>
          <a:prstGeom prst="roundRect">
            <a:avLst>
              <a:gd name="adj" fmla="val 8000"/>
            </a:avLst>
          </a:prstGeom>
          <a:solidFill>
            <a:srgbClr val="F8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93" name="Oval 10"/>
          <p:cNvSpPr/>
          <p:nvPr/>
        </p:nvSpPr>
        <p:spPr>
          <a:xfrm>
            <a:off x="1664280" y="3547800"/>
            <a:ext cx="365400" cy="365400"/>
          </a:xfrm>
          <a:prstGeom prst="ellipse">
            <a:avLst/>
          </a:prstGeom>
          <a:solidFill>
            <a:srgbClr val="D26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8160" tIns="38160" rIns="38160" bIns="381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54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3</a:t>
            </a:r>
            <a:endParaRPr lang="en-GB" sz="15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Box 11"/>
          <p:cNvSpPr/>
          <p:nvPr/>
        </p:nvSpPr>
        <p:spPr>
          <a:xfrm>
            <a:off x="2194560" y="3465720"/>
            <a:ext cx="621756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43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Counterfactual  </a:t>
            </a:r>
            <a:r>
              <a:rPr lang="en-US" sz="1320" b="1" i="1" u="none" strike="noStrike">
                <a:solidFill>
                  <a:srgbClr val="D26E3A"/>
                </a:solidFill>
                <a:effectLst/>
                <a:uFillTx/>
                <a:latin typeface="Cambria"/>
                <a:ea typeface="Cambria"/>
              </a:rPr>
              <a:t>· Imagining</a:t>
            </a:r>
            <a:endParaRPr lang="en-GB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spcBef>
                <a:spcPts val="300"/>
              </a:spcBef>
            </a:pPr>
            <a:r>
              <a:rPr lang="en-US" sz="110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“What if I had done…?”  Would the failure have occurred otherwise? Root-cause &amp; debugging.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Box 12"/>
          <p:cNvSpPr/>
          <p:nvPr/>
        </p:nvSpPr>
        <p:spPr>
          <a:xfrm>
            <a:off x="8046720" y="473652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en-US" sz="989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8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TextBox 1"/>
          <p:cNvSpPr/>
          <p:nvPr/>
        </p:nvSpPr>
        <p:spPr>
          <a:xfrm>
            <a:off x="548640" y="868680"/>
            <a:ext cx="80463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1" u="none" strike="noStrike" spc="241">
                <a:solidFill>
                  <a:srgbClr val="0E7C86"/>
                </a:solidFill>
                <a:effectLst/>
                <a:uFillTx/>
                <a:latin typeface="Calibri"/>
                <a:ea typeface="Calibri"/>
              </a:rPr>
              <a:t>MODELING CAUSAL EFFECTS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Box 2"/>
          <p:cNvSpPr/>
          <p:nvPr/>
        </p:nvSpPr>
        <p:spPr>
          <a:xfrm>
            <a:off x="548640" y="1124640"/>
            <a:ext cx="804636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4000"/>
              </a:lnSpc>
            </a:pPr>
            <a:r>
              <a:rPr lang="en-US" sz="242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A causal graph makes assumptions explicit</a:t>
            </a:r>
            <a:endParaRPr lang="en-GB" sz="24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Box 3"/>
          <p:cNvSpPr/>
          <p:nvPr/>
        </p:nvSpPr>
        <p:spPr>
          <a:xfrm>
            <a:off x="548640" y="1600200"/>
            <a:ext cx="3657240" cy="228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18000"/>
              </a:lnSpc>
            </a:pPr>
            <a:r>
              <a:rPr lang="en-US" sz="1210" b="1" u="none" strike="noStrike">
                <a:solidFill>
                  <a:srgbClr val="0E7C86"/>
                </a:solidFill>
                <a:effectLst/>
                <a:uFillTx/>
                <a:latin typeface="Calibri"/>
                <a:ea typeface="Calibri"/>
              </a:rPr>
              <a:t>Nodes</a:t>
            </a:r>
            <a:r>
              <a:rPr lang="en-US" sz="121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 = variables.  </a:t>
            </a:r>
            <a:r>
              <a:rPr lang="en-US" sz="1210" b="1" u="none" strike="noStrike">
                <a:solidFill>
                  <a:srgbClr val="0E7C86"/>
                </a:solidFill>
                <a:effectLst/>
                <a:uFillTx/>
                <a:latin typeface="Calibri"/>
                <a:ea typeface="Calibri"/>
              </a:rPr>
              <a:t>Directed links</a:t>
            </a:r>
            <a:r>
              <a:rPr lang="en-US" sz="121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 = direct causal effects. A DAG encodes hypotheses we can reason about and test.</a:t>
            </a:r>
            <a:endParaRPr lang="en-GB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Oval 4"/>
          <p:cNvSpPr/>
          <p:nvPr/>
        </p:nvSpPr>
        <p:spPr>
          <a:xfrm>
            <a:off x="548640" y="2350080"/>
            <a:ext cx="145800" cy="145800"/>
          </a:xfrm>
          <a:prstGeom prst="ellipse">
            <a:avLst/>
          </a:prstGeom>
          <a:solidFill>
            <a:srgbClr val="D26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200" name="TextBox 5"/>
          <p:cNvSpPr/>
          <p:nvPr/>
        </p:nvSpPr>
        <p:spPr>
          <a:xfrm>
            <a:off x="822960" y="2286000"/>
            <a:ext cx="338292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12000"/>
              </a:lnSpc>
            </a:pPr>
            <a:r>
              <a:rPr lang="en-US" sz="1150" b="1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Confounder  </a:t>
            </a:r>
            <a:r>
              <a:rPr lang="en-US" sz="1050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— common cause of T and Y — induces spurious correlation; adjust for it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Oval 6"/>
          <p:cNvSpPr/>
          <p:nvPr/>
        </p:nvSpPr>
        <p:spPr>
          <a:xfrm>
            <a:off x="548640" y="2917080"/>
            <a:ext cx="145800" cy="1458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202" name="TextBox 7"/>
          <p:cNvSpPr/>
          <p:nvPr/>
        </p:nvSpPr>
        <p:spPr>
          <a:xfrm>
            <a:off x="822960" y="2853000"/>
            <a:ext cx="338292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12000"/>
              </a:lnSpc>
            </a:pPr>
            <a:r>
              <a:rPr lang="en-US" sz="1150" b="1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Mediator  </a:t>
            </a:r>
            <a:r>
              <a:rPr lang="en-US" sz="1050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— lies on T → M → Y — carries part of the effect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Oval 8"/>
          <p:cNvSpPr/>
          <p:nvPr/>
        </p:nvSpPr>
        <p:spPr>
          <a:xfrm>
            <a:off x="548640" y="3483720"/>
            <a:ext cx="145800" cy="145800"/>
          </a:xfrm>
          <a:prstGeom prst="ellipse">
            <a:avLst/>
          </a:prstGeom>
          <a:solidFill>
            <a:srgbClr val="4A9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204" name="TextBox 9"/>
          <p:cNvSpPr/>
          <p:nvPr/>
        </p:nvSpPr>
        <p:spPr>
          <a:xfrm>
            <a:off x="822960" y="3420000"/>
            <a:ext cx="338292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12000"/>
              </a:lnSpc>
            </a:pPr>
            <a:r>
              <a:rPr lang="en-US" sz="1150" b="1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Collider  </a:t>
            </a:r>
            <a:r>
              <a:rPr lang="en-US" sz="1050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— common effect — conditioning on it opens a spurious path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Rounded Rectangle 10"/>
          <p:cNvSpPr/>
          <p:nvPr/>
        </p:nvSpPr>
        <p:spPr>
          <a:xfrm>
            <a:off x="4572000" y="1554480"/>
            <a:ext cx="4023000" cy="2514240"/>
          </a:xfrm>
          <a:prstGeom prst="roundRect">
            <a:avLst>
              <a:gd name="adj" fmla="val 5000"/>
            </a:avLst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cxnSp>
        <p:nvCxnSpPr>
          <p:cNvPr id="206" name="Connector 11"/>
          <p:cNvCxnSpPr/>
          <p:nvPr/>
        </p:nvCxnSpPr>
        <p:spPr>
          <a:xfrm flipH="1">
            <a:off x="5595840" y="2450520"/>
            <a:ext cx="924120" cy="338760"/>
          </a:xfrm>
          <a:prstGeom prst="straightConnector1">
            <a:avLst/>
          </a:prstGeom>
          <a:ln w="20320">
            <a:solidFill>
              <a:srgbClr val="D26E3A"/>
            </a:solidFill>
            <a:tailEnd type="triangle" w="med" len="med"/>
          </a:ln>
        </p:spPr>
      </p:cxnSp>
      <p:cxnSp>
        <p:nvCxnSpPr>
          <p:cNvPr id="207" name="Connector 12"/>
          <p:cNvCxnSpPr/>
          <p:nvPr/>
        </p:nvCxnSpPr>
        <p:spPr>
          <a:xfrm>
            <a:off x="6647400" y="2450520"/>
            <a:ext cx="924120" cy="338760"/>
          </a:xfrm>
          <a:prstGeom prst="straightConnector1">
            <a:avLst/>
          </a:prstGeom>
          <a:ln w="20320">
            <a:solidFill>
              <a:srgbClr val="D26E3A"/>
            </a:solidFill>
            <a:tailEnd type="triangle" w="med" len="med"/>
          </a:ln>
        </p:spPr>
      </p:cxnSp>
      <p:cxnSp>
        <p:nvCxnSpPr>
          <p:cNvPr id="208" name="Connector 13"/>
          <p:cNvCxnSpPr/>
          <p:nvPr/>
        </p:nvCxnSpPr>
        <p:spPr>
          <a:xfrm>
            <a:off x="5852160" y="3108960"/>
            <a:ext cx="1463400" cy="360"/>
          </a:xfrm>
          <a:prstGeom prst="straightConnector1">
            <a:avLst/>
          </a:prstGeom>
          <a:ln w="20320">
            <a:solidFill>
              <a:srgbClr val="0E7C86"/>
            </a:solidFill>
            <a:tailEnd type="triangle" w="med" len="med"/>
          </a:ln>
        </p:spPr>
      </p:cxnSp>
      <p:sp>
        <p:nvSpPr>
          <p:cNvPr id="209" name="Oval 14"/>
          <p:cNvSpPr/>
          <p:nvPr/>
        </p:nvSpPr>
        <p:spPr>
          <a:xfrm>
            <a:off x="6263640" y="1810440"/>
            <a:ext cx="639720" cy="639720"/>
          </a:xfrm>
          <a:prstGeom prst="ellipse">
            <a:avLst/>
          </a:prstGeom>
          <a:solidFill>
            <a:srgbClr val="D26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8160" tIns="38160" rIns="38160" bIns="381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65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Z</a:t>
            </a:r>
            <a:endParaRPr lang="en-GB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Box 15"/>
          <p:cNvSpPr/>
          <p:nvPr/>
        </p:nvSpPr>
        <p:spPr>
          <a:xfrm>
            <a:off x="5943600" y="2432160"/>
            <a:ext cx="12798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880" b="1" i="1" u="none" strike="noStrike">
                <a:solidFill>
                  <a:srgbClr val="D26E3A"/>
                </a:solidFill>
                <a:effectLst/>
                <a:uFillTx/>
                <a:latin typeface="Calibri"/>
                <a:ea typeface="Calibri"/>
              </a:rPr>
              <a:t>confounder</a:t>
            </a:r>
            <a:endParaRPr lang="en-GB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Oval 16"/>
          <p:cNvSpPr/>
          <p:nvPr/>
        </p:nvSpPr>
        <p:spPr>
          <a:xfrm>
            <a:off x="5212080" y="2788920"/>
            <a:ext cx="639720" cy="63972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8160" tIns="38160" rIns="38160" bIns="381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65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T</a:t>
            </a:r>
            <a:endParaRPr lang="en-GB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Box 17"/>
          <p:cNvSpPr/>
          <p:nvPr/>
        </p:nvSpPr>
        <p:spPr>
          <a:xfrm>
            <a:off x="4892040" y="3410640"/>
            <a:ext cx="12798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880" b="1" i="1" u="none" strike="noStrike">
                <a:solidFill>
                  <a:srgbClr val="0E7C86"/>
                </a:solidFill>
                <a:effectLst/>
                <a:uFillTx/>
                <a:latin typeface="Calibri"/>
                <a:ea typeface="Calibri"/>
              </a:rPr>
              <a:t>treatment</a:t>
            </a:r>
            <a:endParaRPr lang="en-GB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Oval 18"/>
          <p:cNvSpPr/>
          <p:nvPr/>
        </p:nvSpPr>
        <p:spPr>
          <a:xfrm>
            <a:off x="7315200" y="2788920"/>
            <a:ext cx="639720" cy="639720"/>
          </a:xfrm>
          <a:prstGeom prst="ellipse">
            <a:avLst/>
          </a:prstGeom>
          <a:solidFill>
            <a:srgbClr val="0A5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8160" tIns="38160" rIns="38160" bIns="381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65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Y</a:t>
            </a:r>
            <a:endParaRPr lang="en-GB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Box 19"/>
          <p:cNvSpPr/>
          <p:nvPr/>
        </p:nvSpPr>
        <p:spPr>
          <a:xfrm>
            <a:off x="6995160" y="3410640"/>
            <a:ext cx="12798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880" b="1" i="1" u="none" strike="noStrike">
                <a:solidFill>
                  <a:srgbClr val="0A5A62"/>
                </a:solidFill>
                <a:effectLst/>
                <a:uFillTx/>
                <a:latin typeface="Calibri"/>
                <a:ea typeface="Calibri"/>
              </a:rPr>
              <a:t>outcome</a:t>
            </a:r>
            <a:endParaRPr lang="en-GB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Box 20"/>
          <p:cNvSpPr/>
          <p:nvPr/>
        </p:nvSpPr>
        <p:spPr>
          <a:xfrm>
            <a:off x="4846320" y="3831480"/>
            <a:ext cx="34743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880" b="0" i="1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Z biases the T → Y estimate unless we adjust for it.</a:t>
            </a:r>
            <a:endParaRPr lang="en-GB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Box 21"/>
          <p:cNvSpPr/>
          <p:nvPr/>
        </p:nvSpPr>
        <p:spPr>
          <a:xfrm>
            <a:off x="8046720" y="473652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en-US" sz="989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9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TextBox 1"/>
          <p:cNvSpPr/>
          <p:nvPr/>
        </p:nvSpPr>
        <p:spPr>
          <a:xfrm>
            <a:off x="548640" y="868680"/>
            <a:ext cx="80463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1" u="none" strike="noStrike" spc="241">
                <a:solidFill>
                  <a:srgbClr val="0E7C86"/>
                </a:solidFill>
                <a:effectLst/>
                <a:uFillTx/>
                <a:latin typeface="Calibri"/>
                <a:ea typeface="Calibri"/>
              </a:rPr>
              <a:t>MODELING CAUSAL EFFECTS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Box 2"/>
          <p:cNvSpPr/>
          <p:nvPr/>
        </p:nvSpPr>
        <p:spPr>
          <a:xfrm>
            <a:off x="548640" y="1124640"/>
            <a:ext cx="8046360" cy="36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4000"/>
              </a:lnSpc>
            </a:pPr>
            <a:r>
              <a:rPr lang="en-US" sz="242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The process: from assumptions to validated effects</a:t>
            </a:r>
            <a:endParaRPr lang="en-GB" sz="24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Rounded Rectangle 3"/>
          <p:cNvSpPr/>
          <p:nvPr/>
        </p:nvSpPr>
        <p:spPr>
          <a:xfrm>
            <a:off x="548640" y="1828800"/>
            <a:ext cx="1874160" cy="1371240"/>
          </a:xfrm>
          <a:prstGeom prst="roundRect">
            <a:avLst>
              <a:gd name="adj" fmla="val 6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220" name="Oval 4"/>
          <p:cNvSpPr/>
          <p:nvPr/>
        </p:nvSpPr>
        <p:spPr>
          <a:xfrm>
            <a:off x="1284840" y="2011680"/>
            <a:ext cx="402120" cy="402120"/>
          </a:xfrm>
          <a:prstGeom prst="ellipse">
            <a:avLst/>
          </a:prstGeom>
          <a:solidFill>
            <a:srgbClr val="0A5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8160" tIns="38160" rIns="38160" bIns="381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65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1</a:t>
            </a:r>
            <a:endParaRPr lang="en-GB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Box 5"/>
          <p:cNvSpPr/>
          <p:nvPr/>
        </p:nvSpPr>
        <p:spPr>
          <a:xfrm>
            <a:off x="685800" y="2487240"/>
            <a:ext cx="15998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32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Model</a:t>
            </a:r>
            <a:endParaRPr lang="en-GB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8000"/>
              </a:lnSpc>
              <a:spcBef>
                <a:spcPts val="400"/>
              </a:spcBef>
            </a:pPr>
            <a:r>
              <a:rPr lang="en-US" sz="989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State assumptions as a causal graph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Box 6"/>
          <p:cNvSpPr/>
          <p:nvPr/>
        </p:nvSpPr>
        <p:spPr>
          <a:xfrm>
            <a:off x="2404800" y="2368440"/>
            <a:ext cx="2008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760" b="1" u="none" strike="noStrike">
                <a:solidFill>
                  <a:srgbClr val="7A8794"/>
                </a:solidFill>
                <a:effectLst/>
                <a:uFillTx/>
                <a:latin typeface="Cambria"/>
                <a:ea typeface="Cambria"/>
              </a:rPr>
              <a:t>→</a:t>
            </a:r>
            <a:endParaRPr lang="en-GB" sz="17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Rounded Rectangle 7"/>
          <p:cNvSpPr/>
          <p:nvPr/>
        </p:nvSpPr>
        <p:spPr>
          <a:xfrm>
            <a:off x="2587680" y="1828800"/>
            <a:ext cx="1874160" cy="1371240"/>
          </a:xfrm>
          <a:prstGeom prst="roundRect">
            <a:avLst>
              <a:gd name="adj" fmla="val 6000"/>
            </a:avLst>
          </a:prstGeom>
          <a:solidFill>
            <a:srgbClr val="EA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224" name="Oval 8"/>
          <p:cNvSpPr/>
          <p:nvPr/>
        </p:nvSpPr>
        <p:spPr>
          <a:xfrm>
            <a:off x="3323880" y="2011680"/>
            <a:ext cx="402120" cy="40212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8160" tIns="38160" rIns="38160" bIns="381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65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2</a:t>
            </a:r>
            <a:endParaRPr lang="en-GB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Box 9"/>
          <p:cNvSpPr/>
          <p:nvPr/>
        </p:nvSpPr>
        <p:spPr>
          <a:xfrm>
            <a:off x="2724840" y="2487240"/>
            <a:ext cx="15998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32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Identify</a:t>
            </a:r>
            <a:endParaRPr lang="en-GB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8000"/>
              </a:lnSpc>
              <a:spcBef>
                <a:spcPts val="400"/>
              </a:spcBef>
            </a:pPr>
            <a:r>
              <a:rPr lang="en-US" sz="989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Can the effect be estimated from data?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Box 10"/>
          <p:cNvSpPr/>
          <p:nvPr/>
        </p:nvSpPr>
        <p:spPr>
          <a:xfrm>
            <a:off x="4443840" y="2368440"/>
            <a:ext cx="2008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760" b="1" u="none" strike="noStrike">
                <a:solidFill>
                  <a:srgbClr val="7A8794"/>
                </a:solidFill>
                <a:effectLst/>
                <a:uFillTx/>
                <a:latin typeface="Cambria"/>
                <a:ea typeface="Cambria"/>
              </a:rPr>
              <a:t>→</a:t>
            </a:r>
            <a:endParaRPr lang="en-GB" sz="17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Rounded Rectangle 11"/>
          <p:cNvSpPr/>
          <p:nvPr/>
        </p:nvSpPr>
        <p:spPr>
          <a:xfrm>
            <a:off x="4626720" y="1828800"/>
            <a:ext cx="1874160" cy="1371240"/>
          </a:xfrm>
          <a:prstGeom prst="roundRect">
            <a:avLst>
              <a:gd name="adj" fmla="val 6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228" name="Oval 12"/>
          <p:cNvSpPr/>
          <p:nvPr/>
        </p:nvSpPr>
        <p:spPr>
          <a:xfrm>
            <a:off x="5362920" y="2011680"/>
            <a:ext cx="402120" cy="402120"/>
          </a:xfrm>
          <a:prstGeom prst="ellipse">
            <a:avLst/>
          </a:prstGeom>
          <a:solidFill>
            <a:srgbClr val="4A9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8160" tIns="38160" rIns="38160" bIns="381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65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3</a:t>
            </a:r>
            <a:endParaRPr lang="en-GB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Box 13"/>
          <p:cNvSpPr/>
          <p:nvPr/>
        </p:nvSpPr>
        <p:spPr>
          <a:xfrm>
            <a:off x="4763880" y="2487240"/>
            <a:ext cx="15998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32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Estimate</a:t>
            </a:r>
            <a:endParaRPr lang="en-GB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8000"/>
              </a:lnSpc>
              <a:spcBef>
                <a:spcPts val="400"/>
              </a:spcBef>
            </a:pPr>
            <a:r>
              <a:rPr lang="en-US" sz="989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Compute the effect (regression, ML, …)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Box 14"/>
          <p:cNvSpPr/>
          <p:nvPr/>
        </p:nvSpPr>
        <p:spPr>
          <a:xfrm>
            <a:off x="6483240" y="2368440"/>
            <a:ext cx="2008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760" b="1" u="none" strike="noStrike">
                <a:solidFill>
                  <a:srgbClr val="7A8794"/>
                </a:solidFill>
                <a:effectLst/>
                <a:uFillTx/>
                <a:latin typeface="Cambria"/>
                <a:ea typeface="Cambria"/>
              </a:rPr>
              <a:t>→</a:t>
            </a:r>
            <a:endParaRPr lang="en-GB" sz="17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Rounded Rectangle 15"/>
          <p:cNvSpPr/>
          <p:nvPr/>
        </p:nvSpPr>
        <p:spPr>
          <a:xfrm>
            <a:off x="6666120" y="1828800"/>
            <a:ext cx="1874160" cy="1371240"/>
          </a:xfrm>
          <a:prstGeom prst="roundRect">
            <a:avLst>
              <a:gd name="adj" fmla="val 6000"/>
            </a:avLst>
          </a:prstGeom>
          <a:solidFill>
            <a:srgbClr val="EA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232" name="Oval 16"/>
          <p:cNvSpPr/>
          <p:nvPr/>
        </p:nvSpPr>
        <p:spPr>
          <a:xfrm>
            <a:off x="7401960" y="2011680"/>
            <a:ext cx="402120" cy="402120"/>
          </a:xfrm>
          <a:prstGeom prst="ellipse">
            <a:avLst/>
          </a:prstGeom>
          <a:solidFill>
            <a:srgbClr val="D26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8160" tIns="38160" rIns="38160" bIns="381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65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4</a:t>
            </a:r>
            <a:endParaRPr lang="en-GB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Box 17"/>
          <p:cNvSpPr/>
          <p:nvPr/>
        </p:nvSpPr>
        <p:spPr>
          <a:xfrm>
            <a:off x="6803280" y="2487240"/>
            <a:ext cx="15998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32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Refute</a:t>
            </a:r>
            <a:endParaRPr lang="en-GB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8000"/>
              </a:lnSpc>
              <a:spcBef>
                <a:spcPts val="400"/>
              </a:spcBef>
            </a:pPr>
            <a:r>
              <a:rPr lang="en-US" sz="989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Try to falsify the estimate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Box 18"/>
          <p:cNvSpPr/>
          <p:nvPr/>
        </p:nvSpPr>
        <p:spPr>
          <a:xfrm>
            <a:off x="548640" y="3520440"/>
            <a:ext cx="80463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ct val="116000"/>
              </a:lnSpc>
            </a:pPr>
            <a:r>
              <a:rPr lang="en-US" sz="1150" b="0" i="1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The graph is a collaborative reasoning partner — inspectable, contestable, and refinable by engineers.</a:t>
            </a:r>
            <a:endParaRPr lang="en-GB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Box 19"/>
          <p:cNvSpPr/>
          <p:nvPr/>
        </p:nvSpPr>
        <p:spPr>
          <a:xfrm>
            <a:off x="8046720" y="473652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en-US" sz="989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10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TextBox 1"/>
          <p:cNvSpPr/>
          <p:nvPr/>
        </p:nvSpPr>
        <p:spPr>
          <a:xfrm>
            <a:off x="548640" y="868680"/>
            <a:ext cx="80463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1" u="none" strike="noStrike" spc="241">
                <a:solidFill>
                  <a:srgbClr val="0E7C86"/>
                </a:solidFill>
                <a:effectLst/>
                <a:uFillTx/>
                <a:latin typeface="Calibri"/>
                <a:ea typeface="Calibri"/>
              </a:rPr>
              <a:t>EXAMPLES FROM SE RESEARCH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Box 2"/>
          <p:cNvSpPr/>
          <p:nvPr/>
        </p:nvSpPr>
        <p:spPr>
          <a:xfrm>
            <a:off x="548640" y="1124640"/>
            <a:ext cx="804636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4000"/>
              </a:lnSpc>
            </a:pPr>
            <a:r>
              <a:rPr lang="en-US" sz="242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Three domains where causal graphs are taking hold</a:t>
            </a:r>
            <a:endParaRPr lang="en-GB" sz="24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Rounded Rectangle 3"/>
          <p:cNvSpPr/>
          <p:nvPr/>
        </p:nvSpPr>
        <p:spPr>
          <a:xfrm>
            <a:off x="548640" y="1691640"/>
            <a:ext cx="2499120" cy="2102760"/>
          </a:xfrm>
          <a:prstGeom prst="roundRect">
            <a:avLst>
              <a:gd name="adj" fmla="val 6000"/>
            </a:avLst>
          </a:prstGeom>
          <a:solidFill>
            <a:srgbClr val="EA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239" name="Oval 4"/>
          <p:cNvSpPr/>
          <p:nvPr/>
        </p:nvSpPr>
        <p:spPr>
          <a:xfrm>
            <a:off x="777240" y="1947600"/>
            <a:ext cx="365400" cy="3654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240" name="TextBox 5"/>
          <p:cNvSpPr/>
          <p:nvPr/>
        </p:nvSpPr>
        <p:spPr>
          <a:xfrm>
            <a:off x="777240" y="2468880"/>
            <a:ext cx="2041920" cy="118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6000"/>
              </a:lnSpc>
            </a:pPr>
            <a:r>
              <a:rPr lang="en-US" sz="143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Testing</a:t>
            </a:r>
            <a:endParaRPr lang="en-GB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spcBef>
                <a:spcPts val="799"/>
              </a:spcBef>
            </a:pPr>
            <a:r>
              <a:rPr lang="en-US" sz="115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Choose inputs that expose failures — what-if reasoning over a model of the system under test.</a:t>
            </a:r>
            <a:endParaRPr lang="en-GB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Rounded Rectangle 6"/>
          <p:cNvSpPr/>
          <p:nvPr/>
        </p:nvSpPr>
        <p:spPr>
          <a:xfrm>
            <a:off x="3322440" y="1691640"/>
            <a:ext cx="2499120" cy="2102760"/>
          </a:xfrm>
          <a:prstGeom prst="roundRect">
            <a:avLst>
              <a:gd name="adj" fmla="val 6000"/>
            </a:avLst>
          </a:prstGeom>
          <a:solidFill>
            <a:srgbClr val="F8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242" name="Oval 7"/>
          <p:cNvSpPr/>
          <p:nvPr/>
        </p:nvSpPr>
        <p:spPr>
          <a:xfrm>
            <a:off x="3551040" y="1947600"/>
            <a:ext cx="365400" cy="365400"/>
          </a:xfrm>
          <a:prstGeom prst="ellipse">
            <a:avLst/>
          </a:prstGeom>
          <a:solidFill>
            <a:srgbClr val="D26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243" name="TextBox 8"/>
          <p:cNvSpPr/>
          <p:nvPr/>
        </p:nvSpPr>
        <p:spPr>
          <a:xfrm>
            <a:off x="3551040" y="2468880"/>
            <a:ext cx="2041920" cy="118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6000"/>
              </a:lnSpc>
            </a:pPr>
            <a:r>
              <a:rPr lang="en-US" sz="143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Fault localization</a:t>
            </a:r>
            <a:endParaRPr lang="en-GB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spcBef>
                <a:spcPts val="799"/>
              </a:spcBef>
            </a:pPr>
            <a:r>
              <a:rPr lang="en-US" sz="115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Trace a failure to its cause; separate the culprit from mere correlates.</a:t>
            </a:r>
            <a:endParaRPr lang="en-GB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Rounded Rectangle 9"/>
          <p:cNvSpPr/>
          <p:nvPr/>
        </p:nvSpPr>
        <p:spPr>
          <a:xfrm>
            <a:off x="6095880" y="1691640"/>
            <a:ext cx="2499120" cy="2102760"/>
          </a:xfrm>
          <a:prstGeom prst="roundRect">
            <a:avLst>
              <a:gd name="adj" fmla="val 6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245" name="Oval 10"/>
          <p:cNvSpPr/>
          <p:nvPr/>
        </p:nvSpPr>
        <p:spPr>
          <a:xfrm>
            <a:off x="6324480" y="1947600"/>
            <a:ext cx="365400" cy="365400"/>
          </a:xfrm>
          <a:prstGeom prst="ellipse">
            <a:avLst/>
          </a:prstGeom>
          <a:solidFill>
            <a:srgbClr val="0A5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246" name="TextBox 11"/>
          <p:cNvSpPr/>
          <p:nvPr/>
        </p:nvSpPr>
        <p:spPr>
          <a:xfrm>
            <a:off x="6324480" y="2468880"/>
            <a:ext cx="2041920" cy="974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6000"/>
              </a:lnSpc>
            </a:pPr>
            <a:r>
              <a:rPr lang="en-US" sz="143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Requirements engineering</a:t>
            </a:r>
            <a:endParaRPr lang="en-GB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spcBef>
                <a:spcPts val="799"/>
              </a:spcBef>
            </a:pPr>
            <a:r>
              <a:rPr lang="en-US" sz="115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Causal models as requirements engineering activity</a:t>
            </a:r>
            <a:endParaRPr lang="en-GB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Box 12"/>
          <p:cNvSpPr/>
          <p:nvPr/>
        </p:nvSpPr>
        <p:spPr>
          <a:xfrm>
            <a:off x="548640" y="3931920"/>
            <a:ext cx="80463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100" b="0" i="1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For each: first the big picture, then a concrete, repeatable recipe.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Box 13"/>
          <p:cNvSpPr/>
          <p:nvPr/>
        </p:nvSpPr>
        <p:spPr>
          <a:xfrm>
            <a:off x="8046720" y="473652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en-US" sz="989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11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TextBox 1"/>
          <p:cNvSpPr/>
          <p:nvPr/>
        </p:nvSpPr>
        <p:spPr>
          <a:xfrm>
            <a:off x="548640" y="868680"/>
            <a:ext cx="80463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950" b="1" u="none" strike="noStrike" spc="241">
                <a:solidFill>
                  <a:srgbClr val="0E7C86"/>
                </a:solidFill>
                <a:effectLst/>
                <a:uFillTx/>
                <a:latin typeface="Calibri"/>
                <a:ea typeface="Calibri"/>
              </a:rPr>
              <a:t>EXAMPLES · TESTING — WHERE WE ARE</a:t>
            </a:r>
            <a:endParaRPr lang="en-GB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Box 2"/>
          <p:cNvSpPr/>
          <p:nvPr/>
        </p:nvSpPr>
        <p:spPr>
          <a:xfrm>
            <a:off x="548640" y="1124640"/>
            <a:ext cx="804636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4000"/>
              </a:lnSpc>
            </a:pPr>
            <a:r>
              <a:rPr lang="en-US" sz="220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Testing is naturally causal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Box 3"/>
          <p:cNvSpPr/>
          <p:nvPr/>
        </p:nvSpPr>
        <p:spPr>
          <a:xfrm>
            <a:off x="4672440" y="1609200"/>
            <a:ext cx="3931560" cy="177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22000"/>
              </a:lnSpc>
            </a:pPr>
            <a:r>
              <a:rPr lang="en-US" sz="160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Choosing a test input implicitly predicts an outcome under a hypothetical condition — </a:t>
            </a:r>
            <a:r>
              <a:rPr lang="en-US" sz="1600" b="1" u="none" strike="noStrike">
                <a:solidFill>
                  <a:srgbClr val="0E7C86"/>
                </a:solidFill>
                <a:effectLst/>
                <a:uFillTx/>
                <a:latin typeface="Calibri"/>
                <a:ea typeface="Calibri"/>
              </a:rPr>
              <a:t>a what-if question.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2000"/>
              </a:lnSpc>
              <a:spcBef>
                <a:spcPts val="799"/>
              </a:spcBef>
            </a:pPr>
            <a:r>
              <a:rPr lang="en-US" sz="1400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Test generation is </a:t>
            </a:r>
            <a:r>
              <a:rPr lang="en-US" sz="1400" b="1" u="none" strike="noStrike">
                <a:solidFill>
                  <a:srgbClr val="D26E3A"/>
                </a:solidFill>
                <a:effectLst/>
                <a:uFillTx/>
                <a:latin typeface="Calibri"/>
                <a:ea typeface="Calibri"/>
              </a:rPr>
              <a:t>planning</a:t>
            </a:r>
            <a:r>
              <a:rPr lang="en-US" sz="1400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, not prediction: what output if we submitted this input? Causal models let testers reason, not guess.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Rounded Rectangle 4"/>
          <p:cNvSpPr/>
          <p:nvPr/>
        </p:nvSpPr>
        <p:spPr>
          <a:xfrm>
            <a:off x="557640" y="1645920"/>
            <a:ext cx="3977280" cy="71280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253" name="Oval 5"/>
          <p:cNvSpPr/>
          <p:nvPr/>
        </p:nvSpPr>
        <p:spPr>
          <a:xfrm>
            <a:off x="745200" y="1778400"/>
            <a:ext cx="328680" cy="328680"/>
          </a:xfrm>
          <a:prstGeom prst="ellipse">
            <a:avLst/>
          </a:prstGeom>
          <a:solidFill>
            <a:srgbClr val="5966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8160" tIns="38160" rIns="38160" bIns="381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1</a:t>
            </a:r>
            <a:endParaRPr lang="en-GB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Box 6"/>
          <p:cNvSpPr/>
          <p:nvPr/>
        </p:nvSpPr>
        <p:spPr>
          <a:xfrm>
            <a:off x="1243440" y="1821960"/>
            <a:ext cx="3108600" cy="360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20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Guessing → Tester intuition/expertise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8000"/>
              </a:lnSpc>
              <a:spcBef>
                <a:spcPts val="201"/>
              </a:spcBef>
            </a:pPr>
            <a:r>
              <a:rPr lang="en-US" sz="95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“what might fail?”</a:t>
            </a:r>
            <a:endParaRPr lang="en-GB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Rounded Rectangle 7"/>
          <p:cNvSpPr/>
          <p:nvPr/>
        </p:nvSpPr>
        <p:spPr>
          <a:xfrm>
            <a:off x="557640" y="2505600"/>
            <a:ext cx="3977280" cy="712800"/>
          </a:xfrm>
          <a:prstGeom prst="roundRect">
            <a:avLst>
              <a:gd name="adj" fmla="val 8000"/>
            </a:avLst>
          </a:prstGeom>
          <a:solidFill>
            <a:srgbClr val="EA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256" name="Oval 8"/>
          <p:cNvSpPr/>
          <p:nvPr/>
        </p:nvSpPr>
        <p:spPr>
          <a:xfrm>
            <a:off x="745200" y="2638080"/>
            <a:ext cx="328680" cy="32868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8160" tIns="38160" rIns="38160" bIns="381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2</a:t>
            </a:r>
            <a:endParaRPr lang="en-GB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Box 9"/>
          <p:cNvSpPr/>
          <p:nvPr/>
        </p:nvSpPr>
        <p:spPr>
          <a:xfrm>
            <a:off x="1243440" y="2681640"/>
            <a:ext cx="3108600" cy="360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20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Correlation → ML on past tests/data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8000"/>
              </a:lnSpc>
              <a:spcBef>
                <a:spcPts val="201"/>
              </a:spcBef>
            </a:pPr>
            <a:r>
              <a:rPr lang="en-US" sz="95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“what correlates with failure?”</a:t>
            </a:r>
            <a:endParaRPr lang="en-GB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Rounded Rectangle 10"/>
          <p:cNvSpPr/>
          <p:nvPr/>
        </p:nvSpPr>
        <p:spPr>
          <a:xfrm>
            <a:off x="557640" y="3364920"/>
            <a:ext cx="3977280" cy="712800"/>
          </a:xfrm>
          <a:prstGeom prst="roundRect">
            <a:avLst>
              <a:gd name="adj" fmla="val 8000"/>
            </a:avLst>
          </a:prstGeom>
          <a:solidFill>
            <a:srgbClr val="F8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259" name="Oval 11"/>
          <p:cNvSpPr/>
          <p:nvPr/>
        </p:nvSpPr>
        <p:spPr>
          <a:xfrm>
            <a:off x="745200" y="3497760"/>
            <a:ext cx="328680" cy="328680"/>
          </a:xfrm>
          <a:prstGeom prst="ellipse">
            <a:avLst/>
          </a:prstGeom>
          <a:solidFill>
            <a:srgbClr val="D26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8160" tIns="38160" rIns="38160" bIns="381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3</a:t>
            </a:r>
            <a:endParaRPr lang="en-GB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Box 12"/>
          <p:cNvSpPr/>
          <p:nvPr/>
        </p:nvSpPr>
        <p:spPr>
          <a:xfrm>
            <a:off x="1243440" y="3541320"/>
            <a:ext cx="3108600" cy="360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20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Causation → Interventions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8000"/>
              </a:lnSpc>
              <a:spcBef>
                <a:spcPts val="201"/>
              </a:spcBef>
            </a:pPr>
            <a:r>
              <a:rPr lang="en-US" sz="95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“what input causes it to fail?”</a:t>
            </a:r>
            <a:endParaRPr lang="en-GB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Box 13"/>
          <p:cNvSpPr/>
          <p:nvPr/>
        </p:nvSpPr>
        <p:spPr>
          <a:xfrm>
            <a:off x="8046720" y="473652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12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TextBox 1"/>
          <p:cNvSpPr/>
          <p:nvPr/>
        </p:nvSpPr>
        <p:spPr>
          <a:xfrm>
            <a:off x="548640" y="868680"/>
            <a:ext cx="80463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950" b="1" u="none" strike="noStrike" spc="241">
                <a:solidFill>
                  <a:srgbClr val="0E7C86"/>
                </a:solidFill>
                <a:effectLst/>
                <a:uFillTx/>
                <a:latin typeface="Calibri"/>
                <a:ea typeface="Calibri"/>
              </a:rPr>
              <a:t>EXAMPLES · TESTING — EXAMPLE 1</a:t>
            </a:r>
            <a:endParaRPr lang="en-GB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Box 2"/>
          <p:cNvSpPr/>
          <p:nvPr/>
        </p:nvSpPr>
        <p:spPr>
          <a:xfrm>
            <a:off x="548640" y="1124640"/>
            <a:ext cx="8046360" cy="56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4000"/>
              </a:lnSpc>
            </a:pPr>
            <a:r>
              <a:rPr lang="en-US" sz="220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A recipe for Causal Test Generation</a:t>
            </a:r>
            <a:br>
              <a:rPr sz="2200"/>
            </a:br>
            <a:r>
              <a:rPr lang="en-US" sz="140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Generating tests by intervening on a causal model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Box 3"/>
          <p:cNvSpPr/>
          <p:nvPr/>
        </p:nvSpPr>
        <p:spPr>
          <a:xfrm>
            <a:off x="548640" y="1829520"/>
            <a:ext cx="39315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18000"/>
              </a:lnSpc>
            </a:pPr>
            <a:r>
              <a:rPr lang="en-US" sz="1100" b="1" u="none" strike="noStrike">
                <a:solidFill>
                  <a:srgbClr val="D26E3A"/>
                </a:solidFill>
                <a:effectLst/>
                <a:uFillTx/>
                <a:latin typeface="Calibri"/>
                <a:ea typeface="Calibri"/>
              </a:rPr>
              <a:t>Goal.  </a:t>
            </a:r>
            <a:r>
              <a:rPr lang="en-US" sz="110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Pick inputs most likely to expose a failure instead of sampling blindly.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Oval 4"/>
          <p:cNvSpPr/>
          <p:nvPr/>
        </p:nvSpPr>
        <p:spPr>
          <a:xfrm>
            <a:off x="548640" y="2469600"/>
            <a:ext cx="310680" cy="310680"/>
          </a:xfrm>
          <a:prstGeom prst="ellipse">
            <a:avLst/>
          </a:prstGeom>
          <a:solidFill>
            <a:srgbClr val="0A5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8160" tIns="38160" rIns="38160" bIns="381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1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Box 5"/>
          <p:cNvSpPr/>
          <p:nvPr/>
        </p:nvSpPr>
        <p:spPr>
          <a:xfrm>
            <a:off x="1005840" y="2432880"/>
            <a:ext cx="34743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8000"/>
              </a:lnSpc>
            </a:pPr>
            <a:r>
              <a:rPr lang="en-US" sz="1050" b="1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Model  </a:t>
            </a:r>
            <a:r>
              <a:rPr lang="en-US" sz="950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— over inputs, internal factors, and the outcome</a:t>
            </a:r>
            <a:endParaRPr lang="en-GB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Oval 6"/>
          <p:cNvSpPr/>
          <p:nvPr/>
        </p:nvSpPr>
        <p:spPr>
          <a:xfrm>
            <a:off x="548640" y="2926800"/>
            <a:ext cx="310680" cy="31068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8160" tIns="38160" rIns="38160" bIns="381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2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Box 7"/>
          <p:cNvSpPr/>
          <p:nvPr/>
        </p:nvSpPr>
        <p:spPr>
          <a:xfrm>
            <a:off x="1005840" y="2890080"/>
            <a:ext cx="34743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8000"/>
              </a:lnSpc>
            </a:pPr>
            <a:r>
              <a:rPr lang="en-US" sz="1050" b="1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Learn  </a:t>
            </a:r>
            <a:r>
              <a:rPr lang="en-US" sz="950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— fit from a few runs or domain knowledge</a:t>
            </a:r>
            <a:endParaRPr lang="en-GB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Oval 8"/>
          <p:cNvSpPr/>
          <p:nvPr/>
        </p:nvSpPr>
        <p:spPr>
          <a:xfrm>
            <a:off x="548640" y="3384000"/>
            <a:ext cx="310680" cy="310680"/>
          </a:xfrm>
          <a:prstGeom prst="ellipse">
            <a:avLst/>
          </a:prstGeom>
          <a:solidFill>
            <a:srgbClr val="D26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8160" tIns="38160" rIns="38160" bIns="381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3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Box 9"/>
          <p:cNvSpPr/>
          <p:nvPr/>
        </p:nvSpPr>
        <p:spPr>
          <a:xfrm>
            <a:off x="1005840" y="3347280"/>
            <a:ext cx="34743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8000"/>
              </a:lnSpc>
            </a:pPr>
            <a:r>
              <a:rPr lang="en-US" sz="1050" b="1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Intervene  </a:t>
            </a:r>
            <a:r>
              <a:rPr lang="en-US" sz="950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— query do(input = x) to predict the outcome</a:t>
            </a:r>
            <a:endParaRPr lang="en-GB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Oval 10"/>
          <p:cNvSpPr/>
          <p:nvPr/>
        </p:nvSpPr>
        <p:spPr>
          <a:xfrm>
            <a:off x="548640" y="3841200"/>
            <a:ext cx="310680" cy="310680"/>
          </a:xfrm>
          <a:prstGeom prst="ellipse">
            <a:avLst/>
          </a:prstGeom>
          <a:solidFill>
            <a:srgbClr val="4A9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8160" tIns="38160" rIns="38160" bIns="381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4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Box 11"/>
          <p:cNvSpPr/>
          <p:nvPr/>
        </p:nvSpPr>
        <p:spPr>
          <a:xfrm>
            <a:off x="1005840" y="3804480"/>
            <a:ext cx="34743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8000"/>
              </a:lnSpc>
            </a:pPr>
            <a:r>
              <a:rPr lang="en-US" sz="1050" b="1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Select  </a:t>
            </a:r>
            <a:r>
              <a:rPr lang="en-US" sz="950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— run only configs predicted to breach the requirement</a:t>
            </a:r>
            <a:endParaRPr lang="en-GB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Rounded Rectangle 12"/>
          <p:cNvSpPr/>
          <p:nvPr/>
        </p:nvSpPr>
        <p:spPr>
          <a:xfrm>
            <a:off x="4617720" y="1821960"/>
            <a:ext cx="3977280" cy="1599840"/>
          </a:xfrm>
          <a:prstGeom prst="roundRect">
            <a:avLst>
              <a:gd name="adj" fmla="val 5000"/>
            </a:avLst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cxnSp>
        <p:nvCxnSpPr>
          <p:cNvPr id="274" name="Connector 13"/>
          <p:cNvCxnSpPr/>
          <p:nvPr/>
        </p:nvCxnSpPr>
        <p:spPr>
          <a:xfrm>
            <a:off x="5806440" y="2462040"/>
            <a:ext cx="366120" cy="201600"/>
          </a:xfrm>
          <a:prstGeom prst="straightConnector1">
            <a:avLst/>
          </a:prstGeom>
          <a:ln w="16510">
            <a:solidFill>
              <a:srgbClr val="0E7C86"/>
            </a:solidFill>
            <a:tailEnd type="triangle" w="med" len="med"/>
          </a:ln>
        </p:spPr>
      </p:cxnSp>
      <p:cxnSp>
        <p:nvCxnSpPr>
          <p:cNvPr id="275" name="Connector 14"/>
          <p:cNvCxnSpPr/>
          <p:nvPr/>
        </p:nvCxnSpPr>
        <p:spPr>
          <a:xfrm flipV="1">
            <a:off x="5806440" y="2773080"/>
            <a:ext cx="366120" cy="192240"/>
          </a:xfrm>
          <a:prstGeom prst="straightConnector1">
            <a:avLst/>
          </a:prstGeom>
          <a:ln w="16510">
            <a:solidFill>
              <a:srgbClr val="0E7C86"/>
            </a:solidFill>
            <a:tailEnd type="triangle" w="med" len="med"/>
          </a:ln>
        </p:spPr>
      </p:cxnSp>
      <p:cxnSp>
        <p:nvCxnSpPr>
          <p:cNvPr id="276" name="Connector 15"/>
          <p:cNvCxnSpPr/>
          <p:nvPr/>
        </p:nvCxnSpPr>
        <p:spPr>
          <a:xfrm>
            <a:off x="7086600" y="2718000"/>
            <a:ext cx="320400" cy="360"/>
          </a:xfrm>
          <a:prstGeom prst="straightConnector1">
            <a:avLst/>
          </a:prstGeom>
          <a:ln>
            <a:solidFill>
              <a:srgbClr val="D26E3A"/>
            </a:solidFill>
            <a:tailEnd type="triangle" w="med" len="med"/>
          </a:ln>
        </p:spPr>
      </p:cxnSp>
      <p:sp>
        <p:nvSpPr>
          <p:cNvPr id="277" name="Rectangle 16"/>
          <p:cNvSpPr/>
          <p:nvPr/>
        </p:nvSpPr>
        <p:spPr>
          <a:xfrm>
            <a:off x="4892040" y="2279160"/>
            <a:ext cx="914040" cy="365400"/>
          </a:xfrm>
          <a:prstGeom prst="rect">
            <a:avLst/>
          </a:prstGeom>
          <a:solidFill>
            <a:srgbClr val="5966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8160" tIns="38160" rIns="38160" bIns="381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input A</a:t>
            </a:r>
            <a:endParaRPr lang="en-GB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Rectangle 17"/>
          <p:cNvSpPr/>
          <p:nvPr/>
        </p:nvSpPr>
        <p:spPr>
          <a:xfrm>
            <a:off x="4892040" y="2782080"/>
            <a:ext cx="914040" cy="365400"/>
          </a:xfrm>
          <a:prstGeom prst="rect">
            <a:avLst/>
          </a:prstGeom>
          <a:solidFill>
            <a:srgbClr val="5966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8160" tIns="38160" rIns="38160" bIns="381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input B</a:t>
            </a:r>
            <a:endParaRPr lang="en-GB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Rectangle 18"/>
          <p:cNvSpPr/>
          <p:nvPr/>
        </p:nvSpPr>
        <p:spPr>
          <a:xfrm>
            <a:off x="6172200" y="2535480"/>
            <a:ext cx="914040" cy="36540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8160" tIns="38160" rIns="38160" bIns="381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factor</a:t>
            </a:r>
            <a:endParaRPr lang="en-GB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Rectangle 19"/>
          <p:cNvSpPr/>
          <p:nvPr/>
        </p:nvSpPr>
        <p:spPr>
          <a:xfrm>
            <a:off x="7406640" y="2535480"/>
            <a:ext cx="914040" cy="365400"/>
          </a:xfrm>
          <a:prstGeom prst="rect">
            <a:avLst/>
          </a:prstGeom>
          <a:solidFill>
            <a:srgbClr val="D26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8160" tIns="38160" rIns="38160" bIns="381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outcome</a:t>
            </a:r>
            <a:endParaRPr lang="en-GB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Rounded Rectangle 20"/>
          <p:cNvSpPr/>
          <p:nvPr/>
        </p:nvSpPr>
        <p:spPr>
          <a:xfrm>
            <a:off x="4617720" y="3531960"/>
            <a:ext cx="3977280" cy="868320"/>
          </a:xfrm>
          <a:prstGeom prst="roundRect">
            <a:avLst>
              <a:gd name="adj" fmla="val 6000"/>
            </a:avLst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8160" tIns="38160" rIns="38160" bIns="38160" anchor="ctr">
            <a:noAutofit/>
          </a:bodyPr>
          <a:lstStyle/>
          <a:p>
            <a:pPr defTabSz="914400">
              <a:lnSpc>
                <a:spcPct val="118000"/>
              </a:lnSpc>
            </a:pPr>
            <a:r>
              <a:rPr lang="en-US" sz="1100" b="1" u="none" strike="noStrike">
                <a:solidFill>
                  <a:srgbClr val="A9CFD0"/>
                </a:solidFill>
                <a:effectLst/>
                <a:uFillTx/>
                <a:latin typeface="Consolas"/>
                <a:ea typeface="Consolas"/>
              </a:rPr>
              <a:t>P(Y | X=x)</a:t>
            </a: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 vs </a:t>
            </a:r>
            <a:r>
              <a:rPr lang="en-US" sz="1100" b="1" u="none" strike="noStrike">
                <a:solidFill>
                  <a:srgbClr val="4A9E99"/>
                </a:solidFill>
                <a:effectLst/>
                <a:uFillTx/>
                <a:latin typeface="Consolas"/>
                <a:ea typeface="Consolas"/>
              </a:rPr>
              <a:t>P(Y | do(X=x))</a:t>
            </a:r>
            <a:endParaRPr lang="en-GB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</a:pPr>
            <a:r>
              <a:rPr lang="en-US" sz="850" b="0" u="none" strike="noStrike">
                <a:solidFill>
                  <a:srgbClr val="C9D6DF"/>
                </a:solidFill>
                <a:effectLst/>
                <a:uFillTx/>
                <a:latin typeface="Calibri"/>
                <a:ea typeface="Calibri"/>
              </a:rPr>
              <a:t>Observing vs. setting — only do(·) reveals which inputs cause the failure.</a:t>
            </a:r>
            <a:endParaRPr lang="en-GB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Box 21"/>
          <p:cNvSpPr/>
          <p:nvPr/>
        </p:nvSpPr>
        <p:spPr>
          <a:xfrm>
            <a:off x="548640" y="4304880"/>
            <a:ext cx="80463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900" b="0" i="1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Reusable wherever inputs map to a measurable requirement.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Box 22"/>
          <p:cNvSpPr/>
          <p:nvPr/>
        </p:nvSpPr>
        <p:spPr>
          <a:xfrm>
            <a:off x="8046720" y="473652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14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TextBox 1"/>
          <p:cNvSpPr/>
          <p:nvPr/>
        </p:nvSpPr>
        <p:spPr>
          <a:xfrm>
            <a:off x="548640" y="868680"/>
            <a:ext cx="80463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950" b="1" u="none" strike="noStrike" spc="241">
                <a:solidFill>
                  <a:srgbClr val="0E7C86"/>
                </a:solidFill>
                <a:effectLst/>
                <a:uFillTx/>
                <a:latin typeface="Calibri"/>
                <a:ea typeface="Calibri"/>
              </a:rPr>
              <a:t>EXAMPLE 1 · IN PRACTICE</a:t>
            </a:r>
            <a:endParaRPr lang="en-GB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Box 2"/>
          <p:cNvSpPr/>
          <p:nvPr/>
        </p:nvSpPr>
        <p:spPr>
          <a:xfrm>
            <a:off x="548640" y="1124640"/>
            <a:ext cx="804636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4000"/>
              </a:lnSpc>
            </a:pPr>
            <a:r>
              <a:rPr lang="en-US" sz="220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Concretely: testing a self-driving car in a simulator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Box 3"/>
          <p:cNvSpPr/>
          <p:nvPr/>
        </p:nvSpPr>
        <p:spPr>
          <a:xfrm>
            <a:off x="548640" y="1508760"/>
            <a:ext cx="393156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16000"/>
              </a:lnSpc>
            </a:pPr>
            <a:r>
              <a:rPr lang="en-US" sz="1050" b="1" u="none" strike="noStrike">
                <a:solidFill>
                  <a:srgbClr val="D26E3A"/>
                </a:solidFill>
                <a:effectLst/>
                <a:uFillTx/>
                <a:latin typeface="Calibri"/>
                <a:ea typeface="Calibri"/>
              </a:rPr>
              <a:t>Setup.  </a:t>
            </a:r>
            <a:r>
              <a:rPr lang="en-US" sz="105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A simulator with ~16 scene inputs and a safety requirement: </a:t>
            </a:r>
            <a:r>
              <a:rPr lang="en-US" sz="1050" b="1" u="none" strike="noStrike">
                <a:solidFill>
                  <a:srgbClr val="0E7C86"/>
                </a:solidFill>
                <a:effectLst/>
                <a:uFillTx/>
                <a:latin typeface="Calibri"/>
                <a:ea typeface="Calibri"/>
              </a:rPr>
              <a:t>staying in lane (DCL)</a:t>
            </a:r>
            <a:r>
              <a:rPr lang="en-US" sz="105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Rounded Rectangle 4"/>
          <p:cNvSpPr/>
          <p:nvPr/>
        </p:nvSpPr>
        <p:spPr>
          <a:xfrm>
            <a:off x="548640" y="2331720"/>
            <a:ext cx="3931560" cy="1554120"/>
          </a:xfrm>
          <a:prstGeom prst="roundRect">
            <a:avLst>
              <a:gd name="adj" fmla="val 5000"/>
            </a:avLst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288" name="TextBox 5"/>
          <p:cNvSpPr/>
          <p:nvPr/>
        </p:nvSpPr>
        <p:spPr>
          <a:xfrm>
            <a:off x="777240" y="2468880"/>
            <a:ext cx="34743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00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Learned causal model (excerpt)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Rectangle 9"/>
          <p:cNvSpPr/>
          <p:nvPr/>
        </p:nvSpPr>
        <p:spPr>
          <a:xfrm>
            <a:off x="698400" y="2793960"/>
            <a:ext cx="863280" cy="279000"/>
          </a:xfrm>
          <a:prstGeom prst="rect">
            <a:avLst/>
          </a:prstGeom>
          <a:solidFill>
            <a:srgbClr val="5966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8160" tIns="38160" rIns="38160" bIns="381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weather</a:t>
            </a:r>
            <a:endParaRPr lang="en-GB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Rectangle 10"/>
          <p:cNvSpPr/>
          <p:nvPr/>
        </p:nvSpPr>
        <p:spPr>
          <a:xfrm>
            <a:off x="1905120" y="2793960"/>
            <a:ext cx="939600" cy="279000"/>
          </a:xfrm>
          <a:prstGeom prst="rect">
            <a:avLst/>
          </a:prstGeom>
          <a:solidFill>
            <a:srgbClr val="5966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8160" tIns="38160" rIns="38160" bIns="381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road</a:t>
            </a:r>
            <a:endParaRPr lang="en-GB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Rectangle 11"/>
          <p:cNvSpPr/>
          <p:nvPr/>
        </p:nvSpPr>
        <p:spPr>
          <a:xfrm>
            <a:off x="698400" y="3174840"/>
            <a:ext cx="863280" cy="27900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8160" tIns="38160" rIns="38160" bIns="381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speed</a:t>
            </a:r>
            <a:endParaRPr lang="en-GB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Rectangle 12"/>
          <p:cNvSpPr/>
          <p:nvPr/>
        </p:nvSpPr>
        <p:spPr>
          <a:xfrm>
            <a:off x="1206360" y="3530520"/>
            <a:ext cx="888480" cy="27900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8160" tIns="38160" rIns="38160" bIns="381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FPS</a:t>
            </a:r>
            <a:endParaRPr lang="en-GB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Rectangle 13"/>
          <p:cNvSpPr/>
          <p:nvPr/>
        </p:nvSpPr>
        <p:spPr>
          <a:xfrm>
            <a:off x="3238560" y="3479760"/>
            <a:ext cx="990360" cy="329760"/>
          </a:xfrm>
          <a:prstGeom prst="rect">
            <a:avLst/>
          </a:prstGeom>
          <a:solidFill>
            <a:srgbClr val="D26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8160" tIns="38160" rIns="38160" bIns="381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DCL</a:t>
            </a:r>
            <a:endParaRPr lang="en-GB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Rounded Rectangle 14"/>
          <p:cNvSpPr/>
          <p:nvPr/>
        </p:nvSpPr>
        <p:spPr>
          <a:xfrm>
            <a:off x="4617720" y="1508760"/>
            <a:ext cx="3977280" cy="1416960"/>
          </a:xfrm>
          <a:prstGeom prst="roundRect">
            <a:avLst>
              <a:gd name="adj" fmla="val 5000"/>
            </a:avLst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295" name="TextBox 15"/>
          <p:cNvSpPr/>
          <p:nvPr/>
        </p:nvSpPr>
        <p:spPr>
          <a:xfrm>
            <a:off x="4892040" y="1645920"/>
            <a:ext cx="3428640" cy="118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A counterfactual question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4000"/>
              </a:lnSpc>
              <a:spcBef>
                <a:spcPts val="700"/>
              </a:spcBef>
            </a:pPr>
            <a:r>
              <a:rPr lang="en-US" sz="900" b="1" u="none" strike="noStrike">
                <a:solidFill>
                  <a:srgbClr val="A9CFD0"/>
                </a:solidFill>
                <a:effectLst/>
                <a:uFillTx/>
                <a:latin typeface="Consolas"/>
                <a:ea typeface="Consolas"/>
              </a:rPr>
              <a:t>Observed: </a:t>
            </a:r>
            <a:r>
              <a:rPr lang="en-US" sz="850" b="0" u="none" strike="noStrike">
                <a:solidFill>
                  <a:srgbClr val="C9D6DF"/>
                </a:solidFill>
                <a:effectLst/>
                <a:uFillTx/>
                <a:latin typeface="Consolas"/>
                <a:ea typeface="Consolas"/>
              </a:rPr>
              <a:t>rain, curved, FPS=30 → safe</a:t>
            </a:r>
            <a:endParaRPr lang="en-GB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4000"/>
              </a:lnSpc>
              <a:spcBef>
                <a:spcPts val="499"/>
              </a:spcBef>
            </a:pPr>
            <a:r>
              <a:rPr lang="en-US" sz="900" b="1" u="none" strike="noStrike">
                <a:solidFill>
                  <a:srgbClr val="4A9E99"/>
                </a:solidFill>
                <a:effectLst/>
                <a:uFillTx/>
                <a:latin typeface="Consolas"/>
                <a:ea typeface="Consolas"/>
              </a:rPr>
              <a:t>Counterfactual: </a:t>
            </a:r>
            <a:r>
              <a:rPr lang="en-US" sz="850" b="0" u="none" strike="noStrike">
                <a:solidFill>
                  <a:srgbClr val="C9D6DF"/>
                </a:solidFill>
                <a:effectLst/>
                <a:uFillTx/>
                <a:latin typeface="Consolas"/>
                <a:ea typeface="Consolas"/>
              </a:rPr>
              <a:t>had FPS been 20?</a:t>
            </a:r>
            <a:endParaRPr lang="en-GB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Rounded Rectangle 16"/>
          <p:cNvSpPr/>
          <p:nvPr/>
        </p:nvSpPr>
        <p:spPr>
          <a:xfrm>
            <a:off x="4622760" y="2997360"/>
            <a:ext cx="3974760" cy="761760"/>
          </a:xfrm>
          <a:prstGeom prst="roundRect">
            <a:avLst>
              <a:gd name="adj" fmla="val 6000"/>
            </a:avLst>
          </a:prstGeom>
          <a:solidFill>
            <a:srgbClr val="F8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8160" tIns="38160" rIns="38160" bIns="38160" anchor="ctr">
            <a:noAutofit/>
          </a:bodyPr>
          <a:lstStyle/>
          <a:p>
            <a:pPr defTabSz="914400">
              <a:lnSpc>
                <a:spcPct val="118000"/>
              </a:lnSpc>
            </a:pPr>
            <a:r>
              <a:rPr lang="en-US" sz="1000" b="0" u="none" strike="noStrike">
                <a:solidFill>
                  <a:srgbClr val="7A8794"/>
                </a:solidFill>
                <a:effectLst/>
                <a:uFillTx/>
                <a:latin typeface="Consolas"/>
                <a:ea typeface="Consolas"/>
              </a:rPr>
              <a:t>naïve : P(DCL&gt;thr | FPS=20)     = 0.85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spcBef>
                <a:spcPts val="201"/>
              </a:spcBef>
            </a:pPr>
            <a:r>
              <a:rPr lang="en-US" sz="1000" b="1" u="none" strike="noStrike">
                <a:solidFill>
                  <a:srgbClr val="1E3A5F"/>
                </a:solidFill>
                <a:effectLst/>
                <a:uFillTx/>
                <a:latin typeface="Consolas"/>
                <a:ea typeface="Consolas"/>
              </a:rPr>
              <a:t>causal: P(DCL&gt;thr | do(FPS=20)) = 0.55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Box 27"/>
          <p:cNvSpPr/>
          <p:nvPr/>
        </p:nvSpPr>
        <p:spPr>
          <a:xfrm>
            <a:off x="8046720" y="473652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15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Citation 29"/>
          <p:cNvSpPr/>
          <p:nvPr/>
        </p:nvSpPr>
        <p:spPr>
          <a:xfrm>
            <a:off x="548640" y="4554720"/>
            <a:ext cx="82296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750" b="0" i="1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Concrete example after: Giamattei et al., Causality-driven Testing of Autonomous Driving Systems (ACM TOSEM 33(3), 2024).</a:t>
            </a:r>
            <a:endParaRPr lang="en-GB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CasellaDiTesto 29"/>
          <p:cNvSpPr/>
          <p:nvPr/>
        </p:nvSpPr>
        <p:spPr>
          <a:xfrm>
            <a:off x="4876920" y="3784680"/>
            <a:ext cx="3809520" cy="60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8000"/>
              </a:lnSpc>
            </a:pPr>
            <a:r>
              <a:rPr lang="en-US" sz="1000" b="0" i="1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Road confounds FPS → DCL — adjusting for it makes do(FPS) ≠ P(DCL | FPS). That 0.85→0.55 gap is the causal payoff.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00" name="Connector 7"/>
          <p:cNvCxnSpPr/>
          <p:nvPr/>
        </p:nvCxnSpPr>
        <p:spPr>
          <a:xfrm>
            <a:off x="1130040" y="3073320"/>
            <a:ext cx="13320" cy="101880"/>
          </a:xfrm>
          <a:prstGeom prst="straightConnector1">
            <a:avLst/>
          </a:prstGeom>
          <a:ln w="15240" cap="rnd">
            <a:solidFill>
              <a:srgbClr val="0E7C86"/>
            </a:solidFill>
            <a:round/>
            <a:tailEnd type="triangle" w="med" len="med"/>
          </a:ln>
        </p:spPr>
      </p:cxnSp>
      <p:cxnSp>
        <p:nvCxnSpPr>
          <p:cNvPr id="301" name="Connector 8"/>
          <p:cNvCxnSpPr/>
          <p:nvPr/>
        </p:nvCxnSpPr>
        <p:spPr>
          <a:xfrm>
            <a:off x="1562040" y="3314520"/>
            <a:ext cx="1676520" cy="292320"/>
          </a:xfrm>
          <a:prstGeom prst="straightConnector1">
            <a:avLst/>
          </a:prstGeom>
          <a:ln w="15240" cap="rnd">
            <a:solidFill>
              <a:srgbClr val="0E7C86"/>
            </a:solidFill>
            <a:round/>
            <a:tailEnd type="triangle" w="med" len="med"/>
          </a:ln>
        </p:spPr>
      </p:cxnSp>
      <p:cxnSp>
        <p:nvCxnSpPr>
          <p:cNvPr id="302" name="Connector 40"/>
          <p:cNvCxnSpPr/>
          <p:nvPr/>
        </p:nvCxnSpPr>
        <p:spPr>
          <a:xfrm flipH="1">
            <a:off x="1714320" y="3073320"/>
            <a:ext cx="317880" cy="457560"/>
          </a:xfrm>
          <a:prstGeom prst="straightConnector1">
            <a:avLst/>
          </a:prstGeom>
          <a:ln w="17780" cap="rnd">
            <a:solidFill>
              <a:srgbClr val="596672"/>
            </a:solidFill>
            <a:round/>
            <a:tailEnd type="triangle" w="med" len="med"/>
          </a:ln>
        </p:spPr>
      </p:cxnSp>
      <p:cxnSp>
        <p:nvCxnSpPr>
          <p:cNvPr id="303" name="Connector 41"/>
          <p:cNvCxnSpPr/>
          <p:nvPr/>
        </p:nvCxnSpPr>
        <p:spPr>
          <a:xfrm>
            <a:off x="2717640" y="3073320"/>
            <a:ext cx="736920" cy="406800"/>
          </a:xfrm>
          <a:prstGeom prst="straightConnector1">
            <a:avLst/>
          </a:prstGeom>
          <a:ln w="17780" cap="rnd">
            <a:solidFill>
              <a:srgbClr val="596672"/>
            </a:solidFill>
            <a:round/>
            <a:tailEnd type="triangle" w="med" len="med"/>
          </a:ln>
        </p:spPr>
      </p:cxnSp>
      <p:cxnSp>
        <p:nvCxnSpPr>
          <p:cNvPr id="304" name="Connector 9"/>
          <p:cNvCxnSpPr/>
          <p:nvPr/>
        </p:nvCxnSpPr>
        <p:spPr>
          <a:xfrm flipV="1">
            <a:off x="2095200" y="3644640"/>
            <a:ext cx="1143360" cy="25920"/>
          </a:xfrm>
          <a:prstGeom prst="straightConnector1">
            <a:avLst/>
          </a:prstGeom>
          <a:ln w="17780" cap="rnd">
            <a:solidFill>
              <a:srgbClr val="D26E3A"/>
            </a:solidFill>
            <a:round/>
            <a:tailEnd type="triangle" w="med" len="med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TextBox 1"/>
          <p:cNvSpPr/>
          <p:nvPr/>
        </p:nvSpPr>
        <p:spPr>
          <a:xfrm>
            <a:off x="548640" y="868680"/>
            <a:ext cx="80463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950" b="1" u="none" strike="noStrike" spc="241">
                <a:solidFill>
                  <a:srgbClr val="0E7C86"/>
                </a:solidFill>
                <a:effectLst/>
                <a:uFillTx/>
                <a:latin typeface="Calibri"/>
                <a:ea typeface="Calibri"/>
              </a:rPr>
              <a:t>EXAMPLES · TESTING — EXAMPLE 2</a:t>
            </a:r>
            <a:endParaRPr lang="en-GB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Box 2"/>
          <p:cNvSpPr/>
          <p:nvPr/>
        </p:nvSpPr>
        <p:spPr>
          <a:xfrm>
            <a:off x="548640" y="1124640"/>
            <a:ext cx="804636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4000"/>
              </a:lnSpc>
            </a:pPr>
            <a:r>
              <a:rPr lang="en-US" sz="220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The same recipe for non-functional testing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Box 3"/>
          <p:cNvSpPr/>
          <p:nvPr/>
        </p:nvSpPr>
        <p:spPr>
          <a:xfrm>
            <a:off x="548640" y="1600200"/>
            <a:ext cx="3931560" cy="219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20000"/>
              </a:lnSpc>
            </a:pPr>
            <a:r>
              <a:rPr lang="en-US" sz="110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Testing is also about </a:t>
            </a:r>
            <a:r>
              <a:rPr lang="en-US" sz="1100" b="1" u="none" strike="noStrike">
                <a:solidFill>
                  <a:srgbClr val="0E7C86"/>
                </a:solidFill>
                <a:effectLst/>
                <a:uFillTx/>
                <a:latin typeface="Calibri"/>
                <a:ea typeface="Calibri"/>
              </a:rPr>
              <a:t>planning what-if scenarios</a:t>
            </a:r>
            <a:r>
              <a:rPr lang="en-US" sz="110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spcBef>
                <a:spcPts val="799"/>
              </a:spcBef>
            </a:pPr>
            <a:r>
              <a:rPr lang="en-US" sz="1050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Keep the Example 1 recipe; just </a:t>
            </a:r>
            <a:r>
              <a:rPr lang="en-US" sz="1050" b="1" u="none" strike="noStrike">
                <a:solidFill>
                  <a:srgbClr val="D26E3A"/>
                </a:solidFill>
                <a:effectLst/>
                <a:uFillTx/>
                <a:latin typeface="Calibri"/>
                <a:ea typeface="Calibri"/>
              </a:rPr>
              <a:t>change the outcome variable</a:t>
            </a:r>
            <a:r>
              <a:rPr lang="en-US" sz="1050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: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Rounded Rectangle 4"/>
          <p:cNvSpPr/>
          <p:nvPr/>
        </p:nvSpPr>
        <p:spPr>
          <a:xfrm>
            <a:off x="548640" y="2743200"/>
            <a:ext cx="3931560" cy="685440"/>
          </a:xfrm>
          <a:prstGeom prst="roundRect">
            <a:avLst>
              <a:gd name="adj" fmla="val 8000"/>
            </a:avLst>
          </a:prstGeom>
          <a:solidFill>
            <a:srgbClr val="EA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8160" tIns="38160" rIns="38160" bIns="38160" anchor="ctr">
            <a:noAutofit/>
          </a:bodyPr>
          <a:lstStyle/>
          <a:p>
            <a:pPr defTabSz="914400">
              <a:lnSpc>
                <a:spcPct val="116000"/>
              </a:lnSpc>
            </a:pPr>
            <a:r>
              <a:rPr lang="en-US" sz="1100" b="1" i="1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“Which workloads push latency past the threshold?”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Rounded Rectangle 5"/>
          <p:cNvSpPr/>
          <p:nvPr/>
        </p:nvSpPr>
        <p:spPr>
          <a:xfrm>
            <a:off x="4617720" y="1600200"/>
            <a:ext cx="3977280" cy="712800"/>
          </a:xfrm>
          <a:prstGeom prst="roundRect">
            <a:avLst>
              <a:gd name="adj" fmla="val 7000"/>
            </a:avLst>
          </a:prstGeom>
          <a:solidFill>
            <a:srgbClr val="F8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10" name="Oval 6"/>
          <p:cNvSpPr/>
          <p:nvPr/>
        </p:nvSpPr>
        <p:spPr>
          <a:xfrm>
            <a:off x="4818960" y="1810440"/>
            <a:ext cx="292320" cy="292320"/>
          </a:xfrm>
          <a:prstGeom prst="ellipse">
            <a:avLst/>
          </a:prstGeom>
          <a:solidFill>
            <a:srgbClr val="D26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11" name="TextBox 7"/>
          <p:cNvSpPr/>
          <p:nvPr/>
        </p:nvSpPr>
        <p:spPr>
          <a:xfrm>
            <a:off x="5257800" y="1691640"/>
            <a:ext cx="315432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15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Functional</a:t>
            </a:r>
            <a:endParaRPr lang="en-GB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8000"/>
              </a:lnSpc>
              <a:spcBef>
                <a:spcPts val="201"/>
              </a:spcBef>
            </a:pPr>
            <a:r>
              <a:rPr lang="en-US" sz="95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outcome = requirement violated</a:t>
            </a:r>
            <a:endParaRPr lang="en-GB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Rounded Rectangle 8"/>
          <p:cNvSpPr/>
          <p:nvPr/>
        </p:nvSpPr>
        <p:spPr>
          <a:xfrm>
            <a:off x="4617720" y="2459880"/>
            <a:ext cx="3977280" cy="712800"/>
          </a:xfrm>
          <a:prstGeom prst="roundRect">
            <a:avLst>
              <a:gd name="adj" fmla="val 7000"/>
            </a:avLst>
          </a:prstGeom>
          <a:solidFill>
            <a:srgbClr val="EA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13" name="Oval 9"/>
          <p:cNvSpPr/>
          <p:nvPr/>
        </p:nvSpPr>
        <p:spPr>
          <a:xfrm>
            <a:off x="4818960" y="2670120"/>
            <a:ext cx="292320" cy="29232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14" name="TextBox 10"/>
          <p:cNvSpPr/>
          <p:nvPr/>
        </p:nvSpPr>
        <p:spPr>
          <a:xfrm>
            <a:off x="5257800" y="2551320"/>
            <a:ext cx="315432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15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Performance</a:t>
            </a:r>
            <a:endParaRPr lang="en-GB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8000"/>
              </a:lnSpc>
              <a:spcBef>
                <a:spcPts val="201"/>
              </a:spcBef>
            </a:pPr>
            <a:r>
              <a:rPr lang="en-US" sz="95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outcome = latency past threshold</a:t>
            </a:r>
            <a:endParaRPr lang="en-GB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Rounded Rectangle 11"/>
          <p:cNvSpPr/>
          <p:nvPr/>
        </p:nvSpPr>
        <p:spPr>
          <a:xfrm>
            <a:off x="4617720" y="3319200"/>
            <a:ext cx="3977280" cy="712800"/>
          </a:xfrm>
          <a:prstGeom prst="roundRect">
            <a:avLst>
              <a:gd name="adj" fmla="val 7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16" name="Oval 12"/>
          <p:cNvSpPr/>
          <p:nvPr/>
        </p:nvSpPr>
        <p:spPr>
          <a:xfrm>
            <a:off x="4818960" y="3529440"/>
            <a:ext cx="292320" cy="292320"/>
          </a:xfrm>
          <a:prstGeom prst="ellipse">
            <a:avLst/>
          </a:prstGeom>
          <a:solidFill>
            <a:srgbClr val="4A9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17" name="TextBox 13"/>
          <p:cNvSpPr/>
          <p:nvPr/>
        </p:nvSpPr>
        <p:spPr>
          <a:xfrm>
            <a:off x="5257800" y="3410640"/>
            <a:ext cx="315432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15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Fairness, energy…</a:t>
            </a:r>
            <a:endParaRPr lang="en-GB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8000"/>
              </a:lnSpc>
              <a:spcBef>
                <a:spcPts val="201"/>
              </a:spcBef>
            </a:pPr>
            <a:r>
              <a:rPr lang="en-US" sz="95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outcome = any quality metric</a:t>
            </a:r>
            <a:endParaRPr lang="en-GB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Box 15"/>
          <p:cNvSpPr/>
          <p:nvPr/>
        </p:nvSpPr>
        <p:spPr>
          <a:xfrm>
            <a:off x="8046720" y="473652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16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TextBox 1"/>
          <p:cNvSpPr/>
          <p:nvPr/>
        </p:nvSpPr>
        <p:spPr>
          <a:xfrm>
            <a:off x="548640" y="868680"/>
            <a:ext cx="80463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950" b="1" u="none" strike="noStrike" spc="241">
                <a:solidFill>
                  <a:srgbClr val="0E7C86"/>
                </a:solidFill>
                <a:effectLst/>
                <a:uFillTx/>
                <a:latin typeface="Calibri"/>
                <a:ea typeface="Calibri"/>
              </a:rPr>
              <a:t>EXAMPLE 2 · IN PRACTICE</a:t>
            </a:r>
            <a:endParaRPr lang="en-GB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Box 2"/>
          <p:cNvSpPr/>
          <p:nvPr/>
        </p:nvSpPr>
        <p:spPr>
          <a:xfrm>
            <a:off x="548640" y="1124640"/>
            <a:ext cx="804636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4000"/>
              </a:lnSpc>
            </a:pPr>
            <a:r>
              <a:rPr lang="en-US" sz="220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Concretely: which workload breaches the SLO?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Box 3"/>
          <p:cNvSpPr/>
          <p:nvPr/>
        </p:nvSpPr>
        <p:spPr>
          <a:xfrm>
            <a:off x="548640" y="1554480"/>
            <a:ext cx="393156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18000"/>
              </a:lnSpc>
            </a:pPr>
            <a:r>
              <a:rPr lang="en-US" sz="1050" b="1" u="none" strike="noStrike">
                <a:solidFill>
                  <a:srgbClr val="D26E3A"/>
                </a:solidFill>
                <a:effectLst/>
                <a:uFillTx/>
                <a:latin typeface="Calibri"/>
                <a:ea typeface="Calibri"/>
              </a:rPr>
              <a:t>Setup.  </a:t>
            </a:r>
            <a:r>
              <a:rPr lang="en-US" sz="105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A microservice under load. The model links workload &amp; resources to </a:t>
            </a:r>
            <a:r>
              <a:rPr lang="en-US" sz="1050" b="1" u="none" strike="noStrike">
                <a:solidFill>
                  <a:srgbClr val="0E7C86"/>
                </a:solidFill>
                <a:effectLst/>
                <a:uFillTx/>
                <a:latin typeface="Calibri"/>
                <a:ea typeface="Calibri"/>
              </a:rPr>
              <a:t>p99 latency</a:t>
            </a:r>
            <a:r>
              <a:rPr lang="en-US" sz="105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Rounded Rectangle 4"/>
          <p:cNvSpPr/>
          <p:nvPr/>
        </p:nvSpPr>
        <p:spPr>
          <a:xfrm>
            <a:off x="548640" y="2468880"/>
            <a:ext cx="3931560" cy="1371240"/>
          </a:xfrm>
          <a:prstGeom prst="roundRect">
            <a:avLst>
              <a:gd name="adj" fmla="val 5000"/>
            </a:avLst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23" name="TextBox 5"/>
          <p:cNvSpPr/>
          <p:nvPr/>
        </p:nvSpPr>
        <p:spPr>
          <a:xfrm>
            <a:off x="777240" y="2587680"/>
            <a:ext cx="34743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95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Causal model over workload &amp; resources</a:t>
            </a:r>
            <a:endParaRPr lang="en-GB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24" name="Connector 6"/>
          <p:cNvCxnSpPr/>
          <p:nvPr/>
        </p:nvCxnSpPr>
        <p:spPr>
          <a:xfrm>
            <a:off x="1783080" y="3154680"/>
            <a:ext cx="320400" cy="155520"/>
          </a:xfrm>
          <a:prstGeom prst="straightConnector1">
            <a:avLst/>
          </a:prstGeom>
          <a:ln w="15240">
            <a:solidFill>
              <a:srgbClr val="0E7C86"/>
            </a:solidFill>
            <a:tailEnd type="triangle" w="med" len="med"/>
          </a:ln>
        </p:spPr>
      </p:cxnSp>
      <p:cxnSp>
        <p:nvCxnSpPr>
          <p:cNvPr id="325" name="Connector 7"/>
          <p:cNvCxnSpPr/>
          <p:nvPr/>
        </p:nvCxnSpPr>
        <p:spPr>
          <a:xfrm flipV="1">
            <a:off x="1783080" y="3419640"/>
            <a:ext cx="320400" cy="146880"/>
          </a:xfrm>
          <a:prstGeom prst="straightConnector1">
            <a:avLst/>
          </a:prstGeom>
          <a:ln w="15240">
            <a:solidFill>
              <a:srgbClr val="0E7C86"/>
            </a:solidFill>
            <a:tailEnd type="triangle" w="med" len="med"/>
          </a:ln>
        </p:spPr>
      </p:cxnSp>
      <p:cxnSp>
        <p:nvCxnSpPr>
          <p:cNvPr id="326" name="Connector 8"/>
          <p:cNvCxnSpPr/>
          <p:nvPr/>
        </p:nvCxnSpPr>
        <p:spPr>
          <a:xfrm>
            <a:off x="3062880" y="3364920"/>
            <a:ext cx="275040" cy="360"/>
          </a:xfrm>
          <a:prstGeom prst="straightConnector1">
            <a:avLst/>
          </a:prstGeom>
          <a:ln w="17780">
            <a:solidFill>
              <a:srgbClr val="D26E3A"/>
            </a:solidFill>
            <a:tailEnd type="triangle" w="med" len="med"/>
          </a:ln>
        </p:spPr>
      </p:cxnSp>
      <p:sp>
        <p:nvSpPr>
          <p:cNvPr id="327" name="Rectangle 9"/>
          <p:cNvSpPr/>
          <p:nvPr/>
        </p:nvSpPr>
        <p:spPr>
          <a:xfrm>
            <a:off x="822960" y="2971800"/>
            <a:ext cx="959760" cy="365400"/>
          </a:xfrm>
          <a:prstGeom prst="rect">
            <a:avLst/>
          </a:prstGeom>
          <a:solidFill>
            <a:srgbClr val="5966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8160" tIns="38160" rIns="38160" bIns="381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req rate</a:t>
            </a:r>
            <a:endParaRPr lang="en-GB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8" name="Rectangle 10"/>
          <p:cNvSpPr/>
          <p:nvPr/>
        </p:nvSpPr>
        <p:spPr>
          <a:xfrm>
            <a:off x="822960" y="3383280"/>
            <a:ext cx="959760" cy="365400"/>
          </a:xfrm>
          <a:prstGeom prst="rect">
            <a:avLst/>
          </a:prstGeom>
          <a:solidFill>
            <a:srgbClr val="5966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8160" tIns="38160" rIns="38160" bIns="381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replicas</a:t>
            </a:r>
            <a:endParaRPr lang="en-GB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9" name="Rectangle 11"/>
          <p:cNvSpPr/>
          <p:nvPr/>
        </p:nvSpPr>
        <p:spPr>
          <a:xfrm>
            <a:off x="2103120" y="3182040"/>
            <a:ext cx="959760" cy="36540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8160" tIns="38160" rIns="38160" bIns="381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CPU</a:t>
            </a:r>
            <a:endParaRPr lang="en-GB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Rectangle 12"/>
          <p:cNvSpPr/>
          <p:nvPr/>
        </p:nvSpPr>
        <p:spPr>
          <a:xfrm>
            <a:off x="3337560" y="3182040"/>
            <a:ext cx="959760" cy="365400"/>
          </a:xfrm>
          <a:prstGeom prst="rect">
            <a:avLst/>
          </a:prstGeom>
          <a:solidFill>
            <a:srgbClr val="D26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8160" tIns="38160" rIns="38160" bIns="381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p99 lat</a:t>
            </a:r>
            <a:endParaRPr lang="en-GB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1" name="Rounded Rectangle 13"/>
          <p:cNvSpPr/>
          <p:nvPr/>
        </p:nvSpPr>
        <p:spPr>
          <a:xfrm>
            <a:off x="4617720" y="1554480"/>
            <a:ext cx="3977280" cy="868320"/>
          </a:xfrm>
          <a:prstGeom prst="roundRect">
            <a:avLst>
              <a:gd name="adj" fmla="val 5000"/>
            </a:avLst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32" name="TextBox 14"/>
          <p:cNvSpPr/>
          <p:nvPr/>
        </p:nvSpPr>
        <p:spPr>
          <a:xfrm>
            <a:off x="4892040" y="1664280"/>
            <a:ext cx="342864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The what-if query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spcBef>
                <a:spcPts val="601"/>
              </a:spcBef>
            </a:pPr>
            <a:r>
              <a:rPr lang="en-US" sz="950" b="1" u="none" strike="noStrike">
                <a:solidFill>
                  <a:srgbClr val="4A9E99"/>
                </a:solidFill>
                <a:effectLst/>
                <a:uFillTx/>
                <a:latin typeface="Consolas"/>
                <a:ea typeface="Consolas"/>
              </a:rPr>
              <a:t>P(latency &gt; SLO | do(rate=high, replicas=2))</a:t>
            </a:r>
            <a:endParaRPr lang="en-GB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Rounded Rectangle 15"/>
          <p:cNvSpPr/>
          <p:nvPr/>
        </p:nvSpPr>
        <p:spPr>
          <a:xfrm>
            <a:off x="4617720" y="2606040"/>
            <a:ext cx="3977280" cy="273960"/>
          </a:xfrm>
          <a:prstGeom prst="roundRect">
            <a:avLst>
              <a:gd name="adj" fmla="val 3000"/>
            </a:avLst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34" name="TextBox 16"/>
          <p:cNvSpPr/>
          <p:nvPr/>
        </p:nvSpPr>
        <p:spPr>
          <a:xfrm>
            <a:off x="4754880" y="2651760"/>
            <a:ext cx="21027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intervention</a:t>
            </a:r>
            <a:endParaRPr lang="en-GB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Box 17"/>
          <p:cNvSpPr/>
          <p:nvPr/>
        </p:nvSpPr>
        <p:spPr>
          <a:xfrm>
            <a:off x="6903720" y="2651760"/>
            <a:ext cx="9140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p99</a:t>
            </a:r>
            <a:endParaRPr lang="en-GB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Box 18"/>
          <p:cNvSpPr/>
          <p:nvPr/>
        </p:nvSpPr>
        <p:spPr>
          <a:xfrm>
            <a:off x="7818120" y="2651760"/>
            <a:ext cx="7311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verdict</a:t>
            </a:r>
            <a:endParaRPr lang="en-GB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Rounded Rectangle 19"/>
          <p:cNvSpPr/>
          <p:nvPr/>
        </p:nvSpPr>
        <p:spPr>
          <a:xfrm>
            <a:off x="4617720" y="2880360"/>
            <a:ext cx="3977280" cy="328680"/>
          </a:xfrm>
          <a:prstGeom prst="roundRect">
            <a:avLst>
              <a:gd name="adj" fmla="val 0"/>
            </a:avLst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38" name="TextBox 20"/>
          <p:cNvSpPr/>
          <p:nvPr/>
        </p:nvSpPr>
        <p:spPr>
          <a:xfrm>
            <a:off x="4754880" y="2926080"/>
            <a:ext cx="21027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850" b="0" u="none" strike="noStrike">
                <a:solidFill>
                  <a:srgbClr val="1E3A5F"/>
                </a:solidFill>
                <a:effectLst/>
                <a:uFillTx/>
                <a:latin typeface="Consolas"/>
                <a:ea typeface="Consolas"/>
              </a:rPr>
              <a:t>rate ↑, replicas = 2</a:t>
            </a:r>
            <a:endParaRPr lang="en-GB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Box 21"/>
          <p:cNvSpPr/>
          <p:nvPr/>
        </p:nvSpPr>
        <p:spPr>
          <a:xfrm>
            <a:off x="6903720" y="292608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900" b="1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1.8× SLO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Rounded Rectangle 22"/>
          <p:cNvSpPr/>
          <p:nvPr/>
        </p:nvSpPr>
        <p:spPr>
          <a:xfrm>
            <a:off x="7818120" y="2935080"/>
            <a:ext cx="639720" cy="219240"/>
          </a:xfrm>
          <a:prstGeom prst="roundRect">
            <a:avLst>
              <a:gd name="adj" fmla="val 50000"/>
            </a:avLst>
          </a:prstGeom>
          <a:solidFill>
            <a:srgbClr val="D26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8160" tIns="38160" rIns="38160" bIns="381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breach</a:t>
            </a:r>
            <a:endParaRPr lang="en-GB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1" name="Rounded Rectangle 23"/>
          <p:cNvSpPr/>
          <p:nvPr/>
        </p:nvSpPr>
        <p:spPr>
          <a:xfrm>
            <a:off x="4617720" y="3209400"/>
            <a:ext cx="3977280" cy="328680"/>
          </a:xfrm>
          <a:prstGeom prst="roundRect">
            <a:avLst>
              <a:gd name="adj" fmla="val 0"/>
            </a:avLst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42" name="TextBox 24"/>
          <p:cNvSpPr/>
          <p:nvPr/>
        </p:nvSpPr>
        <p:spPr>
          <a:xfrm>
            <a:off x="4754880" y="3255120"/>
            <a:ext cx="21027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850" b="0" u="none" strike="noStrike">
                <a:solidFill>
                  <a:srgbClr val="1E3A5F"/>
                </a:solidFill>
                <a:effectLst/>
                <a:uFillTx/>
                <a:latin typeface="Consolas"/>
                <a:ea typeface="Consolas"/>
              </a:rPr>
              <a:t>rate ↑, replicas = 4</a:t>
            </a:r>
            <a:endParaRPr lang="en-GB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Box 25"/>
          <p:cNvSpPr/>
          <p:nvPr/>
        </p:nvSpPr>
        <p:spPr>
          <a:xfrm>
            <a:off x="6903720" y="32551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900" b="1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0.9× SLO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Rounded Rectangle 26"/>
          <p:cNvSpPr/>
          <p:nvPr/>
        </p:nvSpPr>
        <p:spPr>
          <a:xfrm>
            <a:off x="7818120" y="3264480"/>
            <a:ext cx="639720" cy="219240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8160" tIns="38160" rIns="38160" bIns="381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ok</a:t>
            </a:r>
            <a:endParaRPr lang="en-GB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5" name="Rounded Rectangle 27"/>
          <p:cNvSpPr/>
          <p:nvPr/>
        </p:nvSpPr>
        <p:spPr>
          <a:xfrm>
            <a:off x="4617720" y="3538800"/>
            <a:ext cx="3977280" cy="328680"/>
          </a:xfrm>
          <a:prstGeom prst="roundRect">
            <a:avLst>
              <a:gd name="adj" fmla="val 0"/>
            </a:avLst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46" name="TextBox 28"/>
          <p:cNvSpPr/>
          <p:nvPr/>
        </p:nvSpPr>
        <p:spPr>
          <a:xfrm>
            <a:off x="4754880" y="3584520"/>
            <a:ext cx="21027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850" b="0" u="none" strike="noStrike">
                <a:solidFill>
                  <a:srgbClr val="1E3A5F"/>
                </a:solidFill>
                <a:effectLst/>
                <a:uFillTx/>
                <a:latin typeface="Consolas"/>
                <a:ea typeface="Consolas"/>
              </a:rPr>
              <a:t>async call</a:t>
            </a:r>
            <a:endParaRPr lang="en-GB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Box 29"/>
          <p:cNvSpPr/>
          <p:nvPr/>
        </p:nvSpPr>
        <p:spPr>
          <a:xfrm>
            <a:off x="6903720" y="35845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900" b="1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0.7× SLO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Rounded Rectangle 30"/>
          <p:cNvSpPr/>
          <p:nvPr/>
        </p:nvSpPr>
        <p:spPr>
          <a:xfrm>
            <a:off x="7818120" y="3593520"/>
            <a:ext cx="639720" cy="219240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8160" tIns="38160" rIns="38160" bIns="381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ok</a:t>
            </a:r>
            <a:endParaRPr lang="en-GB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Box 31"/>
          <p:cNvSpPr/>
          <p:nvPr/>
        </p:nvSpPr>
        <p:spPr>
          <a:xfrm>
            <a:off x="8046720" y="473652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17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Citation 33"/>
          <p:cNvSpPr/>
          <p:nvPr/>
        </p:nvSpPr>
        <p:spPr>
          <a:xfrm>
            <a:off x="548640" y="4479840"/>
            <a:ext cx="82296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750" b="0" i="1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Concrete example after: Giamattei et al., Identifying Performance Issues in Microservices (AST 2024).</a:t>
            </a:r>
            <a:endParaRPr lang="en-GB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TextBox 1"/>
          <p:cNvSpPr/>
          <p:nvPr/>
        </p:nvSpPr>
        <p:spPr>
          <a:xfrm>
            <a:off x="548640" y="868680"/>
            <a:ext cx="80463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950" b="1" u="none" strike="noStrike" spc="241">
                <a:solidFill>
                  <a:srgbClr val="0E7C86"/>
                </a:solidFill>
                <a:effectLst/>
                <a:uFillTx/>
                <a:latin typeface="Calibri"/>
                <a:ea typeface="Calibri"/>
              </a:rPr>
              <a:t>EXAMPLES · FAULT LOCALIZATION — WHERE WE ARE</a:t>
            </a:r>
            <a:endParaRPr lang="en-GB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Box 2"/>
          <p:cNvSpPr/>
          <p:nvPr/>
        </p:nvSpPr>
        <p:spPr>
          <a:xfrm>
            <a:off x="548640" y="1124640"/>
            <a:ext cx="804636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4000"/>
              </a:lnSpc>
            </a:pPr>
            <a:r>
              <a:rPr lang="en-US" sz="220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Fault localization: the leading application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Rounded Rectangle 3"/>
          <p:cNvSpPr/>
          <p:nvPr/>
        </p:nvSpPr>
        <p:spPr>
          <a:xfrm>
            <a:off x="548640" y="1691640"/>
            <a:ext cx="2377080" cy="2102760"/>
          </a:xfrm>
          <a:prstGeom prst="roundRect">
            <a:avLst>
              <a:gd name="adj" fmla="val 5000"/>
            </a:avLst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54" name="TextBox 4"/>
          <p:cNvSpPr/>
          <p:nvPr/>
        </p:nvSpPr>
        <p:spPr>
          <a:xfrm>
            <a:off x="685800" y="1920240"/>
            <a:ext cx="2102760" cy="173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000" b="1" u="none" strike="noStrike">
                <a:solidFill>
                  <a:srgbClr val="4A9E99"/>
                </a:solidFill>
                <a:effectLst/>
                <a:uFillTx/>
                <a:latin typeface="Cambria"/>
                <a:ea typeface="Cambria"/>
              </a:rPr>
              <a:t>~50%</a:t>
            </a:r>
            <a:endParaRPr lang="en-GB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201"/>
              </a:spcBef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of surveyed papers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16000"/>
              </a:lnSpc>
              <a:spcBef>
                <a:spcPts val="1001"/>
              </a:spcBef>
            </a:pPr>
            <a:r>
              <a:rPr lang="en-US" sz="900" b="0" i="1" u="none" strike="noStrike">
                <a:solidFill>
                  <a:srgbClr val="C9D6DF"/>
                </a:solidFill>
                <a:effectLst/>
                <a:uFillTx/>
                <a:latin typeface="Calibri"/>
                <a:ea typeface="Calibri"/>
              </a:rPr>
              <a:t>Causal reasoning is seen as a way to </a:t>
            </a:r>
            <a:r>
              <a:rPr lang="en-US" sz="900" b="1" i="1" u="none" strike="noStrike">
                <a:solidFill>
                  <a:srgbClr val="4A9E99"/>
                </a:solidFill>
                <a:effectLst/>
                <a:uFillTx/>
                <a:latin typeface="Calibri"/>
                <a:ea typeface="Calibri"/>
              </a:rPr>
              <a:t>explain why</a:t>
            </a:r>
            <a:r>
              <a:rPr lang="en-US" sz="900" b="0" i="1" u="none" strike="noStrike">
                <a:solidFill>
                  <a:srgbClr val="C9D6DF"/>
                </a:solidFill>
                <a:effectLst/>
                <a:uFillTx/>
                <a:latin typeface="Calibri"/>
                <a:ea typeface="Calibri"/>
              </a:rPr>
              <a:t> an event happened.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Box 5"/>
          <p:cNvSpPr/>
          <p:nvPr/>
        </p:nvSpPr>
        <p:spPr>
          <a:xfrm>
            <a:off x="3200400" y="1645920"/>
            <a:ext cx="53946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18000"/>
              </a:lnSpc>
            </a:pPr>
            <a:r>
              <a:rPr lang="en-US" sz="110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It maps onto the chain from a fault to a failure. Two flavours dominate: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Oval 6"/>
          <p:cNvSpPr/>
          <p:nvPr/>
        </p:nvSpPr>
        <p:spPr>
          <a:xfrm>
            <a:off x="3200400" y="2368440"/>
            <a:ext cx="164160" cy="16416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57" name="TextBox 7"/>
          <p:cNvSpPr/>
          <p:nvPr/>
        </p:nvSpPr>
        <p:spPr>
          <a:xfrm>
            <a:off x="3474720" y="2295000"/>
            <a:ext cx="51202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14000"/>
              </a:lnSpc>
            </a:pPr>
            <a:r>
              <a:rPr lang="en-US" sz="1100" b="1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Debugging  </a:t>
            </a:r>
            <a:r>
              <a:rPr lang="en-US" sz="1000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— Locate the faulty statement and the fix — statistical FL, program repair.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Oval 8"/>
          <p:cNvSpPr/>
          <p:nvPr/>
        </p:nvSpPr>
        <p:spPr>
          <a:xfrm>
            <a:off x="3200400" y="3008520"/>
            <a:ext cx="164160" cy="164160"/>
          </a:xfrm>
          <a:prstGeom prst="ellipse">
            <a:avLst/>
          </a:prstGeom>
          <a:solidFill>
            <a:srgbClr val="D26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59" name="TextBox 9"/>
          <p:cNvSpPr/>
          <p:nvPr/>
        </p:nvSpPr>
        <p:spPr>
          <a:xfrm>
            <a:off x="3474720" y="2935080"/>
            <a:ext cx="51202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14000"/>
              </a:lnSpc>
            </a:pPr>
            <a:r>
              <a:rPr lang="en-US" sz="1100" b="1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Root cause analysis  </a:t>
            </a:r>
            <a:r>
              <a:rPr lang="en-US" sz="1000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— Find the culprit component in a running system — esp. microservices &amp; cloud.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Rounded Rectangle 10"/>
          <p:cNvSpPr/>
          <p:nvPr/>
        </p:nvSpPr>
        <p:spPr>
          <a:xfrm>
            <a:off x="3200400" y="3657600"/>
            <a:ext cx="5394600" cy="502560"/>
          </a:xfrm>
          <a:prstGeom prst="roundRect">
            <a:avLst>
              <a:gd name="adj" fmla="val 10000"/>
            </a:avLst>
          </a:prstGeom>
          <a:solidFill>
            <a:srgbClr val="EA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8160" tIns="38160" rIns="38160" bIns="38160" anchor="ctr">
            <a:noAutofit/>
          </a:bodyPr>
          <a:lstStyle/>
          <a:p>
            <a:pPr defTabSz="914400">
              <a:lnSpc>
                <a:spcPct val="114000"/>
              </a:lnSpc>
            </a:pPr>
            <a:r>
              <a:rPr lang="en-US" sz="950" b="0" i="1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True causal inference — e.g. counterfactual RCA — is still uncommon; most work learns the structure, then ranks.</a:t>
            </a:r>
            <a:endParaRPr lang="en-GB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Box 11"/>
          <p:cNvSpPr/>
          <p:nvPr/>
        </p:nvSpPr>
        <p:spPr>
          <a:xfrm>
            <a:off x="8046720" y="473652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18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CasellaDiTesto 12"/>
          <p:cNvSpPr/>
          <p:nvPr/>
        </p:nvSpPr>
        <p:spPr>
          <a:xfrm>
            <a:off x="448920" y="4472280"/>
            <a:ext cx="2555280" cy="26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100" b="0" i="1" u="none" strike="noStrike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Aptos"/>
              </a:rPr>
              <a:t>*References to Julien and mine surveys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TextBox 1"/>
          <p:cNvSpPr/>
          <p:nvPr/>
        </p:nvSpPr>
        <p:spPr>
          <a:xfrm>
            <a:off x="548640" y="868680"/>
            <a:ext cx="80463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950" b="1" u="none" strike="noStrike" spc="241">
                <a:solidFill>
                  <a:srgbClr val="0E7C86"/>
                </a:solidFill>
                <a:effectLst/>
                <a:uFillTx/>
                <a:latin typeface="Calibri"/>
                <a:ea typeface="Calibri"/>
              </a:rPr>
              <a:t>EXAMPLES · FAULT LOCALIZATION — EXAMPLE 3</a:t>
            </a:r>
            <a:endParaRPr lang="en-GB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TextBox 2"/>
          <p:cNvSpPr/>
          <p:nvPr/>
        </p:nvSpPr>
        <p:spPr>
          <a:xfrm>
            <a:off x="548640" y="1124640"/>
            <a:ext cx="804636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4000"/>
              </a:lnSpc>
            </a:pPr>
            <a:r>
              <a:rPr lang="en-US" sz="220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Tracing a failure to its true cause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Box 3"/>
          <p:cNvSpPr/>
          <p:nvPr/>
        </p:nvSpPr>
        <p:spPr>
          <a:xfrm>
            <a:off x="548640" y="1554480"/>
            <a:ext cx="3931560" cy="118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18000"/>
              </a:lnSpc>
            </a:pPr>
            <a:r>
              <a:rPr lang="en-US" sz="105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In a system of interacting components, a failure </a:t>
            </a:r>
            <a:r>
              <a:rPr lang="en-US" sz="1050" b="1" u="none" strike="noStrike">
                <a:solidFill>
                  <a:srgbClr val="D26E3A"/>
                </a:solidFill>
                <a:effectLst/>
                <a:uFillTx/>
                <a:latin typeface="Calibri"/>
                <a:ea typeface="Calibri"/>
              </a:rPr>
              <a:t>propagates</a:t>
            </a:r>
            <a:r>
              <a:rPr lang="en-US" sz="105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. A causal model separates the real culprit from components that merely </a:t>
            </a:r>
            <a:r>
              <a:rPr lang="en-US" sz="1050" b="0" i="1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correlate</a:t>
            </a:r>
            <a:r>
              <a:rPr lang="en-US" sz="105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 with the symptom.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Rounded Rectangle 4"/>
          <p:cNvSpPr/>
          <p:nvPr/>
        </p:nvSpPr>
        <p:spPr>
          <a:xfrm>
            <a:off x="548640" y="2788920"/>
            <a:ext cx="3931560" cy="56664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67" name="Oval 5"/>
          <p:cNvSpPr/>
          <p:nvPr/>
        </p:nvSpPr>
        <p:spPr>
          <a:xfrm>
            <a:off x="731520" y="2944440"/>
            <a:ext cx="255600" cy="255600"/>
          </a:xfrm>
          <a:prstGeom prst="ellipse">
            <a:avLst/>
          </a:prstGeom>
          <a:solidFill>
            <a:srgbClr val="D26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68" name="TextBox 6"/>
          <p:cNvSpPr/>
          <p:nvPr/>
        </p:nvSpPr>
        <p:spPr>
          <a:xfrm>
            <a:off x="1097280" y="2862000"/>
            <a:ext cx="329148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1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Propagated  </a:t>
            </a:r>
            <a:r>
              <a:rPr lang="en-US" sz="900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— An inner failure cascades; the edge component gets blamed.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Rounded Rectangle 7"/>
          <p:cNvSpPr/>
          <p:nvPr/>
        </p:nvSpPr>
        <p:spPr>
          <a:xfrm>
            <a:off x="548640" y="3447360"/>
            <a:ext cx="3931560" cy="56664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70" name="Oval 8"/>
          <p:cNvSpPr/>
          <p:nvPr/>
        </p:nvSpPr>
        <p:spPr>
          <a:xfrm>
            <a:off x="731520" y="3602880"/>
            <a:ext cx="255600" cy="255600"/>
          </a:xfrm>
          <a:prstGeom prst="ellipse">
            <a:avLst/>
          </a:prstGeom>
          <a:solidFill>
            <a:srgbClr val="5966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71" name="TextBox 9"/>
          <p:cNvSpPr/>
          <p:nvPr/>
        </p:nvSpPr>
        <p:spPr>
          <a:xfrm>
            <a:off x="1097280" y="3520440"/>
            <a:ext cx="329148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1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Masked  </a:t>
            </a:r>
            <a:r>
              <a:rPr lang="en-US" sz="900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— A symptom is hidden downstream; black-box checks pass.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Rounded Rectangle 10"/>
          <p:cNvSpPr/>
          <p:nvPr/>
        </p:nvSpPr>
        <p:spPr>
          <a:xfrm>
            <a:off x="4617720" y="1554480"/>
            <a:ext cx="3977280" cy="2377080"/>
          </a:xfrm>
          <a:prstGeom prst="roundRect">
            <a:avLst>
              <a:gd name="adj" fmla="val 5000"/>
            </a:avLst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73" name="TextBox 11"/>
          <p:cNvSpPr/>
          <p:nvPr/>
        </p:nvSpPr>
        <p:spPr>
          <a:xfrm>
            <a:off x="4937760" y="1828800"/>
            <a:ext cx="3337200" cy="182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The counterfactual query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001"/>
              </a:spcBef>
            </a:pPr>
            <a:r>
              <a:rPr lang="en-US" sz="1200" b="1" u="none" strike="noStrike">
                <a:solidFill>
                  <a:srgbClr val="4A9E99"/>
                </a:solidFill>
                <a:effectLst/>
                <a:uFillTx/>
                <a:latin typeface="Consolas"/>
                <a:ea typeface="Consolas"/>
              </a:rPr>
              <a:t>P( failᵢ | do( compₖ = fail ) )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2000"/>
              </a:lnSpc>
              <a:spcBef>
                <a:spcPts val="1001"/>
              </a:spcBef>
            </a:pPr>
            <a:r>
              <a:rPr lang="en-US" sz="1050" b="0" i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“If component k fails, which others fail too?”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2000"/>
              </a:lnSpc>
              <a:spcBef>
                <a:spcPts val="700"/>
              </a:spcBef>
            </a:pPr>
            <a:r>
              <a:rPr lang="en-US" sz="1000" b="0" u="none" strike="noStrike">
                <a:solidFill>
                  <a:srgbClr val="C9D6DF"/>
                </a:solidFill>
                <a:effectLst/>
                <a:uFillTx/>
                <a:latin typeface="Calibri"/>
                <a:ea typeface="Calibri"/>
              </a:rPr>
              <a:t>Interventions trace the chain </a:t>
            </a:r>
            <a:r>
              <a:rPr lang="en-US" sz="1000" b="1" u="none" strike="noStrike">
                <a:solidFill>
                  <a:srgbClr val="4A9E99"/>
                </a:solidFill>
                <a:effectLst/>
                <a:uFillTx/>
                <a:latin typeface="Calibri"/>
                <a:ea typeface="Calibri"/>
              </a:rPr>
              <a:t>without injecting real faults</a:t>
            </a:r>
            <a:r>
              <a:rPr lang="en-US" sz="1000" b="0" u="none" strike="noStrike">
                <a:solidFill>
                  <a:srgbClr val="C9D6DF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Rounded Rectangle 12"/>
          <p:cNvSpPr/>
          <p:nvPr/>
        </p:nvSpPr>
        <p:spPr>
          <a:xfrm>
            <a:off x="4983480" y="3429000"/>
            <a:ext cx="959760" cy="328680"/>
          </a:xfrm>
          <a:prstGeom prst="roundRect">
            <a:avLst>
              <a:gd name="adj" fmla="val 12000"/>
            </a:avLst>
          </a:prstGeom>
          <a:solidFill>
            <a:srgbClr val="2C4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8160" tIns="38160" rIns="38160" bIns="381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comp k</a:t>
            </a:r>
            <a:endParaRPr lang="en-GB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Box 13"/>
          <p:cNvSpPr/>
          <p:nvPr/>
        </p:nvSpPr>
        <p:spPr>
          <a:xfrm>
            <a:off x="5980320" y="3465720"/>
            <a:ext cx="228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100" b="1" u="none" strike="noStrike">
                <a:solidFill>
                  <a:srgbClr val="4A9E99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Rounded Rectangle 14"/>
          <p:cNvSpPr/>
          <p:nvPr/>
        </p:nvSpPr>
        <p:spPr>
          <a:xfrm>
            <a:off x="6254640" y="3429000"/>
            <a:ext cx="959760" cy="328680"/>
          </a:xfrm>
          <a:prstGeom prst="roundRect">
            <a:avLst>
              <a:gd name="adj" fmla="val 12000"/>
            </a:avLst>
          </a:prstGeom>
          <a:solidFill>
            <a:srgbClr val="2C4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8160" tIns="38160" rIns="38160" bIns="381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comp j</a:t>
            </a:r>
            <a:endParaRPr lang="en-GB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Box 15"/>
          <p:cNvSpPr/>
          <p:nvPr/>
        </p:nvSpPr>
        <p:spPr>
          <a:xfrm>
            <a:off x="7251120" y="3465720"/>
            <a:ext cx="228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100" b="1" u="none" strike="noStrike">
                <a:solidFill>
                  <a:srgbClr val="4A9E99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Rounded Rectangle 16"/>
          <p:cNvSpPr/>
          <p:nvPr/>
        </p:nvSpPr>
        <p:spPr>
          <a:xfrm>
            <a:off x="7525440" y="3429000"/>
            <a:ext cx="959760" cy="328680"/>
          </a:xfrm>
          <a:prstGeom prst="roundRect">
            <a:avLst>
              <a:gd name="adj" fmla="val 12000"/>
            </a:avLst>
          </a:prstGeom>
          <a:solidFill>
            <a:srgbClr val="2C4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8160" tIns="38160" rIns="38160" bIns="381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symptom</a:t>
            </a:r>
            <a:endParaRPr lang="en-GB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Box 17"/>
          <p:cNvSpPr/>
          <p:nvPr/>
        </p:nvSpPr>
        <p:spPr>
          <a:xfrm>
            <a:off x="8046720" y="473652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20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Citation 19"/>
          <p:cNvSpPr/>
          <p:nvPr/>
        </p:nvSpPr>
        <p:spPr>
          <a:xfrm>
            <a:off x="548640" y="4297680"/>
            <a:ext cx="82296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750" b="0" i="1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Inspired by: Johnson, Brun &amp; Meliou, Causal testing: understanding defects' root causes (ICSE 2020).</a:t>
            </a:r>
            <a:endParaRPr lang="en-GB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TextBox 1"/>
          <p:cNvSpPr/>
          <p:nvPr/>
        </p:nvSpPr>
        <p:spPr>
          <a:xfrm>
            <a:off x="548640" y="868680"/>
            <a:ext cx="80463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950" b="1" u="none" strike="noStrike" spc="241">
                <a:solidFill>
                  <a:srgbClr val="0E7C86"/>
                </a:solidFill>
                <a:effectLst/>
                <a:uFillTx/>
                <a:latin typeface="Calibri"/>
                <a:ea typeface="Calibri"/>
              </a:rPr>
              <a:t>EXAMPLE 3 · IN PRACTICE</a:t>
            </a:r>
            <a:endParaRPr lang="en-GB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Box 2"/>
          <p:cNvSpPr/>
          <p:nvPr/>
        </p:nvSpPr>
        <p:spPr>
          <a:xfrm>
            <a:off x="548640" y="1124640"/>
            <a:ext cx="804636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4000"/>
              </a:lnSpc>
            </a:pPr>
            <a:r>
              <a:rPr lang="en-US" sz="220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Concretely: tracing a failure across services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Box 3"/>
          <p:cNvSpPr/>
          <p:nvPr/>
        </p:nvSpPr>
        <p:spPr>
          <a:xfrm>
            <a:off x="548640" y="1554480"/>
            <a:ext cx="384012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18000"/>
              </a:lnSpc>
            </a:pPr>
            <a:r>
              <a:rPr lang="en-US" sz="1050" b="1" u="none" strike="noStrike">
                <a:solidFill>
                  <a:srgbClr val="D26E3A"/>
                </a:solidFill>
                <a:effectLst/>
                <a:uFillTx/>
                <a:latin typeface="Calibri"/>
                <a:ea typeface="Calibri"/>
              </a:rPr>
              <a:t>Setup.  </a:t>
            </a:r>
            <a:r>
              <a:rPr lang="en-US" sz="105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A benchmark of ~40 services. A failure in an inner service shows up at the edge.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Rounded Rectangle 4"/>
          <p:cNvSpPr/>
          <p:nvPr/>
        </p:nvSpPr>
        <p:spPr>
          <a:xfrm>
            <a:off x="548640" y="2743200"/>
            <a:ext cx="3840120" cy="776880"/>
          </a:xfrm>
          <a:prstGeom prst="roundRect">
            <a:avLst>
              <a:gd name="adj" fmla="val 5000"/>
            </a:avLst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85" name="TextBox 5"/>
          <p:cNvSpPr/>
          <p:nvPr/>
        </p:nvSpPr>
        <p:spPr>
          <a:xfrm>
            <a:off x="822960" y="2853000"/>
            <a:ext cx="329148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The intervention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spcBef>
                <a:spcPts val="601"/>
              </a:spcBef>
            </a:pPr>
            <a:r>
              <a:rPr lang="en-US" sz="950" b="1" u="none" strike="noStrike">
                <a:solidFill>
                  <a:srgbClr val="4A9E99"/>
                </a:solidFill>
                <a:effectLst/>
                <a:uFillTx/>
                <a:latin typeface="Consolas"/>
                <a:ea typeface="Consolas"/>
              </a:rPr>
              <a:t>P(fail(Pay), fail(Order) | do(Auth = fail))</a:t>
            </a:r>
            <a:endParaRPr lang="en-GB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Box 6"/>
          <p:cNvSpPr/>
          <p:nvPr/>
        </p:nvSpPr>
        <p:spPr>
          <a:xfrm>
            <a:off x="548640" y="3611880"/>
            <a:ext cx="38401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14000"/>
              </a:lnSpc>
            </a:pPr>
            <a:r>
              <a:rPr lang="en-US" sz="900" b="1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Synthetic result:  </a:t>
            </a:r>
            <a:r>
              <a:rPr lang="en-US" sz="900" b="0" i="1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Auth=fail propagates to Order (0.92) &amp; Payment (0.88); front-end masked.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Rounded Rectangle 7"/>
          <p:cNvSpPr/>
          <p:nvPr/>
        </p:nvSpPr>
        <p:spPr>
          <a:xfrm>
            <a:off x="4617720" y="1554480"/>
            <a:ext cx="3977280" cy="2514240"/>
          </a:xfrm>
          <a:prstGeom prst="roundRect">
            <a:avLst>
              <a:gd name="adj" fmla="val 5000"/>
            </a:avLst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88" name="TextBox 8"/>
          <p:cNvSpPr/>
          <p:nvPr/>
        </p:nvSpPr>
        <p:spPr>
          <a:xfrm>
            <a:off x="4892040" y="1719000"/>
            <a:ext cx="3428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00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do(Auth = fail) — propagation traced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89" name="Connector 9"/>
          <p:cNvCxnSpPr/>
          <p:nvPr/>
        </p:nvCxnSpPr>
        <p:spPr>
          <a:xfrm flipV="1">
            <a:off x="5988960" y="2333520"/>
            <a:ext cx="183600" cy="407160"/>
          </a:xfrm>
          <a:prstGeom prst="straightConnector1">
            <a:avLst/>
          </a:prstGeom>
          <a:ln w="22860">
            <a:solidFill>
              <a:srgbClr val="D26E3A"/>
            </a:solidFill>
            <a:tailEnd type="triangle" w="med" len="med"/>
          </a:ln>
        </p:spPr>
      </p:cxnSp>
      <p:cxnSp>
        <p:nvCxnSpPr>
          <p:cNvPr id="390" name="Connector 10"/>
          <p:cNvCxnSpPr/>
          <p:nvPr/>
        </p:nvCxnSpPr>
        <p:spPr>
          <a:xfrm>
            <a:off x="5988960" y="2855520"/>
            <a:ext cx="183600" cy="452880"/>
          </a:xfrm>
          <a:prstGeom prst="straightConnector1">
            <a:avLst/>
          </a:prstGeom>
          <a:ln w="22860">
            <a:solidFill>
              <a:srgbClr val="D26E3A"/>
            </a:solidFill>
            <a:tailEnd type="triangle" w="med" len="med"/>
          </a:ln>
        </p:spPr>
      </p:cxnSp>
      <p:cxnSp>
        <p:nvCxnSpPr>
          <p:cNvPr id="391" name="Connector 11"/>
          <p:cNvCxnSpPr/>
          <p:nvPr/>
        </p:nvCxnSpPr>
        <p:spPr>
          <a:xfrm>
            <a:off x="7223760" y="2333520"/>
            <a:ext cx="183240" cy="407160"/>
          </a:xfrm>
          <a:prstGeom prst="straightConnector1">
            <a:avLst/>
          </a:prstGeom>
          <a:ln w="15240">
            <a:solidFill>
              <a:srgbClr val="7A8794"/>
            </a:solidFill>
            <a:tailEnd type="triangle" w="med" len="med"/>
          </a:ln>
        </p:spPr>
      </p:cxnSp>
      <p:cxnSp>
        <p:nvCxnSpPr>
          <p:cNvPr id="392" name="Connector 12"/>
          <p:cNvCxnSpPr/>
          <p:nvPr/>
        </p:nvCxnSpPr>
        <p:spPr>
          <a:xfrm flipV="1">
            <a:off x="7223760" y="2855520"/>
            <a:ext cx="183240" cy="452880"/>
          </a:xfrm>
          <a:prstGeom prst="straightConnector1">
            <a:avLst/>
          </a:prstGeom>
          <a:ln w="15240">
            <a:solidFill>
              <a:srgbClr val="7A8794"/>
            </a:solidFill>
            <a:tailEnd type="triangle" w="med" len="med"/>
          </a:ln>
        </p:spPr>
      </p:cxnSp>
      <p:sp>
        <p:nvSpPr>
          <p:cNvPr id="393" name="Rectangle 13"/>
          <p:cNvSpPr/>
          <p:nvPr/>
        </p:nvSpPr>
        <p:spPr>
          <a:xfrm>
            <a:off x="4937760" y="2606040"/>
            <a:ext cx="1051200" cy="383760"/>
          </a:xfrm>
          <a:prstGeom prst="rect">
            <a:avLst/>
          </a:prstGeom>
          <a:solidFill>
            <a:srgbClr val="D26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8160" tIns="38160" rIns="38160" bIns="381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Auth ✕</a:t>
            </a:r>
            <a:endParaRPr lang="en-GB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4" name="Rectangle 14"/>
          <p:cNvSpPr/>
          <p:nvPr/>
        </p:nvSpPr>
        <p:spPr>
          <a:xfrm>
            <a:off x="6172200" y="2103120"/>
            <a:ext cx="1051200" cy="383760"/>
          </a:xfrm>
          <a:prstGeom prst="rect">
            <a:avLst/>
          </a:prstGeom>
          <a:solidFill>
            <a:srgbClr val="C85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8160" tIns="38160" rIns="38160" bIns="381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Order ✕</a:t>
            </a:r>
            <a:endParaRPr lang="en-GB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Box 15"/>
          <p:cNvSpPr/>
          <p:nvPr/>
        </p:nvSpPr>
        <p:spPr>
          <a:xfrm>
            <a:off x="7251120" y="2185560"/>
            <a:ext cx="4568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850" b="1" u="none" strike="noStrike">
                <a:solidFill>
                  <a:srgbClr val="D26E3A"/>
                </a:solidFill>
                <a:effectLst/>
                <a:uFillTx/>
                <a:latin typeface="Calibri"/>
                <a:ea typeface="Calibri"/>
              </a:rPr>
              <a:t> .92</a:t>
            </a:r>
            <a:endParaRPr lang="en-GB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Rectangle 16"/>
          <p:cNvSpPr/>
          <p:nvPr/>
        </p:nvSpPr>
        <p:spPr>
          <a:xfrm>
            <a:off x="6172200" y="3154680"/>
            <a:ext cx="1051200" cy="383760"/>
          </a:xfrm>
          <a:prstGeom prst="rect">
            <a:avLst/>
          </a:prstGeom>
          <a:solidFill>
            <a:srgbClr val="C85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8160" tIns="38160" rIns="38160" bIns="381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Pay ✕</a:t>
            </a:r>
            <a:endParaRPr lang="en-GB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Box 17"/>
          <p:cNvSpPr/>
          <p:nvPr/>
        </p:nvSpPr>
        <p:spPr>
          <a:xfrm>
            <a:off x="7251120" y="3237120"/>
            <a:ext cx="4568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850" b="1" u="none" strike="noStrike">
                <a:solidFill>
                  <a:srgbClr val="D26E3A"/>
                </a:solidFill>
                <a:effectLst/>
                <a:uFillTx/>
                <a:latin typeface="Calibri"/>
                <a:ea typeface="Calibri"/>
              </a:rPr>
              <a:t> .88</a:t>
            </a:r>
            <a:endParaRPr lang="en-GB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Rectangle 18"/>
          <p:cNvSpPr/>
          <p:nvPr/>
        </p:nvSpPr>
        <p:spPr>
          <a:xfrm>
            <a:off x="7406640" y="2606040"/>
            <a:ext cx="1051200" cy="38376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8160" tIns="38160" rIns="38160" bIns="381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Front ✓</a:t>
            </a:r>
            <a:endParaRPr lang="en-GB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Box 19"/>
          <p:cNvSpPr/>
          <p:nvPr/>
        </p:nvSpPr>
        <p:spPr>
          <a:xfrm>
            <a:off x="4892040" y="3776400"/>
            <a:ext cx="34286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800" b="0" i="1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✕ fails under do(·)    ✓ stays up (failure hidden)</a:t>
            </a:r>
            <a:endParaRPr lang="en-GB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Box 20"/>
          <p:cNvSpPr/>
          <p:nvPr/>
        </p:nvSpPr>
        <p:spPr>
          <a:xfrm>
            <a:off x="8046720" y="473652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21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Citation 22"/>
          <p:cNvSpPr/>
          <p:nvPr/>
        </p:nvSpPr>
        <p:spPr>
          <a:xfrm>
            <a:off x="548640" y="4479840"/>
            <a:ext cx="82296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750" b="0" i="1" u="none" strike="noStrike">
                <a:solidFill>
                  <a:srgbClr val="7A8794"/>
                </a:solidFill>
                <a:effectLst/>
                <a:highlight>
                  <a:srgbClr val="FFFF00"/>
                </a:highlight>
                <a:uFillTx/>
                <a:latin typeface="Calibri"/>
                <a:ea typeface="Calibri"/>
              </a:rPr>
              <a:t>Concrete example after microservice RCA literature; cf. Wu et al. (2021). (TO MAKE EXPLICIT)</a:t>
            </a:r>
            <a:endParaRPr lang="en-GB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TextBox 1"/>
          <p:cNvSpPr/>
          <p:nvPr/>
        </p:nvSpPr>
        <p:spPr>
          <a:xfrm>
            <a:off x="548640" y="868680"/>
            <a:ext cx="80463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950" b="1" u="none" strike="noStrike" spc="241">
                <a:solidFill>
                  <a:srgbClr val="0E7C86"/>
                </a:solidFill>
                <a:effectLst/>
                <a:uFillTx/>
                <a:latin typeface="Calibri"/>
                <a:ea typeface="Calibri"/>
              </a:rPr>
              <a:t>EXAMPLES · FAULT LOCALIZATION — THE GENERAL RECIPE</a:t>
            </a:r>
            <a:endParaRPr lang="en-GB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Box 2"/>
          <p:cNvSpPr/>
          <p:nvPr/>
        </p:nvSpPr>
        <p:spPr>
          <a:xfrm>
            <a:off x="548640" y="1124640"/>
            <a:ext cx="804636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4000"/>
              </a:lnSpc>
            </a:pPr>
            <a:r>
              <a:rPr lang="en-US" sz="220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A repeatable recipe for causal RCA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TextBox 3"/>
          <p:cNvSpPr/>
          <p:nvPr/>
        </p:nvSpPr>
        <p:spPr>
          <a:xfrm>
            <a:off x="548640" y="1554480"/>
            <a:ext cx="80463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16000"/>
              </a:lnSpc>
            </a:pPr>
            <a:r>
              <a:rPr lang="en-US" sz="1050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Whatever the system, the same three moves turn telemetry into an explainable root cause.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Rounded Rectangle 4"/>
          <p:cNvSpPr/>
          <p:nvPr/>
        </p:nvSpPr>
        <p:spPr>
          <a:xfrm>
            <a:off x="548640" y="2057400"/>
            <a:ext cx="2605680" cy="1416960"/>
          </a:xfrm>
          <a:prstGeom prst="roundRect">
            <a:avLst>
              <a:gd name="adj" fmla="val 5000"/>
            </a:avLst>
          </a:prstGeom>
          <a:solidFill>
            <a:srgbClr val="EA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406" name="TextBox 5"/>
          <p:cNvSpPr/>
          <p:nvPr/>
        </p:nvSpPr>
        <p:spPr>
          <a:xfrm>
            <a:off x="777240" y="2258640"/>
            <a:ext cx="2148480" cy="1051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6000"/>
              </a:lnSpc>
            </a:pPr>
            <a:r>
              <a:rPr lang="en-US" sz="115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1 · Build the graph</a:t>
            </a:r>
            <a:endParaRPr lang="en-GB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6000"/>
              </a:lnSpc>
              <a:spcBef>
                <a:spcPts val="799"/>
              </a:spcBef>
            </a:pPr>
            <a:r>
              <a:rPr lang="en-US" sz="95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Components &amp; runtime variables as nodes; edges from architecture or causal discovery.</a:t>
            </a:r>
            <a:endParaRPr lang="en-GB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TextBox 6"/>
          <p:cNvSpPr/>
          <p:nvPr/>
        </p:nvSpPr>
        <p:spPr>
          <a:xfrm>
            <a:off x="3136320" y="2619720"/>
            <a:ext cx="1825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600" b="1" u="none" strike="noStrike">
                <a:solidFill>
                  <a:srgbClr val="7A8794"/>
                </a:solidFill>
                <a:effectLst/>
                <a:uFillTx/>
                <a:latin typeface="Cambria"/>
                <a:ea typeface="Cambria"/>
              </a:rPr>
              <a:t>→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Rounded Rectangle 7"/>
          <p:cNvSpPr/>
          <p:nvPr/>
        </p:nvSpPr>
        <p:spPr>
          <a:xfrm>
            <a:off x="3273480" y="2057400"/>
            <a:ext cx="2605680" cy="1416960"/>
          </a:xfrm>
          <a:prstGeom prst="roundRect">
            <a:avLst>
              <a:gd name="adj" fmla="val 5000"/>
            </a:avLst>
          </a:prstGeom>
          <a:solidFill>
            <a:srgbClr val="EA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409" name="TextBox 8"/>
          <p:cNvSpPr/>
          <p:nvPr/>
        </p:nvSpPr>
        <p:spPr>
          <a:xfrm>
            <a:off x="3502080" y="2258640"/>
            <a:ext cx="2148480" cy="1051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6000"/>
              </a:lnSpc>
            </a:pPr>
            <a:r>
              <a:rPr lang="en-US" sz="115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2 · Reason on it</a:t>
            </a:r>
            <a:endParaRPr lang="en-GB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6000"/>
              </a:lnSpc>
              <a:spcBef>
                <a:spcPts val="799"/>
              </a:spcBef>
            </a:pPr>
            <a:r>
              <a:rPr lang="en-US" sz="95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Trace propagation with do(comp = fail); ask counterfactuals about alternatives.</a:t>
            </a:r>
            <a:endParaRPr lang="en-GB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Box 9"/>
          <p:cNvSpPr/>
          <p:nvPr/>
        </p:nvSpPr>
        <p:spPr>
          <a:xfrm>
            <a:off x="5861160" y="2619720"/>
            <a:ext cx="1825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600" b="1" u="none" strike="noStrike">
                <a:solidFill>
                  <a:srgbClr val="7A8794"/>
                </a:solidFill>
                <a:effectLst/>
                <a:uFillTx/>
                <a:latin typeface="Cambria"/>
                <a:ea typeface="Cambria"/>
              </a:rPr>
              <a:t>→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Rounded Rectangle 10"/>
          <p:cNvSpPr/>
          <p:nvPr/>
        </p:nvSpPr>
        <p:spPr>
          <a:xfrm>
            <a:off x="5998320" y="2057400"/>
            <a:ext cx="2605680" cy="1416960"/>
          </a:xfrm>
          <a:prstGeom prst="roundRect">
            <a:avLst>
              <a:gd name="adj" fmla="val 5000"/>
            </a:avLst>
          </a:prstGeom>
          <a:solidFill>
            <a:srgbClr val="F8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412" name="TextBox 11"/>
          <p:cNvSpPr/>
          <p:nvPr/>
        </p:nvSpPr>
        <p:spPr>
          <a:xfrm>
            <a:off x="6226920" y="2258640"/>
            <a:ext cx="2148480" cy="1051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6000"/>
              </a:lnSpc>
            </a:pPr>
            <a:r>
              <a:rPr lang="en-US" sz="115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3 · Adjust &amp; explain</a:t>
            </a:r>
            <a:endParaRPr lang="en-GB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6000"/>
              </a:lnSpc>
              <a:spcBef>
                <a:spcPts val="799"/>
              </a:spcBef>
            </a:pPr>
            <a:r>
              <a:rPr lang="en-US" sz="95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Control for confounders; return an inspectable causal chain.</a:t>
            </a:r>
            <a:endParaRPr lang="en-GB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Rounded Rectangle 12"/>
          <p:cNvSpPr/>
          <p:nvPr/>
        </p:nvSpPr>
        <p:spPr>
          <a:xfrm>
            <a:off x="548640" y="3703320"/>
            <a:ext cx="8046360" cy="502560"/>
          </a:xfrm>
          <a:prstGeom prst="roundRect">
            <a:avLst>
              <a:gd name="adj" fmla="val 5000"/>
            </a:avLst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8160" tIns="38160" rIns="38160" bIns="38160" anchor="ctr">
            <a:noAutofit/>
          </a:bodyPr>
          <a:lstStyle/>
          <a:p>
            <a:pPr defTabSz="914400">
              <a:lnSpc>
                <a:spcPct val="114000"/>
              </a:lnSpc>
            </a:pPr>
            <a:r>
              <a:rPr lang="en-US" sz="1000" b="1" u="none" strike="noStrike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FillTx/>
                <a:latin typeface="Calibri"/>
                <a:ea typeface="Calibri"/>
              </a:rPr>
              <a:t>Why it transfers</a:t>
            </a:r>
            <a:r>
              <a:rPr lang="en-US" sz="1000" b="1" u="none" strike="noStrike">
                <a:solidFill>
                  <a:srgbClr val="4A9E99"/>
                </a:solidFill>
                <a:effectLst/>
                <a:uFillTx/>
                <a:latin typeface="Calibri"/>
                <a:ea typeface="Calibri"/>
              </a:rPr>
              <a:t>:  </a:t>
            </a: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independent of the domain — microservices, cloud, cyber-physical, ML pipelines. Swap variables, keep the reasoning.</a:t>
            </a:r>
            <a:endParaRPr lang="en-GB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Box 13"/>
          <p:cNvSpPr/>
          <p:nvPr/>
        </p:nvSpPr>
        <p:spPr>
          <a:xfrm>
            <a:off x="8046720" y="473652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25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TextBox 1"/>
          <p:cNvSpPr/>
          <p:nvPr/>
        </p:nvSpPr>
        <p:spPr>
          <a:xfrm>
            <a:off x="548640" y="868680"/>
            <a:ext cx="80463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950" b="1" u="none" strike="noStrike" spc="241">
                <a:solidFill>
                  <a:srgbClr val="0E7C86"/>
                </a:solidFill>
                <a:effectLst/>
                <a:uFillTx/>
                <a:latin typeface="Calibri"/>
                <a:ea typeface="Calibri"/>
              </a:rPr>
              <a:t>USING CAUSAL INFERENCE · THE PROCESS</a:t>
            </a:r>
            <a:endParaRPr lang="en-GB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Box 2"/>
          <p:cNvSpPr/>
          <p:nvPr/>
        </p:nvSpPr>
        <p:spPr>
          <a:xfrm>
            <a:off x="548640" y="1124640"/>
            <a:ext cx="804636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4000"/>
              </a:lnSpc>
            </a:pPr>
            <a:r>
              <a:rPr lang="en-US" sz="220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How a practitioner actually uses causal inference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TextBox 3"/>
          <p:cNvSpPr/>
          <p:nvPr/>
        </p:nvSpPr>
        <p:spPr>
          <a:xfrm>
            <a:off x="548640" y="1554480"/>
            <a:ext cx="8046360" cy="38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18000"/>
              </a:lnSpc>
            </a:pPr>
            <a:r>
              <a:rPr lang="en-US" sz="110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The examples so far were end results. Underneath them is </a:t>
            </a:r>
            <a:r>
              <a:rPr lang="en-US" sz="1100" b="1" u="none" strike="noStrike">
                <a:solidFill>
                  <a:srgbClr val="D26E3A"/>
                </a:solidFill>
                <a:effectLst/>
                <a:uFillTx/>
                <a:latin typeface="Calibri"/>
                <a:ea typeface="Calibri"/>
              </a:rPr>
              <a:t>one repeatable two-step process</a:t>
            </a:r>
            <a:r>
              <a:rPr lang="en-US" sz="110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: build a causal model, then query it — with humans in the loop throughout.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Rounded Rectangle 4"/>
          <p:cNvSpPr/>
          <p:nvPr/>
        </p:nvSpPr>
        <p:spPr>
          <a:xfrm>
            <a:off x="548640" y="2240280"/>
            <a:ext cx="3885840" cy="1279800"/>
          </a:xfrm>
          <a:prstGeom prst="roundRect">
            <a:avLst>
              <a:gd name="adj" fmla="val 6000"/>
            </a:avLst>
          </a:prstGeom>
          <a:solidFill>
            <a:srgbClr val="EA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419" name="Oval 5"/>
          <p:cNvSpPr/>
          <p:nvPr/>
        </p:nvSpPr>
        <p:spPr>
          <a:xfrm>
            <a:off x="777240" y="2468880"/>
            <a:ext cx="456840" cy="456840"/>
          </a:xfrm>
          <a:prstGeom prst="ellipse">
            <a:avLst/>
          </a:prstGeom>
          <a:solidFill>
            <a:srgbClr val="0A5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8160" tIns="38160" rIns="38160" bIns="381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1</a:t>
            </a:r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0" name="TextBox 6"/>
          <p:cNvSpPr/>
          <p:nvPr/>
        </p:nvSpPr>
        <p:spPr>
          <a:xfrm>
            <a:off x="1417320" y="2423160"/>
            <a:ext cx="2880000" cy="95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35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Step 1 — Learning</a:t>
            </a:r>
            <a:endParaRPr lang="en-GB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spcBef>
                <a:spcPts val="400"/>
              </a:spcBef>
            </a:pPr>
            <a:r>
              <a:rPr lang="en-US" sz="1050" b="1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Construct a causal model — </a:t>
            </a:r>
            <a:r>
              <a:rPr lang="en-US" sz="1000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from a specification, from data, or both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TextBox 7"/>
          <p:cNvSpPr/>
          <p:nvPr/>
        </p:nvSpPr>
        <p:spPr>
          <a:xfrm>
            <a:off x="4453200" y="2715840"/>
            <a:ext cx="23724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000" b="1" u="none" strike="noStrike">
                <a:solidFill>
                  <a:srgbClr val="7A8794"/>
                </a:solidFill>
                <a:effectLst/>
                <a:uFillTx/>
                <a:latin typeface="Cambria"/>
                <a:ea typeface="Cambria"/>
              </a:rPr>
              <a:t>→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Rounded Rectangle 8"/>
          <p:cNvSpPr/>
          <p:nvPr/>
        </p:nvSpPr>
        <p:spPr>
          <a:xfrm>
            <a:off x="4709160" y="2240280"/>
            <a:ext cx="3885840" cy="1279800"/>
          </a:xfrm>
          <a:prstGeom prst="roundRect">
            <a:avLst>
              <a:gd name="adj" fmla="val 6000"/>
            </a:avLst>
          </a:prstGeom>
          <a:solidFill>
            <a:srgbClr val="F8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423" name="Oval 9"/>
          <p:cNvSpPr/>
          <p:nvPr/>
        </p:nvSpPr>
        <p:spPr>
          <a:xfrm>
            <a:off x="4937760" y="2468880"/>
            <a:ext cx="456840" cy="456840"/>
          </a:xfrm>
          <a:prstGeom prst="ellipse">
            <a:avLst/>
          </a:prstGeom>
          <a:solidFill>
            <a:srgbClr val="D26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8160" tIns="38160" rIns="38160" bIns="381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2</a:t>
            </a:r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Box 10"/>
          <p:cNvSpPr/>
          <p:nvPr/>
        </p:nvSpPr>
        <p:spPr>
          <a:xfrm>
            <a:off x="5577840" y="2423160"/>
            <a:ext cx="2880000" cy="95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35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Step 2 — Inference</a:t>
            </a:r>
            <a:endParaRPr lang="en-GB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spcBef>
                <a:spcPts val="400"/>
              </a:spcBef>
            </a:pPr>
            <a:r>
              <a:rPr lang="en-US" sz="1050" b="1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Query the model — </a:t>
            </a:r>
            <a:r>
              <a:rPr lang="en-US" sz="1000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what-if (proactive) &amp; counterfactual (retroactive)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Rounded Rectangle 11"/>
          <p:cNvSpPr/>
          <p:nvPr/>
        </p:nvSpPr>
        <p:spPr>
          <a:xfrm>
            <a:off x="548640" y="3794760"/>
            <a:ext cx="8046360" cy="456840"/>
          </a:xfrm>
          <a:prstGeom prst="roundRect">
            <a:avLst>
              <a:gd name="adj" fmla="val 5000"/>
            </a:avLst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8160" tIns="38160" rIns="38160" bIns="38160" anchor="ctr">
            <a:noAutofit/>
          </a:bodyPr>
          <a:lstStyle/>
          <a:p>
            <a:pPr defTabSz="914400">
              <a:lnSpc>
                <a:spcPct val="112000"/>
              </a:lnSpc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The causal model is a </a:t>
            </a:r>
            <a:r>
              <a:rPr lang="en-US" sz="1000" b="1" u="none" strike="noStrike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FillTx/>
                <a:latin typeface="Calibri"/>
                <a:ea typeface="Calibri"/>
              </a:rPr>
              <a:t>collaborative reasoning partner</a:t>
            </a: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, not a black-box oracle — engineers can inspect, challenge, and override it.</a:t>
            </a:r>
            <a:endParaRPr lang="en-GB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6" name="TextBox 12"/>
          <p:cNvSpPr/>
          <p:nvPr/>
        </p:nvSpPr>
        <p:spPr>
          <a:xfrm>
            <a:off x="8046720" y="473652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26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TextBox 1"/>
          <p:cNvSpPr/>
          <p:nvPr/>
        </p:nvSpPr>
        <p:spPr>
          <a:xfrm>
            <a:off x="548640" y="868680"/>
            <a:ext cx="80463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950" b="1" u="none" strike="noStrike" spc="241">
                <a:solidFill>
                  <a:srgbClr val="0E7C86"/>
                </a:solidFill>
                <a:effectLst/>
                <a:uFillTx/>
                <a:latin typeface="Calibri"/>
                <a:ea typeface="Calibri"/>
              </a:rPr>
              <a:t>THE PROCESS · STEP 1</a:t>
            </a:r>
            <a:endParaRPr lang="en-GB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Box 2"/>
          <p:cNvSpPr/>
          <p:nvPr/>
        </p:nvSpPr>
        <p:spPr>
          <a:xfrm>
            <a:off x="548640" y="1124640"/>
            <a:ext cx="8046360" cy="32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4000"/>
              </a:lnSpc>
            </a:pPr>
            <a:r>
              <a:rPr lang="en-US" sz="220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Building the causal model (</a:t>
            </a:r>
            <a:r>
              <a:rPr lang="en-US" sz="2200" b="1" u="none" strike="noStrike">
                <a:solidFill>
                  <a:schemeClr val="accent4">
                    <a:lumMod val="75000"/>
                  </a:schemeClr>
                </a:solidFill>
                <a:effectLst/>
                <a:uFillTx/>
                <a:latin typeface="Cambria"/>
                <a:ea typeface="Cambria"/>
              </a:rPr>
              <a:t>learning</a:t>
            </a:r>
            <a:r>
              <a:rPr lang="en-US" sz="220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)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TextBox 3"/>
          <p:cNvSpPr/>
          <p:nvPr/>
        </p:nvSpPr>
        <p:spPr>
          <a:xfrm>
            <a:off x="548640" y="1508760"/>
            <a:ext cx="80463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16000"/>
              </a:lnSpc>
            </a:pPr>
            <a:r>
              <a:rPr lang="en-US" sz="105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Three sources, often combined — the model encodes </a:t>
            </a:r>
            <a:r>
              <a:rPr lang="en-US" sz="1050" b="1" u="none" strike="noStrike">
                <a:solidFill>
                  <a:srgbClr val="0E7C86"/>
                </a:solidFill>
                <a:effectLst/>
                <a:uFillTx/>
                <a:latin typeface="Calibri"/>
                <a:ea typeface="Calibri"/>
              </a:rPr>
              <a:t>what we know and what we measure</a:t>
            </a:r>
            <a:r>
              <a:rPr lang="en-US" sz="105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Rounded Rectangle 4"/>
          <p:cNvSpPr/>
          <p:nvPr/>
        </p:nvSpPr>
        <p:spPr>
          <a:xfrm>
            <a:off x="548640" y="2103120"/>
            <a:ext cx="2605680" cy="1479600"/>
          </a:xfrm>
          <a:prstGeom prst="roundRect">
            <a:avLst>
              <a:gd name="adj" fmla="val 5000"/>
            </a:avLst>
          </a:prstGeom>
          <a:solidFill>
            <a:srgbClr val="EA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431" name="Oval 5"/>
          <p:cNvSpPr/>
          <p:nvPr/>
        </p:nvSpPr>
        <p:spPr>
          <a:xfrm>
            <a:off x="749880" y="2286000"/>
            <a:ext cx="310680" cy="310680"/>
          </a:xfrm>
          <a:prstGeom prst="ellipse">
            <a:avLst/>
          </a:prstGeom>
          <a:solidFill>
            <a:srgbClr val="0A5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432" name="TextBox 6"/>
          <p:cNvSpPr/>
          <p:nvPr/>
        </p:nvSpPr>
        <p:spPr>
          <a:xfrm>
            <a:off x="749880" y="2670120"/>
            <a:ext cx="2203200" cy="87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4000"/>
              </a:lnSpc>
            </a:pPr>
            <a:r>
              <a:rPr lang="en-US" sz="115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Specification</a:t>
            </a:r>
            <a:endParaRPr lang="en-GB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spcBef>
                <a:spcPts val="601"/>
              </a:spcBef>
            </a:pPr>
            <a:r>
              <a:rPr lang="en-US" sz="90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Experts declare cause-effect relations - which links must hold, which are forbidden. An inspectable record of assumptions; LLMs can suggest variables.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Rounded Rectangle 7"/>
          <p:cNvSpPr/>
          <p:nvPr/>
        </p:nvSpPr>
        <p:spPr>
          <a:xfrm>
            <a:off x="3273480" y="2103120"/>
            <a:ext cx="2605680" cy="1479600"/>
          </a:xfrm>
          <a:prstGeom prst="roundRect">
            <a:avLst>
              <a:gd name="adj" fmla="val 5000"/>
            </a:avLst>
          </a:prstGeom>
          <a:solidFill>
            <a:srgbClr val="EA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434" name="Oval 8"/>
          <p:cNvSpPr/>
          <p:nvPr/>
        </p:nvSpPr>
        <p:spPr>
          <a:xfrm>
            <a:off x="3474720" y="2286000"/>
            <a:ext cx="310680" cy="31068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435" name="TextBox 9"/>
          <p:cNvSpPr/>
          <p:nvPr/>
        </p:nvSpPr>
        <p:spPr>
          <a:xfrm>
            <a:off x="3474720" y="2670120"/>
            <a:ext cx="220320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4000"/>
              </a:lnSpc>
            </a:pPr>
            <a:r>
              <a:rPr lang="en-US" sz="115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Discovery</a:t>
            </a:r>
            <a:endParaRPr lang="en-GB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spcBef>
                <a:spcPts val="601"/>
              </a:spcBef>
            </a:pPr>
            <a:r>
              <a:rPr lang="en-US" sz="90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Causal-discovery algorithms extract structure from data - observational or experimental, structured or text. Engineers validate &amp; revise.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Rounded Rectangle 10"/>
          <p:cNvSpPr/>
          <p:nvPr/>
        </p:nvSpPr>
        <p:spPr>
          <a:xfrm>
            <a:off x="5998320" y="2103120"/>
            <a:ext cx="2605680" cy="1479600"/>
          </a:xfrm>
          <a:prstGeom prst="roundRect">
            <a:avLst>
              <a:gd name="adj" fmla="val 5000"/>
            </a:avLst>
          </a:prstGeom>
          <a:solidFill>
            <a:srgbClr val="F8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437" name="Oval 11"/>
          <p:cNvSpPr/>
          <p:nvPr/>
        </p:nvSpPr>
        <p:spPr>
          <a:xfrm>
            <a:off x="6199560" y="2286000"/>
            <a:ext cx="310680" cy="310680"/>
          </a:xfrm>
          <a:prstGeom prst="ellipse">
            <a:avLst/>
          </a:prstGeom>
          <a:solidFill>
            <a:srgbClr val="D26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438" name="TextBox 12"/>
          <p:cNvSpPr/>
          <p:nvPr/>
        </p:nvSpPr>
        <p:spPr>
          <a:xfrm>
            <a:off x="6199560" y="2670120"/>
            <a:ext cx="2203200" cy="87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4000"/>
              </a:lnSpc>
            </a:pPr>
            <a:r>
              <a:rPr lang="en-US" sz="115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Fitting</a:t>
            </a:r>
            <a:endParaRPr lang="en-GB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spcBef>
                <a:spcPts val="601"/>
              </a:spcBef>
            </a:pPr>
            <a:r>
              <a:rPr lang="en-US" sz="90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However the structure is obtained (via Specification, Discovery or Hybrid) data parameterize it – e.g., structural equations (SCM) or conditional distributions (CBN).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Rounded Rectangle 13"/>
          <p:cNvSpPr/>
          <p:nvPr/>
        </p:nvSpPr>
        <p:spPr>
          <a:xfrm>
            <a:off x="548640" y="3901320"/>
            <a:ext cx="8046360" cy="456840"/>
          </a:xfrm>
          <a:prstGeom prst="roundRect">
            <a:avLst>
              <a:gd name="adj" fmla="val 6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8160" tIns="38160" rIns="38160" bIns="38160" anchor="ctr">
            <a:noAutofit/>
          </a:bodyPr>
          <a:lstStyle/>
          <a:p>
            <a:pPr defTabSz="914400">
              <a:lnSpc>
                <a:spcPct val="112000"/>
              </a:lnSpc>
            </a:pPr>
            <a:r>
              <a:rPr lang="en-US" sz="1000" b="1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Validation:  </a:t>
            </a:r>
            <a:r>
              <a:rPr lang="en-US" sz="100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if observations contradict a specified relation, revisit whether the assumption is wrong - or the data simply insufficient.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TextBox 14"/>
          <p:cNvSpPr/>
          <p:nvPr/>
        </p:nvSpPr>
        <p:spPr>
          <a:xfrm>
            <a:off x="557640" y="4535280"/>
            <a:ext cx="8046360" cy="11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750" b="0" i="1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Pietrantuono, Giamattei &amp; Russo, Reasoning Beyond Prediction: From Data-Driven to Causal Software Engineering, CACM (to appear in Dec 2026) – </a:t>
            </a:r>
            <a:r>
              <a:rPr lang="en-US" sz="750" b="0" i="1" u="none" strike="noStrike">
                <a:solidFill>
                  <a:srgbClr val="7A8794"/>
                </a:solidFill>
                <a:effectLst/>
                <a:highlight>
                  <a:srgbClr val="FFFF00"/>
                </a:highlight>
                <a:uFillTx/>
                <a:latin typeface="Calibri"/>
                <a:ea typeface="Calibri"/>
              </a:rPr>
              <a:t>https://arxiv...</a:t>
            </a:r>
            <a:endParaRPr lang="en-GB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TextBox 15"/>
          <p:cNvSpPr/>
          <p:nvPr/>
        </p:nvSpPr>
        <p:spPr>
          <a:xfrm>
            <a:off x="8046720" y="473652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27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TextBox 6"/>
          <p:cNvSpPr/>
          <p:nvPr/>
        </p:nvSpPr>
        <p:spPr>
          <a:xfrm>
            <a:off x="708840" y="3589200"/>
            <a:ext cx="2203200" cy="14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4000"/>
              </a:lnSpc>
            </a:pPr>
            <a:r>
              <a:rPr lang="en-US" sz="1000" b="1" i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Domain expertise, assumptions-based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TextBox 6"/>
          <p:cNvSpPr/>
          <p:nvPr/>
        </p:nvSpPr>
        <p:spPr>
          <a:xfrm>
            <a:off x="3470040" y="3583080"/>
            <a:ext cx="2203200" cy="14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4000"/>
              </a:lnSpc>
            </a:pPr>
            <a:r>
              <a:rPr lang="en-US" sz="1000" b="1" i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Observations/data, evidene-based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TextBox 1"/>
          <p:cNvSpPr/>
          <p:nvPr/>
        </p:nvSpPr>
        <p:spPr>
          <a:xfrm>
            <a:off x="548640" y="868680"/>
            <a:ext cx="80463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950" b="1" u="none" strike="noStrike" spc="241">
                <a:solidFill>
                  <a:srgbClr val="0E7C86"/>
                </a:solidFill>
                <a:effectLst/>
                <a:uFillTx/>
                <a:latin typeface="Calibri"/>
                <a:ea typeface="Calibri"/>
              </a:rPr>
              <a:t>THE PROCESS · STEP 2</a:t>
            </a:r>
            <a:endParaRPr lang="en-GB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TextBox 2"/>
          <p:cNvSpPr/>
          <p:nvPr/>
        </p:nvSpPr>
        <p:spPr>
          <a:xfrm>
            <a:off x="548640" y="1124640"/>
            <a:ext cx="8046360" cy="32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4000"/>
              </a:lnSpc>
            </a:pPr>
            <a:r>
              <a:rPr lang="en-US" sz="220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Querying the model (</a:t>
            </a:r>
            <a:r>
              <a:rPr lang="en-US" sz="2200" b="1" u="none" strike="noStrike">
                <a:solidFill>
                  <a:schemeClr val="accent4">
                    <a:lumMod val="75000"/>
                  </a:schemeClr>
                </a:solidFill>
                <a:effectLst/>
                <a:uFillTx/>
                <a:latin typeface="Cambria"/>
                <a:ea typeface="Cambria"/>
              </a:rPr>
              <a:t>inference</a:t>
            </a:r>
            <a:r>
              <a:rPr lang="en-US" sz="220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)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TextBox 3"/>
          <p:cNvSpPr/>
          <p:nvPr/>
        </p:nvSpPr>
        <p:spPr>
          <a:xfrm>
            <a:off x="548640" y="1508760"/>
            <a:ext cx="80463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16000"/>
              </a:lnSpc>
            </a:pPr>
            <a:r>
              <a:rPr lang="en-US" sz="105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With a model in hand, engineers ask two kinds of question - and can </a:t>
            </a:r>
            <a:r>
              <a:rPr lang="en-US" sz="1050" b="1" u="none" strike="noStrike">
                <a:solidFill>
                  <a:srgbClr val="D26E3A"/>
                </a:solidFill>
                <a:effectLst/>
                <a:uFillTx/>
                <a:latin typeface="Calibri"/>
                <a:ea typeface="Calibri"/>
              </a:rPr>
              <a:t>refute</a:t>
            </a:r>
            <a:r>
              <a:rPr lang="en-US" sz="105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 the answers.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Rounded Rectangle 4"/>
          <p:cNvSpPr/>
          <p:nvPr/>
        </p:nvSpPr>
        <p:spPr>
          <a:xfrm>
            <a:off x="548640" y="2049480"/>
            <a:ext cx="3885840" cy="1234080"/>
          </a:xfrm>
          <a:prstGeom prst="roundRect">
            <a:avLst>
              <a:gd name="adj" fmla="val 6000"/>
            </a:avLst>
          </a:prstGeom>
          <a:solidFill>
            <a:srgbClr val="EA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448" name="TextBox 5"/>
          <p:cNvSpPr/>
          <p:nvPr/>
        </p:nvSpPr>
        <p:spPr>
          <a:xfrm>
            <a:off x="822960" y="2240280"/>
            <a:ext cx="333720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25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Proactive - what-if</a:t>
            </a:r>
            <a:endParaRPr lang="en-GB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4000"/>
              </a:lnSpc>
              <a:spcBef>
                <a:spcPts val="601"/>
              </a:spcBef>
            </a:pPr>
            <a:r>
              <a:rPr lang="en-US" sz="950" b="0" u="none" strike="noStrike">
                <a:solidFill>
                  <a:srgbClr val="0A5A62"/>
                </a:solidFill>
                <a:effectLst/>
                <a:uFillTx/>
                <a:latin typeface="Consolas"/>
                <a:ea typeface="Consolas"/>
              </a:rPr>
              <a:t>do(X = x): predict the effect of an action before taking it.</a:t>
            </a:r>
            <a:endParaRPr lang="en-GB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4000"/>
              </a:lnSpc>
              <a:spcBef>
                <a:spcPts val="499"/>
              </a:spcBef>
            </a:pPr>
            <a:r>
              <a:rPr lang="en-US" sz="900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Design exploration, test generation, performance tuning.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Rounded Rectangle 6"/>
          <p:cNvSpPr/>
          <p:nvPr/>
        </p:nvSpPr>
        <p:spPr>
          <a:xfrm>
            <a:off x="4709160" y="2057400"/>
            <a:ext cx="3885840" cy="1234080"/>
          </a:xfrm>
          <a:prstGeom prst="roundRect">
            <a:avLst>
              <a:gd name="adj" fmla="val 6000"/>
            </a:avLst>
          </a:prstGeom>
          <a:solidFill>
            <a:srgbClr val="F8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450" name="TextBox 7"/>
          <p:cNvSpPr/>
          <p:nvPr/>
        </p:nvSpPr>
        <p:spPr>
          <a:xfrm>
            <a:off x="4983480" y="2240280"/>
            <a:ext cx="333720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25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Retroactive - counterfactual</a:t>
            </a:r>
            <a:endParaRPr lang="en-GB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4000"/>
              </a:lnSpc>
              <a:spcBef>
                <a:spcPts val="601"/>
              </a:spcBef>
            </a:pPr>
            <a:r>
              <a:rPr lang="en-US" sz="950" b="0" i="1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would the failure have occurred had X been different?</a:t>
            </a:r>
            <a:endParaRPr lang="en-GB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4000"/>
              </a:lnSpc>
              <a:spcBef>
                <a:spcPts val="499"/>
              </a:spcBef>
            </a:pPr>
            <a:r>
              <a:rPr lang="en-US" sz="900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Root-cause analysis, debugging, corrective maintenance.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Rounded Rectangle 8"/>
          <p:cNvSpPr/>
          <p:nvPr/>
        </p:nvSpPr>
        <p:spPr>
          <a:xfrm>
            <a:off x="548640" y="3703320"/>
            <a:ext cx="8046360" cy="456840"/>
          </a:xfrm>
          <a:prstGeom prst="roundRect">
            <a:avLst>
              <a:gd name="adj" fmla="val 5000"/>
            </a:avLst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8160" tIns="38160" rIns="38160" bIns="38160" anchor="ctr">
            <a:noAutofit/>
          </a:bodyPr>
          <a:lstStyle/>
          <a:p>
            <a:pPr defTabSz="914400">
              <a:lnSpc>
                <a:spcPct val="112000"/>
              </a:lnSpc>
            </a:pPr>
            <a:r>
              <a:rPr lang="en-US" sz="1000" b="1" u="none" strike="noStrike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FillTx/>
                <a:latin typeface="Calibri"/>
                <a:ea typeface="Calibri"/>
              </a:rPr>
              <a:t>Estimate with uncertainty, then refute: </a:t>
            </a:r>
            <a:r>
              <a:rPr lang="en-US" sz="1000" b="1" u="none" strike="noStrike">
                <a:solidFill>
                  <a:srgbClr val="4A9E99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effect estimates come with confidence intervals and are checked by refutation tests</a:t>
            </a:r>
            <a:endParaRPr lang="en-GB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2" name="TextBox 10"/>
          <p:cNvSpPr/>
          <p:nvPr/>
        </p:nvSpPr>
        <p:spPr>
          <a:xfrm>
            <a:off x="8046720" y="473652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28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TextBox 14"/>
          <p:cNvSpPr/>
          <p:nvPr/>
        </p:nvSpPr>
        <p:spPr>
          <a:xfrm>
            <a:off x="557640" y="4535280"/>
            <a:ext cx="8046360" cy="11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750" b="0" i="1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Pietrantuono, Giamattei &amp; Russo, Reasoning Beyond Prediction: From Data-Driven to Causal Software Engineering, CACM (to appear in Dec 2026) – </a:t>
            </a:r>
            <a:r>
              <a:rPr lang="en-US" sz="750" b="0" i="1" u="none" strike="noStrike">
                <a:solidFill>
                  <a:srgbClr val="7A8794"/>
                </a:solidFill>
                <a:effectLst/>
                <a:highlight>
                  <a:srgbClr val="FFFF00"/>
                </a:highlight>
                <a:uFillTx/>
                <a:latin typeface="Calibri"/>
                <a:ea typeface="Calibri"/>
              </a:rPr>
              <a:t>https://arxiv...</a:t>
            </a:r>
            <a:endParaRPr lang="en-GB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TextBox 1"/>
          <p:cNvSpPr/>
          <p:nvPr/>
        </p:nvSpPr>
        <p:spPr>
          <a:xfrm>
            <a:off x="548640" y="868680"/>
            <a:ext cx="80463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950" b="1" u="none" strike="noStrike" spc="241">
                <a:solidFill>
                  <a:srgbClr val="0E7C86"/>
                </a:solidFill>
                <a:effectLst/>
                <a:uFillTx/>
                <a:latin typeface="Calibri"/>
                <a:ea typeface="Calibri"/>
              </a:rPr>
              <a:t>REFERENCES</a:t>
            </a:r>
            <a:endParaRPr lang="en-GB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TextBox 2"/>
          <p:cNvSpPr/>
          <p:nvPr/>
        </p:nvSpPr>
        <p:spPr>
          <a:xfrm>
            <a:off x="548640" y="1124640"/>
            <a:ext cx="8046360" cy="32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4000"/>
              </a:lnSpc>
            </a:pPr>
            <a:r>
              <a:rPr lang="en-US" sz="220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Sources &amp; further reading – </a:t>
            </a:r>
            <a:r>
              <a:rPr lang="en-US" sz="2200" b="1" u="none" strike="noStrike">
                <a:solidFill>
                  <a:srgbClr val="1E3A5F"/>
                </a:solidFill>
                <a:effectLst/>
                <a:highlight>
                  <a:srgbClr val="FFFF00"/>
                </a:highlight>
                <a:uFillTx/>
                <a:latin typeface="Cambria"/>
                <a:ea typeface="Cambria"/>
              </a:rPr>
              <a:t>TO INTEGRATE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TextBox 3"/>
          <p:cNvSpPr/>
          <p:nvPr/>
        </p:nvSpPr>
        <p:spPr>
          <a:xfrm>
            <a:off x="548640" y="1554480"/>
            <a:ext cx="397728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000" b="1" u="none" strike="noStrike">
                <a:solidFill>
                  <a:srgbClr val="0A5A62"/>
                </a:solidFill>
                <a:effectLst/>
                <a:uFillTx/>
                <a:latin typeface="Cambria"/>
                <a:ea typeface="Cambria"/>
              </a:rPr>
              <a:t>Framework &amp; roadmap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TextBox 4"/>
          <p:cNvSpPr/>
          <p:nvPr/>
        </p:nvSpPr>
        <p:spPr>
          <a:xfrm>
            <a:off x="548640" y="1810440"/>
            <a:ext cx="402300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2000"/>
              </a:lnSpc>
            </a:pPr>
            <a:r>
              <a:rPr lang="en-US" sz="800" b="0" u="none" strike="noStrike" dirty="0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Pietrantuono, </a:t>
            </a:r>
            <a:r>
              <a:rPr lang="en-US" sz="800" b="0" u="none" strike="noStrike" dirty="0" err="1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Giamattei</a:t>
            </a:r>
            <a:r>
              <a:rPr lang="en-US" sz="800" b="0" u="none" strike="noStrike" dirty="0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, Russo. Reasoning Beyond Prediction:  From Data-Driven to Causal</a:t>
            </a:r>
            <a:endParaRPr lang="en-GB" sz="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</a:pPr>
            <a:r>
              <a:rPr lang="en-US" sz="800" b="0" u="none" strike="noStrike" dirty="0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Software Engineering  to appear in CACM, 2026, https://</a:t>
            </a:r>
            <a:r>
              <a:rPr lang="en-US" sz="800" b="0" u="none" strike="noStrike" dirty="0" err="1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arxiv.org</a:t>
            </a:r>
            <a:r>
              <a:rPr lang="en-US" sz="800" b="0" u="none" strike="noStrike" dirty="0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/abs/2606.27960 </a:t>
            </a:r>
            <a:endParaRPr lang="en-GB" sz="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TextBox 5"/>
          <p:cNvSpPr/>
          <p:nvPr/>
        </p:nvSpPr>
        <p:spPr>
          <a:xfrm>
            <a:off x="548640" y="2142360"/>
            <a:ext cx="4023000" cy="12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2000"/>
              </a:lnSpc>
            </a:pPr>
            <a:r>
              <a:rPr lang="en-US" sz="800" b="1" u="none" strike="noStrike" dirty="0">
                <a:solidFill>
                  <a:srgbClr val="D26E3A"/>
                </a:solidFill>
                <a:effectLst/>
                <a:uFillTx/>
                <a:latin typeface="Calibri"/>
                <a:ea typeface="Calibri"/>
              </a:rPr>
              <a:t>- </a:t>
            </a:r>
            <a:r>
              <a:rPr lang="en-US" sz="800" b="0" u="none" strike="noStrike" dirty="0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Causal Software Engineering: A Vision and Roadmap. arXiv:2605.02454.</a:t>
            </a:r>
            <a:endParaRPr lang="en-GB" sz="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TextBox 6"/>
          <p:cNvSpPr/>
          <p:nvPr/>
        </p:nvSpPr>
        <p:spPr>
          <a:xfrm>
            <a:off x="548640" y="2349360"/>
            <a:ext cx="4023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2000"/>
              </a:lnSpc>
            </a:pPr>
            <a:r>
              <a:rPr lang="en-US" sz="800" b="1" u="none" strike="noStrike">
                <a:solidFill>
                  <a:srgbClr val="D26E3A"/>
                </a:solidFill>
                <a:effectLst/>
                <a:uFillTx/>
                <a:latin typeface="Calibri"/>
                <a:ea typeface="Calibri"/>
              </a:rPr>
              <a:t>- </a:t>
            </a:r>
            <a:r>
              <a:rPr lang="en-US" sz="80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Giamattei et al. Causal reasoning in SQA: a systematic review. IST 178 (2025) 107599.</a:t>
            </a:r>
            <a:endParaRPr lang="en-GB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TextBox 7"/>
          <p:cNvSpPr/>
          <p:nvPr/>
        </p:nvSpPr>
        <p:spPr>
          <a:xfrm>
            <a:off x="548640" y="2624400"/>
            <a:ext cx="397728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000" b="1" u="none" strike="noStrike">
                <a:solidFill>
                  <a:srgbClr val="0A5A62"/>
                </a:solidFill>
                <a:effectLst/>
                <a:uFillTx/>
                <a:latin typeface="Cambria"/>
                <a:ea typeface="Cambria"/>
              </a:rPr>
              <a:t>Testing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TextBox 8"/>
          <p:cNvSpPr/>
          <p:nvPr/>
        </p:nvSpPr>
        <p:spPr>
          <a:xfrm>
            <a:off x="548640" y="2880360"/>
            <a:ext cx="4023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2000"/>
              </a:lnSpc>
            </a:pPr>
            <a:r>
              <a:rPr lang="en-US" sz="800" b="1" u="none" strike="noStrike">
                <a:solidFill>
                  <a:srgbClr val="D26E3A"/>
                </a:solidFill>
                <a:effectLst/>
                <a:uFillTx/>
                <a:latin typeface="Calibri"/>
                <a:ea typeface="Calibri"/>
              </a:rPr>
              <a:t>- </a:t>
            </a:r>
            <a:r>
              <a:rPr lang="en-US" sz="80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Giamattei et al. Causality-driven Testing of Autonomous Driving Systems. ACM TOSEM 33(3), 2024.</a:t>
            </a:r>
            <a:endParaRPr lang="en-GB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TextBox 9"/>
          <p:cNvSpPr/>
          <p:nvPr/>
        </p:nvSpPr>
        <p:spPr>
          <a:xfrm>
            <a:off x="548640" y="3173040"/>
            <a:ext cx="4023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2000"/>
              </a:lnSpc>
            </a:pPr>
            <a:r>
              <a:rPr lang="en-US" sz="800" b="1" u="none" strike="noStrike">
                <a:solidFill>
                  <a:srgbClr val="D26E3A"/>
                </a:solidFill>
                <a:effectLst/>
                <a:uFillTx/>
                <a:latin typeface="Calibri"/>
                <a:ea typeface="Calibri"/>
              </a:rPr>
              <a:t>- </a:t>
            </a:r>
            <a:r>
              <a:rPr lang="en-US" sz="80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Giamattei et al. Identifying Performance Issues in Microservices through Causal Reasoning. AST 2024.</a:t>
            </a:r>
            <a:endParaRPr lang="en-GB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TextBox 10"/>
          <p:cNvSpPr/>
          <p:nvPr/>
        </p:nvSpPr>
        <p:spPr>
          <a:xfrm>
            <a:off x="548640" y="3465720"/>
            <a:ext cx="4023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2000"/>
              </a:lnSpc>
            </a:pPr>
            <a:r>
              <a:rPr lang="en-US" sz="800" b="1" u="none" strike="noStrike">
                <a:solidFill>
                  <a:srgbClr val="D26E3A"/>
                </a:solidFill>
                <a:effectLst/>
                <a:uFillTx/>
                <a:latin typeface="Calibri"/>
                <a:ea typeface="Calibri"/>
              </a:rPr>
              <a:t>- </a:t>
            </a:r>
            <a:r>
              <a:rPr lang="en-US" sz="80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Mascia et al. Microservices performance testing (causality-guided / LLM), 2025.</a:t>
            </a:r>
            <a:endParaRPr lang="en-GB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TextBox 11"/>
          <p:cNvSpPr/>
          <p:nvPr/>
        </p:nvSpPr>
        <p:spPr>
          <a:xfrm>
            <a:off x="548640" y="3758040"/>
            <a:ext cx="4023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2000"/>
              </a:lnSpc>
            </a:pPr>
            <a:r>
              <a:rPr lang="en-US" sz="800" b="1" u="none" strike="noStrike">
                <a:solidFill>
                  <a:srgbClr val="D26E3A"/>
                </a:solidFill>
                <a:effectLst/>
                <a:uFillTx/>
                <a:latin typeface="Calibri"/>
                <a:ea typeface="Calibri"/>
              </a:rPr>
              <a:t>- </a:t>
            </a:r>
            <a:r>
              <a:rPr lang="en-US" sz="80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Clark et al. Metamorphic Testing with Causal Graphs. ICST 2023.</a:t>
            </a:r>
            <a:endParaRPr lang="en-GB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TextBox 12"/>
          <p:cNvSpPr/>
          <p:nvPr/>
        </p:nvSpPr>
        <p:spPr>
          <a:xfrm>
            <a:off x="548640" y="3931920"/>
            <a:ext cx="4023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2000"/>
              </a:lnSpc>
            </a:pPr>
            <a:r>
              <a:rPr lang="en-US" sz="800" b="1" u="none" strike="noStrike" dirty="0">
                <a:solidFill>
                  <a:srgbClr val="D26E3A"/>
                </a:solidFill>
                <a:effectLst/>
                <a:uFillTx/>
                <a:latin typeface="Calibri"/>
                <a:ea typeface="Calibri"/>
              </a:rPr>
              <a:t>- </a:t>
            </a:r>
            <a:r>
              <a:rPr lang="en-US" sz="800" b="0" u="none" strike="noStrike" dirty="0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Foster et al. Causal inference for systems with hidden/interacting variables. EASE 2025.</a:t>
            </a:r>
            <a:endParaRPr lang="en-GB" sz="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TextBox 13"/>
          <p:cNvSpPr/>
          <p:nvPr/>
        </p:nvSpPr>
        <p:spPr>
          <a:xfrm>
            <a:off x="4709160" y="1554480"/>
            <a:ext cx="397728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000" b="1" u="none" strike="noStrike">
                <a:solidFill>
                  <a:srgbClr val="0A5A62"/>
                </a:solidFill>
                <a:effectLst/>
                <a:uFillTx/>
                <a:latin typeface="Cambria"/>
                <a:ea typeface="Cambria"/>
              </a:rPr>
              <a:t>Fault localization &amp; RCA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TextBox 14"/>
          <p:cNvSpPr/>
          <p:nvPr/>
        </p:nvSpPr>
        <p:spPr>
          <a:xfrm>
            <a:off x="4709160" y="1810440"/>
            <a:ext cx="4023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2000"/>
              </a:lnSpc>
            </a:pPr>
            <a:r>
              <a:rPr lang="en-US" sz="800" b="1" u="none" strike="noStrike">
                <a:solidFill>
                  <a:srgbClr val="D26E3A"/>
                </a:solidFill>
                <a:effectLst/>
                <a:uFillTx/>
                <a:latin typeface="Calibri"/>
                <a:ea typeface="Calibri"/>
              </a:rPr>
              <a:t>- </a:t>
            </a:r>
            <a:r>
              <a:rPr lang="en-US" sz="80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Johnson, Brun, Meliou. Causal testing: understanding defects' root causes. ICSE 2020.</a:t>
            </a:r>
            <a:endParaRPr lang="en-GB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TextBox 15"/>
          <p:cNvSpPr/>
          <p:nvPr/>
        </p:nvSpPr>
        <p:spPr>
          <a:xfrm>
            <a:off x="4709160" y="2103120"/>
            <a:ext cx="4023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2000"/>
              </a:lnSpc>
            </a:pPr>
            <a:r>
              <a:rPr lang="en-US" sz="800" b="1" u="none" strike="noStrike">
                <a:solidFill>
                  <a:srgbClr val="D26E3A"/>
                </a:solidFill>
                <a:effectLst/>
                <a:uFillTx/>
                <a:latin typeface="Calibri"/>
                <a:ea typeface="Calibri"/>
              </a:rPr>
              <a:t>- </a:t>
            </a:r>
            <a:r>
              <a:rPr lang="en-US" sz="80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Wu, Tordsson, Elmroth, Kao. Causal Inference Techniques for Microservice Performance. 2021.</a:t>
            </a:r>
            <a:endParaRPr lang="en-GB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TextBox 16"/>
          <p:cNvSpPr/>
          <p:nvPr/>
        </p:nvSpPr>
        <p:spPr>
          <a:xfrm>
            <a:off x="4709160" y="2395800"/>
            <a:ext cx="4023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2000"/>
              </a:lnSpc>
            </a:pPr>
            <a:r>
              <a:rPr lang="en-US" sz="800" b="1" u="none" strike="noStrike">
                <a:solidFill>
                  <a:srgbClr val="D26E3A"/>
                </a:solidFill>
                <a:effectLst/>
                <a:uFillTx/>
                <a:latin typeface="Calibri"/>
                <a:ea typeface="Calibri"/>
              </a:rPr>
              <a:t>- </a:t>
            </a:r>
            <a:r>
              <a:rPr lang="en-US" sz="80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PyWhy / DoWhy - GCM root-cause analysis example (pywhy.org).</a:t>
            </a:r>
            <a:endParaRPr lang="en-GB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TextBox 17"/>
          <p:cNvSpPr/>
          <p:nvPr/>
        </p:nvSpPr>
        <p:spPr>
          <a:xfrm>
            <a:off x="4709160" y="2624400"/>
            <a:ext cx="397728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000" b="1" u="none" strike="noStrike">
                <a:solidFill>
                  <a:srgbClr val="0A5A62"/>
                </a:solidFill>
                <a:effectLst/>
                <a:uFillTx/>
                <a:latin typeface="Cambria"/>
                <a:ea typeface="Cambria"/>
              </a:rPr>
              <a:t>Requirements engineering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TextBox 18"/>
          <p:cNvSpPr/>
          <p:nvPr/>
        </p:nvSpPr>
        <p:spPr>
          <a:xfrm>
            <a:off x="4709160" y="2880360"/>
            <a:ext cx="4023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2000"/>
              </a:lnSpc>
            </a:pPr>
            <a:r>
              <a:rPr lang="en-US" sz="800" b="1" u="none" strike="noStrike">
                <a:solidFill>
                  <a:srgbClr val="D26E3A"/>
                </a:solidFill>
                <a:effectLst/>
                <a:uFillTx/>
                <a:latin typeface="Calibri"/>
                <a:ea typeface="Calibri"/>
              </a:rPr>
              <a:t>- </a:t>
            </a:r>
            <a:r>
              <a:rPr lang="en-US" sz="80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Heyn et al. Causal models as a Requirements Engineering activity (arc-fault study).</a:t>
            </a:r>
            <a:endParaRPr lang="en-GB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TextBox 19"/>
          <p:cNvSpPr/>
          <p:nvPr/>
        </p:nvSpPr>
        <p:spPr>
          <a:xfrm>
            <a:off x="4709160" y="3173040"/>
            <a:ext cx="4023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2000"/>
              </a:lnSpc>
            </a:pPr>
            <a:r>
              <a:rPr lang="en-US" sz="800" b="1" u="none" strike="noStrike">
                <a:solidFill>
                  <a:srgbClr val="D26E3A"/>
                </a:solidFill>
                <a:effectLst/>
                <a:uFillTx/>
                <a:latin typeface="Calibri"/>
                <a:ea typeface="Calibri"/>
              </a:rPr>
              <a:t>- </a:t>
            </a:r>
            <a:r>
              <a:rPr lang="en-US" sz="80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Ahmad et al. RE for AI systems: a systematic mapping. IST 158 (2023) 107176.</a:t>
            </a:r>
            <a:endParaRPr lang="en-GB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TextBox 20"/>
          <p:cNvSpPr/>
          <p:nvPr/>
        </p:nvSpPr>
        <p:spPr>
          <a:xfrm>
            <a:off x="4709160" y="3465720"/>
            <a:ext cx="4023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2000"/>
              </a:lnSpc>
            </a:pPr>
            <a:r>
              <a:rPr lang="en-US" sz="800" b="1" u="none" strike="noStrike">
                <a:solidFill>
                  <a:srgbClr val="D26E3A"/>
                </a:solidFill>
                <a:effectLst/>
                <a:uFillTx/>
                <a:latin typeface="Calibri"/>
                <a:ea typeface="Calibri"/>
              </a:rPr>
              <a:t>- </a:t>
            </a:r>
            <a:r>
              <a:rPr lang="en-US" sz="80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D'Amour et al. Underspecification in modern ML. JMLR 23 (2022).</a:t>
            </a:r>
            <a:endParaRPr lang="en-GB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TextBox 21"/>
          <p:cNvSpPr/>
          <p:nvPr/>
        </p:nvSpPr>
        <p:spPr>
          <a:xfrm>
            <a:off x="4709160" y="3639240"/>
            <a:ext cx="4023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2000"/>
              </a:lnSpc>
            </a:pPr>
            <a:r>
              <a:rPr lang="en-US" sz="800" b="1" u="none" strike="noStrike">
                <a:solidFill>
                  <a:srgbClr val="D26E3A"/>
                </a:solidFill>
                <a:effectLst/>
                <a:uFillTx/>
                <a:latin typeface="Calibri"/>
                <a:ea typeface="Calibri"/>
              </a:rPr>
              <a:t>- </a:t>
            </a:r>
            <a:r>
              <a:rPr lang="en-US" sz="80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Mitchell et al. Algorithmic fairness: choices, assumptions, definitions. 2021.</a:t>
            </a:r>
            <a:endParaRPr lang="en-GB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TextBox 22"/>
          <p:cNvSpPr/>
          <p:nvPr/>
        </p:nvSpPr>
        <p:spPr>
          <a:xfrm>
            <a:off x="4709160" y="3986640"/>
            <a:ext cx="397728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000" b="1" u="none" strike="noStrike">
                <a:solidFill>
                  <a:srgbClr val="0A5A62"/>
                </a:solidFill>
                <a:effectLst/>
                <a:uFillTx/>
                <a:latin typeface="Cambria"/>
                <a:ea typeface="Cambria"/>
              </a:rPr>
              <a:t>Validity &amp; caveats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TextBox 23"/>
          <p:cNvSpPr/>
          <p:nvPr/>
        </p:nvSpPr>
        <p:spPr>
          <a:xfrm>
            <a:off x="4709160" y="4242960"/>
            <a:ext cx="4023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2000"/>
              </a:lnSpc>
            </a:pPr>
            <a:r>
              <a:rPr lang="en-US" sz="800" b="1" u="none" strike="noStrike">
                <a:solidFill>
                  <a:srgbClr val="D26E3A"/>
                </a:solidFill>
                <a:effectLst/>
                <a:uFillTx/>
                <a:latin typeface="Calibri"/>
                <a:ea typeface="Calibri"/>
              </a:rPr>
              <a:t>- </a:t>
            </a:r>
            <a:r>
              <a:rPr lang="en-US" sz="80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Hulse, Eisty, Menzies. Shaky structures: causal graphs in software analytics. EMSE 30 (2025).</a:t>
            </a:r>
            <a:endParaRPr lang="en-GB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TextBox 24"/>
          <p:cNvSpPr/>
          <p:nvPr/>
        </p:nvSpPr>
        <p:spPr>
          <a:xfrm>
            <a:off x="8046720" y="473652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44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npassad formgivning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Anpassad formgivning [1782399641934]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Anpassad formgivning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3251</TotalTime>
  <Words>2734</Words>
  <Application>Microsoft Macintosh PowerPoint</Application>
  <PresentationFormat>Presentazione su schermo (16:9)</PresentationFormat>
  <Paragraphs>354</Paragraphs>
  <Slides>25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8</vt:i4>
      </vt:variant>
      <vt:variant>
        <vt:lpstr>Tema</vt:lpstr>
      </vt:variant>
      <vt:variant>
        <vt:i4>3</vt:i4>
      </vt:variant>
      <vt:variant>
        <vt:lpstr>Titoli diapositive</vt:lpstr>
      </vt:variant>
      <vt:variant>
        <vt:i4>25</vt:i4>
      </vt:variant>
    </vt:vector>
  </HeadingPairs>
  <TitlesOfParts>
    <vt:vector size="36" baseType="lpstr">
      <vt:lpstr>Aptos</vt:lpstr>
      <vt:lpstr>Arial</vt:lpstr>
      <vt:lpstr>Calibri</vt:lpstr>
      <vt:lpstr>Cambria</vt:lpstr>
      <vt:lpstr>Consolas</vt:lpstr>
      <vt:lpstr>Symbol</vt:lpstr>
      <vt:lpstr>Times New Roman</vt:lpstr>
      <vt:lpstr>Wingdings</vt:lpstr>
      <vt:lpstr>Anpassad formgivning</vt:lpstr>
      <vt:lpstr>Anpassad formgivning [1782399641934]</vt:lpstr>
      <vt:lpstr>Anpassad formgivning</vt:lpstr>
      <vt:lpstr>Presentazione standard di PowerPoint</vt:lpstr>
      <vt:lpstr>Welcome to a tutorial on causal inference in SE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Causal Inference for Software Engineering</dc:title>
  <dc:subject>PptxGenJS Presentation</dc:subject>
  <dc:creator>Tutorial authors</dc:creator>
  <dc:description/>
  <cp:lastModifiedBy>ROBERTO PIETRANTUONO</cp:lastModifiedBy>
  <cp:revision>87</cp:revision>
  <dcterms:created xsi:type="dcterms:W3CDTF">2026-06-18T12:50:28Z</dcterms:created>
  <dcterms:modified xsi:type="dcterms:W3CDTF">2026-06-29T12:56:34Z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d0b24d-6422-44b0-b3de-abb3a9e8c81a_ActionId">
    <vt:lpwstr>d0c7844b-61cd-484a-9383-48d0b5a8b258</vt:lpwstr>
  </property>
  <property fmtid="{D5CDD505-2E9C-101B-9397-08002B2CF9AE}" pid="3" name="MSIP_Label_2ad0b24d-6422-44b0-b3de-abb3a9e8c81a_ContentBits">
    <vt:lpwstr>0</vt:lpwstr>
  </property>
  <property fmtid="{D5CDD505-2E9C-101B-9397-08002B2CF9AE}" pid="4" name="MSIP_Label_2ad0b24d-6422-44b0-b3de-abb3a9e8c81a_Enabled">
    <vt:lpwstr>true</vt:lpwstr>
  </property>
  <property fmtid="{D5CDD505-2E9C-101B-9397-08002B2CF9AE}" pid="5" name="MSIP_Label_2ad0b24d-6422-44b0-b3de-abb3a9e8c81a_Method">
    <vt:lpwstr>Standard</vt:lpwstr>
  </property>
  <property fmtid="{D5CDD505-2E9C-101B-9397-08002B2CF9AE}" pid="6" name="MSIP_Label_2ad0b24d-6422-44b0-b3de-abb3a9e8c81a_Name">
    <vt:lpwstr>defa4170-0d19-0005-0004-bc88714345d2</vt:lpwstr>
  </property>
  <property fmtid="{D5CDD505-2E9C-101B-9397-08002B2CF9AE}" pid="7" name="MSIP_Label_2ad0b24d-6422-44b0-b3de-abb3a9e8c81a_SetDate">
    <vt:lpwstr>2026-06-23T06:46:10Z</vt:lpwstr>
  </property>
  <property fmtid="{D5CDD505-2E9C-101B-9397-08002B2CF9AE}" pid="8" name="MSIP_Label_2ad0b24d-6422-44b0-b3de-abb3a9e8c81a_SiteId">
    <vt:lpwstr>2fcfe26a-bb62-46b0-b1e3-28f9da0c45fd</vt:lpwstr>
  </property>
  <property fmtid="{D5CDD505-2E9C-101B-9397-08002B2CF9AE}" pid="9" name="MSIP_Label_2ad0b24d-6422-44b0-b3de-abb3a9e8c81a_Tag">
    <vt:lpwstr>50, 3, 0, 1</vt:lpwstr>
  </property>
  <property fmtid="{D5CDD505-2E9C-101B-9397-08002B2CF9AE}" pid="10" name="Notes">
    <vt:i4>24</vt:i4>
  </property>
  <property fmtid="{D5CDD505-2E9C-101B-9397-08002B2CF9AE}" pid="11" name="PresentationFormat">
    <vt:lpwstr>Presentazione su schermo (16:9)</vt:lpwstr>
  </property>
  <property fmtid="{D5CDD505-2E9C-101B-9397-08002B2CF9AE}" pid="12" name="Slides">
    <vt:i4>24</vt:i4>
  </property>
</Properties>
</file>