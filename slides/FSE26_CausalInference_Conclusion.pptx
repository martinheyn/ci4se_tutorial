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3"/>
  </p:notesMasterIdLst>
  <p:sldIdLst>
    <p:sldId id="393" r:id="rId2"/>
    <p:sldId id="407" r:id="rId3"/>
    <p:sldId id="409" r:id="rId4"/>
    <p:sldId id="411" r:id="rId5"/>
    <p:sldId id="395" r:id="rId6"/>
    <p:sldId id="396" r:id="rId7"/>
    <p:sldId id="397" r:id="rId8"/>
    <p:sldId id="413" r:id="rId9"/>
    <p:sldId id="401" r:id="rId10"/>
    <p:sldId id="399" r:id="rId11"/>
    <p:sldId id="400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29"/>
    <p:restoredTop sz="85537"/>
  </p:normalViewPr>
  <p:slideViewPr>
    <p:cSldViewPr snapToGrid="0" snapToObjects="1">
      <p:cViewPr varScale="1">
        <p:scale>
          <a:sx n="137" d="100"/>
          <a:sy n="137" d="100"/>
        </p:scale>
        <p:origin x="6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Machine support for SE has evolved through stages — scaffolding (IDEs, version control), automation (coverage testing, static analysis), data-driven decision support (prediction, fault localization), and now the next step, support for *reasoning*. Causal inference is what enables that last step: explaining, hypothesizing, planning — not just predicting.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Machine support for SE has evolved through stages — scaffolding (IDEs, version control), automation (coverage testing, static analysis), data-driven decision support (prediction, fault localization), and now the next step, support for *reasoning*. Causal inference is what enables that last step: explaining, hypothesizing, planning — not just predicting.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Machine support for SE has evolved through stages — scaffolding (IDEs, version control), automation (coverage testing, static analysis), data-driven decision support (prediction, fault localization), and now the next step, support for *reasoning*. Causal inference is what enables that last step: explaining, hypothesizing, planning — not just predicting.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Road ahead, from the vision/roadmap paper. Causal Readiness Levels CRL-0 to CRL-5: from correlation-based tools up to governed, uncertainty-aware causal copilots and certification. Stress that progress is measured for both tools AND organizations — adoption needs cultural change, not only better algorithms.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four co-evolving routes: R1 causal observability (augment metrics/logs/traces with causal structure), R2 intervenability by design (treat CI/CD, flags, canaries as interventions), R3 counterfactual assurance (RCA at scale, causal testing, refutation), R4 governance and alignment (auditable claims, human-in-the-loop, constrained agents). Each has a 'dream' end-state.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Wrap-up. Four takeaways: SE questions are causal (do(), not just seeing); graphs make assumptions explicit; it already works in SE (causal testing and RCA across QA); and humans stay in the loop — inspectable models, collaboration not a black box. Hand off to the next part / open the floor.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References slide — leave up during Q&amp;A. Grouped into framework &amp; roadmap, testing, fault localization &amp; RCA, requirements engineering, and validity &amp; caveats. Point to the CACM paper and the systematic review as entry points, and PyWhy/DoWhy for hands-on tooling.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Backup slide for the 'is it always usable?' question. Effect estimation from observational data needs: SUTVA (no interference; one version of treatment), unconfoundedness (no hidden confounders), positivity/overlap (every unit can receive each treatment level), correct specification / identifiability (do-calculus), and consistency. When these break, prefer randomized/experimental data or report the failed assumption rather than a misleading estimate.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Backup slide for discovery. Learning a DAG from data rests on: Causal Markov, Faithfulness, Causal Sufficiency (no unobserved common causes), and acyclicity + i.i.d. Algorithm families differ: constraint-based (PC, FCI) need faithfulness; score-based (GES) relax it; FCM-based (LiNGAM) add parametric assumptions. Noisy, sparse, non-stationary SE data make discovered graphs unstable — so always refute. This is the honest answer to 'can I always trust the learned graph?'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83112"/>
            <a:ext cx="8694913" cy="317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524447"/>
            <a:ext cx="4285339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524448"/>
            <a:ext cx="4333373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sz="90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  <p:sldLayoutId id="2147483662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AAE2E622-D98B-E583-AC44-FBB3C7D7A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81553" y="2033422"/>
            <a:ext cx="3188060" cy="541049"/>
          </a:xfrm>
        </p:spPr>
        <p:txBody>
          <a:bodyPr/>
          <a:lstStyle/>
          <a:p>
            <a:r>
              <a:rPr lang="en-US" sz="4400" dirty="0"/>
              <a:t>Conclusion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71E3FAC-D319-3FF2-1235-BC727EB63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US" smtClean="0"/>
              <a:pPr algn="r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756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6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CONCLUSION · THE ONE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6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Correlation → Causation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1930400"/>
            <a:ext cx="3810000" cy="25400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6600" y="2082800"/>
            <a:ext cx="345440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>
                <a:solidFill>
                  <a:srgbClr val="596672"/>
                </a:solidFill>
                <a:latin typeface="Cambria"/>
                <a:ea typeface="Cambria"/>
                <a:cs typeface="Cambria"/>
              </a:rPr>
              <a:t>Present · DDSE (ML)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Pattern recognition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associations in data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Correlation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acts on (maybe spurious) patterns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Observation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learns P(X | W)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Opaque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limited explainability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Implicit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assumptions hidden in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7900" y="1930400"/>
            <a:ext cx="3810000" cy="254000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978400" y="2082800"/>
            <a:ext cx="3454400" cy="22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10" b="1" i="0" kern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Future · CSE (Causal)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Causal inference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what-if, explanations, hypotheses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Causation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confounder-free decisions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Intervention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learns P(X | do(W))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Transparent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explainable reasoning paths</a:t>
            </a:r>
          </a:p>
          <a:p>
            <a:pPr algn="l">
              <a:lnSpc>
                <a:spcPct val="104000"/>
              </a:lnSpc>
              <a:spcBef>
                <a:spcPts val="850"/>
              </a:spcBef>
              <a:spcAft>
                <a:spcPts val="0"/>
              </a:spcAft>
              <a:buNone/>
            </a:pPr>
            <a:r>
              <a:rPr lang="en-US" sz="1045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Explicit</a:t>
            </a:r>
            <a:r>
              <a:rPr lang="en-US" sz="1045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human knowledge in the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152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  <p:sp>
        <p:nvSpPr>
          <p:cNvPr id="16" name="Freccia destra 15">
            <a:extLst>
              <a:ext uri="{FF2B5EF4-FFF2-40B4-BE49-F238E27FC236}">
                <a16:creationId xmlns:a16="http://schemas.microsoft.com/office/drawing/2014/main" id="{506E8CC3-8A25-F34A-AE04-29EE11B4B2D1}"/>
              </a:ext>
            </a:extLst>
          </p:cNvPr>
          <p:cNvSpPr/>
          <p:nvPr/>
        </p:nvSpPr>
        <p:spPr>
          <a:xfrm>
            <a:off x="4406900" y="3086100"/>
            <a:ext cx="330200" cy="304800"/>
          </a:xfrm>
          <a:prstGeom prst="rightArrow">
            <a:avLst/>
          </a:prstGeom>
          <a:solidFill>
            <a:srgbClr val="0E7C8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SetupLine">
            <a:extLst>
              <a:ext uri="{FF2B5EF4-FFF2-40B4-BE49-F238E27FC236}">
                <a16:creationId xmlns:a16="http://schemas.microsoft.com/office/drawing/2014/main" id="{D76BA5DA-63CC-664A-A700-B683A4B57CE7}"/>
              </a:ext>
            </a:extLst>
          </p:cNvPr>
          <p:cNvSpPr txBox="1"/>
          <p:nvPr/>
        </p:nvSpPr>
        <p:spPr>
          <a:xfrm>
            <a:off x="546100" y="1574800"/>
            <a:ext cx="80518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… and from observation to intervention — the shift from data-driven (DDSE) to causal (Causal Software Engineering) software engineering.</a:t>
            </a:r>
          </a:p>
        </p:txBody>
      </p:sp>
    </p:spTree>
    <p:extLst>
      <p:ext uri="{BB962C8B-B14F-4D97-AF65-F5344CB8AC3E}">
        <p14:creationId xmlns:p14="http://schemas.microsoft.com/office/powerpoint/2010/main" val="32797130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6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CONCLUSION · WHERE WE ARE → WHAT’S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6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growing footprint — and the path to adoption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2006600"/>
            <a:ext cx="3810000" cy="243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0" b="1" i="0" kern="0" dirty="0">
                <a:solidFill>
                  <a:srgbClr val="596672"/>
                </a:solidFill>
                <a:latin typeface="Cambria"/>
                <a:ea typeface="Cambria"/>
                <a:cs typeface="Cambria"/>
              </a:rPr>
              <a:t>Where we are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90+ SE studies now map to the Causal SE framework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Strongest in fault localization, testing &amp; analysis, prediction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Tooling maturing: </a:t>
            </a:r>
            <a:r>
              <a:rPr lang="en-US" sz="1100" b="0" i="0" kern="0" dirty="0" err="1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PyWhy</a:t>
            </a: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sz="1100" b="0" i="0" kern="0" dirty="0" err="1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DoWhy</a:t>
            </a: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1100" b="0" i="0" kern="0" dirty="0" err="1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EconML</a:t>
            </a: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), </a:t>
            </a:r>
            <a:r>
              <a:rPr lang="en-US" sz="1100" b="0" i="0" kern="0" dirty="0" err="1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DagTTY</a:t>
            </a: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, Tetrad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Mostly reliability &amp; performance — security &amp; safety still rare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7900" y="2006600"/>
            <a:ext cx="3810000" cy="2438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0" b="1" i="0" kern="0" dirty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What’s next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Scaffold causal thinking — tutorials, examples, case studies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Make refutation &amp; robustness tests standard practice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Integrate as an augmentation layer over CI/CD and ML tooling</a:t>
            </a:r>
          </a:p>
          <a:p>
            <a:pPr marL="200025" indent="-200025" algn="l">
              <a:lnSpc>
                <a:spcPct val="106000"/>
              </a:lnSpc>
              <a:spcBef>
                <a:spcPts val="70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Pair causal reasoning with LLMs &amp; agents — human in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152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  <p:sp>
        <p:nvSpPr>
          <p:cNvPr id="18" name="SetupLine">
            <a:extLst>
              <a:ext uri="{FF2B5EF4-FFF2-40B4-BE49-F238E27FC236}">
                <a16:creationId xmlns:a16="http://schemas.microsoft.com/office/drawing/2014/main" id="{D76BA5DA-63CC-664A-A700-B683A4B57CE7}"/>
              </a:ext>
            </a:extLst>
          </p:cNvPr>
          <p:cNvSpPr txBox="1"/>
          <p:nvPr/>
        </p:nvSpPr>
        <p:spPr>
          <a:xfrm>
            <a:off x="546100" y="1574800"/>
            <a:ext cx="80518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methods are spreading across SE; turning them into everyday practice is the next step.</a:t>
            </a:r>
          </a:p>
        </p:txBody>
      </p:sp>
      <p:sp>
        <p:nvSpPr>
          <p:cNvPr id="4" name="Citation CACM5">
            <a:extLst>
              <a:ext uri="{FF2B5EF4-FFF2-40B4-BE49-F238E27FC236}">
                <a16:creationId xmlns:a16="http://schemas.microsoft.com/office/drawing/2014/main" id="{A59A9903-44F6-5943-946C-0AACB88642EC}"/>
              </a:ext>
            </a:extLst>
          </p:cNvPr>
          <p:cNvSpPr txBox="1"/>
          <p:nvPr/>
        </p:nvSpPr>
        <p:spPr>
          <a:xfrm>
            <a:off x="546100" y="4521200"/>
            <a:ext cx="7620000" cy="203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Source: CACM/ACM 2025 “Where we are, what’s next” — Pietrantuono, </a:t>
            </a:r>
            <a:r>
              <a:rPr lang="en-US" sz="850" i="1" dirty="0" err="1">
                <a:solidFill>
                  <a:srgbClr val="7A8794"/>
                </a:solidFill>
                <a:latin typeface="Calibri"/>
                <a:cs typeface="Calibri"/>
              </a:rPr>
              <a:t>Giamattei</a:t>
            </a:r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 &amp; Russo; mapping studies </a:t>
            </a:r>
            <a:r>
              <a:rPr lang="en-US" sz="850" i="1" dirty="0" err="1">
                <a:solidFill>
                  <a:srgbClr val="7A8794"/>
                </a:solidFill>
                <a:latin typeface="Calibri"/>
                <a:cs typeface="Calibri"/>
              </a:rPr>
              <a:t>Giamattei</a:t>
            </a:r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 et al. 2025.</a:t>
            </a:r>
          </a:p>
        </p:txBody>
      </p:sp>
    </p:spTree>
    <p:extLst>
      <p:ext uri="{BB962C8B-B14F-4D97-AF65-F5344CB8AC3E}">
        <p14:creationId xmlns:p14="http://schemas.microsoft.com/office/powerpoint/2010/main" val="1132031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6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45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CONCLUSION · KEEP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60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Continue your causal journey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2032000"/>
            <a:ext cx="2540000" cy="2349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0" b="1" i="0" kern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Books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Pearl &amp; Mackenzie — The Book of Why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Hernán &amp; Robins — Causal Inference: What If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Peters, Janzing &amp; Schölkopf — Elements of Causal Inference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2000" y="2032000"/>
            <a:ext cx="2540000" cy="2349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0" b="1" i="0" kern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Lectures &amp; courses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Brady Neal — Introduction to Causal Inference (free)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B. Neal &amp; J. Pearl — video lecture series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“A Crash Course in Causality” (Coursera, Penn)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1523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  <p:sp>
        <p:nvSpPr>
          <p:cNvPr id="18" name="SetupLine">
            <a:extLst>
              <a:ext uri="{FF2B5EF4-FFF2-40B4-BE49-F238E27FC236}">
                <a16:creationId xmlns:a16="http://schemas.microsoft.com/office/drawing/2014/main" id="{D76BA5DA-63CC-664A-A700-B683A4B57CE7}"/>
              </a:ext>
            </a:extLst>
          </p:cNvPr>
          <p:cNvSpPr txBox="1"/>
          <p:nvPr/>
        </p:nvSpPr>
        <p:spPr>
          <a:xfrm>
            <a:off x="546100" y="1574800"/>
            <a:ext cx="8051800" cy="3302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Pointers to go deeper — books, lectures, and tools to start (or continue) your causal journey.</a:t>
            </a:r>
          </a:p>
        </p:txBody>
      </p:sp>
      <p:sp>
        <p:nvSpPr>
          <p:cNvPr id="5" name="Col3">
            <a:extLst>
              <a:ext uri="{FF2B5EF4-FFF2-40B4-BE49-F238E27FC236}">
                <a16:creationId xmlns:a16="http://schemas.microsoft.com/office/drawing/2014/main" id="{A6BB36B0-CFC5-6F48-9ABE-679D5182F35A}"/>
              </a:ext>
            </a:extLst>
          </p:cNvPr>
          <p:cNvSpPr txBox="1"/>
          <p:nvPr/>
        </p:nvSpPr>
        <p:spPr>
          <a:xfrm>
            <a:off x="6057900" y="2032000"/>
            <a:ext cx="2540000" cy="23495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0" b="1" i="0" kern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Tools &amp; community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PyWhy: DoWhy, EconML, causal-learn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Tetrad (CMU) — causal discovery</a:t>
            </a:r>
          </a:p>
          <a:p>
            <a:pPr marL="200025" indent="-200025" algn="l">
              <a:lnSpc>
                <a:spcPct val="106000"/>
              </a:lnSpc>
              <a:spcBef>
                <a:spcPts val="650"/>
              </a:spcBef>
              <a:spcAft>
                <a:spcPts val="0"/>
              </a:spcAft>
              <a:buClr>
                <a:srgbClr val="0E7C86"/>
              </a:buClr>
              <a:buFont typeface="Arial"/>
              <a:buChar char="•"/>
            </a:pPr>
            <a:r>
              <a:rPr lang="en-US"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DAGitty — draw &amp; test DAGs</a:t>
            </a:r>
          </a:p>
        </p:txBody>
      </p:sp>
    </p:spTree>
    <p:extLst>
      <p:ext uri="{BB962C8B-B14F-4D97-AF65-F5344CB8AC3E}">
        <p14:creationId xmlns:p14="http://schemas.microsoft.com/office/powerpoint/2010/main" val="3764691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THE ROAD AHEAD · VISION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Readiness Levels: a path for SE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From correlation-based tools toward governed, uncertainty-aware </a:t>
            </a:r>
            <a:r>
              <a:rPr lang="en-US" sz="10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causal copilots</a:t>
            </a:r>
            <a:r>
              <a:rPr lang="en-US"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10896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318211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19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Correlation-based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907792"/>
            <a:ext cx="1280160" cy="658368"/>
          </a:xfrm>
          <a:prstGeom prst="roundRect">
            <a:avLst>
              <a:gd name="adj" fmla="val 6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920240" y="298094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observability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706624"/>
            <a:ext cx="1280160" cy="859536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291840" y="277977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Intervenability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505456"/>
            <a:ext cx="1280160" cy="1060704"/>
          </a:xfrm>
          <a:prstGeom prst="roundRect">
            <a:avLst>
              <a:gd name="adj" fmla="val 6000"/>
            </a:avLst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663440" y="257860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Counterf. assurance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304288"/>
            <a:ext cx="1280160" cy="1261872"/>
          </a:xfrm>
          <a:prstGeom prst="roundRect">
            <a:avLst>
              <a:gd name="adj" fmla="val 6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035040" y="23774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copilots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03120"/>
            <a:ext cx="1280160" cy="1463040"/>
          </a:xfrm>
          <a:prstGeom prst="roundRect">
            <a:avLst>
              <a:gd name="adj" fmla="val 6000"/>
            </a:avLst>
          </a:prstGeom>
          <a:solidFill>
            <a:srgbClr val="C05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406640" y="217627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19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certification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Progress is measured for </a:t>
            </a:r>
            <a:r>
              <a:rPr lang="en-US" sz="95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both tools and organizations</a:t>
            </a:r>
            <a:r>
              <a:rPr lang="en-US"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adoption needs cultural change, not only better algorithms.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  <p:sp>
        <p:nvSpPr>
          <p:cNvPr id="25" name="Citation FSE">
            <a:extLst>
              <a:ext uri="{FF2B5EF4-FFF2-40B4-BE49-F238E27FC236}">
                <a16:creationId xmlns:a16="http://schemas.microsoft.com/office/drawing/2014/main" id="{48A2E3DD-E6CE-D54A-AC64-B530FCF90590}"/>
              </a:ext>
            </a:extLst>
          </p:cNvPr>
          <p:cNvSpPr txBox="1"/>
          <p:nvPr/>
        </p:nvSpPr>
        <p:spPr>
          <a:xfrm>
            <a:off x="546100" y="4416082"/>
            <a:ext cx="8140700" cy="27432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Roadmap adapted from: R. Pietrantuono, L. </a:t>
            </a:r>
            <a:r>
              <a:rPr lang="en-US" sz="850" i="1" dirty="0" err="1">
                <a:solidFill>
                  <a:srgbClr val="7A8794"/>
                </a:solidFill>
                <a:latin typeface="Calibri"/>
                <a:cs typeface="Calibri"/>
              </a:rPr>
              <a:t>Giamattei</a:t>
            </a:r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, S. Russo, J. Siebert, N. Walkinshaw — “Causal Software Engineering: A Vision and Roadmap”, FSE 2026 – IVR track 2026 (arXiv:2605.02454).</a:t>
            </a:r>
          </a:p>
        </p:txBody>
      </p:sp>
    </p:spTree>
    <p:extLst>
      <p:ext uri="{BB962C8B-B14F-4D97-AF65-F5344CB8AC3E}">
        <p14:creationId xmlns:p14="http://schemas.microsoft.com/office/powerpoint/2010/main" val="6438857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THE ROAD AHEAD · FOUR CO-EVOLVING ROUTES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Where causal software engineering is heading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237744" cy="237744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88719" y="1810512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R1 · Causal observability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Augment metrics, logs &amp; traces with explicit causal structure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850" b="1" i="1" kern="0">
                <a:solidFill>
                  <a:srgbClr val="0A5A62"/>
                </a:solidFill>
                <a:latin typeface="Calibri"/>
                <a:ea typeface="Calibri"/>
                <a:cs typeface="Calibri"/>
              </a:rPr>
              <a:t>Dream: reliable why &amp; what-if answers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1645920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4937759" y="1874519"/>
            <a:ext cx="237744" cy="23774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349240" y="1810512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R2 · Intervenability by design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Treat CI/CD, flags &amp; canaries as explicit causal interventions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85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Dream: evidence-backed intervention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777240" y="3182112"/>
            <a:ext cx="237744" cy="237744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188719" y="3118104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R3 · Counterfactual assurance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Counterfactual RCA at scale; causal testing; refutation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85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Dream: routine “what would have avoided this?”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53512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4937759" y="3182112"/>
            <a:ext cx="237744" cy="23774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349240" y="3118104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R4 · Governance &amp; alignment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Auditable causal claims; human-in-the-loop; constrained agents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85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Dream: governed causal copilots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  <p:sp>
        <p:nvSpPr>
          <p:cNvPr id="17" name="Citation FSE">
            <a:extLst>
              <a:ext uri="{FF2B5EF4-FFF2-40B4-BE49-F238E27FC236}">
                <a16:creationId xmlns:a16="http://schemas.microsoft.com/office/drawing/2014/main" id="{6E58BC91-4538-6408-7A97-7B26E664E921}"/>
              </a:ext>
            </a:extLst>
          </p:cNvPr>
          <p:cNvSpPr txBox="1"/>
          <p:nvPr/>
        </p:nvSpPr>
        <p:spPr>
          <a:xfrm>
            <a:off x="546100" y="4416082"/>
            <a:ext cx="8140700" cy="27432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Roadmap adapted from: R. Pietrantuono, L. </a:t>
            </a:r>
            <a:r>
              <a:rPr lang="en-US" sz="850" i="1" dirty="0" err="1">
                <a:solidFill>
                  <a:srgbClr val="7A8794"/>
                </a:solidFill>
                <a:latin typeface="Calibri"/>
                <a:cs typeface="Calibri"/>
              </a:rPr>
              <a:t>Giamattei</a:t>
            </a:r>
            <a:r>
              <a:rPr lang="en-US" sz="850" i="1" dirty="0">
                <a:solidFill>
                  <a:srgbClr val="7A8794"/>
                </a:solidFill>
                <a:latin typeface="Calibri"/>
                <a:cs typeface="Calibri"/>
              </a:rPr>
              <a:t>, S. Russo, J. Siebert, N. Walkinshaw — “Causal Software Engineering: A Vision and Roadmap”, FSE 2026 – IVR track 2026 (arXiv:2605.02454).</a:t>
            </a:r>
          </a:p>
        </p:txBody>
      </p:sp>
    </p:spTree>
    <p:extLst>
      <p:ext uri="{BB962C8B-B14F-4D97-AF65-F5344CB8AC3E}">
        <p14:creationId xmlns:p14="http://schemas.microsoft.com/office/powerpoint/2010/main" val="12952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reasoning: a new way to co-engineer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201168" cy="201168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60120" y="165506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SE questions are causal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do(·), not just seeing.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31720"/>
            <a:ext cx="201168" cy="20116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60120" y="224942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Graphs make assumptions explicit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confounders, mediators, colliders surfaced.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26079"/>
            <a:ext cx="201168" cy="201168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60120" y="284378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It already works in SE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causal testing &amp; RCA across QA.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201168" cy="201168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60120" y="343814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Humans stay in the loop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inspectable models — collaboration, not a black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4051701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328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 dirty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Sources &amp;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Framework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10512"/>
            <a:ext cx="4023360" cy="246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Pietrantuono, </a:t>
            </a:r>
            <a:r>
              <a:rPr lang="en-US" sz="800" b="0" i="0" kern="0" dirty="0" err="1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, Russo. Reasoning Beyond Prediction</a:t>
            </a:r>
            <a:r>
              <a:rPr lang="en-US" sz="80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:  From Data-Driven to Causal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Software Engineering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CACM (first look),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2294"/>
            <a:ext cx="4023360" cy="1212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Software Engineering: A Vision and Roadmap. arXiv:2605.02454.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928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 dirty="0" err="1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</a:t>
            </a:r>
            <a:r>
              <a:rPr lang="en-US" sz="8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et al. Causal reasoning in SQA: a systematic review. IST 178 (2025) 107599.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24327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59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 et al. Causality-driven Testing of Autonomous Driving Systems. ACM TOSEM 33(3),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72967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Giamattei et al. Identifying Performance Issues in Microservices through Causal Reasoning. AST 2024.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65575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Mascia et al. Microservices performance testing (causality-guided / LLM), 2025.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58183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Clark et al. Metamorphic Testing with Causal Graphs. ICST 2023.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Foster et al. Causal inference for systems with hidden/interacting variables. EASE 2025.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1554480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Fault localization &amp; RCA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1810512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Johnson, Brun, Meliou. Causal testing: understanding defects' root causes. ICSE 2020.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031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Wu, Tordsson, Elmroth, Kao. Causal Inference Techniques for Microservice Performance. 2021.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395727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PyWhy / DoWhy - GCM root-cause analysis example (pywhy.org).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624327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Requirements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80359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Heyn et al. Causal models as a Requirements Engineering activity (arc-fault study).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72967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Ahmad et al. RE for AI systems: a systematic mapping. IST 158 (2023) 107176.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65575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D'Amour et al. Underspecification in modern ML. JMLR 23 (2022).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639311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Mitchell et al. Algorithmic fairness: choices, assumptions, definitions. 2021.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986783"/>
            <a:ext cx="39776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Validity &amp; caveats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242815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Hulse, Eisty, Menzies. Shaky structures: causal graphs in software analytics. EMSE 30 (2025).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4065294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>
            <a:extLst>
              <a:ext uri="{FF2B5EF4-FFF2-40B4-BE49-F238E27FC236}">
                <a16:creationId xmlns:a16="http://schemas.microsoft.com/office/drawing/2014/main" id="{84DC4FBB-57C7-2831-2D89-BA63F16BB8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516284" y="2130165"/>
            <a:ext cx="2460567" cy="541338"/>
          </a:xfrm>
        </p:spPr>
        <p:txBody>
          <a:bodyPr/>
          <a:lstStyle/>
          <a:p>
            <a:r>
              <a:rPr lang="en-US" dirty="0"/>
              <a:t>Back-up slides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65F97F-B954-E64B-3357-3EEF112095E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6311900" y="4767263"/>
            <a:ext cx="2832100" cy="274637"/>
          </a:xfrm>
        </p:spPr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73361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BACKUP · WHEN IS IT VALID?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Assumptions behind causal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Estimating an effect from observational data is not always possible. The standard assumptions: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048256"/>
            <a:ext cx="201168" cy="201168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32688" y="1975104"/>
            <a:ext cx="7589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SUTVA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No interference between units; one version of each treatment. Often strained in distributed/coupled systems.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50592"/>
            <a:ext cx="201168" cy="201168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32688" y="2377440"/>
            <a:ext cx="7589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Unconfoundedness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All common causes of treatment &amp; outcome are observed (no hidden confounders).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852928"/>
            <a:ext cx="201168" cy="20116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932688" y="2779776"/>
            <a:ext cx="7589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Positivity / overlap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Every unit has a non-zero chance of each treatment level - else effects are not estimable.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55264"/>
            <a:ext cx="201168" cy="201168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32688" y="3182112"/>
            <a:ext cx="7589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Correct specification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The DAG / structural form encodes the right relations; the effect must be identifiable (do-calculus).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657600"/>
            <a:ext cx="201168" cy="201168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932688" y="3584448"/>
            <a:ext cx="75895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Consistency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Observed outcome under the received treatment equals the corresponding potential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68496"/>
            <a:ext cx="8046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Pearl; Imbens &amp; Rubin; survey Causal reasoning in SQA (IST 178, 2025). When these break, prefer randomized/experimental data or report the failed assumption.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46</a:t>
            </a:r>
          </a:p>
        </p:txBody>
      </p:sp>
    </p:spTree>
    <p:extLst>
      <p:ext uri="{BB962C8B-B14F-4D97-AF65-F5344CB8AC3E}">
        <p14:creationId xmlns:p14="http://schemas.microsoft.com/office/powerpoint/2010/main" val="8447520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BACKUP · WHEN IS IT VALID?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Assumptions behind causal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Learning a DAG from data rests on conditions linking statistical (in)dependence to graph structure: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048256"/>
            <a:ext cx="201168" cy="201168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32688" y="1975104"/>
            <a:ext cx="75895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Markov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Each variable is independent of its non-descendants given its parents.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68880"/>
            <a:ext cx="201168" cy="20116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75895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Faithfulness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Every conditional independence in the data is entailed by d-separation in the DAG (no accidental cancellations).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889504"/>
            <a:ext cx="201168" cy="201168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932688" y="2816352"/>
            <a:ext cx="75895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sufficiency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No unobserved common causes - every shared cause of two observed variables is also observed.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10128"/>
            <a:ext cx="201168" cy="201168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32688" y="3236976"/>
            <a:ext cx="758952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Acyclicity &amp; i.i.d.  </a:t>
            </a:r>
            <a:r>
              <a:rPr lang="en-US"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- Relations form a DAG; samples are i.i.d. - strained by feedback loops &amp; non-stationary SE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8046720" cy="41148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Families differ:  </a:t>
            </a:r>
            <a:r>
              <a:rPr lang="en-US"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constraint-based (PC, FCI) need faithfulness; score-based (GES) relax it; FCM-based (LiNGAM) add parametric assumptions. Noisy, sparse SE data -&gt; unstable graphs -&gt; always refute.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42816"/>
            <a:ext cx="8046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Survey Causal reasoning in SQA (IST 178, 2025); Spirtes, Glymour &amp; Scheines.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4040370293"/>
      </p:ext>
    </p:extLst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E07E1BF-185B-FB42-8233-49FC1E79F824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75c8a75b-739a-495a-9945-7c7ee954738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3236</TotalTime>
  <Words>1911</Words>
  <Application>Microsoft Macintosh PowerPoint</Application>
  <PresentationFormat>Presentazione su schermo (16:9)</PresentationFormat>
  <Paragraphs>150</Paragraphs>
  <Slides>11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Cambria</vt:lpstr>
      <vt:lpstr>Anpassad formgivning</vt:lpstr>
      <vt:lpstr>Conclusion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Back-up slides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ROBERTO PIETRANTUONO</cp:lastModifiedBy>
  <cp:revision>75</cp:revision>
  <dcterms:created xsi:type="dcterms:W3CDTF">2026-06-18T12:50:28Z</dcterms:created>
  <dcterms:modified xsi:type="dcterms:W3CDTF">2026-06-25T14:54:22Z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Enabled">
    <vt:lpwstr>true</vt:lpwstr>
  </property>
  <property fmtid="{D5CDD505-2E9C-101B-9397-08002B2CF9AE}" pid="3" name="MSIP_Label_2ad0b24d-6422-44b0-b3de-abb3a9e8c81a_SetDate">
    <vt:lpwstr>2026-06-23T06:46:10Z</vt:lpwstr>
  </property>
  <property fmtid="{D5CDD505-2E9C-101B-9397-08002B2CF9AE}" pid="4" name="MSIP_Label_2ad0b24d-6422-44b0-b3de-abb3a9e8c81a_Method">
    <vt:lpwstr>Standard</vt:lpwstr>
  </property>
  <property fmtid="{D5CDD505-2E9C-101B-9397-08002B2CF9AE}" pid="5" name="MSIP_Label_2ad0b24d-6422-44b0-b3de-abb3a9e8c81a_Name">
    <vt:lpwstr>defa4170-0d19-0005-0004-bc88714345d2</vt:lpwstr>
  </property>
  <property fmtid="{D5CDD505-2E9C-101B-9397-08002B2CF9AE}" pid="6" name="MSIP_Label_2ad0b24d-6422-44b0-b3de-abb3a9e8c81a_SiteId">
    <vt:lpwstr>2fcfe26a-bb62-46b0-b1e3-28f9da0c45fd</vt:lpwstr>
  </property>
  <property fmtid="{D5CDD505-2E9C-101B-9397-08002B2CF9AE}" pid="7" name="MSIP_Label_2ad0b24d-6422-44b0-b3de-abb3a9e8c81a_ActionId">
    <vt:lpwstr>d0c7844b-61cd-484a-9383-48d0b5a8b258</vt:lpwstr>
  </property>
  <property fmtid="{D5CDD505-2E9C-101B-9397-08002B2CF9AE}" pid="8" name="MSIP_Label_2ad0b24d-6422-44b0-b3de-abb3a9e8c81a_ContentBits">
    <vt:lpwstr>0</vt:lpwstr>
  </property>
  <property fmtid="{D5CDD505-2E9C-101B-9397-08002B2CF9AE}" pid="9" name="MSIP_Label_2ad0b24d-6422-44b0-b3de-abb3a9e8c81a_Tag">
    <vt:lpwstr>50, 3, 0, 1</vt:lpwstr>
  </property>
</Properties>
</file>