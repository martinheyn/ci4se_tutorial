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6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Props.xml" ContentType="application/vnd.openxmlformats-officedocument.presentationml.presProps+xml"/>
  <Override PartName="/ppt/notesMasters/notesMaster1.xml" ContentType="application/vnd.openxmlformats-officedocument.presentationml.notesMaster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microsoft.com/office/2011/relationships/webextensiontaskpanes" Target="ppt/webextensions/taskpanes.xml"/><Relationship Id="rId5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defTabSz="914400">
              <a:lnSpc>
                <a:spcPct val="90000"/>
              </a:lnSpc>
            </a:pPr>
            <a:r>
              <a:rPr lang="en-GB" sz="2600" b="1" u="none" strike="noStrike">
                <a:solidFill>
                  <a:srgbClr val="1E3A5F"/>
                </a:solidFill>
                <a:effectLst/>
                <a:uFillTx/>
                <a:latin typeface="Cambria"/>
              </a:rPr>
              <a:t>Click to move the slide</a:t>
            </a:r>
            <a:endParaRPr lang="en-GB" sz="2600" b="1" u="none" strike="noStrike">
              <a:solidFill>
                <a:srgbClr val="1E3A5F"/>
              </a:solidFill>
              <a:effectLst/>
              <a:uFillTx/>
              <a:latin typeface="Cambria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notes' format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 idx="9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ftr" idx="10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sldNum" idx="11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439FC7F-B561-477D-B090-92F0D65EA469}" type="slidenum"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Machine support for SE has evolved through stages — scaffolding (IDEs, version control), automation (coverage testing, static analysis), data-driven decision support (prediction, fault localization), and now the next step, support for *reasoning*. Causal inference is what enables that last step: explaining, hypothesizing, planning — not just predicting.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Machine support for SE has evolved through stages — scaffolding (IDEs, version control), automation (coverage testing, static analysis), data-driven decision support (prediction, fault localization), and now the next step, support for *reasoning*. Causal inference is what enables that last step: explaining, hypothesizing, planning — not just predicting.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Machine support for SE has evolved through stages — scaffolding (IDEs, version control), automation (coverage testing, static analysis), data-driven decision support (prediction, fault localization), and now the next step, support for *reasoning*. Causal inference is what enables that last step: explaining, hypothesizing, planning — not just predicting.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Road ahead, from the vision/roadmap paper. Causal Readiness Levels CRL-0 to CRL-5: from correlation-based tools up to governed, uncertainty-aware causal copilots and certification. Stress that progress is measured for both tools AND organizations — adoption needs cultural change, not only better algorithms.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four co-evolving routes: R1 causal observability (augment metrics/logs/traces with causal structure), R2 intervenability by design (treat CI/CD, flags, canaries as interventions), R3 counterfactual assurance (RCA at scale, causal testing, refutation), R4 governance and alignment (auditable claims, human-in-the-loop, constrained agents). Each has a 'dream' end-state.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Wrap-up. Four takeaways: SE questions are causal (do(), not just seeing); graphs make assumptions explicit; it already works in SE (causal testing and RCA across QA); and humans stay in the loop — inspectable models, collaboration not a black box. Hand off to the next part / open the floor.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References slide — leave up during Q&amp;A. Grouped into framework &amp; roadmap, testing, fault localization &amp; RCA, requirements engineering, and validity &amp; caveats. Point to the CACM paper and the systematic review as entry points, and PyWhy/DoWhy for hands-on tooling.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Backup slide for the 'is it always usable?' question. Effect estimation from observational data needs: SUTVA (no interference; one version of treatment), unconfoundedness (no hidden confounders), positivity/overlap (every unit can receive each treatment level), correct specification / identifiability (do-calculus), and consistency. When these break, prefer randomized/experimental data or report the failed assumption rather than a misleading estimate.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Backup slide for discovery. Learning a DAG from data rests on: Causal Markov, Faithfulness, Causal Sufficiency (no unobserved common causes), and acyclicity + i.i.d. Algorithm families differ: constraint-based (PC, FCI) need faithfulness; score-based (GES) relax it; FCM-based (LiNGAM) add parametric assumptions. Noisy, sparse, non-stationary SE data make discovered graphs unstable — so always refute. This is the honest answer to 'can I always trust the learned graph?'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Rubrik och innehål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raunhofer.png"/>
          <p:cNvPicPr/>
          <p:nvPr/>
        </p:nvPicPr>
        <p:blipFill>
          <a:blip r:embed="rId2"/>
          <a:stretch/>
        </p:blipFill>
        <p:spPr>
          <a:xfrm>
            <a:off x="679680" y="237600"/>
            <a:ext cx="1474560" cy="42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Image 1" descr="chalmers.png"/>
          <p:cNvPicPr/>
          <p:nvPr/>
        </p:nvPicPr>
        <p:blipFill>
          <a:blip r:embed="rId3"/>
          <a:stretch/>
        </p:blipFill>
        <p:spPr>
          <a:xfrm>
            <a:off x="2843640" y="237600"/>
            <a:ext cx="1353600" cy="42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" name="Image 2" descr="goteborg.png"/>
          <p:cNvPicPr/>
          <p:nvPr/>
        </p:nvPicPr>
        <p:blipFill>
          <a:blip r:embed="rId4"/>
          <a:stretch/>
        </p:blipFill>
        <p:spPr>
          <a:xfrm>
            <a:off x="4881240" y="195840"/>
            <a:ext cx="1484280" cy="504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" name="Image 3" descr="napoli.png"/>
          <p:cNvPicPr/>
          <p:nvPr/>
        </p:nvPicPr>
        <p:blipFill>
          <a:blip r:embed="rId5"/>
          <a:stretch/>
        </p:blipFill>
        <p:spPr>
          <a:xfrm>
            <a:off x="7077960" y="237600"/>
            <a:ext cx="129708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Text 2"/>
          <p:cNvSpPr/>
          <p:nvPr/>
        </p:nvSpPr>
        <p:spPr>
          <a:xfrm>
            <a:off x="365760" y="4736520"/>
            <a:ext cx="205704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FSE 2026  ·  Montréal  ·  5–9 </a:t>
            </a:r>
            <a:r>
              <a:rPr lang="en-US" sz="9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July 2026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ftr" idx="1"/>
          </p:nvPr>
        </p:nvSpPr>
        <p:spPr>
          <a:xfrm>
            <a:off x="2981520" y="4767120"/>
            <a:ext cx="3085920" cy="27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title"/>
          </p:nvPr>
        </p:nvSpPr>
        <p:spPr>
          <a:xfrm>
            <a:off x="286560" y="848520"/>
            <a:ext cx="8694720" cy="54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sv-SE" sz="26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sv-SE" sz="26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Klicka </a:t>
            </a:r>
            <a:r>
              <a:rPr lang="sv-SE" sz="26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här för </a:t>
            </a:r>
            <a:r>
              <a:rPr lang="sv-SE" sz="26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att </a:t>
            </a:r>
            <a:r>
              <a:rPr lang="sv-SE" sz="26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ändra </a:t>
            </a:r>
            <a:r>
              <a:rPr lang="sv-SE" sz="26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mall för </a:t>
            </a:r>
            <a:r>
              <a:rPr lang="sv-SE" sz="26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rubrikfo</a:t>
            </a:r>
            <a:r>
              <a:rPr lang="sv-SE" sz="26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rmat</a:t>
            </a:r>
            <a:endParaRPr lang="en-GB" sz="2600" b="1" u="none" strike="noStrike">
              <a:solidFill>
                <a:srgbClr val="1E3A5F"/>
              </a:solidFill>
              <a:effectLst/>
              <a:uFillTx/>
              <a:latin typeface="Cambria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286560" y="1483200"/>
            <a:ext cx="8694720" cy="317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sv-SE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sv-SE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v-SE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Klicka här för att ändra format på bakgrundstexten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v-SE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Nivå två</a:t>
            </a:r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Nivå tre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Nivå fyra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Nivå fem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2"/>
          </p:nvPr>
        </p:nvSpPr>
        <p:spPr>
          <a:xfrm>
            <a:off x="6150240" y="4767120"/>
            <a:ext cx="2831040" cy="27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SE" sz="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E9451D0-A4D6-486D-BDA9-D91057D2CFE3}" type="slidenum">
              <a:rPr lang="en-SE" sz="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dast rubri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0" descr="fraunhofer.png"/>
          <p:cNvPicPr/>
          <p:nvPr/>
        </p:nvPicPr>
        <p:blipFill>
          <a:blip r:embed="rId2"/>
          <a:stretch/>
        </p:blipFill>
        <p:spPr>
          <a:xfrm>
            <a:off x="679680" y="237600"/>
            <a:ext cx="1474560" cy="42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" name="Image 1" descr="chalmers.png"/>
          <p:cNvPicPr/>
          <p:nvPr/>
        </p:nvPicPr>
        <p:blipFill>
          <a:blip r:embed="rId3"/>
          <a:stretch/>
        </p:blipFill>
        <p:spPr>
          <a:xfrm>
            <a:off x="2843640" y="237600"/>
            <a:ext cx="1353600" cy="42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" name="Image 2" descr="goteborg.png"/>
          <p:cNvPicPr/>
          <p:nvPr/>
        </p:nvPicPr>
        <p:blipFill>
          <a:blip r:embed="rId4"/>
          <a:stretch/>
        </p:blipFill>
        <p:spPr>
          <a:xfrm>
            <a:off x="4881240" y="195840"/>
            <a:ext cx="1484280" cy="504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" name="Image 3" descr="napoli.png"/>
          <p:cNvPicPr/>
          <p:nvPr/>
        </p:nvPicPr>
        <p:blipFill>
          <a:blip r:embed="rId5"/>
          <a:stretch/>
        </p:blipFill>
        <p:spPr>
          <a:xfrm>
            <a:off x="7077960" y="237600"/>
            <a:ext cx="129708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Text 2"/>
          <p:cNvSpPr/>
          <p:nvPr/>
        </p:nvSpPr>
        <p:spPr>
          <a:xfrm>
            <a:off x="365760" y="4736520"/>
            <a:ext cx="205704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FSE 2026  ·  Montréal  ·  5–9 July 2026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1"/>
          <p:cNvSpPr>
            <a:spLocks noGrp="1"/>
          </p:cNvSpPr>
          <p:nvPr>
            <p:ph type="ftr" idx="3"/>
          </p:nvPr>
        </p:nvSpPr>
        <p:spPr>
          <a:xfrm>
            <a:off x="2981520" y="4767120"/>
            <a:ext cx="3085920" cy="27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title"/>
          </p:nvPr>
        </p:nvSpPr>
        <p:spPr>
          <a:xfrm>
            <a:off x="286560" y="848520"/>
            <a:ext cx="8694720" cy="54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sv-SE" sz="26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sv-SE" sz="26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Klicka här för att ändra mall för rubrikformat</a:t>
            </a:r>
            <a:endParaRPr lang="en-GB" sz="2600" b="1" u="none" strike="noStrike">
              <a:solidFill>
                <a:srgbClr val="1E3A5F"/>
              </a:solidFill>
              <a:effectLst/>
              <a:uFillTx/>
              <a:latin typeface="Cambria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sldNum" idx="4"/>
          </p:nvPr>
        </p:nvSpPr>
        <p:spPr>
          <a:xfrm>
            <a:off x="6150240" y="4767120"/>
            <a:ext cx="2831040" cy="27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SE" sz="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D2ABAF-437B-46F3-82A1-865B4309F03E}" type="slidenum">
              <a:rPr lang="en-SE" sz="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vå dela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0" descr="fraunhofer.png"/>
          <p:cNvPicPr/>
          <p:nvPr/>
        </p:nvPicPr>
        <p:blipFill>
          <a:blip r:embed="rId2"/>
          <a:stretch/>
        </p:blipFill>
        <p:spPr>
          <a:xfrm>
            <a:off x="679680" y="237600"/>
            <a:ext cx="1474560" cy="42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" name="Image 1" descr="chalmers.png"/>
          <p:cNvPicPr/>
          <p:nvPr/>
        </p:nvPicPr>
        <p:blipFill>
          <a:blip r:embed="rId3"/>
          <a:stretch/>
        </p:blipFill>
        <p:spPr>
          <a:xfrm>
            <a:off x="2843640" y="237600"/>
            <a:ext cx="1353600" cy="42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" name="Image 2" descr="goteborg.png"/>
          <p:cNvPicPr/>
          <p:nvPr/>
        </p:nvPicPr>
        <p:blipFill>
          <a:blip r:embed="rId4"/>
          <a:stretch/>
        </p:blipFill>
        <p:spPr>
          <a:xfrm>
            <a:off x="4881240" y="195840"/>
            <a:ext cx="1484280" cy="504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" name="Image 3" descr="napoli.png"/>
          <p:cNvPicPr/>
          <p:nvPr/>
        </p:nvPicPr>
        <p:blipFill>
          <a:blip r:embed="rId5"/>
          <a:stretch/>
        </p:blipFill>
        <p:spPr>
          <a:xfrm>
            <a:off x="7077960" y="237600"/>
            <a:ext cx="129708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Text 2"/>
          <p:cNvSpPr/>
          <p:nvPr/>
        </p:nvSpPr>
        <p:spPr>
          <a:xfrm>
            <a:off x="365760" y="4736520"/>
            <a:ext cx="205704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FSE 2026  ·  Montréal  ·  5–9 July 2026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1"/>
          <p:cNvSpPr>
            <a:spLocks noGrp="1"/>
          </p:cNvSpPr>
          <p:nvPr>
            <p:ph type="body"/>
          </p:nvPr>
        </p:nvSpPr>
        <p:spPr>
          <a:xfrm>
            <a:off x="286560" y="1524600"/>
            <a:ext cx="4285080" cy="3107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sv-SE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sv-SE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v-SE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Klicka här för att ändra format på bakgrundstexten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v-SE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Nivå två</a:t>
            </a:r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Nivå tre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Nivå fyra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Nivå fem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648320" y="1524600"/>
            <a:ext cx="4332960" cy="3107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sv-SE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sv-SE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v-SE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Klicka här för att ändra format på bakgrundstexten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v-SE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Nivå två</a:t>
            </a:r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Nivå tre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Nivå fyra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Nivå fem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ftr" idx="5"/>
          </p:nvPr>
        </p:nvSpPr>
        <p:spPr>
          <a:xfrm>
            <a:off x="2981520" y="4767120"/>
            <a:ext cx="3085920" cy="27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title"/>
          </p:nvPr>
        </p:nvSpPr>
        <p:spPr>
          <a:xfrm>
            <a:off x="286560" y="848520"/>
            <a:ext cx="8694720" cy="54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sv-SE" sz="26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sv-SE" sz="26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Klicka här för att ändra mall för rubrikformat</a:t>
            </a:r>
            <a:endParaRPr lang="en-GB" sz="2600" b="1" u="none" strike="noStrike">
              <a:solidFill>
                <a:srgbClr val="1E3A5F"/>
              </a:solidFill>
              <a:effectLst/>
              <a:uFillTx/>
              <a:latin typeface="Cambria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6"/>
          </p:nvPr>
        </p:nvSpPr>
        <p:spPr>
          <a:xfrm>
            <a:off x="6150240" y="4767120"/>
            <a:ext cx="2831040" cy="27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SE" sz="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7CD239-A14E-4FEA-8169-430031D1F77F}" type="slidenum">
              <a:rPr lang="en-SE" sz="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Rubrikbil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 0" descr="fraunhofer.png"/>
          <p:cNvPicPr/>
          <p:nvPr/>
        </p:nvPicPr>
        <p:blipFill>
          <a:blip r:embed="rId2"/>
          <a:stretch/>
        </p:blipFill>
        <p:spPr>
          <a:xfrm>
            <a:off x="679680" y="237600"/>
            <a:ext cx="1474560" cy="42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" name="Image 1" descr="chalmers.png"/>
          <p:cNvPicPr/>
          <p:nvPr/>
        </p:nvPicPr>
        <p:blipFill>
          <a:blip r:embed="rId3"/>
          <a:stretch/>
        </p:blipFill>
        <p:spPr>
          <a:xfrm>
            <a:off x="2843640" y="237600"/>
            <a:ext cx="1353600" cy="42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" name="Image 2" descr="goteborg.png"/>
          <p:cNvPicPr/>
          <p:nvPr/>
        </p:nvPicPr>
        <p:blipFill>
          <a:blip r:embed="rId4"/>
          <a:stretch/>
        </p:blipFill>
        <p:spPr>
          <a:xfrm>
            <a:off x="4881240" y="195840"/>
            <a:ext cx="1484280" cy="504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" name="Image 3" descr="napoli.png"/>
          <p:cNvPicPr/>
          <p:nvPr/>
        </p:nvPicPr>
        <p:blipFill>
          <a:blip r:embed="rId5"/>
          <a:stretch/>
        </p:blipFill>
        <p:spPr>
          <a:xfrm>
            <a:off x="7077960" y="237600"/>
            <a:ext cx="129708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Text 2"/>
          <p:cNvSpPr/>
          <p:nvPr/>
        </p:nvSpPr>
        <p:spPr>
          <a:xfrm>
            <a:off x="365760" y="4736520"/>
            <a:ext cx="205704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FSE 2026  ·  Montréal  ·  5–9 July 2026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1"/>
          <p:cNvSpPr>
            <a:spLocks noGrp="1"/>
          </p:cNvSpPr>
          <p:nvPr>
            <p:ph type="ftr" idx="7"/>
          </p:nvPr>
        </p:nvSpPr>
        <p:spPr>
          <a:xfrm>
            <a:off x="2981520" y="4767120"/>
            <a:ext cx="3085920" cy="27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sldNum" idx="8"/>
          </p:nvPr>
        </p:nvSpPr>
        <p:spPr>
          <a:xfrm>
            <a:off x="6150240" y="4767120"/>
            <a:ext cx="2831040" cy="27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SE" sz="9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9A93EC0-DC5E-40DD-896F-719D814652E1}" type="slidenum">
              <a:rPr lang="en-SE" sz="9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Image 0" descr="fraunhofer.png"/>
          <p:cNvPicPr/>
          <p:nvPr/>
        </p:nvPicPr>
        <p:blipFill>
          <a:blip r:embed="rId2"/>
          <a:stretch/>
        </p:blipFill>
        <p:spPr>
          <a:xfrm>
            <a:off x="679680" y="237600"/>
            <a:ext cx="1474560" cy="42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" name="Image 1" descr="chalmers.png"/>
          <p:cNvPicPr/>
          <p:nvPr/>
        </p:nvPicPr>
        <p:blipFill>
          <a:blip r:embed="rId3"/>
          <a:stretch/>
        </p:blipFill>
        <p:spPr>
          <a:xfrm>
            <a:off x="2843640" y="237600"/>
            <a:ext cx="1353600" cy="42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" name="Image 2" descr="goteborg.png"/>
          <p:cNvPicPr/>
          <p:nvPr/>
        </p:nvPicPr>
        <p:blipFill>
          <a:blip r:embed="rId4"/>
          <a:stretch/>
        </p:blipFill>
        <p:spPr>
          <a:xfrm>
            <a:off x="4881240" y="195840"/>
            <a:ext cx="1484280" cy="504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" name="Image 3" descr="napoli.png"/>
          <p:cNvPicPr/>
          <p:nvPr/>
        </p:nvPicPr>
        <p:blipFill>
          <a:blip r:embed="rId5"/>
          <a:stretch/>
        </p:blipFill>
        <p:spPr>
          <a:xfrm>
            <a:off x="7077960" y="237600"/>
            <a:ext cx="129708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Text 2"/>
          <p:cNvSpPr/>
          <p:nvPr/>
        </p:nvSpPr>
        <p:spPr>
          <a:xfrm>
            <a:off x="365760" y="4736520"/>
            <a:ext cx="205704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FSE 2026  ·  Montréal  ·  5–9 July 2026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600" b="1" u="none" strike="noStrike">
                <a:solidFill>
                  <a:srgbClr val="1E3A5F"/>
                </a:solidFill>
                <a:effectLst/>
                <a:uFillTx/>
                <a:latin typeface="Cambria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600" b="1" u="none" strike="noStrike">
                <a:solidFill>
                  <a:srgbClr val="1E3A5F"/>
                </a:solidFill>
                <a:effectLst/>
                <a:uFillTx/>
                <a:latin typeface="Cambria"/>
              </a:rPr>
              <a:t>Click to edit the title text format</a:t>
            </a:r>
            <a:endParaRPr lang="en-GB" sz="2600" b="1" u="none" strike="noStrike">
              <a:solidFill>
                <a:srgbClr val="1E3A5F"/>
              </a:solidFill>
              <a:effectLst/>
              <a:uFillTx/>
              <a:latin typeface="Cambria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2981520" y="2033280"/>
            <a:ext cx="3187800" cy="54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Conclusion</a:t>
            </a:r>
            <a:endParaRPr lang="en-GB" sz="4400" b="1" u="none" strike="noStrike">
              <a:solidFill>
                <a:srgbClr val="1E3A5F"/>
              </a:solidFill>
              <a:effectLst/>
              <a:uFillTx/>
              <a:latin typeface="Cambria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ldNum" idx="12"/>
          </p:nvPr>
        </p:nvSpPr>
        <p:spPr>
          <a:xfrm>
            <a:off x="6150240" y="4767120"/>
            <a:ext cx="2831040" cy="27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AA6532-BA32-4F46-BA66-EE182688EB3E}" type="slidenum">
              <a:rPr lang="en-US" sz="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1"/>
          <p:cNvSpPr/>
          <p:nvPr/>
        </p:nvSpPr>
        <p:spPr>
          <a:xfrm>
            <a:off x="548640" y="868680"/>
            <a:ext cx="804636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50" b="1" u="none" spc="241" strike="noStrike">
                <a:solidFill>
                  <a:srgbClr val="0E7C86"/>
                </a:solidFill>
                <a:effectLst/>
                <a:uFillTx/>
                <a:latin typeface="Calibri"/>
                <a:ea typeface="Calibri"/>
              </a:rPr>
              <a:t>CONCLUSION · THE ONE MESSAGE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Box 2"/>
          <p:cNvSpPr/>
          <p:nvPr/>
        </p:nvSpPr>
        <p:spPr>
          <a:xfrm>
            <a:off x="548640" y="1124640"/>
            <a:ext cx="8046360" cy="3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4000"/>
              </a:lnSpc>
            </a:pPr>
            <a:r>
              <a:rPr lang="en-US" sz="242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Correlation → Causation</a:t>
            </a:r>
            <a:endParaRPr lang="en-GB" sz="2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Rounded Rectangle 9"/>
          <p:cNvSpPr/>
          <p:nvPr/>
        </p:nvSpPr>
        <p:spPr>
          <a:xfrm>
            <a:off x="546120" y="1930320"/>
            <a:ext cx="3809520" cy="2539800"/>
          </a:xfrm>
          <a:prstGeom prst="roundRect">
            <a:avLst>
              <a:gd name="adj" fmla="val 6000"/>
            </a:avLst>
          </a:prstGeom>
          <a:solidFill>
            <a:srgbClr val="EA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55" name="TextBox 11"/>
          <p:cNvSpPr/>
          <p:nvPr/>
        </p:nvSpPr>
        <p:spPr>
          <a:xfrm>
            <a:off x="736560" y="2082960"/>
            <a:ext cx="345420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4000"/>
              </a:lnSpc>
            </a:pPr>
            <a:r>
              <a:rPr lang="en-US" sz="1210" b="1" u="none" strike="noStrike">
                <a:solidFill>
                  <a:srgbClr val="596672"/>
                </a:solidFill>
                <a:effectLst/>
                <a:uFillTx/>
                <a:latin typeface="Cambria"/>
                <a:ea typeface="Cambria"/>
              </a:rPr>
              <a:t>Present · DDSE (ML)</a:t>
            </a:r>
            <a:endParaRPr lang="en-GB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spcBef>
                <a:spcPts val="850"/>
              </a:spcBef>
            </a:pPr>
            <a:r>
              <a:rPr lang="en-US" sz="1050" b="1" u="none" strike="noStrike">
                <a:solidFill>
                  <a:srgbClr val="596672"/>
                </a:solidFill>
                <a:effectLst/>
                <a:uFillTx/>
                <a:latin typeface="Calibri"/>
                <a:ea typeface="Calibri"/>
              </a:rPr>
              <a:t>Pattern recognition</a:t>
            </a:r>
            <a:r>
              <a:rPr lang="en-US" sz="105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 — associations in data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spcBef>
                <a:spcPts val="850"/>
              </a:spcBef>
            </a:pPr>
            <a:r>
              <a:rPr lang="en-US" sz="1050" b="1" u="none" strike="noStrike">
                <a:solidFill>
                  <a:srgbClr val="596672"/>
                </a:solidFill>
                <a:effectLst/>
                <a:uFillTx/>
                <a:latin typeface="Calibri"/>
                <a:ea typeface="Calibri"/>
              </a:rPr>
              <a:t>Correlation</a:t>
            </a:r>
            <a:r>
              <a:rPr lang="en-US" sz="105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 — acts on (maybe spurious) patterns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spcBef>
                <a:spcPts val="850"/>
              </a:spcBef>
            </a:pPr>
            <a:r>
              <a:rPr lang="en-US" sz="1050" b="1" u="none" strike="noStrike">
                <a:solidFill>
                  <a:srgbClr val="596672"/>
                </a:solidFill>
                <a:effectLst/>
                <a:uFillTx/>
                <a:latin typeface="Calibri"/>
                <a:ea typeface="Calibri"/>
              </a:rPr>
              <a:t>Observation</a:t>
            </a:r>
            <a:r>
              <a:rPr lang="en-US" sz="105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 — learns P(X | W)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spcBef>
                <a:spcPts val="850"/>
              </a:spcBef>
            </a:pPr>
            <a:r>
              <a:rPr lang="en-US" sz="1050" b="1" u="none" strike="noStrike">
                <a:solidFill>
                  <a:srgbClr val="596672"/>
                </a:solidFill>
                <a:effectLst/>
                <a:uFillTx/>
                <a:latin typeface="Calibri"/>
                <a:ea typeface="Calibri"/>
              </a:rPr>
              <a:t>Opaque</a:t>
            </a:r>
            <a:r>
              <a:rPr lang="en-US" sz="105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 — limited explainability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spcBef>
                <a:spcPts val="850"/>
              </a:spcBef>
            </a:pPr>
            <a:r>
              <a:rPr lang="en-US" sz="1050" b="1" u="none" strike="noStrike">
                <a:solidFill>
                  <a:srgbClr val="596672"/>
                </a:solidFill>
                <a:effectLst/>
                <a:uFillTx/>
                <a:latin typeface="Calibri"/>
                <a:ea typeface="Calibri"/>
              </a:rPr>
              <a:t>Implicit</a:t>
            </a:r>
            <a:r>
              <a:rPr lang="en-US" sz="105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 — assumptions hidden in data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Rounded Rectangle 12"/>
          <p:cNvSpPr/>
          <p:nvPr/>
        </p:nvSpPr>
        <p:spPr>
          <a:xfrm>
            <a:off x="4788000" y="1930320"/>
            <a:ext cx="3809520" cy="2539800"/>
          </a:xfrm>
          <a:prstGeom prst="roundRect">
            <a:avLst>
              <a:gd name="adj" fmla="val 6000"/>
            </a:avLst>
          </a:prstGeom>
          <a:solidFill>
            <a:srgbClr val="F8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57" name="TextBox 14"/>
          <p:cNvSpPr/>
          <p:nvPr/>
        </p:nvSpPr>
        <p:spPr>
          <a:xfrm>
            <a:off x="4978440" y="2082960"/>
            <a:ext cx="345420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4000"/>
              </a:lnSpc>
            </a:pPr>
            <a:r>
              <a:rPr lang="en-US" sz="1210" b="1" u="none" strike="noStrike">
                <a:solidFill>
                  <a:srgbClr val="0E7C86"/>
                </a:solidFill>
                <a:effectLst/>
                <a:uFillTx/>
                <a:latin typeface="Cambria"/>
                <a:ea typeface="Cambria"/>
              </a:rPr>
              <a:t>Future · CSE (Causal)</a:t>
            </a:r>
            <a:endParaRPr lang="en-GB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spcBef>
                <a:spcPts val="850"/>
              </a:spcBef>
            </a:pPr>
            <a:r>
              <a:rPr lang="en-US" sz="1050" b="1" u="none" strike="noStrike">
                <a:solidFill>
                  <a:srgbClr val="0E7C86"/>
                </a:solidFill>
                <a:effectLst/>
                <a:uFillTx/>
                <a:latin typeface="Calibri"/>
                <a:ea typeface="Calibri"/>
              </a:rPr>
              <a:t>Causal inference</a:t>
            </a:r>
            <a:r>
              <a:rPr lang="en-US" sz="105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 — what-if, explanations, hypotheses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spcBef>
                <a:spcPts val="850"/>
              </a:spcBef>
            </a:pPr>
            <a:r>
              <a:rPr lang="en-US" sz="1050" b="1" u="none" strike="noStrike">
                <a:solidFill>
                  <a:srgbClr val="0E7C86"/>
                </a:solidFill>
                <a:effectLst/>
                <a:uFillTx/>
                <a:latin typeface="Calibri"/>
                <a:ea typeface="Calibri"/>
              </a:rPr>
              <a:t>Causation</a:t>
            </a:r>
            <a:r>
              <a:rPr lang="en-US" sz="105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 — confounder-free decisions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spcBef>
                <a:spcPts val="850"/>
              </a:spcBef>
            </a:pPr>
            <a:r>
              <a:rPr lang="en-US" sz="1050" b="1" u="none" strike="noStrike">
                <a:solidFill>
                  <a:srgbClr val="0E7C86"/>
                </a:solidFill>
                <a:effectLst/>
                <a:uFillTx/>
                <a:latin typeface="Calibri"/>
                <a:ea typeface="Calibri"/>
              </a:rPr>
              <a:t>Intervention</a:t>
            </a:r>
            <a:r>
              <a:rPr lang="en-US" sz="105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 — learns P(X | do(W))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spcBef>
                <a:spcPts val="850"/>
              </a:spcBef>
            </a:pPr>
            <a:r>
              <a:rPr lang="en-US" sz="1050" b="1" u="none" strike="noStrike">
                <a:solidFill>
                  <a:srgbClr val="0E7C86"/>
                </a:solidFill>
                <a:effectLst/>
                <a:uFillTx/>
                <a:latin typeface="Calibri"/>
                <a:ea typeface="Calibri"/>
              </a:rPr>
              <a:t>Transparent</a:t>
            </a:r>
            <a:r>
              <a:rPr lang="en-US" sz="105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 — explainable reasoning paths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spcBef>
                <a:spcPts val="850"/>
              </a:spcBef>
            </a:pPr>
            <a:r>
              <a:rPr lang="en-US" sz="1050" b="1" u="none" strike="noStrike">
                <a:solidFill>
                  <a:srgbClr val="0E7C86"/>
                </a:solidFill>
                <a:effectLst/>
                <a:uFillTx/>
                <a:latin typeface="Calibri"/>
                <a:ea typeface="Calibri"/>
              </a:rPr>
              <a:t>Explicit</a:t>
            </a:r>
            <a:r>
              <a:rPr lang="en-US" sz="105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 — human knowledge in the model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Box 16"/>
          <p:cNvSpPr/>
          <p:nvPr/>
        </p:nvSpPr>
        <p:spPr>
          <a:xfrm>
            <a:off x="8046720" y="4736520"/>
            <a:ext cx="8226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en-US" sz="989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37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Freccia destra 15"/>
          <p:cNvSpPr/>
          <p:nvPr/>
        </p:nvSpPr>
        <p:spPr>
          <a:xfrm>
            <a:off x="4406760" y="3086280"/>
            <a:ext cx="329760" cy="304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E7C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horzOverflow="clip" vertOverflow="clip" lIns="90000" tIns="45000" rIns="90000" bIns="45000" anchor="t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60" name="SetupLine"/>
          <p:cNvSpPr/>
          <p:nvPr/>
        </p:nvSpPr>
        <p:spPr>
          <a:xfrm>
            <a:off x="546120" y="1574640"/>
            <a:ext cx="805140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</a:pPr>
            <a:r>
              <a:rPr lang="en-US" sz="11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… and from observation to intervention — the shift from data-driven (DDSE) to causal (Causal Software Engineering) software engineering.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548640" y="868680"/>
            <a:ext cx="804636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50" b="1" u="none" spc="241" strike="noStrike">
                <a:solidFill>
                  <a:srgbClr val="0E7C86"/>
                </a:solidFill>
                <a:effectLst/>
                <a:uFillTx/>
                <a:latin typeface="Calibri"/>
                <a:ea typeface="Calibri"/>
              </a:rPr>
              <a:t>CONCLUSION · WHERE WE ARE → WHAT’S NEXT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548640" y="1124640"/>
            <a:ext cx="8046360" cy="3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4000"/>
              </a:lnSpc>
            </a:pPr>
            <a:r>
              <a:rPr lang="en-US" sz="242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A growing footprint — and the path to adoption</a:t>
            </a:r>
            <a:endParaRPr lang="en-GB" sz="2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11"/>
          <p:cNvSpPr/>
          <p:nvPr/>
        </p:nvSpPr>
        <p:spPr>
          <a:xfrm>
            <a:off x="546120" y="2006640"/>
            <a:ext cx="3809520" cy="24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310" b="1" u="none" strike="noStrike">
                <a:solidFill>
                  <a:srgbClr val="596672"/>
                </a:solidFill>
                <a:effectLst/>
                <a:uFillTx/>
                <a:latin typeface="Cambria"/>
                <a:ea typeface="Cambria"/>
              </a:rPr>
              <a:t>Where we are</a:t>
            </a:r>
            <a:endParaRPr lang="en-GB" sz="13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0160" indent="-200160" defTabSz="914400">
              <a:lnSpc>
                <a:spcPct val="106000"/>
              </a:lnSpc>
              <a:spcBef>
                <a:spcPts val="700"/>
              </a:spcBef>
              <a:buClr>
                <a:srgbClr val="0E7C86"/>
              </a:buClr>
              <a:buFont typeface="Arial"/>
              <a:buChar char="•"/>
            </a:pPr>
            <a:r>
              <a:rPr lang="en-US" sz="11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90+ SE studies now map to the Causal SE framework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0160" indent="-200160" defTabSz="914400">
              <a:lnSpc>
                <a:spcPct val="106000"/>
              </a:lnSpc>
              <a:spcBef>
                <a:spcPts val="700"/>
              </a:spcBef>
              <a:buClr>
                <a:srgbClr val="0E7C86"/>
              </a:buClr>
              <a:buFont typeface="Arial"/>
              <a:buChar char="•"/>
            </a:pPr>
            <a:r>
              <a:rPr lang="en-US" sz="11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Strongest in fault localization, testing &amp; analysis, prediction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0160" indent="-200160" defTabSz="914400">
              <a:lnSpc>
                <a:spcPct val="106000"/>
              </a:lnSpc>
              <a:spcBef>
                <a:spcPts val="700"/>
              </a:spcBef>
              <a:buClr>
                <a:srgbClr val="0E7C86"/>
              </a:buClr>
              <a:buFont typeface="Arial"/>
              <a:buChar char="•"/>
            </a:pPr>
            <a:r>
              <a:rPr lang="en-US" sz="11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Tooling maturing: PyWhy (DoWhy, EconML), DagTTY, Tetrad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0160" indent="-200160" defTabSz="914400">
              <a:lnSpc>
                <a:spcPct val="106000"/>
              </a:lnSpc>
              <a:spcBef>
                <a:spcPts val="700"/>
              </a:spcBef>
              <a:buClr>
                <a:srgbClr val="0E7C86"/>
              </a:buClr>
              <a:buFont typeface="Arial"/>
              <a:buChar char="•"/>
            </a:pPr>
            <a:r>
              <a:rPr lang="en-US" sz="11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Mostly reliability &amp; performance — security &amp; safety still rare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14"/>
          <p:cNvSpPr/>
          <p:nvPr/>
        </p:nvSpPr>
        <p:spPr>
          <a:xfrm>
            <a:off x="4788000" y="2006640"/>
            <a:ext cx="3809520" cy="24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310" b="1" u="none" strike="noStrike">
                <a:solidFill>
                  <a:srgbClr val="0E7C86"/>
                </a:solidFill>
                <a:effectLst/>
                <a:uFillTx/>
                <a:latin typeface="Cambria"/>
                <a:ea typeface="Cambria"/>
              </a:rPr>
              <a:t>What’s next</a:t>
            </a:r>
            <a:endParaRPr lang="en-GB" sz="13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0160" indent="-200160" defTabSz="914400">
              <a:lnSpc>
                <a:spcPct val="106000"/>
              </a:lnSpc>
              <a:spcBef>
                <a:spcPts val="700"/>
              </a:spcBef>
              <a:buClr>
                <a:srgbClr val="0E7C86"/>
              </a:buClr>
              <a:buFont typeface="Arial"/>
              <a:buChar char="•"/>
            </a:pPr>
            <a:r>
              <a:rPr lang="en-US" sz="11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Scaffold causal thinking — tutorials, examples, case studies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0160" indent="-200160" defTabSz="914400">
              <a:lnSpc>
                <a:spcPct val="106000"/>
              </a:lnSpc>
              <a:spcBef>
                <a:spcPts val="700"/>
              </a:spcBef>
              <a:buClr>
                <a:srgbClr val="0E7C86"/>
              </a:buClr>
              <a:buFont typeface="Arial"/>
              <a:buChar char="•"/>
            </a:pPr>
            <a:r>
              <a:rPr lang="en-US" sz="11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Make refutation &amp; robustness tests standard practice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0160" indent="-200160" defTabSz="914400">
              <a:lnSpc>
                <a:spcPct val="106000"/>
              </a:lnSpc>
              <a:spcBef>
                <a:spcPts val="700"/>
              </a:spcBef>
              <a:buClr>
                <a:srgbClr val="0E7C86"/>
              </a:buClr>
              <a:buFont typeface="Arial"/>
              <a:buChar char="•"/>
            </a:pPr>
            <a:r>
              <a:rPr lang="en-US" sz="11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Integrate as an augmentation layer over CI/CD and ML tooling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0160" indent="-200160" defTabSz="914400">
              <a:lnSpc>
                <a:spcPct val="106000"/>
              </a:lnSpc>
              <a:spcBef>
                <a:spcPts val="700"/>
              </a:spcBef>
              <a:buClr>
                <a:srgbClr val="0E7C86"/>
              </a:buClr>
              <a:buFont typeface="Arial"/>
              <a:buChar char="•"/>
            </a:pPr>
            <a:r>
              <a:rPr lang="en-US" sz="11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Pair causal reasoning with LLMs &amp; agents — human in the loop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16"/>
          <p:cNvSpPr/>
          <p:nvPr/>
        </p:nvSpPr>
        <p:spPr>
          <a:xfrm>
            <a:off x="8046720" y="4736520"/>
            <a:ext cx="8226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en-US" sz="989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38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etupLine"/>
          <p:cNvSpPr/>
          <p:nvPr/>
        </p:nvSpPr>
        <p:spPr>
          <a:xfrm>
            <a:off x="546120" y="1574640"/>
            <a:ext cx="805140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</a:pPr>
            <a:r>
              <a:rPr lang="en-US" sz="11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Causal methods are spreading across SE; turning them into everyday practice is the next step.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Citation CACM5"/>
          <p:cNvSpPr/>
          <p:nvPr/>
        </p:nvSpPr>
        <p:spPr>
          <a:xfrm>
            <a:off x="546120" y="4521240"/>
            <a:ext cx="761976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850" b="0" i="1" u="none" strike="noStrike">
                <a:solidFill>
                  <a:srgbClr val="7A8794"/>
                </a:solidFill>
                <a:effectLst/>
                <a:uFillTx/>
                <a:latin typeface="Calibri"/>
              </a:rPr>
              <a:t>Source: CACM/ACM 2025 “Where we are, what’s next” — Pietrantuono, Giamattei &amp; Russo; mapping studies Giamattei et al. 2025.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/>
          <p:cNvSpPr/>
          <p:nvPr/>
        </p:nvSpPr>
        <p:spPr>
          <a:xfrm>
            <a:off x="548640" y="868680"/>
            <a:ext cx="804636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50" b="1" u="none" spc="241" strike="noStrike">
                <a:solidFill>
                  <a:srgbClr val="0E7C86"/>
                </a:solidFill>
                <a:effectLst/>
                <a:uFillTx/>
                <a:latin typeface="Calibri"/>
                <a:ea typeface="Calibri"/>
              </a:rPr>
              <a:t>CONCLUSION · KEEP GOING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2"/>
          <p:cNvSpPr/>
          <p:nvPr/>
        </p:nvSpPr>
        <p:spPr>
          <a:xfrm>
            <a:off x="548640" y="1124640"/>
            <a:ext cx="8046360" cy="3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4000"/>
              </a:lnSpc>
            </a:pPr>
            <a:r>
              <a:rPr lang="en-US" sz="242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Continue your causal journey</a:t>
            </a:r>
            <a:endParaRPr lang="en-GB" sz="2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11"/>
          <p:cNvSpPr/>
          <p:nvPr/>
        </p:nvSpPr>
        <p:spPr>
          <a:xfrm>
            <a:off x="546120" y="2031840"/>
            <a:ext cx="2539800" cy="23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310" b="1" u="none" strike="noStrike">
                <a:solidFill>
                  <a:srgbClr val="0E7C86"/>
                </a:solidFill>
                <a:effectLst/>
                <a:uFillTx/>
                <a:latin typeface="Cambria"/>
                <a:ea typeface="Cambria"/>
              </a:rPr>
              <a:t>Books</a:t>
            </a:r>
            <a:endParaRPr lang="en-GB" sz="13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0160" indent="-200160" defTabSz="914400">
              <a:lnSpc>
                <a:spcPct val="106000"/>
              </a:lnSpc>
              <a:spcBef>
                <a:spcPts val="649"/>
              </a:spcBef>
              <a:buClr>
                <a:srgbClr val="0E7C86"/>
              </a:buClr>
              <a:buFont typeface="Arial"/>
              <a:buChar char="•"/>
            </a:pPr>
            <a:r>
              <a:rPr lang="en-US" sz="11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Pearl &amp; Mackenzie — The Book of Why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0160" indent="-200160" defTabSz="914400">
              <a:lnSpc>
                <a:spcPct val="106000"/>
              </a:lnSpc>
              <a:spcBef>
                <a:spcPts val="649"/>
              </a:spcBef>
              <a:buClr>
                <a:srgbClr val="0E7C86"/>
              </a:buClr>
              <a:buFont typeface="Arial"/>
              <a:buChar char="•"/>
            </a:pPr>
            <a:r>
              <a:rPr lang="en-US" sz="11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Hernán &amp; Robins — Causal Inference: What If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0160" indent="-200160" defTabSz="914400">
              <a:lnSpc>
                <a:spcPct val="106000"/>
              </a:lnSpc>
              <a:spcBef>
                <a:spcPts val="649"/>
              </a:spcBef>
              <a:buClr>
                <a:srgbClr val="0E7C86"/>
              </a:buClr>
              <a:buFont typeface="Arial"/>
              <a:buChar char="•"/>
            </a:pPr>
            <a:r>
              <a:rPr lang="en-US" sz="11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Huntington-Klein – The Effect (free book)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14"/>
          <p:cNvSpPr/>
          <p:nvPr/>
        </p:nvSpPr>
        <p:spPr>
          <a:xfrm>
            <a:off x="3301920" y="2031840"/>
            <a:ext cx="2539800" cy="23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310" b="1" u="none" strike="noStrike">
                <a:solidFill>
                  <a:srgbClr val="0E7C86"/>
                </a:solidFill>
                <a:effectLst/>
                <a:uFillTx/>
                <a:latin typeface="Cambria"/>
                <a:ea typeface="Cambria"/>
              </a:rPr>
              <a:t>Lectures &amp; courses</a:t>
            </a:r>
            <a:endParaRPr lang="en-GB" sz="13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0160" indent="-200160" defTabSz="914400">
              <a:lnSpc>
                <a:spcPct val="106000"/>
              </a:lnSpc>
              <a:spcBef>
                <a:spcPts val="649"/>
              </a:spcBef>
              <a:buClr>
                <a:srgbClr val="0E7C86"/>
              </a:buClr>
              <a:buFont typeface="Arial"/>
              <a:buChar char="•"/>
            </a:pPr>
            <a:r>
              <a:rPr lang="en-US" sz="11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Brady Neal — Introduction to Causal Inference (free)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0160" indent="-200160" defTabSz="914400">
              <a:lnSpc>
                <a:spcPct val="106000"/>
              </a:lnSpc>
              <a:spcBef>
                <a:spcPts val="649"/>
              </a:spcBef>
              <a:buClr>
                <a:srgbClr val="0E7C86"/>
              </a:buClr>
              <a:buFont typeface="Arial"/>
              <a:buChar char="•"/>
            </a:pPr>
            <a:r>
              <a:rPr lang="en-US" sz="11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B. Neal &amp; J. Pearl — video lecture series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0160" indent="-200160" defTabSz="914400">
              <a:lnSpc>
                <a:spcPct val="106000"/>
              </a:lnSpc>
              <a:spcBef>
                <a:spcPts val="649"/>
              </a:spcBef>
              <a:buClr>
                <a:srgbClr val="0E7C86"/>
              </a:buClr>
              <a:buFont typeface="Arial"/>
              <a:buChar char="•"/>
            </a:pPr>
            <a:r>
              <a:rPr lang="en-US" sz="11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“A Crash Course in Causality” (Coursera, Penn)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16"/>
          <p:cNvSpPr/>
          <p:nvPr/>
        </p:nvSpPr>
        <p:spPr>
          <a:xfrm>
            <a:off x="8046720" y="4736520"/>
            <a:ext cx="8226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en-US" sz="989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39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etupLine"/>
          <p:cNvSpPr/>
          <p:nvPr/>
        </p:nvSpPr>
        <p:spPr>
          <a:xfrm>
            <a:off x="546120" y="1574640"/>
            <a:ext cx="805140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</a:pPr>
            <a:r>
              <a:rPr lang="en-US" sz="11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Pointers to go deeper — books, lectures, and tools to start (or continue) your causal journey.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Col3"/>
          <p:cNvSpPr/>
          <p:nvPr/>
        </p:nvSpPr>
        <p:spPr>
          <a:xfrm>
            <a:off x="6058080" y="2031840"/>
            <a:ext cx="2539800" cy="23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310" b="1" u="none" strike="noStrike">
                <a:solidFill>
                  <a:srgbClr val="0E7C86"/>
                </a:solidFill>
                <a:effectLst/>
                <a:uFillTx/>
                <a:latin typeface="Cambria"/>
                <a:ea typeface="Cambria"/>
              </a:rPr>
              <a:t>Tools &amp; community</a:t>
            </a:r>
            <a:endParaRPr lang="en-GB" sz="13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0160" indent="-200160" defTabSz="914400">
              <a:lnSpc>
                <a:spcPct val="106000"/>
              </a:lnSpc>
              <a:spcBef>
                <a:spcPts val="649"/>
              </a:spcBef>
              <a:buClr>
                <a:srgbClr val="0E7C86"/>
              </a:buClr>
              <a:buFont typeface="Arial"/>
              <a:buChar char="•"/>
            </a:pPr>
            <a:r>
              <a:rPr lang="en-US" sz="11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PyWhy: DoWhy, EconML, causal-learn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0160" indent="-200160" defTabSz="914400">
              <a:lnSpc>
                <a:spcPct val="106000"/>
              </a:lnSpc>
              <a:spcBef>
                <a:spcPts val="649"/>
              </a:spcBef>
              <a:buClr>
                <a:srgbClr val="0E7C86"/>
              </a:buClr>
              <a:buFont typeface="Arial"/>
              <a:buChar char="•"/>
            </a:pPr>
            <a:r>
              <a:rPr lang="en-US" sz="11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Tetrad (CMU) — causal discovery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0160" indent="-200160" defTabSz="914400">
              <a:lnSpc>
                <a:spcPct val="106000"/>
              </a:lnSpc>
              <a:spcBef>
                <a:spcPts val="649"/>
              </a:spcBef>
              <a:buClr>
                <a:srgbClr val="0E7C86"/>
              </a:buClr>
              <a:buFont typeface="Arial"/>
              <a:buChar char="•"/>
            </a:pPr>
            <a:r>
              <a:rPr lang="en-US" sz="11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DAGitty — draw &amp; test DAGs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1"/>
          <p:cNvSpPr/>
          <p:nvPr/>
        </p:nvSpPr>
        <p:spPr>
          <a:xfrm>
            <a:off x="548640" y="868680"/>
            <a:ext cx="80463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950" b="1" u="none" spc="241" strike="noStrike">
                <a:solidFill>
                  <a:srgbClr val="0E7C86"/>
                </a:solidFill>
                <a:effectLst/>
                <a:uFillTx/>
                <a:latin typeface="Calibri"/>
                <a:ea typeface="Calibri"/>
              </a:rPr>
              <a:t>THE ROAD AHEAD · VISION &amp; ROADMAP</a:t>
            </a:r>
            <a:endParaRPr lang="en-GB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2"/>
          <p:cNvSpPr/>
          <p:nvPr/>
        </p:nvSpPr>
        <p:spPr>
          <a:xfrm>
            <a:off x="548640" y="1124640"/>
            <a:ext cx="80463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4000"/>
              </a:lnSpc>
            </a:pPr>
            <a:r>
              <a:rPr lang="en-US" sz="22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Causal Readiness Levels: a path for SE tooling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3"/>
          <p:cNvSpPr/>
          <p:nvPr/>
        </p:nvSpPr>
        <p:spPr>
          <a:xfrm>
            <a:off x="548640" y="1554480"/>
            <a:ext cx="8046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4000"/>
              </a:lnSpc>
            </a:pPr>
            <a:r>
              <a:rPr lang="en-US" sz="10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From correlation-based tools toward governed, uncertainty-aware </a:t>
            </a:r>
            <a:r>
              <a:rPr lang="en-US" sz="1000" b="1" u="none" strike="noStrike">
                <a:solidFill>
                  <a:srgbClr val="D26E3A"/>
                </a:solidFill>
                <a:effectLst/>
                <a:uFillTx/>
                <a:latin typeface="Calibri"/>
                <a:ea typeface="Calibri"/>
              </a:rPr>
              <a:t>causal copilots</a:t>
            </a:r>
            <a:r>
              <a:rPr lang="en-US" sz="10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Rounded Rectangle 4"/>
          <p:cNvSpPr/>
          <p:nvPr/>
        </p:nvSpPr>
        <p:spPr>
          <a:xfrm>
            <a:off x="548640" y="3108960"/>
            <a:ext cx="1279800" cy="456840"/>
          </a:xfrm>
          <a:prstGeom prst="roundRect">
            <a:avLst>
              <a:gd name="adj" fmla="val 6000"/>
            </a:avLst>
          </a:prstGeom>
          <a:solidFill>
            <a:srgbClr val="5966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9" name="TextBox 5"/>
          <p:cNvSpPr/>
          <p:nvPr/>
        </p:nvSpPr>
        <p:spPr>
          <a:xfrm>
            <a:off x="548640" y="3182040"/>
            <a:ext cx="1279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CRL-0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6"/>
          <p:cNvSpPr/>
          <p:nvPr/>
        </p:nvSpPr>
        <p:spPr>
          <a:xfrm>
            <a:off x="502920" y="362088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2000"/>
              </a:lnSpc>
            </a:pPr>
            <a:r>
              <a:rPr lang="en-US" sz="80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Correlation-based</a:t>
            </a:r>
            <a:endParaRPr lang="en-GB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Rounded Rectangle 7"/>
          <p:cNvSpPr/>
          <p:nvPr/>
        </p:nvSpPr>
        <p:spPr>
          <a:xfrm>
            <a:off x="1920240" y="2907720"/>
            <a:ext cx="1279800" cy="658080"/>
          </a:xfrm>
          <a:prstGeom prst="roundRect">
            <a:avLst>
              <a:gd name="adj" fmla="val 6000"/>
            </a:avLst>
          </a:prstGeom>
          <a:solidFill>
            <a:srgbClr val="0A5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2" name="TextBox 8"/>
          <p:cNvSpPr/>
          <p:nvPr/>
        </p:nvSpPr>
        <p:spPr>
          <a:xfrm>
            <a:off x="1920240" y="2980800"/>
            <a:ext cx="1279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CRL-1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9"/>
          <p:cNvSpPr/>
          <p:nvPr/>
        </p:nvSpPr>
        <p:spPr>
          <a:xfrm>
            <a:off x="1874520" y="362088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2000"/>
              </a:lnSpc>
            </a:pPr>
            <a:r>
              <a:rPr lang="en-US" sz="80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Causal observability</a:t>
            </a:r>
            <a:endParaRPr lang="en-GB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Rounded Rectangle 10"/>
          <p:cNvSpPr/>
          <p:nvPr/>
        </p:nvSpPr>
        <p:spPr>
          <a:xfrm>
            <a:off x="3291840" y="2706480"/>
            <a:ext cx="1279800" cy="859320"/>
          </a:xfrm>
          <a:prstGeom prst="roundRect">
            <a:avLst>
              <a:gd name="adj" fmla="val 6000"/>
            </a:avLst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5" name="TextBox 11"/>
          <p:cNvSpPr/>
          <p:nvPr/>
        </p:nvSpPr>
        <p:spPr>
          <a:xfrm>
            <a:off x="3291840" y="2779920"/>
            <a:ext cx="1279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CRL-2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12"/>
          <p:cNvSpPr/>
          <p:nvPr/>
        </p:nvSpPr>
        <p:spPr>
          <a:xfrm>
            <a:off x="3246120" y="362088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2000"/>
              </a:lnSpc>
            </a:pPr>
            <a:r>
              <a:rPr lang="en-US" sz="80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Intervenability</a:t>
            </a:r>
            <a:endParaRPr lang="en-GB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Rounded Rectangle 13"/>
          <p:cNvSpPr/>
          <p:nvPr/>
        </p:nvSpPr>
        <p:spPr>
          <a:xfrm>
            <a:off x="4663440" y="2505600"/>
            <a:ext cx="1279800" cy="1060200"/>
          </a:xfrm>
          <a:prstGeom prst="roundRect">
            <a:avLst>
              <a:gd name="adj" fmla="val 6000"/>
            </a:avLst>
          </a:prstGeom>
          <a:solidFill>
            <a:srgbClr val="4A9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8" name="TextBox 14"/>
          <p:cNvSpPr/>
          <p:nvPr/>
        </p:nvSpPr>
        <p:spPr>
          <a:xfrm>
            <a:off x="4663440" y="2578680"/>
            <a:ext cx="1279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CRL-3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15"/>
          <p:cNvSpPr/>
          <p:nvPr/>
        </p:nvSpPr>
        <p:spPr>
          <a:xfrm>
            <a:off x="4617720" y="362088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2000"/>
              </a:lnSpc>
            </a:pPr>
            <a:r>
              <a:rPr lang="en-US" sz="80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Counterf. assurance</a:t>
            </a:r>
            <a:endParaRPr lang="en-GB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Rounded Rectangle 16"/>
          <p:cNvSpPr/>
          <p:nvPr/>
        </p:nvSpPr>
        <p:spPr>
          <a:xfrm>
            <a:off x="6035040" y="2304360"/>
            <a:ext cx="1279800" cy="1261440"/>
          </a:xfrm>
          <a:prstGeom prst="roundRect">
            <a:avLst>
              <a:gd name="adj" fmla="val 6000"/>
            </a:avLst>
          </a:prstGeom>
          <a:solidFill>
            <a:srgbClr val="D26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91" name="TextBox 17"/>
          <p:cNvSpPr/>
          <p:nvPr/>
        </p:nvSpPr>
        <p:spPr>
          <a:xfrm>
            <a:off x="6035040" y="2377440"/>
            <a:ext cx="1279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CRL-4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18"/>
          <p:cNvSpPr/>
          <p:nvPr/>
        </p:nvSpPr>
        <p:spPr>
          <a:xfrm>
            <a:off x="5989320" y="362088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2000"/>
              </a:lnSpc>
            </a:pPr>
            <a:r>
              <a:rPr lang="en-US" sz="80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Causal copilots</a:t>
            </a:r>
            <a:endParaRPr lang="en-GB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ounded Rectangle 19"/>
          <p:cNvSpPr/>
          <p:nvPr/>
        </p:nvSpPr>
        <p:spPr>
          <a:xfrm>
            <a:off x="7406640" y="2103120"/>
            <a:ext cx="1279800" cy="1462680"/>
          </a:xfrm>
          <a:prstGeom prst="roundRect">
            <a:avLst>
              <a:gd name="adj" fmla="val 6000"/>
            </a:avLst>
          </a:prstGeom>
          <a:solidFill>
            <a:srgbClr val="C05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94" name="TextBox 20"/>
          <p:cNvSpPr/>
          <p:nvPr/>
        </p:nvSpPr>
        <p:spPr>
          <a:xfrm>
            <a:off x="7406640" y="2176200"/>
            <a:ext cx="1279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CRL-5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21"/>
          <p:cNvSpPr/>
          <p:nvPr/>
        </p:nvSpPr>
        <p:spPr>
          <a:xfrm>
            <a:off x="7360920" y="362088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2000"/>
              </a:lnSpc>
            </a:pPr>
            <a:r>
              <a:rPr lang="en-US" sz="80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Causal certification</a:t>
            </a:r>
            <a:endParaRPr lang="en-GB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22"/>
          <p:cNvSpPr/>
          <p:nvPr/>
        </p:nvSpPr>
        <p:spPr>
          <a:xfrm>
            <a:off x="548640" y="393192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4000"/>
              </a:lnSpc>
            </a:pPr>
            <a:r>
              <a:rPr lang="en-US" sz="950" b="0" i="1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Progress is measured for </a:t>
            </a:r>
            <a:r>
              <a:rPr lang="en-US" sz="950" b="1" i="1" u="none" strike="noStrike">
                <a:solidFill>
                  <a:srgbClr val="0E7C86"/>
                </a:solidFill>
                <a:effectLst/>
                <a:uFillTx/>
                <a:latin typeface="Calibri"/>
                <a:ea typeface="Calibri"/>
              </a:rPr>
              <a:t>both tools and organizations</a:t>
            </a:r>
            <a:r>
              <a:rPr lang="en-US" sz="950" b="0" i="1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 — adoption needs cultural change, not only better algorithms.</a:t>
            </a:r>
            <a:endParaRPr lang="en-GB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23"/>
          <p:cNvSpPr/>
          <p:nvPr/>
        </p:nvSpPr>
        <p:spPr>
          <a:xfrm>
            <a:off x="8046720" y="473652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41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Citation FSE"/>
          <p:cNvSpPr/>
          <p:nvPr/>
        </p:nvSpPr>
        <p:spPr>
          <a:xfrm>
            <a:off x="546120" y="4416120"/>
            <a:ext cx="8140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850" b="0" i="1" u="none" strike="noStrike">
                <a:solidFill>
                  <a:srgbClr val="7A8794"/>
                </a:solidFill>
                <a:effectLst/>
                <a:uFillTx/>
                <a:latin typeface="Calibri"/>
              </a:rPr>
              <a:t>Roadmap adapted from: R. Pietrantuono, L. Giamattei, S. Russo, J. Siebert, N. Walkinshaw — “Causal Software Engineering: A Vision and Roadmap”, FSE 2026 – IVR track 2026 (arXiv:2605.02454).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Box 1"/>
          <p:cNvSpPr/>
          <p:nvPr/>
        </p:nvSpPr>
        <p:spPr>
          <a:xfrm>
            <a:off x="548640" y="868680"/>
            <a:ext cx="80463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950" b="1" u="none" spc="241" strike="noStrike">
                <a:solidFill>
                  <a:srgbClr val="0E7C86"/>
                </a:solidFill>
                <a:effectLst/>
                <a:uFillTx/>
                <a:latin typeface="Calibri"/>
                <a:ea typeface="Calibri"/>
              </a:rPr>
              <a:t>THE ROAD AHEAD · FOUR CO-EVOLVING ROUTES</a:t>
            </a:r>
            <a:endParaRPr lang="en-GB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2"/>
          <p:cNvSpPr/>
          <p:nvPr/>
        </p:nvSpPr>
        <p:spPr>
          <a:xfrm>
            <a:off x="548640" y="1124640"/>
            <a:ext cx="80463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4000"/>
              </a:lnSpc>
            </a:pPr>
            <a:r>
              <a:rPr lang="en-US" sz="22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Where causal software engineering is heading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Rounded Rectangle 3"/>
          <p:cNvSpPr/>
          <p:nvPr/>
        </p:nvSpPr>
        <p:spPr>
          <a:xfrm>
            <a:off x="548640" y="1645920"/>
            <a:ext cx="3885840" cy="1142640"/>
          </a:xfrm>
          <a:prstGeom prst="roundRect">
            <a:avLst>
              <a:gd name="adj" fmla="val 5000"/>
            </a:avLst>
          </a:prstGeom>
          <a:solidFill>
            <a:srgbClr val="EA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02" name="Oval 4"/>
          <p:cNvSpPr/>
          <p:nvPr/>
        </p:nvSpPr>
        <p:spPr>
          <a:xfrm>
            <a:off x="777240" y="1874520"/>
            <a:ext cx="237240" cy="237240"/>
          </a:xfrm>
          <a:prstGeom prst="ellipse">
            <a:avLst/>
          </a:prstGeom>
          <a:solidFill>
            <a:srgbClr val="0A5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03" name="TextBox 5"/>
          <p:cNvSpPr/>
          <p:nvPr/>
        </p:nvSpPr>
        <p:spPr>
          <a:xfrm>
            <a:off x="1188720" y="1810440"/>
            <a:ext cx="30628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15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R1 · Causal observability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spcBef>
                <a:spcPts val="499"/>
              </a:spcBef>
            </a:pPr>
            <a:r>
              <a:rPr lang="en-US" sz="9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Augment metrics, logs &amp; traces with explicit causal structure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spcBef>
                <a:spcPts val="400"/>
              </a:spcBef>
            </a:pPr>
            <a:r>
              <a:rPr lang="en-US" sz="850" b="1" i="1" u="none" strike="noStrike">
                <a:solidFill>
                  <a:srgbClr val="0A5A62"/>
                </a:solidFill>
                <a:effectLst/>
                <a:uFillTx/>
                <a:latin typeface="Calibri"/>
                <a:ea typeface="Calibri"/>
              </a:rPr>
              <a:t>Dream: reliable why &amp; what-if answers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Rounded Rectangle 6"/>
          <p:cNvSpPr/>
          <p:nvPr/>
        </p:nvSpPr>
        <p:spPr>
          <a:xfrm>
            <a:off x="4709160" y="1645920"/>
            <a:ext cx="3885840" cy="1142640"/>
          </a:xfrm>
          <a:prstGeom prst="roundRect">
            <a:avLst>
              <a:gd name="adj" fmla="val 5000"/>
            </a:avLst>
          </a:prstGeom>
          <a:solidFill>
            <a:srgbClr val="EA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05" name="Oval 7"/>
          <p:cNvSpPr/>
          <p:nvPr/>
        </p:nvSpPr>
        <p:spPr>
          <a:xfrm>
            <a:off x="4937760" y="1874520"/>
            <a:ext cx="237240" cy="23724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06" name="TextBox 8"/>
          <p:cNvSpPr/>
          <p:nvPr/>
        </p:nvSpPr>
        <p:spPr>
          <a:xfrm>
            <a:off x="5349240" y="1810440"/>
            <a:ext cx="30628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15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R2 · Intervenability by design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spcBef>
                <a:spcPts val="499"/>
              </a:spcBef>
            </a:pPr>
            <a:r>
              <a:rPr lang="en-US" sz="9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Treat CI/CD, flags &amp; canaries as explicit causal interventions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spcBef>
                <a:spcPts val="400"/>
              </a:spcBef>
            </a:pPr>
            <a:r>
              <a:rPr lang="en-US" sz="850" b="1" i="1" u="none" strike="noStrike">
                <a:solidFill>
                  <a:srgbClr val="0E7C86"/>
                </a:solidFill>
                <a:effectLst/>
                <a:uFillTx/>
                <a:latin typeface="Calibri"/>
                <a:ea typeface="Calibri"/>
              </a:rPr>
              <a:t>Dream: evidence-backed intervention planning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Rounded Rectangle 9"/>
          <p:cNvSpPr/>
          <p:nvPr/>
        </p:nvSpPr>
        <p:spPr>
          <a:xfrm>
            <a:off x="548640" y="2953440"/>
            <a:ext cx="3885840" cy="1142640"/>
          </a:xfrm>
          <a:prstGeom prst="roundRect">
            <a:avLst>
              <a:gd name="adj" fmla="val 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08" name="Oval 10"/>
          <p:cNvSpPr/>
          <p:nvPr/>
        </p:nvSpPr>
        <p:spPr>
          <a:xfrm>
            <a:off x="777240" y="3182040"/>
            <a:ext cx="237240" cy="237240"/>
          </a:xfrm>
          <a:prstGeom prst="ellipse">
            <a:avLst/>
          </a:prstGeom>
          <a:solidFill>
            <a:srgbClr val="4A9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09" name="TextBox 11"/>
          <p:cNvSpPr/>
          <p:nvPr/>
        </p:nvSpPr>
        <p:spPr>
          <a:xfrm>
            <a:off x="1188720" y="3117960"/>
            <a:ext cx="30628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15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R3 · Counterfactual assurance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spcBef>
                <a:spcPts val="499"/>
              </a:spcBef>
            </a:pPr>
            <a:r>
              <a:rPr lang="en-US" sz="9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Counterfactual RCA at scale; causal testing; refutation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spcBef>
                <a:spcPts val="400"/>
              </a:spcBef>
            </a:pPr>
            <a:r>
              <a:rPr lang="en-US" sz="850" b="1" i="1" u="none" strike="noStrike">
                <a:solidFill>
                  <a:srgbClr val="0E7C86"/>
                </a:solidFill>
                <a:effectLst/>
                <a:uFillTx/>
                <a:latin typeface="Calibri"/>
                <a:ea typeface="Calibri"/>
              </a:rPr>
              <a:t>Dream: routine “what would have avoided this?”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Rounded Rectangle 12"/>
          <p:cNvSpPr/>
          <p:nvPr/>
        </p:nvSpPr>
        <p:spPr>
          <a:xfrm>
            <a:off x="4709160" y="2953440"/>
            <a:ext cx="3885840" cy="1142640"/>
          </a:xfrm>
          <a:prstGeom prst="roundRect">
            <a:avLst>
              <a:gd name="adj" fmla="val 5000"/>
            </a:avLst>
          </a:prstGeom>
          <a:solidFill>
            <a:srgbClr val="F8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11" name="Oval 13"/>
          <p:cNvSpPr/>
          <p:nvPr/>
        </p:nvSpPr>
        <p:spPr>
          <a:xfrm>
            <a:off x="4937760" y="3182040"/>
            <a:ext cx="237240" cy="237240"/>
          </a:xfrm>
          <a:prstGeom prst="ellipse">
            <a:avLst/>
          </a:prstGeom>
          <a:solidFill>
            <a:srgbClr val="D26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12" name="TextBox 14"/>
          <p:cNvSpPr/>
          <p:nvPr/>
        </p:nvSpPr>
        <p:spPr>
          <a:xfrm>
            <a:off x="5349240" y="3117960"/>
            <a:ext cx="30628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15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R4 · Governance &amp; alignment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spcBef>
                <a:spcPts val="499"/>
              </a:spcBef>
            </a:pPr>
            <a:r>
              <a:rPr lang="en-US" sz="9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Auditable causal claims; human-in-the-loop; constrained agents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spcBef>
                <a:spcPts val="400"/>
              </a:spcBef>
            </a:pPr>
            <a:r>
              <a:rPr lang="en-US" sz="850" b="1" i="1" u="none" strike="noStrike">
                <a:solidFill>
                  <a:srgbClr val="D26E3A"/>
                </a:solidFill>
                <a:effectLst/>
                <a:uFillTx/>
                <a:latin typeface="Calibri"/>
                <a:ea typeface="Calibri"/>
              </a:rPr>
              <a:t>Dream: governed causal copilots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15"/>
          <p:cNvSpPr/>
          <p:nvPr/>
        </p:nvSpPr>
        <p:spPr>
          <a:xfrm>
            <a:off x="8046720" y="473652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42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Citation FSE"/>
          <p:cNvSpPr/>
          <p:nvPr/>
        </p:nvSpPr>
        <p:spPr>
          <a:xfrm>
            <a:off x="546120" y="4416120"/>
            <a:ext cx="8140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850" b="0" i="1" u="none" strike="noStrike">
                <a:solidFill>
                  <a:srgbClr val="7A8794"/>
                </a:solidFill>
                <a:effectLst/>
                <a:uFillTx/>
                <a:latin typeface="Calibri"/>
              </a:rPr>
              <a:t>Roadmap adapted from: R. Pietrantuono, L. Giamattei, S. Russo, J. Siebert, N. Walkinshaw — “Causal Software Engineering: A Vision and Roadmap”, FSE 2026 – IVR track 2026 (arXiv:2605.02454).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Box 1"/>
          <p:cNvSpPr/>
          <p:nvPr/>
        </p:nvSpPr>
        <p:spPr>
          <a:xfrm>
            <a:off x="548640" y="868680"/>
            <a:ext cx="80463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950" b="1" u="none" spc="241" strike="noStrike">
                <a:solidFill>
                  <a:srgbClr val="0E7C86"/>
                </a:solidFill>
                <a:effectLst/>
                <a:uFillTx/>
                <a:latin typeface="Calibri"/>
                <a:ea typeface="Calibri"/>
              </a:rPr>
              <a:t>WRAP-UP</a:t>
            </a:r>
            <a:endParaRPr lang="en-GB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2"/>
          <p:cNvSpPr/>
          <p:nvPr/>
        </p:nvSpPr>
        <p:spPr>
          <a:xfrm>
            <a:off x="548640" y="1124640"/>
            <a:ext cx="80463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4000"/>
              </a:lnSpc>
            </a:pPr>
            <a:r>
              <a:rPr lang="en-US" sz="22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Causal reasoning: a new way to co-engineer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Oval 3"/>
          <p:cNvSpPr/>
          <p:nvPr/>
        </p:nvSpPr>
        <p:spPr>
          <a:xfrm>
            <a:off x="548640" y="1737360"/>
            <a:ext cx="200880" cy="200880"/>
          </a:xfrm>
          <a:prstGeom prst="ellipse">
            <a:avLst/>
          </a:prstGeom>
          <a:solidFill>
            <a:srgbClr val="0A5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18" name="TextBox 4"/>
          <p:cNvSpPr/>
          <p:nvPr/>
        </p:nvSpPr>
        <p:spPr>
          <a:xfrm>
            <a:off x="960120" y="1654920"/>
            <a:ext cx="75891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2000"/>
              </a:lnSpc>
            </a:pPr>
            <a:r>
              <a:rPr lang="en-US" sz="13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SE questions are causal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spcBef>
                <a:spcPts val="201"/>
              </a:spcBef>
            </a:pPr>
            <a:r>
              <a:rPr lang="en-US" sz="105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do(·), not just seeing.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Oval 5"/>
          <p:cNvSpPr/>
          <p:nvPr/>
        </p:nvSpPr>
        <p:spPr>
          <a:xfrm>
            <a:off x="548640" y="2331720"/>
            <a:ext cx="200880" cy="20088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20" name="TextBox 6"/>
          <p:cNvSpPr/>
          <p:nvPr/>
        </p:nvSpPr>
        <p:spPr>
          <a:xfrm>
            <a:off x="960120" y="2249280"/>
            <a:ext cx="75891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2000"/>
              </a:lnSpc>
            </a:pPr>
            <a:r>
              <a:rPr lang="en-US" sz="13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Graphs make assumptions explicit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spcBef>
                <a:spcPts val="201"/>
              </a:spcBef>
            </a:pPr>
            <a:r>
              <a:rPr lang="en-US" sz="105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confounders, mediators, colliders surfaced.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Oval 7"/>
          <p:cNvSpPr/>
          <p:nvPr/>
        </p:nvSpPr>
        <p:spPr>
          <a:xfrm>
            <a:off x="548640" y="2926080"/>
            <a:ext cx="200880" cy="200880"/>
          </a:xfrm>
          <a:prstGeom prst="ellipse">
            <a:avLst/>
          </a:prstGeom>
          <a:solidFill>
            <a:srgbClr val="D26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22" name="TextBox 8"/>
          <p:cNvSpPr/>
          <p:nvPr/>
        </p:nvSpPr>
        <p:spPr>
          <a:xfrm>
            <a:off x="960120" y="2843640"/>
            <a:ext cx="75891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2000"/>
              </a:lnSpc>
            </a:pPr>
            <a:r>
              <a:rPr lang="en-US" sz="13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It already works in SE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spcBef>
                <a:spcPts val="201"/>
              </a:spcBef>
            </a:pPr>
            <a:r>
              <a:rPr lang="en-US" sz="105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causal testing &amp; RCA across QA.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Oval 9"/>
          <p:cNvSpPr/>
          <p:nvPr/>
        </p:nvSpPr>
        <p:spPr>
          <a:xfrm>
            <a:off x="548640" y="3520440"/>
            <a:ext cx="200880" cy="200880"/>
          </a:xfrm>
          <a:prstGeom prst="ellipse">
            <a:avLst/>
          </a:prstGeom>
          <a:solidFill>
            <a:srgbClr val="4A9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24" name="TextBox 10"/>
          <p:cNvSpPr/>
          <p:nvPr/>
        </p:nvSpPr>
        <p:spPr>
          <a:xfrm>
            <a:off x="960120" y="3438000"/>
            <a:ext cx="75891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2000"/>
              </a:lnSpc>
            </a:pPr>
            <a:r>
              <a:rPr lang="en-US" sz="13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Humans stay in the loop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spcBef>
                <a:spcPts val="201"/>
              </a:spcBef>
            </a:pPr>
            <a:r>
              <a:rPr lang="en-US" sz="105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inspectable models — collaboration, not a black box.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11"/>
          <p:cNvSpPr/>
          <p:nvPr/>
        </p:nvSpPr>
        <p:spPr>
          <a:xfrm>
            <a:off x="8046720" y="473652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43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Box 1"/>
          <p:cNvSpPr/>
          <p:nvPr/>
        </p:nvSpPr>
        <p:spPr>
          <a:xfrm>
            <a:off x="548640" y="868680"/>
            <a:ext cx="80463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950" b="1" u="none" spc="241" strike="noStrike">
                <a:solidFill>
                  <a:srgbClr val="0E7C86"/>
                </a:solidFill>
                <a:effectLst/>
                <a:uFillTx/>
                <a:latin typeface="Calibri"/>
                <a:ea typeface="Calibri"/>
              </a:rPr>
              <a:t>REFERENCES</a:t>
            </a:r>
            <a:endParaRPr lang="en-GB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2"/>
          <p:cNvSpPr/>
          <p:nvPr/>
        </p:nvSpPr>
        <p:spPr>
          <a:xfrm>
            <a:off x="548640" y="1124640"/>
            <a:ext cx="804636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4000"/>
              </a:lnSpc>
            </a:pPr>
            <a:r>
              <a:rPr lang="en-US" sz="22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Sources &amp; further reading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3"/>
          <p:cNvSpPr/>
          <p:nvPr/>
        </p:nvSpPr>
        <p:spPr>
          <a:xfrm>
            <a:off x="548640" y="1554480"/>
            <a:ext cx="39772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1" u="none" strike="noStrike">
                <a:solidFill>
                  <a:srgbClr val="0A5A62"/>
                </a:solidFill>
                <a:effectLst/>
                <a:uFillTx/>
                <a:latin typeface="Cambria"/>
                <a:ea typeface="Cambria"/>
              </a:rPr>
              <a:t>Framework &amp; roadmap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4"/>
          <p:cNvSpPr/>
          <p:nvPr/>
        </p:nvSpPr>
        <p:spPr>
          <a:xfrm>
            <a:off x="548640" y="1810440"/>
            <a:ext cx="40230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2000"/>
              </a:lnSpc>
            </a:pPr>
            <a:r>
              <a:rPr lang="en-US" sz="800" b="1" u="none" strike="noStrike">
                <a:solidFill>
                  <a:srgbClr val="D26E3A"/>
                </a:solidFill>
                <a:effectLst/>
                <a:uFillTx/>
                <a:latin typeface="Calibri"/>
                <a:ea typeface="Calibri"/>
              </a:rPr>
              <a:t>- </a:t>
            </a:r>
            <a:r>
              <a:rPr lang="en-US" sz="8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Pietrantuono, Giamattei, Russo. Reasoning Beyond Prediction:  From Data-Driven to Causal</a:t>
            </a:r>
            <a:endParaRPr lang="en-GB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</a:pPr>
            <a:r>
              <a:rPr lang="en-US" sz="8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Software Engineering  CACM (first look), 2026.</a:t>
            </a:r>
            <a:endParaRPr lang="en-GB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5"/>
          <p:cNvSpPr/>
          <p:nvPr/>
        </p:nvSpPr>
        <p:spPr>
          <a:xfrm>
            <a:off x="548640" y="2142360"/>
            <a:ext cx="4023000" cy="12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2000"/>
              </a:lnSpc>
            </a:pPr>
            <a:r>
              <a:rPr lang="en-US" sz="800" b="1" u="none" strike="noStrike">
                <a:solidFill>
                  <a:srgbClr val="D26E3A"/>
                </a:solidFill>
                <a:effectLst/>
                <a:uFillTx/>
                <a:latin typeface="Calibri"/>
                <a:ea typeface="Calibri"/>
              </a:rPr>
              <a:t>- </a:t>
            </a:r>
            <a:r>
              <a:rPr lang="en-US" sz="8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Causal Software Engineering: A Vision and Roadmap. arXiv:2605.02454.</a:t>
            </a:r>
            <a:endParaRPr lang="en-GB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6"/>
          <p:cNvSpPr/>
          <p:nvPr/>
        </p:nvSpPr>
        <p:spPr>
          <a:xfrm>
            <a:off x="548640" y="2349360"/>
            <a:ext cx="4023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2000"/>
              </a:lnSpc>
            </a:pPr>
            <a:r>
              <a:rPr lang="en-US" sz="800" b="1" u="none" strike="noStrike">
                <a:solidFill>
                  <a:srgbClr val="D26E3A"/>
                </a:solidFill>
                <a:effectLst/>
                <a:uFillTx/>
                <a:latin typeface="Calibri"/>
                <a:ea typeface="Calibri"/>
              </a:rPr>
              <a:t>- </a:t>
            </a:r>
            <a:r>
              <a:rPr lang="en-US" sz="8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Giamattei et al. Causal reasoning in SQA: a systematic review. IST 178 (2025) 107599.</a:t>
            </a:r>
            <a:endParaRPr lang="en-GB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7"/>
          <p:cNvSpPr/>
          <p:nvPr/>
        </p:nvSpPr>
        <p:spPr>
          <a:xfrm>
            <a:off x="548640" y="2624400"/>
            <a:ext cx="39772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1" u="none" strike="noStrike">
                <a:solidFill>
                  <a:srgbClr val="0A5A62"/>
                </a:solidFill>
                <a:effectLst/>
                <a:uFillTx/>
                <a:latin typeface="Cambria"/>
                <a:ea typeface="Cambria"/>
              </a:rPr>
              <a:t>Testing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8"/>
          <p:cNvSpPr/>
          <p:nvPr/>
        </p:nvSpPr>
        <p:spPr>
          <a:xfrm>
            <a:off x="548640" y="2880360"/>
            <a:ext cx="4023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2000"/>
              </a:lnSpc>
            </a:pPr>
            <a:r>
              <a:rPr lang="en-US" sz="800" b="1" u="none" strike="noStrike">
                <a:solidFill>
                  <a:srgbClr val="D26E3A"/>
                </a:solidFill>
                <a:effectLst/>
                <a:uFillTx/>
                <a:latin typeface="Calibri"/>
                <a:ea typeface="Calibri"/>
              </a:rPr>
              <a:t>- </a:t>
            </a:r>
            <a:r>
              <a:rPr lang="en-US" sz="8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Giamattei et al. Causality-driven Testing of Autonomous Driving Systems. ACM TOSEM 33(3), 2024.</a:t>
            </a:r>
            <a:endParaRPr lang="en-GB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9"/>
          <p:cNvSpPr/>
          <p:nvPr/>
        </p:nvSpPr>
        <p:spPr>
          <a:xfrm>
            <a:off x="548640" y="3173040"/>
            <a:ext cx="4023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2000"/>
              </a:lnSpc>
            </a:pPr>
            <a:r>
              <a:rPr lang="en-US" sz="800" b="1" u="none" strike="noStrike">
                <a:solidFill>
                  <a:srgbClr val="D26E3A"/>
                </a:solidFill>
                <a:effectLst/>
                <a:uFillTx/>
                <a:latin typeface="Calibri"/>
                <a:ea typeface="Calibri"/>
              </a:rPr>
              <a:t>- </a:t>
            </a:r>
            <a:r>
              <a:rPr lang="en-US" sz="8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Giamattei et al. Identifying Performance Issues in Microservices through Causal Reasoning. AST 2024.</a:t>
            </a:r>
            <a:endParaRPr lang="en-GB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10"/>
          <p:cNvSpPr/>
          <p:nvPr/>
        </p:nvSpPr>
        <p:spPr>
          <a:xfrm>
            <a:off x="548640" y="3465720"/>
            <a:ext cx="4023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2000"/>
              </a:lnSpc>
            </a:pPr>
            <a:r>
              <a:rPr lang="en-US" sz="800" b="1" u="none" strike="noStrike">
                <a:solidFill>
                  <a:srgbClr val="D26E3A"/>
                </a:solidFill>
                <a:effectLst/>
                <a:uFillTx/>
                <a:latin typeface="Calibri"/>
                <a:ea typeface="Calibri"/>
              </a:rPr>
              <a:t>- </a:t>
            </a:r>
            <a:r>
              <a:rPr lang="en-US" sz="8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Mascia et al. Microservices performance testing (causality-guided / LLM), 2025.</a:t>
            </a:r>
            <a:endParaRPr lang="en-GB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11"/>
          <p:cNvSpPr/>
          <p:nvPr/>
        </p:nvSpPr>
        <p:spPr>
          <a:xfrm>
            <a:off x="548640" y="3758040"/>
            <a:ext cx="4023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2000"/>
              </a:lnSpc>
            </a:pPr>
            <a:r>
              <a:rPr lang="en-US" sz="800" b="1" u="none" strike="noStrike">
                <a:solidFill>
                  <a:srgbClr val="D26E3A"/>
                </a:solidFill>
                <a:effectLst/>
                <a:uFillTx/>
                <a:latin typeface="Calibri"/>
                <a:ea typeface="Calibri"/>
              </a:rPr>
              <a:t>- </a:t>
            </a:r>
            <a:r>
              <a:rPr lang="en-US" sz="8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Clark et al. Metamorphic Testing with Causal Graphs. ICST 2023.</a:t>
            </a:r>
            <a:endParaRPr lang="en-GB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12"/>
          <p:cNvSpPr/>
          <p:nvPr/>
        </p:nvSpPr>
        <p:spPr>
          <a:xfrm>
            <a:off x="548640" y="3931920"/>
            <a:ext cx="4023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2000"/>
              </a:lnSpc>
            </a:pPr>
            <a:r>
              <a:rPr lang="en-US" sz="800" b="1" u="none" strike="noStrike">
                <a:solidFill>
                  <a:srgbClr val="D26E3A"/>
                </a:solidFill>
                <a:effectLst/>
                <a:uFillTx/>
                <a:latin typeface="Calibri"/>
                <a:ea typeface="Calibri"/>
              </a:rPr>
              <a:t>- </a:t>
            </a:r>
            <a:r>
              <a:rPr lang="en-US" sz="8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Foster et al. Causal inference for systems with hidden/interacting variables. EASE 2025.</a:t>
            </a:r>
            <a:endParaRPr lang="en-GB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13"/>
          <p:cNvSpPr/>
          <p:nvPr/>
        </p:nvSpPr>
        <p:spPr>
          <a:xfrm>
            <a:off x="4709160" y="1554480"/>
            <a:ext cx="39772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1" u="none" strike="noStrike">
                <a:solidFill>
                  <a:srgbClr val="0A5A62"/>
                </a:solidFill>
                <a:effectLst/>
                <a:uFillTx/>
                <a:latin typeface="Cambria"/>
                <a:ea typeface="Cambria"/>
              </a:rPr>
              <a:t>Fault localization &amp; RCA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14"/>
          <p:cNvSpPr/>
          <p:nvPr/>
        </p:nvSpPr>
        <p:spPr>
          <a:xfrm>
            <a:off x="4709160" y="1810440"/>
            <a:ext cx="4023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2000"/>
              </a:lnSpc>
            </a:pPr>
            <a:r>
              <a:rPr lang="en-US" sz="800" b="1" u="none" strike="noStrike">
                <a:solidFill>
                  <a:srgbClr val="D26E3A"/>
                </a:solidFill>
                <a:effectLst/>
                <a:uFillTx/>
                <a:latin typeface="Calibri"/>
                <a:ea typeface="Calibri"/>
              </a:rPr>
              <a:t>- </a:t>
            </a:r>
            <a:r>
              <a:rPr lang="en-US" sz="8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Johnson, Brun, Meliou. Causal testing: understanding defects' root causes. ICSE 2020.</a:t>
            </a:r>
            <a:endParaRPr lang="en-GB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15"/>
          <p:cNvSpPr/>
          <p:nvPr/>
        </p:nvSpPr>
        <p:spPr>
          <a:xfrm>
            <a:off x="4709160" y="2103120"/>
            <a:ext cx="4023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2000"/>
              </a:lnSpc>
            </a:pPr>
            <a:r>
              <a:rPr lang="en-US" sz="800" b="1" u="none" strike="noStrike">
                <a:solidFill>
                  <a:srgbClr val="D26E3A"/>
                </a:solidFill>
                <a:effectLst/>
                <a:uFillTx/>
                <a:latin typeface="Calibri"/>
                <a:ea typeface="Calibri"/>
              </a:rPr>
              <a:t>- </a:t>
            </a:r>
            <a:r>
              <a:rPr lang="en-US" sz="8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Wu, Tordsson, Elmroth, Kao. Causal Inference Techniques for Microservice Performance. 2021.</a:t>
            </a:r>
            <a:endParaRPr lang="en-GB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16"/>
          <p:cNvSpPr/>
          <p:nvPr/>
        </p:nvSpPr>
        <p:spPr>
          <a:xfrm>
            <a:off x="4709160" y="2395800"/>
            <a:ext cx="4023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2000"/>
              </a:lnSpc>
            </a:pPr>
            <a:r>
              <a:rPr lang="en-US" sz="800" b="1" u="none" strike="noStrike">
                <a:solidFill>
                  <a:srgbClr val="D26E3A"/>
                </a:solidFill>
                <a:effectLst/>
                <a:uFillTx/>
                <a:latin typeface="Calibri"/>
                <a:ea typeface="Calibri"/>
              </a:rPr>
              <a:t>- </a:t>
            </a:r>
            <a:r>
              <a:rPr lang="en-US" sz="8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PyWhy / DoWhy - GCM root-cause analysis example (pywhy.org).</a:t>
            </a:r>
            <a:endParaRPr lang="en-GB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17"/>
          <p:cNvSpPr/>
          <p:nvPr/>
        </p:nvSpPr>
        <p:spPr>
          <a:xfrm>
            <a:off x="4709160" y="2624400"/>
            <a:ext cx="39772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1" u="none" strike="noStrike">
                <a:solidFill>
                  <a:srgbClr val="0A5A62"/>
                </a:solidFill>
                <a:effectLst/>
                <a:uFillTx/>
                <a:latin typeface="Cambria"/>
                <a:ea typeface="Cambria"/>
              </a:rPr>
              <a:t>Requirements engineering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18"/>
          <p:cNvSpPr/>
          <p:nvPr/>
        </p:nvSpPr>
        <p:spPr>
          <a:xfrm>
            <a:off x="4709160" y="2880360"/>
            <a:ext cx="4023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2000"/>
              </a:lnSpc>
            </a:pPr>
            <a:r>
              <a:rPr lang="en-US" sz="800" b="1" u="none" strike="noStrike">
                <a:solidFill>
                  <a:srgbClr val="D26E3A"/>
                </a:solidFill>
                <a:effectLst/>
                <a:uFillTx/>
                <a:latin typeface="Calibri"/>
                <a:ea typeface="Calibri"/>
              </a:rPr>
              <a:t>- </a:t>
            </a:r>
            <a:r>
              <a:rPr lang="en-US" sz="8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Heyn et al. Causal models as a Requirements Engineering activity (arc-fault study).</a:t>
            </a:r>
            <a:endParaRPr lang="en-GB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19"/>
          <p:cNvSpPr/>
          <p:nvPr/>
        </p:nvSpPr>
        <p:spPr>
          <a:xfrm>
            <a:off x="4709160" y="3173040"/>
            <a:ext cx="4023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2000"/>
              </a:lnSpc>
            </a:pPr>
            <a:r>
              <a:rPr lang="en-US" sz="800" b="1" u="none" strike="noStrike">
                <a:solidFill>
                  <a:srgbClr val="D26E3A"/>
                </a:solidFill>
                <a:effectLst/>
                <a:uFillTx/>
                <a:latin typeface="Calibri"/>
                <a:ea typeface="Calibri"/>
              </a:rPr>
              <a:t>- </a:t>
            </a:r>
            <a:r>
              <a:rPr lang="en-US" sz="8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Ahmad et al. RE for AI systems: a systematic mapping. IST 158 (2023) 107176.</a:t>
            </a:r>
            <a:endParaRPr lang="en-GB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20"/>
          <p:cNvSpPr/>
          <p:nvPr/>
        </p:nvSpPr>
        <p:spPr>
          <a:xfrm>
            <a:off x="4709160" y="3465720"/>
            <a:ext cx="4023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2000"/>
              </a:lnSpc>
            </a:pPr>
            <a:r>
              <a:rPr lang="en-US" sz="800" b="1" u="none" strike="noStrike">
                <a:solidFill>
                  <a:srgbClr val="D26E3A"/>
                </a:solidFill>
                <a:effectLst/>
                <a:uFillTx/>
                <a:latin typeface="Calibri"/>
                <a:ea typeface="Calibri"/>
              </a:rPr>
              <a:t>- </a:t>
            </a:r>
            <a:r>
              <a:rPr lang="en-US" sz="8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D'Amour et al. Underspecification in modern ML. JMLR 23 (2022).</a:t>
            </a:r>
            <a:endParaRPr lang="en-GB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21"/>
          <p:cNvSpPr/>
          <p:nvPr/>
        </p:nvSpPr>
        <p:spPr>
          <a:xfrm>
            <a:off x="4709160" y="3639240"/>
            <a:ext cx="4023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2000"/>
              </a:lnSpc>
            </a:pPr>
            <a:r>
              <a:rPr lang="en-US" sz="800" b="1" u="none" strike="noStrike">
                <a:solidFill>
                  <a:srgbClr val="D26E3A"/>
                </a:solidFill>
                <a:effectLst/>
                <a:uFillTx/>
                <a:latin typeface="Calibri"/>
                <a:ea typeface="Calibri"/>
              </a:rPr>
              <a:t>- </a:t>
            </a:r>
            <a:r>
              <a:rPr lang="en-US" sz="8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Mitchell et al. Algorithmic fairness: choices, assumptions, definitions. 2021.</a:t>
            </a:r>
            <a:endParaRPr lang="en-GB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22"/>
          <p:cNvSpPr/>
          <p:nvPr/>
        </p:nvSpPr>
        <p:spPr>
          <a:xfrm>
            <a:off x="4709160" y="3986640"/>
            <a:ext cx="39772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1" u="none" strike="noStrike">
                <a:solidFill>
                  <a:srgbClr val="0A5A62"/>
                </a:solidFill>
                <a:effectLst/>
                <a:uFillTx/>
                <a:latin typeface="Cambria"/>
                <a:ea typeface="Cambria"/>
              </a:rPr>
              <a:t>Validity &amp; caveats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23"/>
          <p:cNvSpPr/>
          <p:nvPr/>
        </p:nvSpPr>
        <p:spPr>
          <a:xfrm>
            <a:off x="4709160" y="4242960"/>
            <a:ext cx="4023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2000"/>
              </a:lnSpc>
            </a:pPr>
            <a:r>
              <a:rPr lang="en-US" sz="800" b="1" u="none" strike="noStrike">
                <a:solidFill>
                  <a:srgbClr val="D26E3A"/>
                </a:solidFill>
                <a:effectLst/>
                <a:uFillTx/>
                <a:latin typeface="Calibri"/>
                <a:ea typeface="Calibri"/>
              </a:rPr>
              <a:t>- </a:t>
            </a:r>
            <a:r>
              <a:rPr lang="en-US" sz="8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Hulse, Eisty, Menzies. Shaky structures: causal graphs in software analytics. EMSE 30 (2025).</a:t>
            </a:r>
            <a:endParaRPr lang="en-GB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24"/>
          <p:cNvSpPr/>
          <p:nvPr/>
        </p:nvSpPr>
        <p:spPr>
          <a:xfrm>
            <a:off x="8046720" y="473652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44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3516120" y="2130120"/>
            <a:ext cx="2460240" cy="54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26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Back-up slides</a:t>
            </a:r>
            <a:endParaRPr lang="en-GB" sz="2600" b="1" u="none" strike="noStrike">
              <a:solidFill>
                <a:srgbClr val="1E3A5F"/>
              </a:solidFill>
              <a:effectLst/>
              <a:uFillTx/>
              <a:latin typeface="Cambria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 type="sldNum" idx="13"/>
          </p:nvPr>
        </p:nvSpPr>
        <p:spPr>
          <a:xfrm>
            <a:off x="6311880" y="4767120"/>
            <a:ext cx="2831760" cy="27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SE" sz="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7FAE83-4FC2-4538-AC10-41EAD6E8CEE2}" type="slidenum">
              <a:rPr lang="en-SE" sz="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Box 1"/>
          <p:cNvSpPr/>
          <p:nvPr/>
        </p:nvSpPr>
        <p:spPr>
          <a:xfrm>
            <a:off x="548640" y="868680"/>
            <a:ext cx="80463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950" b="1" u="none" spc="241" strike="noStrike">
                <a:solidFill>
                  <a:srgbClr val="0E7C86"/>
                </a:solidFill>
                <a:effectLst/>
                <a:uFillTx/>
                <a:latin typeface="Calibri"/>
                <a:ea typeface="Calibri"/>
              </a:rPr>
              <a:t>BACKUP · WHEN IS IT VALID?</a:t>
            </a:r>
            <a:endParaRPr lang="en-GB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2"/>
          <p:cNvSpPr/>
          <p:nvPr/>
        </p:nvSpPr>
        <p:spPr>
          <a:xfrm>
            <a:off x="548640" y="1124640"/>
            <a:ext cx="80463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4000"/>
              </a:lnSpc>
            </a:pPr>
            <a:r>
              <a:rPr lang="en-US" sz="22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Assumptions behind causal inference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3"/>
          <p:cNvSpPr/>
          <p:nvPr/>
        </p:nvSpPr>
        <p:spPr>
          <a:xfrm>
            <a:off x="548640" y="1463040"/>
            <a:ext cx="8046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6000"/>
              </a:lnSpc>
            </a:pPr>
            <a:r>
              <a:rPr lang="en-US" sz="105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Estimating an effect from observational data is not always possible. The standard assumptions: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Oval 4"/>
          <p:cNvSpPr/>
          <p:nvPr/>
        </p:nvSpPr>
        <p:spPr>
          <a:xfrm>
            <a:off x="548640" y="2048400"/>
            <a:ext cx="200880" cy="200880"/>
          </a:xfrm>
          <a:prstGeom prst="ellipse">
            <a:avLst/>
          </a:prstGeom>
          <a:solidFill>
            <a:srgbClr val="D26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56" name="TextBox 5"/>
          <p:cNvSpPr/>
          <p:nvPr/>
        </p:nvSpPr>
        <p:spPr>
          <a:xfrm>
            <a:off x="932760" y="1974960"/>
            <a:ext cx="7589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6000"/>
              </a:lnSpc>
            </a:pPr>
            <a:r>
              <a:rPr lang="en-US" sz="105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SUTVA  </a:t>
            </a:r>
            <a:r>
              <a:rPr lang="en-US" sz="95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- No interference between units; one version of each treatment. Often strained in distributed/coupled systems.</a:t>
            </a:r>
            <a:endParaRPr lang="en-GB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Oval 6"/>
          <p:cNvSpPr/>
          <p:nvPr/>
        </p:nvSpPr>
        <p:spPr>
          <a:xfrm>
            <a:off x="548640" y="2450520"/>
            <a:ext cx="200880" cy="200880"/>
          </a:xfrm>
          <a:prstGeom prst="ellipse">
            <a:avLst/>
          </a:prstGeom>
          <a:solidFill>
            <a:srgbClr val="0A5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58" name="TextBox 7"/>
          <p:cNvSpPr/>
          <p:nvPr/>
        </p:nvSpPr>
        <p:spPr>
          <a:xfrm>
            <a:off x="932760" y="2377440"/>
            <a:ext cx="7589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6000"/>
              </a:lnSpc>
            </a:pPr>
            <a:r>
              <a:rPr lang="en-US" sz="105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Unconfoundedness  </a:t>
            </a:r>
            <a:r>
              <a:rPr lang="en-US" sz="95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- All common causes of treatment &amp; outcome are observed (no hidden confounders).</a:t>
            </a:r>
            <a:endParaRPr lang="en-GB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Oval 8"/>
          <p:cNvSpPr/>
          <p:nvPr/>
        </p:nvSpPr>
        <p:spPr>
          <a:xfrm>
            <a:off x="548640" y="2853000"/>
            <a:ext cx="200880" cy="20088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60" name="TextBox 9"/>
          <p:cNvSpPr/>
          <p:nvPr/>
        </p:nvSpPr>
        <p:spPr>
          <a:xfrm>
            <a:off x="932760" y="2779920"/>
            <a:ext cx="7589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6000"/>
              </a:lnSpc>
            </a:pPr>
            <a:r>
              <a:rPr lang="en-US" sz="105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Positivity / overlap  </a:t>
            </a:r>
            <a:r>
              <a:rPr lang="en-US" sz="95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- Every unit has a non-zero chance of each treatment level - else effects are not estimable.</a:t>
            </a:r>
            <a:endParaRPr lang="en-GB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Oval 10"/>
          <p:cNvSpPr/>
          <p:nvPr/>
        </p:nvSpPr>
        <p:spPr>
          <a:xfrm>
            <a:off x="548640" y="3255120"/>
            <a:ext cx="200880" cy="200880"/>
          </a:xfrm>
          <a:prstGeom prst="ellipse">
            <a:avLst/>
          </a:prstGeom>
          <a:solidFill>
            <a:srgbClr val="4A9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62" name="TextBox 11"/>
          <p:cNvSpPr/>
          <p:nvPr/>
        </p:nvSpPr>
        <p:spPr>
          <a:xfrm>
            <a:off x="932760" y="3182040"/>
            <a:ext cx="7589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6000"/>
              </a:lnSpc>
            </a:pPr>
            <a:r>
              <a:rPr lang="en-US" sz="105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Correct specification  </a:t>
            </a:r>
            <a:r>
              <a:rPr lang="en-US" sz="95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- The DAG / structural form encodes the right relations; the effect must be identifiable (do-calculus).</a:t>
            </a:r>
            <a:endParaRPr lang="en-GB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Oval 12"/>
          <p:cNvSpPr/>
          <p:nvPr/>
        </p:nvSpPr>
        <p:spPr>
          <a:xfrm>
            <a:off x="548640" y="3657600"/>
            <a:ext cx="200880" cy="200880"/>
          </a:xfrm>
          <a:prstGeom prst="ellipse">
            <a:avLst/>
          </a:prstGeom>
          <a:solidFill>
            <a:srgbClr val="5966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64" name="TextBox 13"/>
          <p:cNvSpPr/>
          <p:nvPr/>
        </p:nvSpPr>
        <p:spPr>
          <a:xfrm>
            <a:off x="932760" y="3584520"/>
            <a:ext cx="7589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6000"/>
              </a:lnSpc>
            </a:pPr>
            <a:r>
              <a:rPr lang="en-US" sz="105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Consistency  </a:t>
            </a:r>
            <a:r>
              <a:rPr lang="en-US" sz="95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- Observed outcome under the received treatment equals the corresponding potential outcome.</a:t>
            </a:r>
            <a:endParaRPr lang="en-GB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Box 14"/>
          <p:cNvSpPr/>
          <p:nvPr/>
        </p:nvSpPr>
        <p:spPr>
          <a:xfrm>
            <a:off x="548640" y="3968640"/>
            <a:ext cx="80463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750" b="0" i="1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Pearl; Imbens &amp; Rubin; survey Causal reasoning in SQA (IST 178, 2025). When these break, prefer randomized/experimental data or report the failed assumption.</a:t>
            </a:r>
            <a:endParaRPr lang="en-GB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15"/>
          <p:cNvSpPr/>
          <p:nvPr/>
        </p:nvSpPr>
        <p:spPr>
          <a:xfrm>
            <a:off x="8046720" y="473652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46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Box 1"/>
          <p:cNvSpPr/>
          <p:nvPr/>
        </p:nvSpPr>
        <p:spPr>
          <a:xfrm>
            <a:off x="548640" y="868680"/>
            <a:ext cx="80463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950" b="1" u="none" spc="241" strike="noStrike">
                <a:solidFill>
                  <a:srgbClr val="0E7C86"/>
                </a:solidFill>
                <a:effectLst/>
                <a:uFillTx/>
                <a:latin typeface="Calibri"/>
                <a:ea typeface="Calibri"/>
              </a:rPr>
              <a:t>BACKUP · WHEN IS IT VALID?</a:t>
            </a:r>
            <a:endParaRPr lang="en-GB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2"/>
          <p:cNvSpPr/>
          <p:nvPr/>
        </p:nvSpPr>
        <p:spPr>
          <a:xfrm>
            <a:off x="548640" y="1124640"/>
            <a:ext cx="80463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4000"/>
              </a:lnSpc>
            </a:pPr>
            <a:r>
              <a:rPr lang="en-US" sz="22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Assumptions behind causal discovery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3"/>
          <p:cNvSpPr/>
          <p:nvPr/>
        </p:nvSpPr>
        <p:spPr>
          <a:xfrm>
            <a:off x="548640" y="1463040"/>
            <a:ext cx="8046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6000"/>
              </a:lnSpc>
            </a:pPr>
            <a:r>
              <a:rPr lang="en-US" sz="105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Learning a DAG from data rests on conditions linking statistical (in)dependence to graph structure: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Oval 4"/>
          <p:cNvSpPr/>
          <p:nvPr/>
        </p:nvSpPr>
        <p:spPr>
          <a:xfrm>
            <a:off x="548640" y="2048400"/>
            <a:ext cx="200880" cy="200880"/>
          </a:xfrm>
          <a:prstGeom prst="ellipse">
            <a:avLst/>
          </a:prstGeom>
          <a:solidFill>
            <a:srgbClr val="0A5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71" name="TextBox 5"/>
          <p:cNvSpPr/>
          <p:nvPr/>
        </p:nvSpPr>
        <p:spPr>
          <a:xfrm>
            <a:off x="932760" y="1974960"/>
            <a:ext cx="75891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8000"/>
              </a:lnSpc>
            </a:pPr>
            <a:r>
              <a:rPr lang="en-US" sz="105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Causal Markov  </a:t>
            </a:r>
            <a:r>
              <a:rPr lang="en-US" sz="95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- Each variable is independent of its non-descendants given its parents.</a:t>
            </a:r>
            <a:endParaRPr lang="en-GB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Oval 6"/>
          <p:cNvSpPr/>
          <p:nvPr/>
        </p:nvSpPr>
        <p:spPr>
          <a:xfrm>
            <a:off x="548640" y="2468880"/>
            <a:ext cx="200880" cy="20088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73" name="TextBox 7"/>
          <p:cNvSpPr/>
          <p:nvPr/>
        </p:nvSpPr>
        <p:spPr>
          <a:xfrm>
            <a:off x="932760" y="2395800"/>
            <a:ext cx="75891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8000"/>
              </a:lnSpc>
            </a:pPr>
            <a:r>
              <a:rPr lang="en-US" sz="105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Faithfulness  </a:t>
            </a:r>
            <a:r>
              <a:rPr lang="en-US" sz="95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- Every conditional independence in the data is entailed by d-separation in the DAG (no accidental cancellations).</a:t>
            </a:r>
            <a:endParaRPr lang="en-GB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Oval 8"/>
          <p:cNvSpPr/>
          <p:nvPr/>
        </p:nvSpPr>
        <p:spPr>
          <a:xfrm>
            <a:off x="548640" y="2889360"/>
            <a:ext cx="200880" cy="200880"/>
          </a:xfrm>
          <a:prstGeom prst="ellipse">
            <a:avLst/>
          </a:prstGeom>
          <a:solidFill>
            <a:srgbClr val="D26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75" name="TextBox 9"/>
          <p:cNvSpPr/>
          <p:nvPr/>
        </p:nvSpPr>
        <p:spPr>
          <a:xfrm>
            <a:off x="932760" y="2816280"/>
            <a:ext cx="75891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8000"/>
              </a:lnSpc>
            </a:pPr>
            <a:r>
              <a:rPr lang="en-US" sz="105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Causal sufficiency  </a:t>
            </a:r>
            <a:r>
              <a:rPr lang="en-US" sz="95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- No unobserved common causes - every shared cause of two observed variables is also observed.</a:t>
            </a:r>
            <a:endParaRPr lang="en-GB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Oval 10"/>
          <p:cNvSpPr/>
          <p:nvPr/>
        </p:nvSpPr>
        <p:spPr>
          <a:xfrm>
            <a:off x="548640" y="3310200"/>
            <a:ext cx="200880" cy="200880"/>
          </a:xfrm>
          <a:prstGeom prst="ellipse">
            <a:avLst/>
          </a:prstGeom>
          <a:solidFill>
            <a:srgbClr val="4A9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77" name="TextBox 11"/>
          <p:cNvSpPr/>
          <p:nvPr/>
        </p:nvSpPr>
        <p:spPr>
          <a:xfrm>
            <a:off x="932760" y="3237120"/>
            <a:ext cx="75891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8000"/>
              </a:lnSpc>
            </a:pPr>
            <a:r>
              <a:rPr lang="en-US" sz="105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Acyclicity &amp; i.i.d.  </a:t>
            </a:r>
            <a:r>
              <a:rPr lang="en-US" sz="95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- Relations form a DAG; samples are i.i.d. - strained by feedback loops &amp; non-stationary SE data.</a:t>
            </a:r>
            <a:endParaRPr lang="en-GB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Rounded Rectangle 12"/>
          <p:cNvSpPr/>
          <p:nvPr/>
        </p:nvSpPr>
        <p:spPr>
          <a:xfrm>
            <a:off x="548640" y="3749040"/>
            <a:ext cx="8046360" cy="411120"/>
          </a:xfrm>
          <a:prstGeom prst="roundRect">
            <a:avLst>
              <a:gd name="adj" fmla="val 6000"/>
            </a:avLst>
          </a:prstGeom>
          <a:solidFill>
            <a:srgbClr val="F8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38160" rIns="38160" bIns="38160" anchor="ctr">
            <a:noAutofit/>
          </a:bodyPr>
          <a:p>
            <a:pPr defTabSz="914400">
              <a:lnSpc>
                <a:spcPct val="110000"/>
              </a:lnSpc>
            </a:pPr>
            <a:r>
              <a:rPr lang="en-US" sz="95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Families differ:  </a:t>
            </a:r>
            <a:r>
              <a:rPr lang="en-US" sz="95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constraint-based (PC, FCI) need faithfulness; score-based (GES) relax it; FCM-based (LiNGAM) add parametric assumptions. Noisy, sparse SE data -&gt; unstable graphs -&gt; always refute.</a:t>
            </a:r>
            <a:endParaRPr lang="en-GB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13"/>
          <p:cNvSpPr/>
          <p:nvPr/>
        </p:nvSpPr>
        <p:spPr>
          <a:xfrm>
            <a:off x="548640" y="4242960"/>
            <a:ext cx="80463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750" b="0" i="1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Survey Causal reasoning in SQA (IST 178, 2025); Spirtes, Glymour &amp; Scheines.</a:t>
            </a:r>
            <a:endParaRPr lang="en-GB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14"/>
          <p:cNvSpPr/>
          <p:nvPr/>
        </p:nvSpPr>
        <p:spPr>
          <a:xfrm>
            <a:off x="8046720" y="473652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47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Anpassad formgivning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3241</TotalTime>
  <Application>LibreOffice/26.2.4.2$Linux_X86_64 LibreOffice_project/0229ac93fcf0d7cbc6376066c6f35021cef002dc</Application>
  <AppVersion>15.0000</AppVersion>
  <Words>1911</Words>
  <Paragraphs>150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2026-06-18T12:50:28Z</dcterms:created>
  <dc:creator>Tutorial authors</dc:creator>
  <dc:description/>
  <dc:language>en-GB</dc:language>
  <cp:lastModifiedBy/>
  <dcterms:modified xsi:type="dcterms:W3CDTF">2026-06-26T09:58:43Z</dcterms:modified>
  <cp:revision>77</cp:revision>
  <dc:subject>PptxGenJS Presentation</dc:subject>
  <dc:title>Introduction to Causal Inference for Software Engineering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d0b24d-6422-44b0-b3de-abb3a9e8c81a_ActionId">
    <vt:lpwstr>d0c7844b-61cd-484a-9383-48d0b5a8b258</vt:lpwstr>
  </property>
  <property fmtid="{D5CDD505-2E9C-101B-9397-08002B2CF9AE}" pid="3" name="MSIP_Label_2ad0b24d-6422-44b0-b3de-abb3a9e8c81a_ContentBits">
    <vt:lpwstr>0</vt:lpwstr>
  </property>
  <property fmtid="{D5CDD505-2E9C-101B-9397-08002B2CF9AE}" pid="4" name="MSIP_Label_2ad0b24d-6422-44b0-b3de-abb3a9e8c81a_Enabled">
    <vt:lpwstr>true</vt:lpwstr>
  </property>
  <property fmtid="{D5CDD505-2E9C-101B-9397-08002B2CF9AE}" pid="5" name="MSIP_Label_2ad0b24d-6422-44b0-b3de-abb3a9e8c81a_Method">
    <vt:lpwstr>Standard</vt:lpwstr>
  </property>
  <property fmtid="{D5CDD505-2E9C-101B-9397-08002B2CF9AE}" pid="6" name="MSIP_Label_2ad0b24d-6422-44b0-b3de-abb3a9e8c81a_Name">
    <vt:lpwstr>defa4170-0d19-0005-0004-bc88714345d2</vt:lpwstr>
  </property>
  <property fmtid="{D5CDD505-2E9C-101B-9397-08002B2CF9AE}" pid="7" name="MSIP_Label_2ad0b24d-6422-44b0-b3de-abb3a9e8c81a_SetDate">
    <vt:lpwstr>2026-06-23T06:46:10Z</vt:lpwstr>
  </property>
  <property fmtid="{D5CDD505-2E9C-101B-9397-08002B2CF9AE}" pid="8" name="MSIP_Label_2ad0b24d-6422-44b0-b3de-abb3a9e8c81a_SiteId">
    <vt:lpwstr>2fcfe26a-bb62-46b0-b1e3-28f9da0c45fd</vt:lpwstr>
  </property>
  <property fmtid="{D5CDD505-2E9C-101B-9397-08002B2CF9AE}" pid="9" name="MSIP_Label_2ad0b24d-6422-44b0-b3de-abb3a9e8c81a_Tag">
    <vt:lpwstr>50, 3, 0, 1</vt:lpwstr>
  </property>
  <property fmtid="{D5CDD505-2E9C-101B-9397-08002B2CF9AE}" pid="10" name="Notes">
    <vt:i4>9</vt:i4>
  </property>
  <property fmtid="{D5CDD505-2E9C-101B-9397-08002B2CF9AE}" pid="11" name="PresentationFormat">
    <vt:lpwstr>Presentazione su schermo (16:9)</vt:lpwstr>
  </property>
  <property fmtid="{D5CDD505-2E9C-101B-9397-08002B2CF9AE}" pid="12" name="Slides">
    <vt:i4>11</vt:i4>
  </property>
</Properties>
</file>