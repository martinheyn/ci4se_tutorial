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2" r:id="rId7"/>
    <p:sldId id="264" r:id="rId8"/>
    <p:sldId id="266" r:id="rId9"/>
    <p:sldId id="268" r:id="rId10"/>
  </p:sldIdLst>
  <p:sldSz cx="9144000" cy="5143500" type="screen16x9"/>
  <p:notesSz cx="5143500" cy="9144000"/>
  <p:defaultTextStyle>
    <a:defPPr>
      <a:defRPr lang="en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09" autoAdjust="0"/>
    <p:restoredTop sz="94660"/>
  </p:normalViewPr>
  <p:slideViewPr>
    <p:cSldViewPr snapToGrid="0">
      <p:cViewPr varScale="1">
        <p:scale>
          <a:sx n="88" d="100"/>
          <a:sy n="88" d="100"/>
        </p:scale>
        <p:origin x="122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defTabSz="914400">
              <a:lnSpc>
                <a:spcPct val="90000"/>
              </a:lnSpc>
            </a:pPr>
            <a:r>
              <a:rPr lang="en-GB" sz="2600" b="1" u="none" strike="noStrike">
                <a:solidFill>
                  <a:srgbClr val="1E3A5F"/>
                </a:solidFill>
                <a:effectLst/>
                <a:uFillTx/>
                <a:latin typeface="Cambria"/>
              </a:rPr>
              <a:t>Click to move the slide</a:t>
            </a: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notes' format</a:t>
            </a:r>
          </a:p>
        </p:txBody>
      </p:sp>
      <p:sp>
        <p:nvSpPr>
          <p:cNvPr id="4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</a:p>
        </p:txBody>
      </p:sp>
      <p:sp>
        <p:nvSpPr>
          <p:cNvPr id="47" name="PlaceHolder 4"/>
          <p:cNvSpPr>
            <a:spLocks noGrp="1"/>
          </p:cNvSpPr>
          <p:nvPr>
            <p:ph type="dt" idx="9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48" name="PlaceHolder 5"/>
          <p:cNvSpPr>
            <a:spLocks noGrp="1"/>
          </p:cNvSpPr>
          <p:nvPr>
            <p:ph type="ftr" idx="10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49" name="PlaceHolder 6"/>
          <p:cNvSpPr>
            <a:spLocks noGrp="1"/>
          </p:cNvSpPr>
          <p:nvPr>
            <p:ph type="sldNum" idx="11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15F3D301-6F12-4B14-A666-01FE1EAD88D3}" type="slidenum"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4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PlaceHolder 3"/>
          <p:cNvSpPr>
            <a:spLocks noGrp="1"/>
          </p:cNvSpPr>
          <p:nvPr>
            <p:ph type="sldNum" idx="3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A971C885-807B-4375-B494-73985A1CDAFA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GB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4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PlaceHolder 3"/>
          <p:cNvSpPr>
            <a:spLocks noGrp="1"/>
          </p:cNvSpPr>
          <p:nvPr>
            <p:ph type="sldNum" idx="3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7428FC9D-50AA-492D-A8D2-B341F97BB2DF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</a:t>
            </a:fld>
            <a:endParaRPr lang="en-GB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4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PlaceHolder 3"/>
          <p:cNvSpPr>
            <a:spLocks noGrp="1"/>
          </p:cNvSpPr>
          <p:nvPr>
            <p:ph type="sldNum" idx="3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GB" sz="1800" b="0" u="none" strike="noStrike">
              <a:solidFill>
                <a:schemeClr val="dk1"/>
              </a:solidFill>
              <a:effectLst/>
              <a:uFillTx/>
              <a:latin typeface="+mn-lt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5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PlaceHolder 3"/>
          <p:cNvSpPr>
            <a:spLocks noGrp="1"/>
          </p:cNvSpPr>
          <p:nvPr>
            <p:ph type="sldNum" idx="3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1AC57CFC-3DE3-433B-A8FC-C42792373C86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</a:t>
            </a:fld>
            <a:endParaRPr lang="en-GB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5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PlaceHolder 3"/>
          <p:cNvSpPr>
            <a:spLocks noGrp="1"/>
          </p:cNvSpPr>
          <p:nvPr>
            <p:ph type="sldNum" idx="3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GB" sz="1800" b="0" u="none" strike="noStrike">
              <a:solidFill>
                <a:schemeClr val="dk1"/>
              </a:solidFill>
              <a:effectLst/>
              <a:uFillTx/>
              <a:latin typeface="+mn-lt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5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PlaceHolder 3"/>
          <p:cNvSpPr>
            <a:spLocks noGrp="1"/>
          </p:cNvSpPr>
          <p:nvPr>
            <p:ph type="sldNum" idx="4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GB" sz="1800" b="0" u="none" strike="noStrike">
              <a:solidFill>
                <a:schemeClr val="dk1"/>
              </a:solidFill>
              <a:effectLst/>
              <a:uFillTx/>
              <a:latin typeface="+mn-lt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6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PlaceHolder 3"/>
          <p:cNvSpPr>
            <a:spLocks noGrp="1"/>
          </p:cNvSpPr>
          <p:nvPr>
            <p:ph type="sldNum" idx="4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GB" sz="1800" b="0" u="none" strike="noStrike">
              <a:solidFill>
                <a:schemeClr val="dk1"/>
              </a:solidFill>
              <a:effectLst/>
              <a:uFillTx/>
              <a:latin typeface="+mn-lt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7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PlaceHolder 3"/>
          <p:cNvSpPr>
            <a:spLocks noGrp="1"/>
          </p:cNvSpPr>
          <p:nvPr>
            <p:ph type="sldNum" idx="4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GB" sz="1800" b="0" u="none" strike="noStrike">
              <a:solidFill>
                <a:schemeClr val="dk1"/>
              </a:solidFill>
              <a:effectLst/>
              <a:uFillTx/>
              <a:latin typeface="+mn-lt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7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PlaceHolder 3"/>
          <p:cNvSpPr>
            <a:spLocks noGrp="1"/>
          </p:cNvSpPr>
          <p:nvPr>
            <p:ph type="sldNum" idx="4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GB" sz="1800" b="0" u="none" strike="noStrike">
              <a:solidFill>
                <a:schemeClr val="dk1"/>
              </a:solidFill>
              <a:effectLst/>
              <a:uFillTx/>
              <a:latin typeface="+mn-lt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Rubrik och innehål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raunhofer.png"/>
          <p:cNvPicPr/>
          <p:nvPr/>
        </p:nvPicPr>
        <p:blipFill>
          <a:blip r:embed="rId2"/>
          <a:stretch/>
        </p:blipFill>
        <p:spPr>
          <a:xfrm>
            <a:off x="679680" y="237600"/>
            <a:ext cx="1474560" cy="420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" name="Image 1" descr="chalmers.png"/>
          <p:cNvPicPr/>
          <p:nvPr/>
        </p:nvPicPr>
        <p:blipFill>
          <a:blip r:embed="rId3"/>
          <a:stretch/>
        </p:blipFill>
        <p:spPr>
          <a:xfrm>
            <a:off x="2843640" y="237600"/>
            <a:ext cx="1353600" cy="420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" name="Image 2" descr="goteborg.png"/>
          <p:cNvPicPr/>
          <p:nvPr/>
        </p:nvPicPr>
        <p:blipFill>
          <a:blip r:embed="rId4"/>
          <a:stretch/>
        </p:blipFill>
        <p:spPr>
          <a:xfrm>
            <a:off x="4881240" y="195840"/>
            <a:ext cx="1484280" cy="504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" name="Image 3" descr="napoli.png"/>
          <p:cNvPicPr/>
          <p:nvPr/>
        </p:nvPicPr>
        <p:blipFill>
          <a:blip r:embed="rId5"/>
          <a:stretch/>
        </p:blipFill>
        <p:spPr>
          <a:xfrm>
            <a:off x="7077960" y="237600"/>
            <a:ext cx="1297080" cy="42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" name="Text 2"/>
          <p:cNvSpPr/>
          <p:nvPr/>
        </p:nvSpPr>
        <p:spPr>
          <a:xfrm>
            <a:off x="365760" y="4736520"/>
            <a:ext cx="2057040" cy="304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A8794"/>
                </a:solidFill>
                <a:effectLst/>
                <a:uFillTx/>
                <a:latin typeface="Calibri"/>
                <a:ea typeface="Calibri"/>
              </a:rPr>
              <a:t>FSE 2026  ·  Montréal  ·  5–9 July 2026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1"/>
          <p:cNvSpPr>
            <a:spLocks noGrp="1"/>
          </p:cNvSpPr>
          <p:nvPr>
            <p:ph type="ftr" idx="1"/>
          </p:nvPr>
        </p:nvSpPr>
        <p:spPr>
          <a:xfrm>
            <a:off x="2981520" y="4767120"/>
            <a:ext cx="3085920" cy="27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8" name="PlaceHolder 2"/>
          <p:cNvSpPr>
            <a:spLocks noGrp="1"/>
          </p:cNvSpPr>
          <p:nvPr>
            <p:ph type="title"/>
          </p:nvPr>
        </p:nvSpPr>
        <p:spPr>
          <a:xfrm>
            <a:off x="286560" y="848520"/>
            <a:ext cx="8694720" cy="54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sv-SE" sz="2600" b="1" u="none" strike="noStrike">
                <a:solidFill>
                  <a:srgbClr val="1E3A5F"/>
                </a:solidFill>
                <a:effectLst/>
                <a:uFillTx/>
                <a:latin typeface="Cambria"/>
                <a:ea typeface="Cambria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sv-SE" sz="2600" b="1" u="none" strike="noStrike">
                <a:solidFill>
                  <a:srgbClr val="1E3A5F"/>
                </a:solidFill>
                <a:effectLst/>
                <a:uFillTx/>
                <a:latin typeface="Cambria"/>
                <a:ea typeface="Cambria"/>
              </a:rPr>
              <a:t>Klicka här för att ändra mall för rubrikformat</a:t>
            </a:r>
            <a:endParaRPr lang="en-GB" sz="2600" b="1" u="none" strike="noStrike">
              <a:solidFill>
                <a:srgbClr val="1E3A5F"/>
              </a:solidFill>
              <a:effectLst/>
              <a:uFillTx/>
              <a:latin typeface="Cambria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286560" y="1483200"/>
            <a:ext cx="8694720" cy="3178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sv-SE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sv-SE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sv-SE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sv-SE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sv-SE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sv-SE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Klicka här för att ändra format på bakgrundstexten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sv-SE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Nivå två</a:t>
            </a:r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sv-SE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Nivå tre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sv-SE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Nivå fyra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sv-SE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Nivå fem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sldNum" idx="2"/>
          </p:nvPr>
        </p:nvSpPr>
        <p:spPr>
          <a:xfrm>
            <a:off x="6150240" y="4767120"/>
            <a:ext cx="2831040" cy="27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GB" sz="9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FA4F3F2-A9B4-4A13-B7FB-F2C478E26730}" type="slidenum">
              <a:rPr lang="en-GB" sz="9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‹#›</a:t>
            </a:fld>
            <a:endParaRPr lang="en-GB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dast rubri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0" descr="fraunhofer.png"/>
          <p:cNvPicPr/>
          <p:nvPr/>
        </p:nvPicPr>
        <p:blipFill>
          <a:blip r:embed="rId2"/>
          <a:stretch/>
        </p:blipFill>
        <p:spPr>
          <a:xfrm>
            <a:off x="679680" y="237600"/>
            <a:ext cx="1474560" cy="420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" name="Image 1" descr="chalmers.png"/>
          <p:cNvPicPr/>
          <p:nvPr/>
        </p:nvPicPr>
        <p:blipFill>
          <a:blip r:embed="rId3"/>
          <a:stretch/>
        </p:blipFill>
        <p:spPr>
          <a:xfrm>
            <a:off x="2843640" y="237600"/>
            <a:ext cx="1353600" cy="420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" name="Image 2" descr="goteborg.png"/>
          <p:cNvPicPr/>
          <p:nvPr/>
        </p:nvPicPr>
        <p:blipFill>
          <a:blip r:embed="rId4"/>
          <a:stretch/>
        </p:blipFill>
        <p:spPr>
          <a:xfrm>
            <a:off x="4881240" y="195840"/>
            <a:ext cx="1484280" cy="504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" name="Image 3" descr="napoli.png"/>
          <p:cNvPicPr/>
          <p:nvPr/>
        </p:nvPicPr>
        <p:blipFill>
          <a:blip r:embed="rId5"/>
          <a:stretch/>
        </p:blipFill>
        <p:spPr>
          <a:xfrm>
            <a:off x="7077960" y="237600"/>
            <a:ext cx="1297080" cy="42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" name="Text 2"/>
          <p:cNvSpPr/>
          <p:nvPr/>
        </p:nvSpPr>
        <p:spPr>
          <a:xfrm>
            <a:off x="365760" y="4736520"/>
            <a:ext cx="2057040" cy="304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A8794"/>
                </a:solidFill>
                <a:effectLst/>
                <a:uFillTx/>
                <a:latin typeface="Calibri"/>
                <a:ea typeface="Calibri"/>
              </a:rPr>
              <a:t>FSE 2026  ·  Montréal  ·  5–9 July 2026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1"/>
          <p:cNvSpPr>
            <a:spLocks noGrp="1"/>
          </p:cNvSpPr>
          <p:nvPr>
            <p:ph type="ftr" idx="3"/>
          </p:nvPr>
        </p:nvSpPr>
        <p:spPr>
          <a:xfrm>
            <a:off x="2981520" y="4767120"/>
            <a:ext cx="3085920" cy="27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17" name="PlaceHolder 2"/>
          <p:cNvSpPr>
            <a:spLocks noGrp="1"/>
          </p:cNvSpPr>
          <p:nvPr>
            <p:ph type="title"/>
          </p:nvPr>
        </p:nvSpPr>
        <p:spPr>
          <a:xfrm>
            <a:off x="286560" y="848520"/>
            <a:ext cx="8694720" cy="54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sv-SE" sz="2600" b="1" u="none" strike="noStrike">
                <a:solidFill>
                  <a:srgbClr val="1E3A5F"/>
                </a:solidFill>
                <a:effectLst/>
                <a:uFillTx/>
                <a:latin typeface="Cambria"/>
                <a:ea typeface="Cambria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sv-SE" sz="2600" b="1" u="none" strike="noStrike">
                <a:solidFill>
                  <a:srgbClr val="1E3A5F"/>
                </a:solidFill>
                <a:effectLst/>
                <a:uFillTx/>
                <a:latin typeface="Cambria"/>
                <a:ea typeface="Cambria"/>
              </a:rPr>
              <a:t>Klicka här för att ändra mall för rubrikformat</a:t>
            </a:r>
            <a:endParaRPr lang="en-GB" sz="2600" b="1" u="none" strike="noStrike">
              <a:solidFill>
                <a:srgbClr val="1E3A5F"/>
              </a:solidFill>
              <a:effectLst/>
              <a:uFillTx/>
              <a:latin typeface="Cambria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sldNum" idx="4"/>
          </p:nvPr>
        </p:nvSpPr>
        <p:spPr>
          <a:xfrm>
            <a:off x="6150240" y="4767120"/>
            <a:ext cx="2831040" cy="27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GB" sz="9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962B2DA-FFC9-4377-A03C-81B1B3C10779}" type="slidenum">
              <a:rPr lang="en-GB" sz="9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‹#›</a:t>
            </a:fld>
            <a:endParaRPr lang="en-GB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vå dela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 0" descr="fraunhofer.png"/>
          <p:cNvPicPr/>
          <p:nvPr/>
        </p:nvPicPr>
        <p:blipFill>
          <a:blip r:embed="rId2"/>
          <a:stretch/>
        </p:blipFill>
        <p:spPr>
          <a:xfrm>
            <a:off x="679680" y="237600"/>
            <a:ext cx="1474560" cy="420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" name="Image 1" descr="chalmers.png"/>
          <p:cNvPicPr/>
          <p:nvPr/>
        </p:nvPicPr>
        <p:blipFill>
          <a:blip r:embed="rId3"/>
          <a:stretch/>
        </p:blipFill>
        <p:spPr>
          <a:xfrm>
            <a:off x="2843640" y="237600"/>
            <a:ext cx="1353600" cy="420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" name="Image 2" descr="goteborg.png"/>
          <p:cNvPicPr/>
          <p:nvPr/>
        </p:nvPicPr>
        <p:blipFill>
          <a:blip r:embed="rId4"/>
          <a:stretch/>
        </p:blipFill>
        <p:spPr>
          <a:xfrm>
            <a:off x="4881240" y="195840"/>
            <a:ext cx="1484280" cy="504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" name="Image 3" descr="napoli.png"/>
          <p:cNvPicPr/>
          <p:nvPr/>
        </p:nvPicPr>
        <p:blipFill>
          <a:blip r:embed="rId5"/>
          <a:stretch/>
        </p:blipFill>
        <p:spPr>
          <a:xfrm>
            <a:off x="7077960" y="237600"/>
            <a:ext cx="1297080" cy="42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" name="Text 2"/>
          <p:cNvSpPr/>
          <p:nvPr/>
        </p:nvSpPr>
        <p:spPr>
          <a:xfrm>
            <a:off x="365760" y="4736520"/>
            <a:ext cx="2057040" cy="304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A8794"/>
                </a:solidFill>
                <a:effectLst/>
                <a:uFillTx/>
                <a:latin typeface="Calibri"/>
                <a:ea typeface="Calibri"/>
              </a:rPr>
              <a:t>FSE 2026  ·  Montréal  ·  5–9 July 2026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1"/>
          <p:cNvSpPr>
            <a:spLocks noGrp="1"/>
          </p:cNvSpPr>
          <p:nvPr>
            <p:ph type="body"/>
          </p:nvPr>
        </p:nvSpPr>
        <p:spPr>
          <a:xfrm>
            <a:off x="286560" y="1524600"/>
            <a:ext cx="4285080" cy="3107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sv-SE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sv-SE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sv-SE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sv-SE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sv-SE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sv-SE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Klicka här för att ändra format på bakgrundstexten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sv-SE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Nivå två</a:t>
            </a:r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sv-SE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Nivå tre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sv-SE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Nivå fyra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sv-SE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Nivå fem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4648320" y="1524600"/>
            <a:ext cx="4332960" cy="3107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sv-SE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sv-SE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sv-SE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sv-SE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sv-SE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sv-SE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Klicka här för att ändra format på bakgrundstexten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sv-SE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Nivå två</a:t>
            </a:r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sv-SE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Nivå tre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sv-SE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Nivå fyra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sv-SE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Nivå fem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ftr" idx="5"/>
          </p:nvPr>
        </p:nvSpPr>
        <p:spPr>
          <a:xfrm>
            <a:off x="2981520" y="4767120"/>
            <a:ext cx="3085920" cy="27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28" name="PlaceHolder 4"/>
          <p:cNvSpPr>
            <a:spLocks noGrp="1"/>
          </p:cNvSpPr>
          <p:nvPr>
            <p:ph type="title"/>
          </p:nvPr>
        </p:nvSpPr>
        <p:spPr>
          <a:xfrm>
            <a:off x="286560" y="848520"/>
            <a:ext cx="8694720" cy="54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sv-SE" sz="2600" b="1" u="none" strike="noStrike">
                <a:solidFill>
                  <a:srgbClr val="1E3A5F"/>
                </a:solidFill>
                <a:effectLst/>
                <a:uFillTx/>
                <a:latin typeface="Cambria"/>
                <a:ea typeface="Cambria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sv-SE" sz="2600" b="1" u="none" strike="noStrike">
                <a:solidFill>
                  <a:srgbClr val="1E3A5F"/>
                </a:solidFill>
                <a:effectLst/>
                <a:uFillTx/>
                <a:latin typeface="Cambria"/>
                <a:ea typeface="Cambria"/>
              </a:rPr>
              <a:t>Klicka här för att ändra mall för rubrikformat</a:t>
            </a:r>
            <a:endParaRPr lang="en-GB" sz="2600" b="1" u="none" strike="noStrike">
              <a:solidFill>
                <a:srgbClr val="1E3A5F"/>
              </a:solidFill>
              <a:effectLst/>
              <a:uFillTx/>
              <a:latin typeface="Cambria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sldNum" idx="6"/>
          </p:nvPr>
        </p:nvSpPr>
        <p:spPr>
          <a:xfrm>
            <a:off x="6150240" y="4767120"/>
            <a:ext cx="2831040" cy="27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GB" sz="9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8357EFA-772E-4CFA-8595-185FA123DABA}" type="slidenum">
              <a:rPr lang="en-GB" sz="9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‹#›</a:t>
            </a:fld>
            <a:endParaRPr lang="en-GB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Rubrikbil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Image 0" descr="fraunhofer.png"/>
          <p:cNvPicPr/>
          <p:nvPr/>
        </p:nvPicPr>
        <p:blipFill>
          <a:blip r:embed="rId2"/>
          <a:stretch/>
        </p:blipFill>
        <p:spPr>
          <a:xfrm>
            <a:off x="679680" y="237600"/>
            <a:ext cx="1474560" cy="420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1" name="Image 1" descr="chalmers.png"/>
          <p:cNvPicPr/>
          <p:nvPr/>
        </p:nvPicPr>
        <p:blipFill>
          <a:blip r:embed="rId3"/>
          <a:stretch/>
        </p:blipFill>
        <p:spPr>
          <a:xfrm>
            <a:off x="2843640" y="237600"/>
            <a:ext cx="1353600" cy="420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" name="Image 2" descr="goteborg.png"/>
          <p:cNvPicPr/>
          <p:nvPr/>
        </p:nvPicPr>
        <p:blipFill>
          <a:blip r:embed="rId4"/>
          <a:stretch/>
        </p:blipFill>
        <p:spPr>
          <a:xfrm>
            <a:off x="4881240" y="195840"/>
            <a:ext cx="1484280" cy="504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3" name="Image 3" descr="napoli.png"/>
          <p:cNvPicPr/>
          <p:nvPr/>
        </p:nvPicPr>
        <p:blipFill>
          <a:blip r:embed="rId5"/>
          <a:stretch/>
        </p:blipFill>
        <p:spPr>
          <a:xfrm>
            <a:off x="7077960" y="237600"/>
            <a:ext cx="1297080" cy="42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" name="Text 2"/>
          <p:cNvSpPr/>
          <p:nvPr/>
        </p:nvSpPr>
        <p:spPr>
          <a:xfrm>
            <a:off x="365760" y="4736520"/>
            <a:ext cx="2057040" cy="304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A8794"/>
                </a:solidFill>
                <a:effectLst/>
                <a:uFillTx/>
                <a:latin typeface="Calibri"/>
                <a:ea typeface="Calibri"/>
              </a:rPr>
              <a:t>FSE 2026  ·  Montréal  ·  5–9 July 2026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1"/>
          <p:cNvSpPr>
            <a:spLocks noGrp="1"/>
          </p:cNvSpPr>
          <p:nvPr>
            <p:ph type="ftr" idx="7"/>
          </p:nvPr>
        </p:nvSpPr>
        <p:spPr>
          <a:xfrm>
            <a:off x="2981520" y="4767120"/>
            <a:ext cx="3085920" cy="27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6" name="PlaceHolder 2"/>
          <p:cNvSpPr>
            <a:spLocks noGrp="1"/>
          </p:cNvSpPr>
          <p:nvPr>
            <p:ph type="sldNum" idx="8"/>
          </p:nvPr>
        </p:nvSpPr>
        <p:spPr>
          <a:xfrm>
            <a:off x="6150240" y="4767120"/>
            <a:ext cx="2831040" cy="27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GB" sz="900" b="0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2AB5DB3-F8E6-459E-AA6F-734D08DDA566}" type="slidenum">
              <a:rPr lang="en-GB" sz="900" b="0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‹#›</a:t>
            </a:fld>
            <a:endParaRPr lang="en-GB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Image 0" descr="fraunhofer.png"/>
          <p:cNvPicPr/>
          <p:nvPr/>
        </p:nvPicPr>
        <p:blipFill>
          <a:blip r:embed="rId2"/>
          <a:stretch/>
        </p:blipFill>
        <p:spPr>
          <a:xfrm>
            <a:off x="679680" y="237600"/>
            <a:ext cx="1474560" cy="420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8" name="Image 1" descr="chalmers.png"/>
          <p:cNvPicPr/>
          <p:nvPr/>
        </p:nvPicPr>
        <p:blipFill>
          <a:blip r:embed="rId3"/>
          <a:stretch/>
        </p:blipFill>
        <p:spPr>
          <a:xfrm>
            <a:off x="2843640" y="237600"/>
            <a:ext cx="1353600" cy="420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9" name="Image 2" descr="goteborg.png"/>
          <p:cNvPicPr/>
          <p:nvPr/>
        </p:nvPicPr>
        <p:blipFill>
          <a:blip r:embed="rId4"/>
          <a:stretch/>
        </p:blipFill>
        <p:spPr>
          <a:xfrm>
            <a:off x="4881240" y="195840"/>
            <a:ext cx="1484280" cy="504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0" name="Image 3" descr="napoli.png"/>
          <p:cNvPicPr/>
          <p:nvPr/>
        </p:nvPicPr>
        <p:blipFill>
          <a:blip r:embed="rId5"/>
          <a:stretch/>
        </p:blipFill>
        <p:spPr>
          <a:xfrm>
            <a:off x="7077960" y="237600"/>
            <a:ext cx="1297080" cy="42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" name="Text 2"/>
          <p:cNvSpPr/>
          <p:nvPr/>
        </p:nvSpPr>
        <p:spPr>
          <a:xfrm>
            <a:off x="365760" y="4736520"/>
            <a:ext cx="2057040" cy="304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A8794"/>
                </a:solidFill>
                <a:effectLst/>
                <a:uFillTx/>
                <a:latin typeface="Calibri"/>
                <a:ea typeface="Calibri"/>
              </a:rPr>
              <a:t>FSE 2026  ·  Montréal  ·  5–9 July 2026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GB" sz="2600" b="1" u="none" strike="noStrike">
                <a:solidFill>
                  <a:srgbClr val="1E3A5F"/>
                </a:solidFill>
                <a:effectLst/>
                <a:uFillTx/>
                <a:latin typeface="Cambria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GB" sz="2600" b="1" u="none" strike="noStrike">
                <a:solidFill>
                  <a:srgbClr val="1E3A5F"/>
                </a:solidFill>
                <a:effectLst/>
                <a:uFillTx/>
                <a:latin typeface="Cambria"/>
              </a:rPr>
              <a:t>Click to edit the title text format</a:t>
            </a: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agitty.net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://dx.doi.org/10.1093/ije/dyw341" TargetMode="Externa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Image 0" descr="fraunhofer.png"/>
          <p:cNvPicPr/>
          <p:nvPr/>
        </p:nvPicPr>
        <p:blipFill>
          <a:blip r:embed="rId3"/>
          <a:stretch/>
        </p:blipFill>
        <p:spPr>
          <a:xfrm>
            <a:off x="679680" y="237600"/>
            <a:ext cx="1474560" cy="420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1" name="Image 1" descr="chalmers.png"/>
          <p:cNvPicPr/>
          <p:nvPr/>
        </p:nvPicPr>
        <p:blipFill>
          <a:blip r:embed="rId4"/>
          <a:stretch/>
        </p:blipFill>
        <p:spPr>
          <a:xfrm>
            <a:off x="2843640" y="237600"/>
            <a:ext cx="1353600" cy="420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2" name="Image 2" descr="goteborg.png"/>
          <p:cNvPicPr/>
          <p:nvPr/>
        </p:nvPicPr>
        <p:blipFill>
          <a:blip r:embed="rId5"/>
          <a:stretch/>
        </p:blipFill>
        <p:spPr>
          <a:xfrm>
            <a:off x="4881240" y="195840"/>
            <a:ext cx="1484280" cy="504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3" name="Image 3" descr="napoli.png"/>
          <p:cNvPicPr/>
          <p:nvPr/>
        </p:nvPicPr>
        <p:blipFill>
          <a:blip r:embed="rId6"/>
          <a:stretch/>
        </p:blipFill>
        <p:spPr>
          <a:xfrm>
            <a:off x="7077960" y="237600"/>
            <a:ext cx="1297080" cy="42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" name="Text 0"/>
          <p:cNvSpPr/>
          <p:nvPr/>
        </p:nvSpPr>
        <p:spPr>
          <a:xfrm>
            <a:off x="914400" y="1691640"/>
            <a:ext cx="7314840" cy="1371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1E3A5F"/>
                </a:solidFill>
                <a:effectLst/>
                <a:uFillTx/>
                <a:latin typeface="Cambria"/>
                <a:ea typeface="Cambria"/>
              </a:rPr>
              <a:t>Introduction to Causal Inference for Software Engineering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1"/>
          <p:cNvSpPr/>
          <p:nvPr/>
        </p:nvSpPr>
        <p:spPr>
          <a:xfrm>
            <a:off x="914400" y="306324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i="1" u="none" strike="noStrike">
                <a:solidFill>
                  <a:srgbClr val="7A8794"/>
                </a:solidFill>
                <a:effectLst/>
                <a:uFillTx/>
                <a:latin typeface="Calibri"/>
                <a:ea typeface="Calibri"/>
              </a:rPr>
              <a:t>A 90-minute hands-on tutorial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2"/>
          <p:cNvSpPr/>
          <p:nvPr/>
        </p:nvSpPr>
        <p:spPr>
          <a:xfrm>
            <a:off x="548640" y="3611880"/>
            <a:ext cx="80463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Julien Siebert  ·  Julian Frattini  ·  Hans-Martin Heyn  ·  Roberto Pietrantuono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4"/>
          <p:cNvSpPr/>
          <p:nvPr/>
        </p:nvSpPr>
        <p:spPr>
          <a:xfrm>
            <a:off x="3200400" y="473652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9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Image 0" descr="fraunhofer.png"/>
          <p:cNvPicPr/>
          <p:nvPr/>
        </p:nvPicPr>
        <p:blipFill>
          <a:blip r:embed="rId3"/>
          <a:stretch/>
        </p:blipFill>
        <p:spPr>
          <a:xfrm>
            <a:off x="679680" y="237600"/>
            <a:ext cx="1474560" cy="420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9" name="Image 1" descr="chalmers.png"/>
          <p:cNvPicPr/>
          <p:nvPr/>
        </p:nvPicPr>
        <p:blipFill>
          <a:blip r:embed="rId4"/>
          <a:stretch/>
        </p:blipFill>
        <p:spPr>
          <a:xfrm>
            <a:off x="2843640" y="237600"/>
            <a:ext cx="1353600" cy="420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0" name="Image 2" descr="goteborg.png"/>
          <p:cNvPicPr/>
          <p:nvPr/>
        </p:nvPicPr>
        <p:blipFill>
          <a:blip r:embed="rId5"/>
          <a:stretch/>
        </p:blipFill>
        <p:spPr>
          <a:xfrm>
            <a:off x="4881240" y="195840"/>
            <a:ext cx="1484280" cy="504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1" name="Image 3" descr="napoli.png"/>
          <p:cNvPicPr/>
          <p:nvPr/>
        </p:nvPicPr>
        <p:blipFill>
          <a:blip r:embed="rId6"/>
          <a:stretch/>
        </p:blipFill>
        <p:spPr>
          <a:xfrm>
            <a:off x="7077960" y="237600"/>
            <a:ext cx="1297080" cy="42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" name="Text 0"/>
          <p:cNvSpPr/>
          <p:nvPr/>
        </p:nvSpPr>
        <p:spPr>
          <a:xfrm>
            <a:off x="914400" y="187452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 spc="201" dirty="0">
                <a:solidFill>
                  <a:srgbClr val="7A8794"/>
                </a:solidFill>
                <a:effectLst/>
                <a:uFillTx/>
                <a:latin typeface="Calibri"/>
                <a:ea typeface="Calibri"/>
              </a:rPr>
              <a:t>Section 4</a:t>
            </a:r>
            <a:endParaRPr lang="en-GB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1"/>
          <p:cNvSpPr/>
          <p:nvPr/>
        </p:nvSpPr>
        <p:spPr>
          <a:xfrm>
            <a:off x="914400" y="2240280"/>
            <a:ext cx="731484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sv-SE" sz="3400" b="1" u="none" strike="noStrike">
                <a:solidFill>
                  <a:srgbClr val="1E3A5F"/>
                </a:solidFill>
                <a:effectLst/>
                <a:uFillTx/>
                <a:latin typeface="Cambria"/>
                <a:ea typeface="Cambria"/>
              </a:rPr>
              <a:t>Exercises: Identification, adjustment sets and conditional independence</a:t>
            </a:r>
            <a:endParaRPr lang="en-GB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3"/>
          <p:cNvSpPr/>
          <p:nvPr/>
        </p:nvSpPr>
        <p:spPr>
          <a:xfrm>
            <a:off x="3200400" y="473652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sv-SE" sz="900" b="0" u="none" strike="noStrike">
                <a:solidFill>
                  <a:srgbClr val="7A8794"/>
                </a:solidFill>
                <a:effectLst/>
                <a:uFillTx/>
                <a:latin typeface="Calibri"/>
                <a:ea typeface="Calibri"/>
              </a:rPr>
              <a:t>Exercises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tshållare för bildnummer 3"/>
          <p:cNvSpPr/>
          <p:nvPr/>
        </p:nvSpPr>
        <p:spPr>
          <a:xfrm>
            <a:off x="6150240" y="4767120"/>
            <a:ext cx="2831040" cy="27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 defTabSz="914400">
              <a:lnSpc>
                <a:spcPct val="100000"/>
              </a:lnSpc>
            </a:pPr>
            <a:fld id="{1B305834-788F-40BE-97C4-1EB055B84EA0}" type="slidenum">
              <a:rPr lang="en-GB" sz="900" b="0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2</a:t>
            </a:fld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ftr" idx="12"/>
          </p:nvPr>
        </p:nvSpPr>
        <p:spPr>
          <a:xfrm>
            <a:off x="2981520" y="4767120"/>
            <a:ext cx="3085920" cy="27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sv-SE" sz="9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sv-SE" sz="9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Calibri"/>
                <a:ea typeface="Calibri"/>
              </a:rPr>
              <a:t>Exercises in DAGitty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title"/>
          </p:nvPr>
        </p:nvSpPr>
        <p:spPr>
          <a:xfrm>
            <a:off x="286560" y="848520"/>
            <a:ext cx="8694720" cy="54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l" defTabSz="914400">
              <a:lnSpc>
                <a:spcPct val="90000"/>
              </a:lnSpc>
              <a:buNone/>
            </a:pPr>
            <a:r>
              <a:rPr lang="sv-SE" sz="2600" b="1" u="none" strike="noStrike">
                <a:solidFill>
                  <a:srgbClr val="1E3A5F"/>
                </a:solidFill>
                <a:effectLst/>
                <a:uFillTx/>
                <a:latin typeface="Cambria"/>
                <a:ea typeface="Cambria"/>
              </a:rPr>
              <a:t>A guides tour through DAGitty</a:t>
            </a:r>
            <a:endParaRPr lang="en-GB" sz="2600" b="1" u="none" strike="noStrike">
              <a:solidFill>
                <a:srgbClr val="1E3A5F"/>
              </a:solidFill>
              <a:effectLst/>
              <a:uFillTx/>
              <a:latin typeface="Cambria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/>
          </p:nvPr>
        </p:nvSpPr>
        <p:spPr>
          <a:xfrm>
            <a:off x="286560" y="1483200"/>
            <a:ext cx="4754160" cy="278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sv-SE" sz="20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DAGitty</a:t>
            </a:r>
            <a:r>
              <a:rPr lang="sv-SE" sz="20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is a browser-</a:t>
            </a:r>
            <a:r>
              <a:rPr lang="sv-SE" sz="20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based</a:t>
            </a:r>
            <a:r>
              <a:rPr lang="sv-SE" sz="20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sv-SE" sz="20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tool</a:t>
            </a:r>
            <a:r>
              <a:rPr lang="sv-SE" sz="20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to </a:t>
            </a:r>
            <a:r>
              <a:rPr lang="sv-SE" sz="20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create</a:t>
            </a:r>
            <a:r>
              <a:rPr lang="sv-SE" sz="20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and </a:t>
            </a:r>
            <a:r>
              <a:rPr lang="sv-SE" sz="20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analyse</a:t>
            </a:r>
            <a:r>
              <a:rPr lang="sv-SE" sz="20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DAGs</a:t>
            </a:r>
            <a:endParaRPr lang="en-GB" sz="20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sv-SE" sz="20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It </a:t>
            </a:r>
            <a:r>
              <a:rPr lang="sv-SE" sz="20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helps</a:t>
            </a:r>
            <a:r>
              <a:rPr lang="sv-SE" sz="20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sv-SE" sz="20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causal</a:t>
            </a:r>
            <a:r>
              <a:rPr lang="sv-SE" sz="20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sv-SE" sz="20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inference</a:t>
            </a:r>
            <a:r>
              <a:rPr lang="sv-SE" sz="20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by </a:t>
            </a:r>
            <a:r>
              <a:rPr lang="sv-SE" sz="20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automatically</a:t>
            </a:r>
            <a:r>
              <a:rPr lang="sv-SE" sz="20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sv-SE" sz="20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identifiying</a:t>
            </a:r>
            <a:r>
              <a:rPr lang="sv-SE" sz="20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sv-SE" sz="20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necessary</a:t>
            </a:r>
            <a:r>
              <a:rPr lang="sv-SE" sz="20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sv-SE" sz="20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adjustment</a:t>
            </a:r>
            <a:r>
              <a:rPr lang="sv-SE" sz="20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sets. </a:t>
            </a:r>
            <a:endParaRPr lang="en-GB" sz="20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sv-SE" sz="20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Based</a:t>
            </a:r>
            <a:r>
              <a:rPr lang="sv-SE" sz="20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on the </a:t>
            </a:r>
            <a:r>
              <a:rPr lang="sv-SE" sz="20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graphical</a:t>
            </a:r>
            <a:r>
              <a:rPr lang="sv-SE" sz="20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sv-SE" sz="20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causal</a:t>
            </a:r>
            <a:r>
              <a:rPr lang="sv-SE" sz="20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sv-SE" sz="20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model</a:t>
            </a:r>
            <a:r>
              <a:rPr lang="sv-SE" sz="20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, it </a:t>
            </a:r>
            <a:r>
              <a:rPr lang="sv-SE" sz="20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provides</a:t>
            </a:r>
            <a:r>
              <a:rPr lang="sv-SE" sz="20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sv-SE" sz="2000" b="1" i="1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conditional</a:t>
            </a:r>
            <a:r>
              <a:rPr lang="sv-SE" sz="2000" b="1" i="1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sv-SE" sz="2000" b="1" i="1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independence</a:t>
            </a:r>
            <a:r>
              <a:rPr lang="sv-SE" sz="2000" b="1" i="1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sv-SE" sz="2000" b="1" i="1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criteria</a:t>
            </a:r>
            <a:r>
              <a:rPr lang="sv-SE" sz="2000" b="1" i="1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sv-SE" sz="20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that</a:t>
            </a:r>
            <a:r>
              <a:rPr lang="sv-SE" sz="20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sv-SE" sz="20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can</a:t>
            </a:r>
            <a:r>
              <a:rPr lang="sv-SE" sz="20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be </a:t>
            </a:r>
            <a:r>
              <a:rPr lang="sv-SE" sz="20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used</a:t>
            </a:r>
            <a:r>
              <a:rPr lang="sv-SE" sz="20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to test </a:t>
            </a:r>
            <a:r>
              <a:rPr lang="sv-SE" sz="20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models</a:t>
            </a:r>
            <a:r>
              <a:rPr lang="sv-SE" sz="20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. </a:t>
            </a:r>
          </a:p>
          <a:p>
            <a:pPr marL="228600" indent="-228600"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sv-SE" sz="2000" b="0" dirty="0">
                <a:solidFill>
                  <a:schemeClr val="dk1"/>
                </a:solidFill>
                <a:latin typeface="Calibri"/>
                <a:ea typeface="Calibri"/>
              </a:rPr>
              <a:t>Access it </a:t>
            </a:r>
            <a:r>
              <a:rPr lang="sv-SE" sz="2000" b="0" dirty="0" err="1">
                <a:solidFill>
                  <a:schemeClr val="dk1"/>
                </a:solidFill>
                <a:latin typeface="Calibri"/>
                <a:ea typeface="Calibri"/>
              </a:rPr>
              <a:t>here</a:t>
            </a:r>
            <a:r>
              <a:rPr lang="sv-SE" sz="2000" b="0" dirty="0">
                <a:solidFill>
                  <a:schemeClr val="dk1"/>
                </a:solidFill>
                <a:latin typeface="Calibri"/>
                <a:ea typeface="Calibri"/>
              </a:rPr>
              <a:t>: </a:t>
            </a:r>
            <a:r>
              <a:rPr lang="en-US" sz="2000" b="0" u="sng" dirty="0">
                <a:solidFill>
                  <a:schemeClr val="dk1"/>
                </a:solidFill>
                <a:latin typeface="Calibri"/>
                <a:ea typeface="Calibri"/>
                <a:hlinkClick r:id="rId3"/>
              </a:rPr>
              <a:t>https://dagitty.net/</a:t>
            </a:r>
            <a:endParaRPr lang="en-GB" sz="2000" b="0" dirty="0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sldNum" idx="13"/>
          </p:nvPr>
        </p:nvSpPr>
        <p:spPr>
          <a:xfrm>
            <a:off x="6150240" y="4767120"/>
            <a:ext cx="2831040" cy="27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GB" sz="9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571A005-55B9-47F6-9A92-DC2E82FB1EB5}" type="slidenum">
              <a:rPr lang="en-GB" sz="9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3</a:t>
            </a:fld>
            <a:endParaRPr lang="en-GB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70" name="Bildobjekt 69"/>
          <p:cNvPicPr/>
          <p:nvPr/>
        </p:nvPicPr>
        <p:blipFill>
          <a:blip r:embed="rId4"/>
          <a:stretch/>
        </p:blipFill>
        <p:spPr>
          <a:xfrm>
            <a:off x="5207760" y="997920"/>
            <a:ext cx="3773520" cy="3436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" name="Rektangel 70"/>
          <p:cNvSpPr/>
          <p:nvPr/>
        </p:nvSpPr>
        <p:spPr>
          <a:xfrm>
            <a:off x="520200" y="4523040"/>
            <a:ext cx="8370360" cy="243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horzOverflow="overflow" numCol="1" spcCol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GB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Textor</a:t>
            </a:r>
            <a:r>
              <a:rPr lang="sv-SE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et al., </a:t>
            </a:r>
            <a:r>
              <a:rPr lang="sv-SE" sz="1000" b="0" u="sng" strike="noStrike">
                <a:solidFill>
                  <a:srgbClr val="467886"/>
                </a:solidFill>
                <a:effectLst/>
                <a:uFillTx/>
                <a:latin typeface="Times New Roman"/>
                <a:ea typeface="Times New Roman"/>
                <a:hlinkClick r:id="rId5"/>
              </a:rPr>
              <a:t>Robust causal inference using directed acyclic graphs: the R package 'dagitty'.</a:t>
            </a:r>
            <a:r>
              <a:rPr lang="sv-SE" sz="10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International Journal of Epidemiology</a:t>
            </a:r>
            <a:r>
              <a:rPr lang="sv-SE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45(6):1887-1894, 2016.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Image 0" descr="fraunhofer.png"/>
          <p:cNvPicPr/>
          <p:nvPr/>
        </p:nvPicPr>
        <p:blipFill>
          <a:blip r:embed="rId3"/>
          <a:stretch/>
        </p:blipFill>
        <p:spPr>
          <a:xfrm>
            <a:off x="679680" y="237600"/>
            <a:ext cx="1474560" cy="420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3" name="Image 1" descr="chalmers.png"/>
          <p:cNvPicPr/>
          <p:nvPr/>
        </p:nvPicPr>
        <p:blipFill>
          <a:blip r:embed="rId4"/>
          <a:stretch/>
        </p:blipFill>
        <p:spPr>
          <a:xfrm>
            <a:off x="2843640" y="237600"/>
            <a:ext cx="1353600" cy="420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4" name="Image 2" descr="goteborg.png"/>
          <p:cNvPicPr/>
          <p:nvPr/>
        </p:nvPicPr>
        <p:blipFill>
          <a:blip r:embed="rId5"/>
          <a:stretch/>
        </p:blipFill>
        <p:spPr>
          <a:xfrm>
            <a:off x="4881240" y="195840"/>
            <a:ext cx="1484280" cy="504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5" name="Image 3" descr="napoli.png"/>
          <p:cNvPicPr/>
          <p:nvPr/>
        </p:nvPicPr>
        <p:blipFill>
          <a:blip r:embed="rId6"/>
          <a:stretch/>
        </p:blipFill>
        <p:spPr>
          <a:xfrm>
            <a:off x="7077960" y="237600"/>
            <a:ext cx="1297080" cy="42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6" name="Text 1"/>
          <p:cNvSpPr/>
          <p:nvPr/>
        </p:nvSpPr>
        <p:spPr>
          <a:xfrm>
            <a:off x="914400" y="2240280"/>
            <a:ext cx="731484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sv-SE" sz="3400" b="1" u="none" strike="noStrike">
                <a:solidFill>
                  <a:srgbClr val="1E3A5F"/>
                </a:solidFill>
                <a:effectLst/>
                <a:uFillTx/>
                <a:latin typeface="Cambria"/>
                <a:ea typeface="Cambria"/>
              </a:rPr>
              <a:t>Live Demo</a:t>
            </a:r>
            <a:endParaRPr lang="en-GB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3"/>
          <p:cNvSpPr/>
          <p:nvPr/>
        </p:nvSpPr>
        <p:spPr>
          <a:xfrm>
            <a:off x="3200400" y="473652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sv-SE" sz="900" b="0" u="none" strike="noStrike">
                <a:solidFill>
                  <a:srgbClr val="7A8794"/>
                </a:solidFill>
                <a:effectLst/>
                <a:uFillTx/>
                <a:latin typeface="Calibri"/>
                <a:ea typeface="Calibri"/>
              </a:rPr>
              <a:t>Exercises in DAGitty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Platshållare för bildnummer 3"/>
          <p:cNvSpPr/>
          <p:nvPr/>
        </p:nvSpPr>
        <p:spPr>
          <a:xfrm>
            <a:off x="6150240" y="4767120"/>
            <a:ext cx="2831040" cy="27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 defTabSz="914400">
              <a:lnSpc>
                <a:spcPct val="100000"/>
              </a:lnSpc>
            </a:pPr>
            <a:fld id="{E3013668-459C-4473-9F48-6E32798C95C7}" type="slidenum">
              <a:rPr lang="en-GB" sz="900" b="0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4</a:t>
            </a:fld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ftr" idx="14"/>
          </p:nvPr>
        </p:nvSpPr>
        <p:spPr>
          <a:xfrm>
            <a:off x="2981520" y="4767120"/>
            <a:ext cx="3085920" cy="27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sv-SE" sz="900" b="0" u="none" strike="noStrike">
                <a:solidFill>
                  <a:srgbClr val="7A8794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sv-SE" sz="900" b="0" u="none" strike="noStrike">
                <a:solidFill>
                  <a:srgbClr val="7A8794"/>
                </a:solidFill>
                <a:effectLst/>
                <a:uFillTx/>
                <a:latin typeface="Calibri"/>
                <a:ea typeface="Calibri"/>
              </a:rPr>
              <a:t>Exercises in DAGitty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title"/>
          </p:nvPr>
        </p:nvSpPr>
        <p:spPr>
          <a:xfrm>
            <a:off x="286560" y="848520"/>
            <a:ext cx="8694720" cy="54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l" defTabSz="914400">
              <a:lnSpc>
                <a:spcPct val="90000"/>
              </a:lnSpc>
              <a:buNone/>
            </a:pPr>
            <a:r>
              <a:rPr lang="sv-SE" sz="2600" b="1" u="none" strike="noStrike">
                <a:solidFill>
                  <a:srgbClr val="1E3A5F"/>
                </a:solidFill>
                <a:effectLst/>
                <a:uFillTx/>
                <a:latin typeface="Cambria"/>
                <a:ea typeface="Cambria"/>
              </a:rPr>
              <a:t>Problem 1</a:t>
            </a:r>
            <a:endParaRPr lang="en-GB" sz="2600" b="1" u="none" strike="noStrike">
              <a:solidFill>
                <a:srgbClr val="1E3A5F"/>
              </a:solidFill>
              <a:effectLst/>
              <a:uFillTx/>
              <a:latin typeface="Cambri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286560" y="1483200"/>
            <a:ext cx="8694720" cy="86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sv-SE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Determine the </a:t>
            </a:r>
            <a:r>
              <a:rPr lang="sv-SE" sz="20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adjustment set</a:t>
            </a:r>
            <a:r>
              <a:rPr lang="sv-SE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of variables to block any backdoor causal path for the estimation of the direct effect of a on b. 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 type="sldNum" idx="15"/>
          </p:nvPr>
        </p:nvSpPr>
        <p:spPr>
          <a:xfrm>
            <a:off x="6150240" y="4767120"/>
            <a:ext cx="2831040" cy="27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GB" sz="9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6A3A97C-21E5-411A-AF76-38093C01D258}" type="slidenum">
              <a:rPr lang="en-GB" sz="9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5</a:t>
            </a:fld>
            <a:endParaRPr lang="en-GB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83" name="Straight Arrow Connector 5"/>
          <p:cNvCxnSpPr/>
          <p:nvPr/>
        </p:nvCxnSpPr>
        <p:spPr>
          <a:xfrm>
            <a:off x="1482840" y="4034520"/>
            <a:ext cx="1951920" cy="360"/>
          </a:xfrm>
          <a:prstGeom prst="straightConnector1">
            <a:avLst/>
          </a:prstGeom>
          <a:ln>
            <a:solidFill>
              <a:srgbClr val="000000"/>
            </a:solidFill>
            <a:tailEnd type="triangle" w="med" len="med"/>
          </a:ln>
        </p:spPr>
      </p:cxnSp>
      <p:sp>
        <p:nvSpPr>
          <p:cNvPr id="84" name="Oval 6"/>
          <p:cNvSpPr/>
          <p:nvPr/>
        </p:nvSpPr>
        <p:spPr>
          <a:xfrm>
            <a:off x="943200" y="3764520"/>
            <a:ext cx="539640" cy="539640"/>
          </a:xfrm>
          <a:prstGeom prst="ellipse">
            <a:avLst/>
          </a:prstGeom>
          <a:solidFill>
            <a:srgbClr val="F8766D"/>
          </a:solidFill>
          <a:ln>
            <a:solidFill>
              <a:srgbClr val="D018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  <a:ea typeface="Arial"/>
              </a:rPr>
              <a:t>a</a:t>
            </a:r>
            <a:endParaRPr lang="en-GB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Oval 7"/>
          <p:cNvSpPr/>
          <p:nvPr/>
        </p:nvSpPr>
        <p:spPr>
          <a:xfrm>
            <a:off x="3434400" y="3764520"/>
            <a:ext cx="539640" cy="539640"/>
          </a:xfrm>
          <a:prstGeom prst="ellipse">
            <a:avLst/>
          </a:prstGeom>
          <a:solidFill>
            <a:srgbClr val="00BFC4"/>
          </a:solidFill>
          <a:ln>
            <a:solidFill>
              <a:srgbClr val="006D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  <a:ea typeface="Arial"/>
              </a:rPr>
              <a:t>b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Oval 8"/>
          <p:cNvSpPr/>
          <p:nvPr/>
        </p:nvSpPr>
        <p:spPr>
          <a:xfrm>
            <a:off x="944280" y="2467800"/>
            <a:ext cx="539640" cy="53964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rgbClr val="FFFFFF">
                <a:lumMod val="5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  <a:ea typeface="Arial"/>
              </a:rPr>
              <a:t>c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Oval 9"/>
          <p:cNvSpPr/>
          <p:nvPr/>
        </p:nvSpPr>
        <p:spPr>
          <a:xfrm>
            <a:off x="2188800" y="2463120"/>
            <a:ext cx="539640" cy="53964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rgbClr val="FFFFFF">
                <a:lumMod val="5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  <a:ea typeface="Arial"/>
              </a:rPr>
              <a:t>d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8" name="Straight Arrow Connector 10"/>
          <p:cNvCxnSpPr/>
          <p:nvPr/>
        </p:nvCxnSpPr>
        <p:spPr>
          <a:xfrm flipV="1">
            <a:off x="1484280" y="2733120"/>
            <a:ext cx="704520" cy="4680"/>
          </a:xfrm>
          <a:prstGeom prst="straightConnector1">
            <a:avLst/>
          </a:prstGeom>
          <a:ln>
            <a:solidFill>
              <a:srgbClr val="000000"/>
            </a:solidFill>
            <a:tailEnd type="triangle" w="med" len="med"/>
          </a:ln>
        </p:spPr>
      </p:cxnSp>
      <p:cxnSp>
        <p:nvCxnSpPr>
          <p:cNvPr id="89" name="Straight Arrow Connector 11"/>
          <p:cNvCxnSpPr/>
          <p:nvPr/>
        </p:nvCxnSpPr>
        <p:spPr>
          <a:xfrm>
            <a:off x="2649600" y="2923920"/>
            <a:ext cx="864000" cy="919800"/>
          </a:xfrm>
          <a:prstGeom prst="straightConnector1">
            <a:avLst/>
          </a:prstGeom>
          <a:ln>
            <a:solidFill>
              <a:srgbClr val="000000"/>
            </a:solidFill>
            <a:tailEnd type="triangle" w="med" len="med"/>
          </a:ln>
        </p:spPr>
      </p:cxnSp>
      <p:cxnSp>
        <p:nvCxnSpPr>
          <p:cNvPr id="90" name="Straight Arrow Connector 12"/>
          <p:cNvCxnSpPr/>
          <p:nvPr/>
        </p:nvCxnSpPr>
        <p:spPr>
          <a:xfrm flipH="1">
            <a:off x="1212840" y="3007440"/>
            <a:ext cx="1800" cy="757440"/>
          </a:xfrm>
          <a:prstGeom prst="straightConnector1">
            <a:avLst/>
          </a:prstGeom>
          <a:ln>
            <a:solidFill>
              <a:srgbClr val="000000"/>
            </a:solidFill>
            <a:tailEnd type="triangle" w="med" len="med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ftr" idx="18"/>
          </p:nvPr>
        </p:nvSpPr>
        <p:spPr>
          <a:xfrm>
            <a:off x="2981520" y="4767120"/>
            <a:ext cx="3085920" cy="27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sv-SE" sz="900" b="0" u="none" strike="noStrike">
                <a:solidFill>
                  <a:srgbClr val="7A8794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sv-SE" sz="900" b="0" u="none" strike="noStrike">
                <a:solidFill>
                  <a:srgbClr val="7A8794"/>
                </a:solidFill>
                <a:effectLst/>
                <a:uFillTx/>
                <a:latin typeface="Calibri"/>
                <a:ea typeface="Calibri"/>
              </a:rPr>
              <a:t>Exercises in DAGitty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 type="title"/>
          </p:nvPr>
        </p:nvSpPr>
        <p:spPr>
          <a:xfrm>
            <a:off x="286560" y="848520"/>
            <a:ext cx="8694720" cy="54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l" defTabSz="914400">
              <a:lnSpc>
                <a:spcPct val="90000"/>
              </a:lnSpc>
              <a:buNone/>
            </a:pPr>
            <a:r>
              <a:rPr lang="sv-SE" sz="2600" b="1" u="none" strike="noStrike">
                <a:solidFill>
                  <a:srgbClr val="1E3A5F"/>
                </a:solidFill>
                <a:effectLst/>
                <a:uFillTx/>
                <a:latin typeface="Cambria"/>
                <a:ea typeface="Cambria"/>
              </a:rPr>
              <a:t>Problem 2</a:t>
            </a:r>
            <a:endParaRPr lang="en-GB" sz="2600" b="1" u="none" strike="noStrike">
              <a:solidFill>
                <a:srgbClr val="1E3A5F"/>
              </a:solidFill>
              <a:effectLst/>
              <a:uFillTx/>
              <a:latin typeface="Cambria"/>
            </a:endParaRPr>
          </a:p>
        </p:txBody>
      </p:sp>
      <p:sp>
        <p:nvSpPr>
          <p:cNvPr id="115" name="PlaceHolder 3"/>
          <p:cNvSpPr>
            <a:spLocks noGrp="1"/>
          </p:cNvSpPr>
          <p:nvPr>
            <p:ph/>
          </p:nvPr>
        </p:nvSpPr>
        <p:spPr>
          <a:xfrm>
            <a:off x="286560" y="1483200"/>
            <a:ext cx="8694720" cy="86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sv-SE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Determine the </a:t>
            </a:r>
            <a:r>
              <a:rPr lang="sv-SE" sz="20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adjustment set</a:t>
            </a:r>
            <a:r>
              <a:rPr lang="sv-SE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of variables to block any backdoor causal path for the estimation of the direct effect of a on b. 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6" name="PlaceHolder 4"/>
          <p:cNvSpPr>
            <a:spLocks noGrp="1"/>
          </p:cNvSpPr>
          <p:nvPr>
            <p:ph type="sldNum" idx="19"/>
          </p:nvPr>
        </p:nvSpPr>
        <p:spPr>
          <a:xfrm>
            <a:off x="6150240" y="4767120"/>
            <a:ext cx="2831040" cy="27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GB" sz="9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92F50B8-A55A-4191-81A1-0446FCB32B4E}" type="slidenum">
              <a:rPr lang="en-GB" sz="9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6</a:t>
            </a:fld>
            <a:endParaRPr lang="en-GB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117" name="Straight Arrow Connector 23"/>
          <p:cNvCxnSpPr/>
          <p:nvPr/>
        </p:nvCxnSpPr>
        <p:spPr>
          <a:xfrm>
            <a:off x="1346760" y="3943800"/>
            <a:ext cx="1951920" cy="360"/>
          </a:xfrm>
          <a:prstGeom prst="straightConnector1">
            <a:avLst/>
          </a:prstGeom>
          <a:ln>
            <a:solidFill>
              <a:srgbClr val="000000"/>
            </a:solidFill>
            <a:tailEnd type="triangle" w="med" len="med"/>
          </a:ln>
        </p:spPr>
      </p:cxnSp>
      <p:sp>
        <p:nvSpPr>
          <p:cNvPr id="118" name="Oval 24"/>
          <p:cNvSpPr/>
          <p:nvPr/>
        </p:nvSpPr>
        <p:spPr>
          <a:xfrm>
            <a:off x="807120" y="3674160"/>
            <a:ext cx="539640" cy="539640"/>
          </a:xfrm>
          <a:prstGeom prst="ellipse">
            <a:avLst/>
          </a:prstGeom>
          <a:solidFill>
            <a:srgbClr val="F8766D"/>
          </a:solidFill>
          <a:ln>
            <a:solidFill>
              <a:srgbClr val="D018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  <a:ea typeface="Arial"/>
              </a:rPr>
              <a:t>a</a:t>
            </a:r>
            <a:endParaRPr lang="en-GB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Oval 25"/>
          <p:cNvSpPr/>
          <p:nvPr/>
        </p:nvSpPr>
        <p:spPr>
          <a:xfrm>
            <a:off x="3298320" y="3674160"/>
            <a:ext cx="539640" cy="539640"/>
          </a:xfrm>
          <a:prstGeom prst="ellipse">
            <a:avLst/>
          </a:prstGeom>
          <a:solidFill>
            <a:srgbClr val="00BFC4"/>
          </a:solidFill>
          <a:ln>
            <a:solidFill>
              <a:srgbClr val="006D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  <a:ea typeface="Arial"/>
              </a:rPr>
              <a:t>b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Oval 26"/>
          <p:cNvSpPr/>
          <p:nvPr/>
        </p:nvSpPr>
        <p:spPr>
          <a:xfrm>
            <a:off x="808200" y="2377080"/>
            <a:ext cx="539640" cy="53964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rgbClr val="FFFFFF">
                <a:lumMod val="5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  <a:ea typeface="Arial"/>
              </a:rPr>
              <a:t>c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Oval 27"/>
          <p:cNvSpPr/>
          <p:nvPr/>
        </p:nvSpPr>
        <p:spPr>
          <a:xfrm>
            <a:off x="2052720" y="2793960"/>
            <a:ext cx="539640" cy="53964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rgbClr val="FFFFFF">
                <a:lumMod val="5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  <a:ea typeface="Arial"/>
              </a:rPr>
              <a:t>d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22" name="Straight Arrow Connector 28"/>
          <p:cNvCxnSpPr/>
          <p:nvPr/>
        </p:nvCxnSpPr>
        <p:spPr>
          <a:xfrm>
            <a:off x="1348200" y="2647080"/>
            <a:ext cx="704520" cy="417240"/>
          </a:xfrm>
          <a:prstGeom prst="straightConnector1">
            <a:avLst/>
          </a:prstGeom>
          <a:ln>
            <a:solidFill>
              <a:srgbClr val="000000"/>
            </a:solidFill>
            <a:tailEnd type="triangle" w="med" len="med"/>
          </a:ln>
        </p:spPr>
      </p:cxnSp>
      <p:cxnSp>
        <p:nvCxnSpPr>
          <p:cNvPr id="123" name="Straight Arrow Connector 29"/>
          <p:cNvCxnSpPr/>
          <p:nvPr/>
        </p:nvCxnSpPr>
        <p:spPr>
          <a:xfrm flipH="1">
            <a:off x="1076760" y="2917080"/>
            <a:ext cx="1800" cy="757080"/>
          </a:xfrm>
          <a:prstGeom prst="straightConnector1">
            <a:avLst/>
          </a:prstGeom>
          <a:ln>
            <a:solidFill>
              <a:srgbClr val="000000"/>
            </a:solidFill>
            <a:tailEnd type="triangle" w="med" len="med"/>
          </a:ln>
        </p:spPr>
      </p:cxnSp>
      <p:sp>
        <p:nvSpPr>
          <p:cNvPr id="124" name="Oval 30"/>
          <p:cNvSpPr/>
          <p:nvPr/>
        </p:nvSpPr>
        <p:spPr>
          <a:xfrm>
            <a:off x="3298320" y="2377080"/>
            <a:ext cx="539640" cy="53964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rgbClr val="FFFFFF">
                <a:lumMod val="5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  <a:ea typeface="Arial"/>
              </a:rPr>
              <a:t>e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25" name="Straight Arrow Connector 31"/>
          <p:cNvCxnSpPr/>
          <p:nvPr/>
        </p:nvCxnSpPr>
        <p:spPr>
          <a:xfrm flipH="1">
            <a:off x="2592360" y="2647080"/>
            <a:ext cx="706320" cy="417240"/>
          </a:xfrm>
          <a:prstGeom prst="straightConnector1">
            <a:avLst/>
          </a:prstGeom>
          <a:ln>
            <a:solidFill>
              <a:srgbClr val="000000"/>
            </a:solidFill>
            <a:tailEnd type="triangle" w="med" len="med"/>
          </a:ln>
        </p:spPr>
      </p:cxnSp>
      <p:cxnSp>
        <p:nvCxnSpPr>
          <p:cNvPr id="126" name="Straight Arrow Connector 32"/>
          <p:cNvCxnSpPr/>
          <p:nvPr/>
        </p:nvCxnSpPr>
        <p:spPr>
          <a:xfrm>
            <a:off x="3568320" y="2917080"/>
            <a:ext cx="360" cy="757080"/>
          </a:xfrm>
          <a:prstGeom prst="straightConnector1">
            <a:avLst/>
          </a:prstGeom>
          <a:ln>
            <a:solidFill>
              <a:srgbClr val="000000"/>
            </a:solidFill>
            <a:tailEnd type="triangle" w="med" len="med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ftr" idx="22"/>
          </p:nvPr>
        </p:nvSpPr>
        <p:spPr>
          <a:xfrm>
            <a:off x="2981520" y="4767120"/>
            <a:ext cx="3085920" cy="27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sv-SE" sz="900" b="0" u="none" strike="noStrike">
                <a:solidFill>
                  <a:srgbClr val="7A8794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sv-SE" sz="900" b="0" u="none" strike="noStrike">
                <a:solidFill>
                  <a:srgbClr val="7A8794"/>
                </a:solidFill>
                <a:effectLst/>
                <a:uFillTx/>
                <a:latin typeface="Calibri"/>
                <a:ea typeface="Calibri"/>
              </a:rPr>
              <a:t>Exercises in DAGitty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PlaceHolder 2"/>
          <p:cNvSpPr>
            <a:spLocks noGrp="1"/>
          </p:cNvSpPr>
          <p:nvPr>
            <p:ph type="title"/>
          </p:nvPr>
        </p:nvSpPr>
        <p:spPr>
          <a:xfrm>
            <a:off x="286560" y="848520"/>
            <a:ext cx="8694720" cy="54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l" defTabSz="914400">
              <a:lnSpc>
                <a:spcPct val="90000"/>
              </a:lnSpc>
              <a:buNone/>
            </a:pPr>
            <a:r>
              <a:rPr lang="sv-SE" sz="2600" b="1" u="none" strike="noStrike">
                <a:solidFill>
                  <a:srgbClr val="1E3A5F"/>
                </a:solidFill>
                <a:effectLst/>
                <a:uFillTx/>
                <a:latin typeface="Cambria"/>
                <a:ea typeface="Cambria"/>
              </a:rPr>
              <a:t>Problem 3</a:t>
            </a:r>
            <a:endParaRPr lang="en-GB" sz="2600" b="1" u="none" strike="noStrike">
              <a:solidFill>
                <a:srgbClr val="1E3A5F"/>
              </a:solidFill>
              <a:effectLst/>
              <a:uFillTx/>
              <a:latin typeface="Cambria"/>
            </a:endParaRPr>
          </a:p>
        </p:txBody>
      </p:sp>
      <p:sp>
        <p:nvSpPr>
          <p:cNvPr id="144" name="PlaceHolder 3"/>
          <p:cNvSpPr>
            <a:spLocks noGrp="1"/>
          </p:cNvSpPr>
          <p:nvPr>
            <p:ph/>
          </p:nvPr>
        </p:nvSpPr>
        <p:spPr>
          <a:xfrm>
            <a:off x="286560" y="1483200"/>
            <a:ext cx="8694720" cy="86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sv-SE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Determine the </a:t>
            </a:r>
            <a:r>
              <a:rPr lang="sv-SE" sz="20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adjustment set</a:t>
            </a:r>
            <a:r>
              <a:rPr lang="sv-SE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of variables to block any backdoor causal path for the estimation of the direct effect of a on b. 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5" name="PlaceHolder 4"/>
          <p:cNvSpPr>
            <a:spLocks noGrp="1"/>
          </p:cNvSpPr>
          <p:nvPr>
            <p:ph type="sldNum" idx="23"/>
          </p:nvPr>
        </p:nvSpPr>
        <p:spPr>
          <a:xfrm>
            <a:off x="6150240" y="4767120"/>
            <a:ext cx="2831040" cy="27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GB" sz="9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5BBE90C-0F2C-4F57-A569-87E27ABF4AB3}" type="slidenum">
              <a:rPr lang="en-GB" sz="9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7</a:t>
            </a:fld>
            <a:endParaRPr lang="en-GB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146" name="Straight Arrow Connector 23"/>
          <p:cNvCxnSpPr/>
          <p:nvPr/>
        </p:nvCxnSpPr>
        <p:spPr>
          <a:xfrm>
            <a:off x="1346760" y="3943800"/>
            <a:ext cx="1951920" cy="360"/>
          </a:xfrm>
          <a:prstGeom prst="straightConnector1">
            <a:avLst/>
          </a:prstGeom>
          <a:ln>
            <a:solidFill>
              <a:srgbClr val="000000"/>
            </a:solidFill>
            <a:tailEnd type="triangle" w="med" len="med"/>
          </a:ln>
        </p:spPr>
      </p:cxnSp>
      <p:sp>
        <p:nvSpPr>
          <p:cNvPr id="147" name="Oval 24"/>
          <p:cNvSpPr/>
          <p:nvPr/>
        </p:nvSpPr>
        <p:spPr>
          <a:xfrm>
            <a:off x="807120" y="3674160"/>
            <a:ext cx="539640" cy="539640"/>
          </a:xfrm>
          <a:prstGeom prst="ellipse">
            <a:avLst/>
          </a:prstGeom>
          <a:solidFill>
            <a:srgbClr val="F8766D"/>
          </a:solidFill>
          <a:ln>
            <a:solidFill>
              <a:srgbClr val="D018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  <a:ea typeface="Arial"/>
              </a:rPr>
              <a:t>a</a:t>
            </a:r>
            <a:endParaRPr lang="en-GB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Oval 25"/>
          <p:cNvSpPr/>
          <p:nvPr/>
        </p:nvSpPr>
        <p:spPr>
          <a:xfrm>
            <a:off x="3298320" y="3674160"/>
            <a:ext cx="539640" cy="539640"/>
          </a:xfrm>
          <a:prstGeom prst="ellipse">
            <a:avLst/>
          </a:prstGeom>
          <a:solidFill>
            <a:srgbClr val="00BFC4"/>
          </a:solidFill>
          <a:ln>
            <a:solidFill>
              <a:srgbClr val="006D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  <a:ea typeface="Arial"/>
              </a:rPr>
              <a:t>b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Oval 26"/>
          <p:cNvSpPr/>
          <p:nvPr/>
        </p:nvSpPr>
        <p:spPr>
          <a:xfrm>
            <a:off x="808200" y="2377080"/>
            <a:ext cx="539640" cy="53964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rgbClr val="FFFFFF">
                <a:lumMod val="5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  <a:ea typeface="Arial"/>
              </a:rPr>
              <a:t>c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Oval 27"/>
          <p:cNvSpPr/>
          <p:nvPr/>
        </p:nvSpPr>
        <p:spPr>
          <a:xfrm>
            <a:off x="2052720" y="2793960"/>
            <a:ext cx="539640" cy="53964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rgbClr val="FFFFFF">
                <a:lumMod val="5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  <a:ea typeface="Arial"/>
              </a:rPr>
              <a:t>d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51" name="Straight Arrow Connector 28"/>
          <p:cNvCxnSpPr/>
          <p:nvPr/>
        </p:nvCxnSpPr>
        <p:spPr>
          <a:xfrm>
            <a:off x="1348200" y="2647080"/>
            <a:ext cx="704520" cy="417240"/>
          </a:xfrm>
          <a:prstGeom prst="straightConnector1">
            <a:avLst/>
          </a:prstGeom>
          <a:ln>
            <a:solidFill>
              <a:srgbClr val="000000"/>
            </a:solidFill>
            <a:tailEnd type="triangle" w="med" len="med"/>
          </a:ln>
        </p:spPr>
      </p:cxnSp>
      <p:cxnSp>
        <p:nvCxnSpPr>
          <p:cNvPr id="152" name="Straight Arrow Connector 29"/>
          <p:cNvCxnSpPr/>
          <p:nvPr/>
        </p:nvCxnSpPr>
        <p:spPr>
          <a:xfrm flipH="1">
            <a:off x="1076760" y="2917080"/>
            <a:ext cx="1800" cy="757080"/>
          </a:xfrm>
          <a:prstGeom prst="straightConnector1">
            <a:avLst/>
          </a:prstGeom>
          <a:ln>
            <a:solidFill>
              <a:srgbClr val="000000"/>
            </a:solidFill>
            <a:tailEnd type="triangle" w="med" len="med"/>
          </a:ln>
        </p:spPr>
      </p:cxnSp>
      <p:sp>
        <p:nvSpPr>
          <p:cNvPr id="153" name="Oval 30"/>
          <p:cNvSpPr/>
          <p:nvPr/>
        </p:nvSpPr>
        <p:spPr>
          <a:xfrm>
            <a:off x="3298320" y="2377080"/>
            <a:ext cx="539640" cy="53964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rgbClr val="FFFFFF">
                <a:lumMod val="5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  <a:ea typeface="Arial"/>
              </a:rPr>
              <a:t>e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54" name="Straight Arrow Connector 31"/>
          <p:cNvCxnSpPr/>
          <p:nvPr/>
        </p:nvCxnSpPr>
        <p:spPr>
          <a:xfrm flipH="1">
            <a:off x="2592360" y="2647080"/>
            <a:ext cx="706320" cy="417240"/>
          </a:xfrm>
          <a:prstGeom prst="straightConnector1">
            <a:avLst/>
          </a:prstGeom>
          <a:ln>
            <a:solidFill>
              <a:srgbClr val="000000"/>
            </a:solidFill>
            <a:tailEnd type="triangle" w="med" len="med"/>
          </a:ln>
        </p:spPr>
      </p:cxnSp>
      <p:cxnSp>
        <p:nvCxnSpPr>
          <p:cNvPr id="155" name="Straight Arrow Connector 32"/>
          <p:cNvCxnSpPr/>
          <p:nvPr/>
        </p:nvCxnSpPr>
        <p:spPr>
          <a:xfrm>
            <a:off x="3568320" y="2917080"/>
            <a:ext cx="360" cy="757080"/>
          </a:xfrm>
          <a:prstGeom prst="straightConnector1">
            <a:avLst/>
          </a:prstGeom>
          <a:ln>
            <a:solidFill>
              <a:srgbClr val="000000"/>
            </a:solidFill>
            <a:tailEnd type="triangle" w="med" len="med"/>
          </a:ln>
        </p:spPr>
      </p:cxnSp>
      <p:cxnSp>
        <p:nvCxnSpPr>
          <p:cNvPr id="156" name="Straight Arrow Connector 5"/>
          <p:cNvCxnSpPr/>
          <p:nvPr/>
        </p:nvCxnSpPr>
        <p:spPr>
          <a:xfrm flipH="1">
            <a:off x="1267560" y="3242880"/>
            <a:ext cx="837360" cy="510480"/>
          </a:xfrm>
          <a:prstGeom prst="straightConnector1">
            <a:avLst/>
          </a:prstGeom>
          <a:ln>
            <a:solidFill>
              <a:srgbClr val="000000"/>
            </a:solidFill>
            <a:tailEnd type="triangle" w="med" len="med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ftr" idx="26"/>
          </p:nvPr>
        </p:nvSpPr>
        <p:spPr>
          <a:xfrm>
            <a:off x="2981520" y="4767120"/>
            <a:ext cx="3085920" cy="27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sv-SE" sz="900" b="0" u="none" strike="noStrike">
                <a:solidFill>
                  <a:srgbClr val="7A8794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sv-SE" sz="900" b="0" u="none" strike="noStrike">
                <a:solidFill>
                  <a:srgbClr val="7A8794"/>
                </a:solidFill>
                <a:effectLst/>
                <a:uFillTx/>
                <a:latin typeface="Calibri"/>
                <a:ea typeface="Calibri"/>
              </a:rPr>
              <a:t>Exercises in DAGitty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PlaceHolder 2"/>
          <p:cNvSpPr>
            <a:spLocks noGrp="1"/>
          </p:cNvSpPr>
          <p:nvPr>
            <p:ph type="title"/>
          </p:nvPr>
        </p:nvSpPr>
        <p:spPr>
          <a:xfrm>
            <a:off x="286560" y="848520"/>
            <a:ext cx="8694720" cy="54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l" defTabSz="914400">
              <a:lnSpc>
                <a:spcPct val="90000"/>
              </a:lnSpc>
              <a:buNone/>
            </a:pPr>
            <a:r>
              <a:rPr lang="sv-SE" sz="2600" b="1" u="none" strike="noStrike">
                <a:solidFill>
                  <a:srgbClr val="1E3A5F"/>
                </a:solidFill>
                <a:effectLst/>
                <a:uFillTx/>
                <a:latin typeface="Cambria"/>
                <a:ea typeface="Cambria"/>
              </a:rPr>
              <a:t>Problem 3 more interesting</a:t>
            </a:r>
            <a:endParaRPr lang="en-GB" sz="2600" b="1" u="none" strike="noStrike">
              <a:solidFill>
                <a:srgbClr val="1E3A5F"/>
              </a:solidFill>
              <a:effectLst/>
              <a:uFillTx/>
              <a:latin typeface="Cambria"/>
            </a:endParaRPr>
          </a:p>
        </p:txBody>
      </p:sp>
      <p:sp>
        <p:nvSpPr>
          <p:cNvPr id="175" name="PlaceHolder 3"/>
          <p:cNvSpPr>
            <a:spLocks noGrp="1"/>
          </p:cNvSpPr>
          <p:nvPr>
            <p:ph/>
          </p:nvPr>
        </p:nvSpPr>
        <p:spPr>
          <a:xfrm>
            <a:off x="286560" y="1483200"/>
            <a:ext cx="8694720" cy="86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sv-SE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Determine the </a:t>
            </a:r>
            <a:r>
              <a:rPr lang="sv-SE" sz="20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adjustment set</a:t>
            </a:r>
            <a:r>
              <a:rPr lang="sv-SE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of variables to block any backdoor causal path for the estimation of the direct effect of a on b. 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6" name="PlaceHolder 4"/>
          <p:cNvSpPr>
            <a:spLocks noGrp="1"/>
          </p:cNvSpPr>
          <p:nvPr>
            <p:ph type="sldNum" idx="27"/>
          </p:nvPr>
        </p:nvSpPr>
        <p:spPr>
          <a:xfrm>
            <a:off x="6150240" y="4767120"/>
            <a:ext cx="2831040" cy="27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GB" sz="9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E3E29AF-62A5-42AF-9CBD-677709FC4331}" type="slidenum">
              <a:rPr lang="en-GB" sz="9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8</a:t>
            </a:fld>
            <a:endParaRPr lang="en-GB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189" name="Straight Arrow Connector 6"/>
          <p:cNvCxnSpPr/>
          <p:nvPr/>
        </p:nvCxnSpPr>
        <p:spPr>
          <a:xfrm>
            <a:off x="5571720" y="3943800"/>
            <a:ext cx="1951560" cy="360"/>
          </a:xfrm>
          <a:prstGeom prst="straightConnector1">
            <a:avLst/>
          </a:prstGeom>
          <a:ln>
            <a:solidFill>
              <a:srgbClr val="000000"/>
            </a:solidFill>
            <a:tailEnd type="triangle" w="med" len="med"/>
          </a:ln>
        </p:spPr>
      </p:cxnSp>
      <p:sp>
        <p:nvSpPr>
          <p:cNvPr id="190" name="Oval 7"/>
          <p:cNvSpPr/>
          <p:nvPr/>
        </p:nvSpPr>
        <p:spPr>
          <a:xfrm>
            <a:off x="5031720" y="3674160"/>
            <a:ext cx="539640" cy="539640"/>
          </a:xfrm>
          <a:prstGeom prst="ellipse">
            <a:avLst/>
          </a:prstGeom>
          <a:solidFill>
            <a:srgbClr val="F8766D"/>
          </a:solidFill>
          <a:ln>
            <a:solidFill>
              <a:srgbClr val="D018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  <a:ea typeface="Arial"/>
              </a:rPr>
              <a:t>a</a:t>
            </a:r>
            <a:endParaRPr lang="en-GB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Oval 8"/>
          <p:cNvSpPr/>
          <p:nvPr/>
        </p:nvSpPr>
        <p:spPr>
          <a:xfrm>
            <a:off x="7523280" y="3674160"/>
            <a:ext cx="539640" cy="539640"/>
          </a:xfrm>
          <a:prstGeom prst="ellipse">
            <a:avLst/>
          </a:prstGeom>
          <a:solidFill>
            <a:srgbClr val="00BFC4"/>
          </a:solidFill>
          <a:ln>
            <a:solidFill>
              <a:srgbClr val="006D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  <a:ea typeface="Arial"/>
              </a:rPr>
              <a:t>b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Oval 9"/>
          <p:cNvSpPr/>
          <p:nvPr/>
        </p:nvSpPr>
        <p:spPr>
          <a:xfrm>
            <a:off x="5033160" y="2377080"/>
            <a:ext cx="539640" cy="53964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rgbClr val="FFFFFF">
                <a:lumMod val="5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  <a:ea typeface="Arial"/>
              </a:rPr>
              <a:t>c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Oval 10"/>
          <p:cNvSpPr/>
          <p:nvPr/>
        </p:nvSpPr>
        <p:spPr>
          <a:xfrm>
            <a:off x="6277680" y="2793960"/>
            <a:ext cx="539640" cy="53964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rgbClr val="FFFFFF">
                <a:lumMod val="5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  <a:ea typeface="Arial"/>
              </a:rPr>
              <a:t>d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94" name="Straight Arrow Connector 11"/>
          <p:cNvCxnSpPr/>
          <p:nvPr/>
        </p:nvCxnSpPr>
        <p:spPr>
          <a:xfrm>
            <a:off x="5573160" y="2647080"/>
            <a:ext cx="704520" cy="417240"/>
          </a:xfrm>
          <a:prstGeom prst="straightConnector1">
            <a:avLst/>
          </a:prstGeom>
          <a:ln>
            <a:solidFill>
              <a:srgbClr val="000000"/>
            </a:solidFill>
            <a:tailEnd type="triangle" w="med" len="med"/>
          </a:ln>
        </p:spPr>
      </p:cxnSp>
      <p:cxnSp>
        <p:nvCxnSpPr>
          <p:cNvPr id="195" name="Straight Arrow Connector 12"/>
          <p:cNvCxnSpPr/>
          <p:nvPr/>
        </p:nvCxnSpPr>
        <p:spPr>
          <a:xfrm flipH="1">
            <a:off x="5301720" y="2917080"/>
            <a:ext cx="1800" cy="757080"/>
          </a:xfrm>
          <a:prstGeom prst="straightConnector1">
            <a:avLst/>
          </a:prstGeom>
          <a:ln>
            <a:solidFill>
              <a:srgbClr val="000000"/>
            </a:solidFill>
            <a:tailEnd type="triangle" w="med" len="med"/>
          </a:ln>
        </p:spPr>
      </p:cxnSp>
      <p:sp>
        <p:nvSpPr>
          <p:cNvPr id="196" name="Oval 13"/>
          <p:cNvSpPr/>
          <p:nvPr/>
        </p:nvSpPr>
        <p:spPr>
          <a:xfrm>
            <a:off x="7523280" y="2377080"/>
            <a:ext cx="539640" cy="539640"/>
          </a:xfrm>
          <a:prstGeom prst="ellipse">
            <a:avLst/>
          </a:prstGeom>
          <a:solidFill>
            <a:schemeClr val="bg1"/>
          </a:solidFill>
          <a:ln>
            <a:solidFill>
              <a:srgbClr val="FFFFFF">
                <a:lumMod val="5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  <a:ea typeface="Arial"/>
              </a:rPr>
              <a:t>e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97" name="Straight Arrow Connector 14"/>
          <p:cNvCxnSpPr/>
          <p:nvPr/>
        </p:nvCxnSpPr>
        <p:spPr>
          <a:xfrm flipH="1">
            <a:off x="6817320" y="2647080"/>
            <a:ext cx="705960" cy="417240"/>
          </a:xfrm>
          <a:prstGeom prst="straightConnector1">
            <a:avLst/>
          </a:prstGeom>
          <a:ln>
            <a:solidFill>
              <a:srgbClr val="000000"/>
            </a:solidFill>
            <a:tailEnd type="triangle" w="med" len="med"/>
          </a:ln>
        </p:spPr>
      </p:cxnSp>
      <p:cxnSp>
        <p:nvCxnSpPr>
          <p:cNvPr id="198" name="Straight Arrow Connector 15"/>
          <p:cNvCxnSpPr/>
          <p:nvPr/>
        </p:nvCxnSpPr>
        <p:spPr>
          <a:xfrm>
            <a:off x="7792920" y="2917080"/>
            <a:ext cx="360" cy="757080"/>
          </a:xfrm>
          <a:prstGeom prst="straightConnector1">
            <a:avLst/>
          </a:prstGeom>
          <a:ln>
            <a:solidFill>
              <a:srgbClr val="000000"/>
            </a:solidFill>
            <a:tailEnd type="triangle" w="med" len="med"/>
          </a:ln>
        </p:spPr>
      </p:cxnSp>
      <p:cxnSp>
        <p:nvCxnSpPr>
          <p:cNvPr id="199" name="Straight Arrow Connector 16"/>
          <p:cNvCxnSpPr/>
          <p:nvPr/>
        </p:nvCxnSpPr>
        <p:spPr>
          <a:xfrm flipH="1">
            <a:off x="5492520" y="3242880"/>
            <a:ext cx="837360" cy="510480"/>
          </a:xfrm>
          <a:prstGeom prst="straightConnector1">
            <a:avLst/>
          </a:prstGeom>
          <a:ln>
            <a:solidFill>
              <a:srgbClr val="000000"/>
            </a:solidFill>
            <a:tailEnd type="triangle" w="med" len="med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PlaceHolder 1"/>
          <p:cNvSpPr>
            <a:spLocks noGrp="1"/>
          </p:cNvSpPr>
          <p:nvPr>
            <p:ph type="ftr" idx="30"/>
          </p:nvPr>
        </p:nvSpPr>
        <p:spPr>
          <a:xfrm>
            <a:off x="2981520" y="4767120"/>
            <a:ext cx="3085920" cy="27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sv-SE" sz="900" b="0" u="none" strike="noStrike">
                <a:solidFill>
                  <a:srgbClr val="7A8794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sv-SE" sz="900" b="0" u="none" strike="noStrike">
                <a:solidFill>
                  <a:srgbClr val="7A8794"/>
                </a:solidFill>
                <a:effectLst/>
                <a:uFillTx/>
                <a:latin typeface="Calibri"/>
                <a:ea typeface="Calibri"/>
              </a:rPr>
              <a:t>Exercises in DAGitty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PlaceHolder 2"/>
          <p:cNvSpPr>
            <a:spLocks noGrp="1"/>
          </p:cNvSpPr>
          <p:nvPr>
            <p:ph type="title"/>
          </p:nvPr>
        </p:nvSpPr>
        <p:spPr>
          <a:xfrm>
            <a:off x="286560" y="848520"/>
            <a:ext cx="8694720" cy="54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l" defTabSz="914400">
              <a:lnSpc>
                <a:spcPct val="90000"/>
              </a:lnSpc>
              <a:buNone/>
            </a:pPr>
            <a:r>
              <a:rPr lang="sv-SE" sz="2600" b="1" u="none" strike="noStrike">
                <a:solidFill>
                  <a:srgbClr val="1E3A5F"/>
                </a:solidFill>
                <a:effectLst/>
                <a:uFillTx/>
                <a:latin typeface="Cambria"/>
                <a:ea typeface="Cambria"/>
              </a:rPr>
              <a:t>Problem 4: Does an automated testing framework (X) reduce post-relase defects (Y)?</a:t>
            </a:r>
            <a:endParaRPr lang="en-GB" sz="2600" b="1" u="none" strike="noStrike">
              <a:solidFill>
                <a:srgbClr val="1E3A5F"/>
              </a:solidFill>
              <a:effectLst/>
              <a:uFillTx/>
              <a:latin typeface="Cambria"/>
            </a:endParaRPr>
          </a:p>
        </p:txBody>
      </p:sp>
      <p:sp>
        <p:nvSpPr>
          <p:cNvPr id="230" name="PlaceHolder 3"/>
          <p:cNvSpPr>
            <a:spLocks noGrp="1"/>
          </p:cNvSpPr>
          <p:nvPr>
            <p:ph type="sldNum" idx="31"/>
          </p:nvPr>
        </p:nvSpPr>
        <p:spPr>
          <a:xfrm>
            <a:off x="6150240" y="4767120"/>
            <a:ext cx="2831040" cy="27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GB" sz="9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3D2565C-FFAF-4364-BE04-796229AAE81A}" type="slidenum">
              <a:rPr lang="en-GB" sz="9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9</a:t>
            </a:fld>
            <a:endParaRPr lang="en-GB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Platshållare för text 2"/>
          <p:cNvSpPr/>
          <p:nvPr/>
        </p:nvSpPr>
        <p:spPr>
          <a:xfrm>
            <a:off x="286560" y="1483200"/>
            <a:ext cx="8694720" cy="3283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sv-SE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2" name="Rektangel 231"/>
          <p:cNvSpPr/>
          <p:nvPr/>
        </p:nvSpPr>
        <p:spPr>
          <a:xfrm>
            <a:off x="326520" y="1493280"/>
            <a:ext cx="4688280" cy="30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horzOverflow="overflow" numCol="1" spcCol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sv-SE" sz="16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 software </a:t>
            </a:r>
            <a:r>
              <a:rPr lang="sv-SE" sz="16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quality</a:t>
            </a:r>
            <a:r>
              <a:rPr lang="sv-SE" sz="16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team studies the </a:t>
            </a:r>
            <a:r>
              <a:rPr lang="sv-SE" sz="16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effect</a:t>
            </a:r>
            <a:r>
              <a:rPr lang="sv-SE" sz="16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of the  </a:t>
            </a:r>
            <a:r>
              <a:rPr lang="sv-SE" sz="16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introduction</a:t>
            </a:r>
            <a:r>
              <a:rPr lang="sv-SE" sz="16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of an </a:t>
            </a:r>
            <a:r>
              <a:rPr lang="sv-SE" sz="16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automated</a:t>
            </a:r>
            <a:r>
              <a:rPr lang="sv-SE" sz="16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sv-SE" sz="16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testing</a:t>
            </a:r>
            <a:r>
              <a:rPr lang="sv-SE" sz="16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sv-SE" sz="16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framework</a:t>
            </a:r>
            <a:r>
              <a:rPr lang="sv-SE" sz="16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on post-</a:t>
            </a:r>
            <a:r>
              <a:rPr lang="sv-SE" sz="16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relase</a:t>
            </a:r>
            <a:r>
              <a:rPr lang="sv-SE" sz="16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sv-SE" sz="16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defects</a:t>
            </a:r>
            <a:r>
              <a:rPr lang="sv-SE" sz="16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of a </a:t>
            </a:r>
            <a:r>
              <a:rPr lang="sv-SE" sz="16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large</a:t>
            </a:r>
            <a:r>
              <a:rPr lang="sv-SE" sz="16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system.  </a:t>
            </a:r>
            <a:r>
              <a:rPr lang="sv-SE" sz="16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They</a:t>
            </a:r>
            <a:r>
              <a:rPr lang="sv-SE" sz="16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sv-SE" sz="16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know</a:t>
            </a:r>
            <a:r>
              <a:rPr lang="sv-SE" sz="16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:</a:t>
            </a:r>
            <a:endParaRPr lang="en-GB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GB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1720" indent="-261720" defTabSz="914400">
              <a:lnSpc>
                <a:spcPct val="100000"/>
              </a:lnSpc>
              <a:buClr>
                <a:srgbClr val="000000"/>
              </a:buClr>
              <a:buFont typeface="Arial"/>
              <a:buAutoNum type="arabicPeriod"/>
            </a:pPr>
            <a:r>
              <a:rPr lang="sv-SE" sz="16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Experienced</a:t>
            </a:r>
            <a:r>
              <a:rPr lang="sv-SE" sz="16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sv-SE" sz="16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developers</a:t>
            </a:r>
            <a:r>
              <a:rPr lang="sv-SE" sz="16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sv-SE" sz="16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are</a:t>
            </a:r>
            <a:r>
              <a:rPr lang="sv-SE" sz="16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sv-SE" sz="16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more</a:t>
            </a:r>
            <a:r>
              <a:rPr lang="sv-SE" sz="16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sv-SE" sz="16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likely</a:t>
            </a:r>
            <a:r>
              <a:rPr lang="sv-SE" sz="16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to </a:t>
            </a:r>
            <a:r>
              <a:rPr lang="sv-SE" sz="16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adopt</a:t>
            </a:r>
            <a:r>
              <a:rPr lang="sv-SE" sz="16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the </a:t>
            </a:r>
            <a:r>
              <a:rPr lang="sv-SE" sz="16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framework</a:t>
            </a:r>
            <a:r>
              <a:rPr lang="sv-SE" sz="16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and to </a:t>
            </a:r>
            <a:r>
              <a:rPr lang="sv-SE" sz="16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write</a:t>
            </a:r>
            <a:r>
              <a:rPr lang="sv-SE" sz="16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less </a:t>
            </a:r>
            <a:r>
              <a:rPr lang="sv-SE" sz="16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defect-prone</a:t>
            </a:r>
            <a:r>
              <a:rPr lang="sv-SE" sz="16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sv-SE" sz="16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code</a:t>
            </a:r>
            <a:r>
              <a:rPr lang="sv-SE" sz="16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. </a:t>
            </a:r>
            <a:endParaRPr lang="en-GB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1720" indent="-261720" defTabSz="914400">
              <a:lnSpc>
                <a:spcPct val="100000"/>
              </a:lnSpc>
              <a:buClr>
                <a:srgbClr val="000000"/>
              </a:buClr>
              <a:buFont typeface="Arial"/>
              <a:buAutoNum type="arabicPeriod"/>
            </a:pPr>
            <a:r>
              <a:rPr lang="sv-SE" sz="16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The </a:t>
            </a:r>
            <a:r>
              <a:rPr lang="sv-SE" sz="16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framework</a:t>
            </a:r>
            <a:r>
              <a:rPr lang="sv-SE" sz="16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sv-SE" sz="16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lowers</a:t>
            </a:r>
            <a:r>
              <a:rPr lang="sv-SE" sz="16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sv-SE" sz="16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defects</a:t>
            </a:r>
            <a:r>
              <a:rPr lang="sv-SE" sz="16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sv-SE" sz="16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directly</a:t>
            </a:r>
            <a:r>
              <a:rPr lang="sv-SE" sz="16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, and </a:t>
            </a:r>
            <a:r>
              <a:rPr lang="sv-SE" sz="16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also</a:t>
            </a:r>
            <a:r>
              <a:rPr lang="sv-SE" sz="16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by </a:t>
            </a:r>
            <a:r>
              <a:rPr lang="sv-SE" sz="16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raising</a:t>
            </a:r>
            <a:r>
              <a:rPr lang="sv-SE" sz="16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test </a:t>
            </a:r>
            <a:r>
              <a:rPr lang="sv-SE" sz="16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coverage</a:t>
            </a:r>
            <a:r>
              <a:rPr lang="sv-SE" sz="16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. </a:t>
            </a:r>
            <a:endParaRPr lang="en-GB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1720" indent="-261720" defTabSz="914400">
              <a:lnSpc>
                <a:spcPct val="100000"/>
              </a:lnSpc>
              <a:buClr>
                <a:srgbClr val="000000"/>
              </a:buClr>
              <a:buFont typeface="Arial"/>
              <a:buAutoNum type="arabicPeriod"/>
            </a:pPr>
            <a:r>
              <a:rPr lang="sv-SE" sz="16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More</a:t>
            </a:r>
            <a:r>
              <a:rPr lang="sv-SE" sz="16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sv-SE" sz="16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complex</a:t>
            </a:r>
            <a:r>
              <a:rPr lang="sv-SE" sz="16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sv-SE" sz="16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modules</a:t>
            </a:r>
            <a:r>
              <a:rPr lang="sv-SE" sz="16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sv-SE" sz="16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tend</a:t>
            </a:r>
            <a:r>
              <a:rPr lang="sv-SE" sz="16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to </a:t>
            </a:r>
            <a:r>
              <a:rPr lang="sv-SE" sz="16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have</a:t>
            </a:r>
            <a:r>
              <a:rPr lang="sv-SE" sz="16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sv-SE" sz="16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more</a:t>
            </a:r>
            <a:r>
              <a:rPr lang="sv-SE" sz="16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post-release </a:t>
            </a:r>
            <a:r>
              <a:rPr lang="sv-SE" sz="16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defects</a:t>
            </a:r>
            <a:r>
              <a:rPr lang="sv-SE" sz="16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. </a:t>
            </a:r>
            <a:endParaRPr lang="en-GB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1720" indent="-261720" defTabSz="914400">
              <a:lnSpc>
                <a:spcPct val="100000"/>
              </a:lnSpc>
              <a:buClr>
                <a:srgbClr val="000000"/>
              </a:buClr>
              <a:buFont typeface="Arial"/>
              <a:buAutoNum type="arabicPeriod"/>
            </a:pPr>
            <a:r>
              <a:rPr lang="sv-SE" sz="16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Both</a:t>
            </a:r>
            <a:r>
              <a:rPr lang="sv-SE" sz="16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the </a:t>
            </a:r>
            <a:r>
              <a:rPr lang="sv-SE" sz="16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framework</a:t>
            </a:r>
            <a:r>
              <a:rPr lang="sv-SE" sz="16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and </a:t>
            </a:r>
            <a:r>
              <a:rPr lang="sv-SE" sz="16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module</a:t>
            </a:r>
            <a:r>
              <a:rPr lang="sv-SE" sz="16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sv-SE" sz="16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complexity</a:t>
            </a:r>
            <a:r>
              <a:rPr lang="sv-SE" sz="16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sv-SE" sz="16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raise</a:t>
            </a:r>
            <a:r>
              <a:rPr lang="sv-SE" sz="16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the </a:t>
            </a:r>
            <a:r>
              <a:rPr lang="sv-SE" sz="16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number</a:t>
            </a:r>
            <a:r>
              <a:rPr lang="sv-SE" sz="16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of </a:t>
            </a:r>
            <a:r>
              <a:rPr lang="sv-SE" sz="16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issues</a:t>
            </a:r>
            <a:r>
              <a:rPr lang="sv-SE" sz="16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sv-SE" sz="16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logged</a:t>
            </a:r>
            <a:r>
              <a:rPr lang="sv-SE" sz="16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. </a:t>
            </a:r>
            <a:endParaRPr lang="en-GB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Content Placeholder 3"/>
          <p:cNvSpPr/>
          <p:nvPr/>
        </p:nvSpPr>
        <p:spPr>
          <a:xfrm>
            <a:off x="5221800" y="1533420"/>
            <a:ext cx="3759480" cy="3120300"/>
          </a:xfrm>
          <a:prstGeom prst="rect">
            <a:avLst/>
          </a:prstGeom>
          <a:noFill/>
          <a:ln w="0">
            <a:solidFill>
              <a:srgbClr val="000000">
                <a:lumMod val="50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90000"/>
              </a:lnSpc>
              <a:spcBef>
                <a:spcPts val="998"/>
              </a:spcBef>
              <a:tabLst>
                <a:tab pos="0" algn="l"/>
              </a:tabLst>
            </a:pPr>
            <a:r>
              <a:rPr lang="en-US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Draw a DAG including the variables: Autom. Testing, </a:t>
            </a:r>
            <a:r>
              <a:rPr lang="en-US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Post-Release Defects, </a:t>
            </a:r>
            <a:r>
              <a:rPr lang="en-US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Developer Experience, </a:t>
            </a:r>
            <a:r>
              <a:rPr lang="en-US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Test Coverage, Logged Issues, Code Complexity.</a:t>
            </a:r>
            <a:endParaRPr lang="en-GB" b="0" u="none" strike="noStrike" dirty="0">
              <a:solidFill>
                <a:srgbClr val="000000"/>
              </a:solidFill>
              <a:effectLst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defTabSz="914400">
              <a:lnSpc>
                <a:spcPct val="90000"/>
              </a:lnSpc>
              <a:spcBef>
                <a:spcPts val="998"/>
              </a:spcBef>
              <a:tabLst>
                <a:tab pos="0" algn="l"/>
              </a:tabLst>
            </a:pPr>
            <a:r>
              <a:rPr lang="en-US" sz="16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Identify</a:t>
            </a:r>
            <a:r>
              <a:rPr lang="sv-SE" sz="16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endParaRPr lang="en-GB" sz="1600" b="0" u="none" strike="noStrike" dirty="0">
              <a:solidFill>
                <a:srgbClr val="000000"/>
              </a:solidFill>
              <a:effectLst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3080" indent="-343080" defTabSz="914400">
              <a:lnSpc>
                <a:spcPct val="90000"/>
              </a:lnSpc>
              <a:spcBef>
                <a:spcPts val="998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sv-SE" sz="1600" b="0" u="none" strike="noStrike" dirty="0" err="1">
                <a:solidFill>
                  <a:schemeClr val="dk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Which</a:t>
            </a:r>
            <a:r>
              <a:rPr lang="sv-SE" sz="16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sv-SE" sz="1600" b="0" u="none" strike="noStrike" dirty="0" err="1">
                <a:solidFill>
                  <a:schemeClr val="dk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variables</a:t>
            </a:r>
            <a:r>
              <a:rPr lang="sv-SE" sz="16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sv-SE" sz="1600" b="0" u="none" strike="noStrike" dirty="0" err="1">
                <a:solidFill>
                  <a:schemeClr val="dk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are</a:t>
            </a:r>
            <a:r>
              <a:rPr lang="sv-SE" sz="16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sv-SE" sz="1600" b="0" u="none" strike="noStrike" dirty="0" err="1">
                <a:solidFill>
                  <a:schemeClr val="dk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confounders</a:t>
            </a:r>
            <a:r>
              <a:rPr lang="sv-SE" sz="16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</a:t>
            </a:r>
            <a:endParaRPr lang="en-GB" sz="1600" b="0" u="none" strike="noStrike" dirty="0">
              <a:solidFill>
                <a:srgbClr val="000000"/>
              </a:solidFill>
              <a:effectLst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3080" indent="-343080" defTabSz="914400">
              <a:lnSpc>
                <a:spcPct val="90000"/>
              </a:lnSpc>
              <a:spcBef>
                <a:spcPts val="998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sv-SE" sz="1600" b="0" u="none" strike="noStrike" dirty="0" err="1">
                <a:solidFill>
                  <a:schemeClr val="dk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Which</a:t>
            </a:r>
            <a:r>
              <a:rPr lang="sv-SE" sz="16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sv-SE" sz="1600" b="0" u="none" strike="noStrike" dirty="0" err="1">
                <a:solidFill>
                  <a:schemeClr val="dk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are</a:t>
            </a:r>
            <a:r>
              <a:rPr lang="sv-SE" sz="16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sv-SE" sz="1600" b="0" u="none" strike="noStrike" dirty="0" err="1">
                <a:solidFill>
                  <a:schemeClr val="dk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mediators</a:t>
            </a:r>
            <a:r>
              <a:rPr lang="sv-SE" sz="16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</a:t>
            </a:r>
            <a:endParaRPr lang="en-GB" sz="1600" b="0" u="none" strike="noStrike" dirty="0">
              <a:solidFill>
                <a:srgbClr val="000000"/>
              </a:solidFill>
              <a:effectLst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3080" indent="-343080" defTabSz="914400">
              <a:lnSpc>
                <a:spcPct val="90000"/>
              </a:lnSpc>
              <a:spcBef>
                <a:spcPts val="998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sv-SE" sz="16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the minimal </a:t>
            </a:r>
            <a:r>
              <a:rPr lang="sv-SE" sz="1600" b="0" u="none" strike="noStrike" dirty="0" err="1">
                <a:solidFill>
                  <a:schemeClr val="dk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adjustment</a:t>
            </a:r>
            <a:r>
              <a:rPr lang="sv-SE" sz="16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set to </a:t>
            </a:r>
            <a:r>
              <a:rPr lang="sv-SE" sz="1600" b="0" u="none" strike="noStrike" dirty="0" err="1">
                <a:solidFill>
                  <a:schemeClr val="dk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estimate</a:t>
            </a:r>
            <a:r>
              <a:rPr lang="sv-SE" sz="16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sv-SE" sz="1600" b="1" u="none" strike="noStrike" dirty="0">
                <a:solidFill>
                  <a:schemeClr val="dk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sv-SE" sz="1600" b="1" u="none" strike="noStrike" dirty="0" err="1">
                <a:solidFill>
                  <a:schemeClr val="dk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direct</a:t>
            </a:r>
            <a:r>
              <a:rPr lang="sv-SE" sz="1600" b="1" u="none" strike="noStrike" dirty="0">
                <a:solidFill>
                  <a:schemeClr val="dk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total </a:t>
            </a:r>
            <a:r>
              <a:rPr lang="sv-SE" sz="1600" b="1" u="none" strike="noStrike" dirty="0" err="1">
                <a:solidFill>
                  <a:schemeClr val="dk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effect</a:t>
            </a:r>
            <a:r>
              <a:rPr lang="sv-SE" sz="1600" b="1" u="none" strike="noStrike" dirty="0">
                <a:solidFill>
                  <a:schemeClr val="dk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sv-SE" sz="16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 </a:t>
            </a:r>
            <a:r>
              <a:rPr lang="sv-SE" sz="1600" b="0" u="none" strike="noStrike" dirty="0" err="1">
                <a:solidFill>
                  <a:schemeClr val="dk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automated</a:t>
            </a:r>
            <a:r>
              <a:rPr lang="sv-SE" sz="16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sv-SE" sz="1600" b="0" u="none" strike="noStrike" dirty="0" err="1">
                <a:solidFill>
                  <a:schemeClr val="dk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testing</a:t>
            </a:r>
            <a:r>
              <a:rPr lang="sv-SE" sz="16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on post-release </a:t>
            </a:r>
            <a:r>
              <a:rPr lang="sv-SE" sz="1600" b="0" u="none" strike="noStrike" dirty="0" err="1">
                <a:solidFill>
                  <a:schemeClr val="dk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defects</a:t>
            </a:r>
            <a:r>
              <a:rPr lang="sv-SE" sz="16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GB" sz="1600" b="0" u="none" strike="noStrike" dirty="0">
              <a:solidFill>
                <a:srgbClr val="000000"/>
              </a:solidFill>
              <a:effectLst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npassad formgivning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</TotalTime>
  <Words>428</Words>
  <Application>Microsoft Office PowerPoint</Application>
  <PresentationFormat>Bildspel på skärmen (16:9)</PresentationFormat>
  <Paragraphs>70</Paragraphs>
  <Slides>9</Slides>
  <Notes>9</Notes>
  <HiddenSlides>0</HiddenSlides>
  <MMClips>0</MMClips>
  <ScaleCrop>false</ScaleCrop>
  <HeadingPairs>
    <vt:vector size="6" baseType="variant">
      <vt:variant>
        <vt:lpstr>Använt teckensnitt</vt:lpstr>
      </vt:variant>
      <vt:variant>
        <vt:i4>7</vt:i4>
      </vt:variant>
      <vt:variant>
        <vt:lpstr>Tema</vt:lpstr>
      </vt:variant>
      <vt:variant>
        <vt:i4>1</vt:i4>
      </vt:variant>
      <vt:variant>
        <vt:lpstr>Bildrubriker</vt:lpstr>
      </vt:variant>
      <vt:variant>
        <vt:i4>9</vt:i4>
      </vt:variant>
    </vt:vector>
  </HeadingPairs>
  <TitlesOfParts>
    <vt:vector size="17" baseType="lpstr">
      <vt:lpstr>Aptos</vt:lpstr>
      <vt:lpstr>Arial</vt:lpstr>
      <vt:lpstr>Calibri</vt:lpstr>
      <vt:lpstr>Cambria</vt:lpstr>
      <vt:lpstr>Symbol</vt:lpstr>
      <vt:lpstr>Times New Roman</vt:lpstr>
      <vt:lpstr>Wingdings</vt:lpstr>
      <vt:lpstr>Anpassad formgivning</vt:lpstr>
      <vt:lpstr>PowerPoint-presentation</vt:lpstr>
      <vt:lpstr>PowerPoint-presentation</vt:lpstr>
      <vt:lpstr>A guides tour through DAGitty</vt:lpstr>
      <vt:lpstr>PowerPoint-presentation</vt:lpstr>
      <vt:lpstr>Problem 1</vt:lpstr>
      <vt:lpstr>Problem 2</vt:lpstr>
      <vt:lpstr>Problem 3</vt:lpstr>
      <vt:lpstr>Problem 3 more interesting</vt:lpstr>
      <vt:lpstr>Problem 4: Does an automated testing framework (X) reduce post-relase defects (Y)?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Causal Inference for Software Engineering</dc:title>
  <dc:subject>PptxGenJS Presentation</dc:subject>
  <dc:creator>Tutorial authors</dc:creator>
  <dc:description/>
  <cp:lastModifiedBy>Hans-Martin Heyn</cp:lastModifiedBy>
  <cp:revision>44</cp:revision>
  <dcterms:created xsi:type="dcterms:W3CDTF">2026-06-18T12:50:28Z</dcterms:created>
  <dcterms:modified xsi:type="dcterms:W3CDTF">2026-07-01T11:35:09Z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i4>2</vt:i4>
  </property>
  <property fmtid="{D5CDD505-2E9C-101B-9397-08002B2CF9AE}" pid="3" name="Notes">
    <vt:i4>14</vt:i4>
  </property>
  <property fmtid="{D5CDD505-2E9C-101B-9397-08002B2CF9AE}" pid="4" name="PresentationFormat">
    <vt:lpwstr>On-screen Show (4:3)</vt:lpwstr>
  </property>
  <property fmtid="{D5CDD505-2E9C-101B-9397-08002B2CF9AE}" pid="5" name="Slides">
    <vt:i4>14</vt:i4>
  </property>
</Properties>
</file>