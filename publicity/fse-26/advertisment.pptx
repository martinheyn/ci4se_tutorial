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2" y="1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7A472-D437-777C-51A6-7B29B4B3E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61EBF-D956-2E70-0A17-02C99390C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765D5-C8E9-B789-80EB-F6A612910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6942-B9DD-4E0E-AF3A-8076CF882547}" type="datetimeFigureOut">
              <a:rPr lang="en-SE" smtClean="0"/>
              <a:t>2026-06-23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F6499-AECE-AE49-DC97-BAA2A629E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BD1DD-3169-5113-C190-B50A4E92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0875-4758-47A8-B5F0-26D59EB7CC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1644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F6F4-527C-4570-4288-99DFF7883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86AE7-F6A6-B0E1-0A88-41AC0EBF6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10751-7615-A403-EC04-82980C52E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6942-B9DD-4E0E-AF3A-8076CF882547}" type="datetimeFigureOut">
              <a:rPr lang="en-SE" smtClean="0"/>
              <a:t>2026-06-23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7A420-F1F3-2897-C4C2-40D2DCBD9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7128E-CD6F-20AA-5696-37A86869C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0875-4758-47A8-B5F0-26D59EB7CC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67003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511C-AF7E-39ED-4845-A6C106B99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B14E3-CAE1-2F70-BC19-764DF344C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29EB6-1FC8-806F-2C99-BFA6DF1F4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6942-B9DD-4E0E-AF3A-8076CF882547}" type="datetimeFigureOut">
              <a:rPr lang="en-SE" smtClean="0"/>
              <a:t>2026-06-23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10974-6A57-45AE-41E6-B71969BD7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912D0-AB2D-9E65-4A23-ACF363104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0875-4758-47A8-B5F0-26D59EB7CC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20001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B85DE-7824-507A-748E-21E82A54D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B4A2-A056-4AFE-ED04-E48F90C46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B6E45-D9D6-88EE-5883-C60F543F3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AF6BB-A70F-570A-CC60-CE32AD9FF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6942-B9DD-4E0E-AF3A-8076CF882547}" type="datetimeFigureOut">
              <a:rPr lang="en-SE" smtClean="0"/>
              <a:t>2026-06-23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F228A-E3CD-5BCF-5EE2-E55192894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9E505-C35A-397C-0B2C-4414902EB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0875-4758-47A8-B5F0-26D59EB7CC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53001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E3980-7D71-A3AF-E65D-DBD68D9E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BCC24-E3BB-A1B8-6AC3-4ED8B2E7C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1292C-E3DD-9254-456B-27956F200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35CF1-C9AD-BF22-5138-4AA52EF89E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23979-C31E-7847-DD94-4BF70A417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734143-7F43-DE33-D360-8074B0194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6942-B9DD-4E0E-AF3A-8076CF882547}" type="datetimeFigureOut">
              <a:rPr lang="en-SE" smtClean="0"/>
              <a:t>2026-06-23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4D8AA-EA61-A768-E8B2-44C9BE7C3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FADC93-4167-8248-468A-05E049584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0875-4758-47A8-B5F0-26D59EB7CC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10461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25AE-8A30-D88A-4787-DADF37837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11A22-3143-DF09-10B5-8CC74FBA7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6942-B9DD-4E0E-AF3A-8076CF882547}" type="datetimeFigureOut">
              <a:rPr lang="en-SE" smtClean="0"/>
              <a:t>2026-06-23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72637-85AC-9222-120E-DC8172BCC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901CE-4B09-8963-02AF-C0A58E279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0875-4758-47A8-B5F0-26D59EB7CC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9461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F1A6D4-179E-002A-4BB2-0007146FA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6942-B9DD-4E0E-AF3A-8076CF882547}" type="datetimeFigureOut">
              <a:rPr lang="en-SE" smtClean="0"/>
              <a:t>2026-06-23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5048C-F78C-D2CB-30B0-470438AF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D586E-ACB2-46BA-54FC-B986839C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0875-4758-47A8-B5F0-26D59EB7CC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7662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68D0-59C7-2F23-BF52-AB3C7A6F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8C5AE-F27F-2D18-3C38-B4AD1E082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9AC5D-AA5C-51B2-7AE7-A4A1619AA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222AA-6558-1CD8-C9AE-F8F892B7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6942-B9DD-4E0E-AF3A-8076CF882547}" type="datetimeFigureOut">
              <a:rPr lang="en-SE" smtClean="0"/>
              <a:t>2026-06-23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E26BD-B3B7-9412-17B3-F0BDCA42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A5F1D-3851-99A0-D575-6A9BAF80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0875-4758-47A8-B5F0-26D59EB7CC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22791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1BC3-843F-D0CB-6427-07AA3567E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85246E-D1E7-5407-562E-2B5FEFAC1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932D1-24D9-BB93-016F-5E363E4D1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1D49D-62E1-71CF-612A-DA91D146B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6942-B9DD-4E0E-AF3A-8076CF882547}" type="datetimeFigureOut">
              <a:rPr lang="en-SE" smtClean="0"/>
              <a:t>2026-06-23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62E8D-F181-62D1-32CB-8FBEDB031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D9CFE-567B-1F7E-12AE-F40BA157C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0875-4758-47A8-B5F0-26D59EB7CC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64566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31B6-9D7C-3A75-5EA4-0FDACED35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63FABF-6A89-7D66-05C7-C345706C6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4CC92-F576-D746-C46A-02603AFA7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6942-B9DD-4E0E-AF3A-8076CF882547}" type="datetimeFigureOut">
              <a:rPr lang="en-SE" smtClean="0"/>
              <a:t>2026-06-23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51E36-93E6-7C89-7278-188320A69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4A000-677F-649E-9DFA-15506449F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0875-4758-47A8-B5F0-26D59EB7CC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50063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96AB99-BACA-A2C3-44AD-A6B2A2B5B6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DA3A9-DF0B-FAB3-6192-C756C6997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3AA7E-019B-FBC8-8A21-74156169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6942-B9DD-4E0E-AF3A-8076CF882547}" type="datetimeFigureOut">
              <a:rPr lang="en-SE" smtClean="0"/>
              <a:t>2026-06-23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67642-85F1-BCD8-4EA5-6A52449C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1A2B1-4BD2-FB34-DFF8-49CF94D0D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0875-4758-47A8-B5F0-26D59EB7CC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5890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6A8CCE-0CCE-175D-DEBF-CB038BB47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533F5-C439-5D6D-7095-CE5A14D52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FD19C-220B-8AE3-CD71-4A120C159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CF6942-B9DD-4E0E-AF3A-8076CF882547}" type="datetimeFigureOut">
              <a:rPr lang="en-SE" smtClean="0"/>
              <a:t>2026-06-23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CBFDF-3888-8662-133F-55641F18C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E911F-80E4-C243-A560-99F59DF4B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80875-4758-47A8-B5F0-26D59EB7CC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72684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hyperlink" Target="http://wpage.unina.it/roberto.pietrantuono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iese.fraunhofer.de/blog/author/julien-siebert/" TargetMode="External"/><Relationship Id="rId12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hyperlink" Target="https://julianfrattini.github.io/" TargetMode="External"/><Relationship Id="rId5" Type="http://schemas.openxmlformats.org/officeDocument/2006/relationships/image" Target="../media/image4.png"/><Relationship Id="rId10" Type="http://schemas.openxmlformats.org/officeDocument/2006/relationships/image" Target="../media/image7.jpeg"/><Relationship Id="rId4" Type="http://schemas.openxmlformats.org/officeDocument/2006/relationships/image" Target="../media/image3.png"/><Relationship Id="rId9" Type="http://schemas.openxmlformats.org/officeDocument/2006/relationships/hyperlink" Target="https://martinheyn.github.io/" TargetMode="External"/><Relationship Id="rId1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8B33-D45B-67BD-B7AB-14DF64D5C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57721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Causal Inference for Software Engineering</a:t>
            </a:r>
            <a:endParaRPr lang="en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04851-552B-CE13-A2D5-D347F42689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8565" y="3328085"/>
            <a:ext cx="6538373" cy="1522322"/>
          </a:xfrm>
        </p:spPr>
        <p:txBody>
          <a:bodyPr>
            <a:normAutofit/>
          </a:bodyPr>
          <a:lstStyle/>
          <a:p>
            <a:r>
              <a:rPr lang="en-SE" sz="2200" dirty="0"/>
              <a:t>Tutorial at the ACM International Conference on the </a:t>
            </a:r>
            <a:r>
              <a:rPr lang="en-SE" sz="2200" b="1" dirty="0"/>
              <a:t>Foundations of Software Engineering</a:t>
            </a:r>
            <a:r>
              <a:rPr lang="en-SE" sz="2200" dirty="0"/>
              <a:t> (FSE)</a:t>
            </a:r>
          </a:p>
          <a:p>
            <a:r>
              <a:rPr lang="en-SE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Sunday, July 5th, at 11:00 EST</a:t>
            </a:r>
            <a:br>
              <a:rPr lang="en-SE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SE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room MB 2.430</a:t>
            </a:r>
          </a:p>
        </p:txBody>
      </p:sp>
      <p:pic>
        <p:nvPicPr>
          <p:cNvPr id="4" name="Image 0" descr="fraunhofer.png">
            <a:extLst>
              <a:ext uri="{FF2B5EF4-FFF2-40B4-BE49-F238E27FC236}">
                <a16:creationId xmlns:a16="http://schemas.microsoft.com/office/drawing/2014/main" id="{2F2E3D47-ACC1-926B-C36C-2C10442A4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01180"/>
            <a:ext cx="2139718" cy="610154"/>
          </a:xfrm>
          <a:prstGeom prst="rect">
            <a:avLst/>
          </a:prstGeom>
        </p:spPr>
      </p:pic>
      <p:pic>
        <p:nvPicPr>
          <p:cNvPr id="5" name="Image 1" descr="chalmers.png">
            <a:extLst>
              <a:ext uri="{FF2B5EF4-FFF2-40B4-BE49-F238E27FC236}">
                <a16:creationId xmlns:a16="http://schemas.microsoft.com/office/drawing/2014/main" id="{4AFFAD54-295C-45CA-22BC-C10E824AE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565" y="401180"/>
            <a:ext cx="1963989" cy="610154"/>
          </a:xfrm>
          <a:prstGeom prst="rect">
            <a:avLst/>
          </a:prstGeom>
        </p:spPr>
      </p:pic>
      <p:pic>
        <p:nvPicPr>
          <p:cNvPr id="6" name="Image 2" descr="goteborg.png">
            <a:extLst>
              <a:ext uri="{FF2B5EF4-FFF2-40B4-BE49-F238E27FC236}">
                <a16:creationId xmlns:a16="http://schemas.microsoft.com/office/drawing/2014/main" id="{056775E2-D3CE-CF8A-1189-B30925518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401" y="340165"/>
            <a:ext cx="2153484" cy="732185"/>
          </a:xfrm>
          <a:prstGeom prst="rect">
            <a:avLst/>
          </a:prstGeom>
        </p:spPr>
      </p:pic>
      <p:pic>
        <p:nvPicPr>
          <p:cNvPr id="7" name="Image 3" descr="napoli.png">
            <a:extLst>
              <a:ext uri="{FF2B5EF4-FFF2-40B4-BE49-F238E27FC236}">
                <a16:creationId xmlns:a16="http://schemas.microsoft.com/office/drawing/2014/main" id="{9071A80B-DEE2-5265-9309-11B6377C2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5733" y="401180"/>
            <a:ext cx="1882267" cy="61015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7B6A4BC-9922-350E-EBB1-3C62E4EF4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228" y="3328085"/>
            <a:ext cx="1820090" cy="152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E50755B-672A-B988-C0DE-6C58F9C3887A}"/>
              </a:ext>
            </a:extLst>
          </p:cNvPr>
          <p:cNvGrpSpPr/>
          <p:nvPr/>
        </p:nvGrpSpPr>
        <p:grpSpPr>
          <a:xfrm>
            <a:off x="2190426" y="5170054"/>
            <a:ext cx="8213949" cy="1286766"/>
            <a:chOff x="-610792" y="4325960"/>
            <a:chExt cx="8213949" cy="128676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FFA9B3-7049-F060-717C-81419F695A5D}"/>
                </a:ext>
              </a:extLst>
            </p:cNvPr>
            <p:cNvGrpSpPr/>
            <p:nvPr/>
          </p:nvGrpSpPr>
          <p:grpSpPr>
            <a:xfrm>
              <a:off x="-610792" y="4325960"/>
              <a:ext cx="4777197" cy="630942"/>
              <a:chOff x="-610792" y="5232918"/>
              <a:chExt cx="4777197" cy="630942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AC14255-9316-227C-0362-9942154AB0B0}"/>
                  </a:ext>
                </a:extLst>
              </p:cNvPr>
              <p:cNvSpPr txBox="1"/>
              <p:nvPr/>
            </p:nvSpPr>
            <p:spPr>
              <a:xfrm>
                <a:off x="-120" y="5232918"/>
                <a:ext cx="4166525" cy="630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E" sz="1400" noProof="0" dirty="0"/>
                  <a:t>Julien </a:t>
                </a:r>
                <a:r>
                  <a:rPr lang="en-SE" sz="1400" b="1" noProof="0" dirty="0"/>
                  <a:t>Siebert</a:t>
                </a:r>
                <a:endParaRPr lang="en-US" sz="1400" noProof="0" dirty="0"/>
              </a:p>
              <a:p>
                <a:r>
                  <a:rPr lang="en-SE" sz="105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Fraunhofer Institute for Experimental Software Engineering</a:t>
                </a:r>
                <a:r>
                  <a:rPr lang="en-US" sz="1050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, </a:t>
                </a:r>
                <a:r>
                  <a:rPr lang="en-SE" sz="1050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Germany</a:t>
                </a:r>
                <a:endParaRPr lang="en-US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r>
                  <a:rPr lang="en-US" sz="1050" noProof="0" dirty="0">
                    <a:hlinkClick r:id="rId7"/>
                  </a:rPr>
                  <a:t>https://www.iese.fraunhofer.de/blog/author/julien-siebert/</a:t>
                </a:r>
                <a:r>
                  <a:rPr lang="en-SE" sz="1050" noProof="0" dirty="0"/>
                  <a:t> </a:t>
                </a:r>
                <a:endParaRPr lang="en-US" sz="1050" noProof="0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3277E9C-0495-1BC4-E6DE-1922DB40653A}"/>
                  </a:ext>
                </a:extLst>
              </p:cNvPr>
              <p:cNvSpPr/>
              <p:nvPr/>
            </p:nvSpPr>
            <p:spPr>
              <a:xfrm>
                <a:off x="-610792" y="5278389"/>
                <a:ext cx="540000" cy="540000"/>
              </a:xfrm>
              <a:prstGeom prst="ellipse">
                <a:avLst/>
              </a:prstGeom>
              <a:blipFill dpi="0" rotWithShape="1">
                <a:blip r:embed="rId8"/>
                <a:srcRect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0C44C68-558D-5646-5089-7E60EEB666E3}"/>
                </a:ext>
              </a:extLst>
            </p:cNvPr>
            <p:cNvGrpSpPr/>
            <p:nvPr/>
          </p:nvGrpSpPr>
          <p:grpSpPr>
            <a:xfrm>
              <a:off x="-610792" y="4981784"/>
              <a:ext cx="2762223" cy="630942"/>
              <a:chOff x="-610792" y="5232918"/>
              <a:chExt cx="2762223" cy="630942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4F6115A-2FC1-BEB2-E284-5C4956DE4321}"/>
                  </a:ext>
                </a:extLst>
              </p:cNvPr>
              <p:cNvSpPr txBox="1"/>
              <p:nvPr/>
            </p:nvSpPr>
            <p:spPr>
              <a:xfrm>
                <a:off x="-120" y="5232918"/>
                <a:ext cx="2151551" cy="630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E" sz="1400" noProof="0" dirty="0"/>
                  <a:t>Hans-Martin </a:t>
                </a:r>
                <a:r>
                  <a:rPr lang="en-SE" sz="1400" b="1" dirty="0"/>
                  <a:t>Heyn</a:t>
                </a:r>
                <a:endParaRPr lang="en-US" sz="1400" noProof="0" dirty="0"/>
              </a:p>
              <a:p>
                <a:r>
                  <a:rPr lang="en-SE" sz="1050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University of Gothenburg</a:t>
                </a:r>
                <a:r>
                  <a:rPr lang="en-US" sz="1050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, Sweden</a:t>
                </a:r>
              </a:p>
              <a:p>
                <a:r>
                  <a:rPr lang="en-US" sz="1050" dirty="0">
                    <a:hlinkClick r:id="rId9"/>
                  </a:rPr>
                  <a:t>https://martinheyn.github.io/</a:t>
                </a:r>
                <a:r>
                  <a:rPr lang="en-SE" sz="1050" dirty="0"/>
                  <a:t> </a:t>
                </a:r>
                <a:endParaRPr lang="en-US" sz="1050" noProof="0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D36C9F8-37D5-39CA-E00D-766F82877201}"/>
                  </a:ext>
                </a:extLst>
              </p:cNvPr>
              <p:cNvSpPr/>
              <p:nvPr/>
            </p:nvSpPr>
            <p:spPr>
              <a:xfrm>
                <a:off x="-610792" y="5278389"/>
                <a:ext cx="540000" cy="540000"/>
              </a:xfrm>
              <a:prstGeom prst="ellipse">
                <a:avLst/>
              </a:prstGeom>
              <a:blipFill dpi="0" rotWithShape="1">
                <a:blip r:embed="rId10"/>
                <a:srcRect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A087CC7-60F7-AA23-D753-1B3D016FB35C}"/>
                </a:ext>
              </a:extLst>
            </p:cNvPr>
            <p:cNvGrpSpPr/>
            <p:nvPr/>
          </p:nvGrpSpPr>
          <p:grpSpPr>
            <a:xfrm>
              <a:off x="4243014" y="4352136"/>
              <a:ext cx="3329686" cy="630942"/>
              <a:chOff x="715676" y="5257800"/>
              <a:chExt cx="3329686" cy="63094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884360-217B-229E-6586-12B4E2A100B6}"/>
                  </a:ext>
                </a:extLst>
              </p:cNvPr>
              <p:cNvSpPr txBox="1"/>
              <p:nvPr/>
            </p:nvSpPr>
            <p:spPr>
              <a:xfrm>
                <a:off x="1326348" y="5257800"/>
                <a:ext cx="2719014" cy="630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Julian </a:t>
                </a: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Frattini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Chalmers University of Technology, Sweden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  <a:hlinkClick r:id="rId11"/>
                  </a:rPr>
                  <a:t>https://julianfrattini.github.io/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27C332F-0955-F557-3627-4FD81DB59443}"/>
                  </a:ext>
                </a:extLst>
              </p:cNvPr>
              <p:cNvSpPr/>
              <p:nvPr/>
            </p:nvSpPr>
            <p:spPr>
              <a:xfrm>
                <a:off x="715676" y="5303271"/>
                <a:ext cx="540000" cy="540000"/>
              </a:xfrm>
              <a:prstGeom prst="ellipse">
                <a:avLst/>
              </a:prstGeom>
              <a:blipFill dpi="0" rotWithShape="1">
                <a:blip r:embed="rId12"/>
                <a:srcRect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B7630DF-CBBC-B09A-9DC5-3DEED072CA48}"/>
                </a:ext>
              </a:extLst>
            </p:cNvPr>
            <p:cNvGrpSpPr/>
            <p:nvPr/>
          </p:nvGrpSpPr>
          <p:grpSpPr>
            <a:xfrm>
              <a:off x="4243014" y="4981784"/>
              <a:ext cx="3360143" cy="630942"/>
              <a:chOff x="715676" y="5257800"/>
              <a:chExt cx="3360143" cy="63094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4424CB-7D0C-1B73-314F-50B63757F554}"/>
                  </a:ext>
                </a:extLst>
              </p:cNvPr>
              <p:cNvSpPr txBox="1"/>
              <p:nvPr/>
            </p:nvSpPr>
            <p:spPr>
              <a:xfrm>
                <a:off x="1326348" y="5257800"/>
                <a:ext cx="2749471" cy="630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E" sz="1400" dirty="0"/>
                  <a:t>Roberto </a:t>
                </a:r>
                <a:r>
                  <a:rPr lang="en-SE" sz="1400" b="1" dirty="0"/>
                  <a:t>Pietrantuono</a:t>
                </a:r>
                <a:endParaRPr lang="en-US" sz="1400" b="1" noProof="0" dirty="0"/>
              </a:p>
              <a:p>
                <a:r>
                  <a:rPr lang="en-SE" sz="105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University of Naples Federico II, Italy</a:t>
                </a:r>
              </a:p>
              <a:p>
                <a:r>
                  <a:rPr lang="en-US" sz="1050" dirty="0">
                    <a:hlinkClick r:id="rId13"/>
                  </a:rPr>
                  <a:t>http://wpage.unina.it/roberto.pietrantuono/</a:t>
                </a:r>
                <a:r>
                  <a:rPr lang="en-SE" sz="1050" dirty="0"/>
                  <a:t> </a:t>
                </a:r>
                <a:endParaRPr lang="en-US" sz="1050" noProof="0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6EE737E-4AFC-CFBF-FA12-E5C3101614E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5676" y="5303271"/>
                <a:ext cx="540000" cy="540000"/>
              </a:xfrm>
              <a:prstGeom prst="ellipse">
                <a:avLst/>
              </a:prstGeom>
              <a:blipFill dpi="0" rotWithShape="1">
                <a:blip r:embed="rId14"/>
                <a:srcRect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903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113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Introduction to Causal Inference for Software Engineering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Frattini</dc:creator>
  <cp:lastModifiedBy>Julian Frattini</cp:lastModifiedBy>
  <cp:revision>1</cp:revision>
  <dcterms:created xsi:type="dcterms:W3CDTF">2026-06-23T10:09:41Z</dcterms:created>
  <dcterms:modified xsi:type="dcterms:W3CDTF">2026-06-23T10:21:54Z</dcterms:modified>
</cp:coreProperties>
</file>